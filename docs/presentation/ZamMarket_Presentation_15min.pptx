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30.xml" ContentType="application/vnd.openxmlformats-officedocument.presentationml.notesSlide+xml"/>
  <Override PartName="/ppt/notesSlides/notesSlide34.xml" ContentType="application/vnd.openxmlformats-officedocument.presentationml.notesSlide+xml"/>
  <Override PartName="/ppt/notesSlides/notesSlide37.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9.xml" ContentType="application/vnd.openxmlformats-officedocument.presentationml.slide+xml"/>
  <Override PartName="/ppt/slides/slide32.xml" ContentType="application/vnd.openxmlformats-officedocument.presentationml.slide+xml"/>
  <Override PartName="/ppt/slides/slide35.xml" ContentType="application/vnd.openxmlformats-officedocument.presentationml.slide+xml"/>
  <Override PartName="/ppt/slides/slide40.xml" ContentType="application/vnd.openxmlformats-officedocument.presentationml.slide+xml"/>
  <Override PartName="/ppt/slides/slide44.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1" r:id="rId6"/>
    <p:sldId id="263" r:id="rId8"/>
    <p:sldId id="268" r:id="rId13"/>
    <p:sldId id="277" r:id="rId22"/>
    <p:sldId id="279" r:id="rId24"/>
    <p:sldId id="280" r:id="rId25"/>
    <p:sldId id="285" r:id="rId30"/>
    <p:sldId id="288" r:id="rId33"/>
    <p:sldId id="291" r:id="rId36"/>
    <p:sldId id="298" r:id="rId43"/>
    <p:sldId id="302" r:id="rId47"/>
    <p:sldId id="308" r:id="rId55"/>
    <p:sldId id="306"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6" Type="http://schemas.openxmlformats.org/officeDocument/2006/relationships/slide" Target="slides/slide5.xml"/><Relationship Id="rId8" Type="http://schemas.openxmlformats.org/officeDocument/2006/relationships/slide" Target="slides/slide7.xml"/><Relationship Id="rId13" Type="http://schemas.openxmlformats.org/officeDocument/2006/relationships/slide" Target="slides/slide12.xml"/><Relationship Id="rId22" Type="http://schemas.openxmlformats.org/officeDocument/2006/relationships/slide" Target="slides/slide21.xml"/><Relationship Id="rId24" Type="http://schemas.openxmlformats.org/officeDocument/2006/relationships/slide" Target="slides/slide23.xml"/><Relationship Id="rId25" Type="http://schemas.openxmlformats.org/officeDocument/2006/relationships/slide" Target="slides/slide24.xml"/><Relationship Id="rId30" Type="http://schemas.openxmlformats.org/officeDocument/2006/relationships/slide" Target="slides/slide29.xml"/><Relationship Id="rId33" Type="http://schemas.openxmlformats.org/officeDocument/2006/relationships/slide" Target="slides/slide32.xml"/><Relationship Id="rId36" Type="http://schemas.openxmlformats.org/officeDocument/2006/relationships/slide" Target="slides/slide35.xml"/><Relationship Id="rId39" Type="http://schemas.openxmlformats.org/officeDocument/2006/relationships/notesMaster" Target="notesMasters/notesMaster1.xml"/><Relationship Id="rId43" Type="http://schemas.openxmlformats.org/officeDocument/2006/relationships/slide" Target="slides/slide40.xml"/><Relationship Id="rId47" Type="http://schemas.openxmlformats.org/officeDocument/2006/relationships/slide" Target="slides/slide44.xml"/><Relationship Id="rId49" Type="http://schemas.openxmlformats.org/officeDocument/2006/relationships/slide" Target="slides/slide48.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55"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name is John Chola, computer number 2021422054, and my supervisor is Mr. Martin Phiri. My project is ZamMarket: a mobile web app that helps people in Lusaka find charcoal sellers near them, and gives every seller a trust score that cannot be quietly edited.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an individual project, so I did all of the work myself, under Mr. Phiri's supervision. In numbers: four agile sprints plus a stabilisation period, eight modules, and 86 automated tests that all pass. It is live at zam-market-khaki.vercel.app. The app covers twenty-four Lusaka-area places.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Sellers can only reach passers-by and have no way to prove they are reliable. Buyers cannot find nearby sellers or judge a stranger. WhatsApp and Facebook help with discovery but keep no record a buyer can check. Online marketplaces build trust through escrow payments, which informal cash traders do not use. So the problem is the missing combination: local discovery, verifiable trust, cash trading and poor connectivity.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objectives. Note objective 2: my proposal also promised Nyanja and Bemba. During development I found that no browser offers speech recognition for those languages, so I narrowed it to English. I will come back to this under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gap in one picture. Each platform covers part of the problem; none covers all four columns. ZamMarket covers all four: browsing, messages and even new listings with photos keep working offline and are sent when the connection returns.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The phone runs the React app, which can cache data and queue messages offline. It talks to the Express API over REST and to the chat server over WebSockets. Only the server can write to the trust chain, which is stored in MongoDB.</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key screens, mobile-first. Browse has neighbourhood pills and filters. The voice panel shows what was heard, which the seller can correct, and the fields it extracted. Chat shows the 'collected your charcoal?' rating prompt. And the trust page shows the score and whether the chain is valid. These screenshots are from the real app running locally with sample data.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algorithm. Every event becomes a block whose hash covers the previous block's hash. When a profile is viewed, the server re-hashes everything and checks every link, and checks the last block against the hash stored on the seller. If anything was changed, the chain shows as broken. I chose a hash chain over a real blockchain because there is a single operator, so distributed consensus would add cost without benefit.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honest challenges. The most interesting: I found a security hole myself during polishing. Anyone could register as an administrator by sending the word 'admin' to the API. Now sign-up only allows buyer or seller, and administrators are created by a script. Deployment failed twice; I traced it to four causes, fixed all four, and the system is now live.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selection of the automated results. All pass. B17 is the important one: editing the most recent block is caught by comparing it with the hash stored on the seller's account.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objectives fully achieved, including offline support: listings created without a connection are saved with their photo and posted automatically on reconnection. Objective 5 is partly achieved until the usability study is done.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honestly. The biggest is that there has been no user study. The trust chain is tamper-evident, not tamper-proof: someone with full database access could rebuild a whole chain. Anchoring the latest hash outside the database would fix that, and it is in my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recommendations, in priority order. The first is about evidence: test it with real users. The second costs a small top-up, because every SMS provider charges per message.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SCRIPT (about 4 minutes). Two minutes before: open the Render /api/health link to wake the server, and keep Render Logs open for registration codes. Have two browser windows open before you start: a buyer logged in on one, the seller on the other (or a phone). 1) As buyer: Browse, tap Kanyama, set a price range. 2) As seller: New Listing, Voice, say 'Hardwood charcoal, ten bags, ninety five kwacha each, Kanyama'; show the fields, tap Use This, post. 3) As buyer: open the listing, Message Seller; reply as seller. Turn on airplane mode, send a message and post a listing with a photo; show both waiting (My Listings shows 'Waiting to post'); turn data back on and show both delivered. 4) As buyer: Rate Seller, 5 stars; open the trust page and show the new block. 5) In MongoDB Atlas, edit one trustchains document (change a rating type); refresh the trust page: the score turns into a red 'Record has been altered' warning. 6) As admin: open the Integrity tab; the same seller is flagged and the tab shows a red badge. Undo the edit in Atlas, run the check again and show it clear. Then open the Verify tab and verify a seller; their score rises by 15, and the action appears in the Activity tab. If anything fails, fall back to the screenshots.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22-Sep-26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22-Sep-26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22-Sep-26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22-Sep-26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2D4B"/>
        </a:solidFill>
        <a:effectLst/>
      </p:bgPr>
    </p:bg>
    <p:spTree>
      <p:nvGrpSpPr>
        <p:cNvPr id="1" name=""/>
        <p:cNvGrpSpPr/>
        <p:nvPr/>
      </p:nvGrpSpPr>
      <p:grpSpPr>
        <a:xfrm>
          <a:off x="0" y="0"/>
          <a:ext cx="0" cy="0"/>
          <a:chOff x="0" y="0"/>
          <a:chExt cx="0" cy="0"/>
        </a:xfrm>
      </p:grpSpPr>
      <p:sp>
        <p:nvSpPr>
          <p:cNvPr id="2" name="TextBox 1"/>
          <p:cNvSpPr txBox="1"/>
          <p:nvPr/>
        </p:nvSpPr>
        <p:spPr>
          <a:xfrm>
            <a:off x="914400" y="1417320"/>
            <a:ext cx="10332720" cy="1371600"/>
          </a:xfrm>
          <a:prstGeom prst="rect">
            <a:avLst/>
          </a:prstGeom>
          <a:noFill/>
        </p:spPr>
        <p:txBody>
          <a:bodyPr wrap="none">
            <a:spAutoFit/>
          </a:bodyPr>
          <a:lstStyle/>
          <a:p>
            <a:pPr algn="ctr">
              <a:defRPr sz="4000" b="1">
                <a:solidFill>
                  <a:srgbClr val="FFFFFF"/>
                </a:solidFill>
              </a:defRPr>
            </a:pPr>
            <a:r>
              <a:t>ZamMarket</a:t>
            </a:r>
          </a:p>
        </p:txBody>
      </p:sp>
      <p:sp>
        <p:nvSpPr>
          <p:cNvPr id="3" name="TextBox 2"/>
          <p:cNvSpPr txBox="1"/>
          <p:nvPr/>
        </p:nvSpPr>
        <p:spPr>
          <a:xfrm>
            <a:off x="2926080" y="3611880"/>
            <a:ext cx="6309360" cy="1631216"/>
          </a:xfrm>
          <a:prstGeom prst="rect">
            <a:avLst/>
          </a:prstGeom>
          <a:noFill/>
        </p:spPr>
        <p:txBody>
          <a:bodyPr wrap="none">
            <a:spAutoFit/>
          </a:bodyPr>
          <a:lstStyle/>
          <a:p>
            <a:pPr algn="ctr">
              <a:defRPr sz="2000">
                <a:solidFill>
                  <a:srgbClr val="FFFFFF"/>
                </a:solidFill>
              </a:defRPr>
            </a:pPr>
            <a:r>
              <a:t>Final Year Project Presentation</a:t>
            </a:r>
            <a:endParaRPr lang="en-US" dirty="0"/>
          </a:p>
          <a:p>
            <a:pPr algn="ctr">
              <a:defRPr sz="2000">
                <a:solidFill>
                  <a:srgbClr val="FFFFFF"/>
                </a:solidFill>
              </a:defRPr>
            </a:pPr>
            <a:r>
              <a:t>John Chola · 2021422054</a:t>
            </a:r>
            <a:endParaRPr lang="en-US" dirty="0"/>
          </a:p>
          <a:p>
            <a:pPr algn="ctr">
              <a:defRPr sz="2000">
                <a:solidFill>
                  <a:srgbClr val="FFFFFF"/>
                </a:solidFill>
              </a:defRPr>
            </a:pPr>
            <a:r>
              <a:t>Supervisor: Mr. Martin Phiri</a:t>
            </a:r>
            <a:endParaRPr lang="en-US" dirty="0"/>
          </a:p>
          <a:p>
            <a:pPr algn="ctr">
              <a:defRPr sz="2000">
                <a:solidFill>
                  <a:srgbClr val="FFFFFF"/>
                </a:solidFill>
              </a:defRPr>
            </a:pPr>
            <a:r>
              <a:t>University of Zambia</a:t>
            </a:r>
            <a:endParaRPr lang="en-US" dirty="0"/>
          </a:p>
          <a:p>
            <a:pPr algn="ctr">
              <a:defRPr sz="2000">
                <a:solidFill>
                  <a:srgbClr val="FFFFFF"/>
                </a:solidFill>
              </a:defRPr>
            </a:pPr>
            <a:r>
              <a:t>School of Natural and Applied Sciences</a:t>
            </a:r>
            <a:endParaRPr lang="en-US" dirty="0"/>
          </a:p>
          <a:p>
            <a:pPr algn="ctr">
              <a:defRPr sz="2000">
                <a:solidFill>
                  <a:srgbClr val="FFFFFF"/>
                </a:solidFill>
              </a:defRPr>
            </a:pPr>
            <a:r>
              <a:t>Department of Computing and Informatics</a:t>
            </a:r>
            <a:endParaRPr lang="en-US" dirty="0"/>
          </a:p>
          <a:p>
            <a:pPr algn="ctr">
              <a:defRPr sz="2000">
                <a:solidFill>
                  <a:srgbClr val="FFFFFF"/>
                </a:solidFill>
              </a:defRPr>
            </a:pPr>
            <a:r>
              <a:t>2026</a:t>
            </a:r>
            <a:endParaRPr lang="en-US" dirty="0"/>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a:t>
            </a:r>
          </a:p>
        </p:txBody>
      </p:sp>
      <p:sp>
        <p:nvSpPr>
          <p:cNvPr id="6" name="Subtitle"/>
          <p:cNvSpPr txBox="1"/>
          <p:nvPr/>
        </p:nvSpPr>
        <p:spPr>
          <a:xfrm>
            <a:off x="1097280" y="2514600"/>
            <a:ext cx="9966960" cy="914400"/>
          </a:xfrm>
          <a:prstGeom prst="rect">
            <a:avLst/>
          </a:prstGeom>
          <a:noFill/>
        </p:spPr>
        <p:txBody>
          <a:bodyPr wrap="square" anchor="t" lIns="45720" rIns="45720" tIns="27432" bIns="27432">
            <a:spAutoFit/>
          </a:bodyPr>
          <a:lstStyle/>
          <a:p>
            <a:pPr algn="ctr">
              <a:spcAft>
                <a:spcPts val="600"/>
              </a:spcAft>
            </a:pPr>
            <a:r>
              <a:rPr sz="2200" b="0" i="0">
                <a:solidFill>
                  <a:srgbClr val="CFDAEA"/>
                </a:solidFill>
                <a:latin typeface="Calibri"/>
              </a:rPr>
              <a:t>A Progressive Web App for Local Charcoal Trading in Lusaka with a Tamper-Evident Seller Trust Score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Project Overview</a:t>
            </a:r>
          </a:p>
        </p:txBody>
      </p:sp>
      <p:graphicFrame>
        <p:nvGraphicFramePr>
          <p:cNvPr id="3" name="Table 2"/>
          <p:cNvGraphicFramePr>
            <a:graphicFrameLocks noGrp="1"/>
          </p:cNvGraphicFramePr>
          <p:nvPr/>
        </p:nvGraphicFramePr>
        <p:xfrm>
          <a:off x="731520" y="1234440"/>
          <a:ext cx="10698480" cy="1280160"/>
        </p:xfrm>
        <a:graphic>
          <a:graphicData uri="http://schemas.openxmlformats.org/drawingml/2006/table">
            <a:tbl>
              <a:tblPr firstRow="1" bandRow="1">
                <a:tableStyleId>{5C22544A-7EE6-4342-B048-85BDC9FD1C3A}</a:tableStyleId>
              </a:tblPr>
              <a:tblGrid>
                <a:gridCol w="30175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731520">
                <a:tc>
                  <a:txBody>
                    <a:bodyPr/>
                    <a:lstStyle/>
                    <a:p>
                      <a:pPr>
                        <a:defRPr sz="1400" b="1">
                          <a:solidFill>
                            <a:srgbClr val="FFFFFF"/>
                          </a:solidFill>
                        </a:defRPr>
                      </a:pPr>
                      <a:r>
                        <a:rPr sz="1500"/>
                        <a:t>Member</a:t>
                      </a:r>
                    </a:p>
                  </a:txBody>
                  <a:tcPr>
                    <a:solidFill>
                      <a:srgbClr val="192D4B"/>
                    </a:solidFill>
                  </a:tcPr>
                </a:tc>
                <a:tc>
                  <a:txBody>
                    <a:bodyPr/>
                    <a:lstStyle/>
                    <a:p>
                      <a:pPr>
                        <a:defRPr sz="1400" b="1">
                          <a:solidFill>
                            <a:srgbClr val="FFFFFF"/>
                          </a:solidFill>
                        </a:defRPr>
                      </a:pPr>
                      <a:r>
                        <a:rPr sz="1500"/>
                        <a:t>Computer No.</a:t>
                      </a:r>
                    </a:p>
                  </a:txBody>
                  <a:tcPr>
                    <a:solidFill>
                      <a:srgbClr val="192D4B"/>
                    </a:solidFill>
                  </a:tcPr>
                </a:tc>
                <a:tc>
                  <a:txBody>
                    <a:bodyPr/>
                    <a:lstStyle/>
                    <a:p>
                      <a:pPr>
                        <a:defRPr sz="1400" b="1">
                          <a:solidFill>
                            <a:srgbClr val="FFFFFF"/>
                          </a:solidFill>
                        </a:defRPr>
                      </a:pPr>
                      <a:r>
                        <a:rPr sz="1500"/>
                        <a:t>Primary Role / Responsibilities</a:t>
                      </a:r>
                    </a:p>
                  </a:txBody>
                  <a:tcPr>
                    <a:solidFill>
                      <a:srgbClr val="192D4B"/>
                    </a:solidFill>
                  </a:tcPr>
                </a:tc>
                <a:extLst>
                  <a:ext uri="{0D108BD9-81ED-4DB2-BD59-A6C34878D82A}">
                    <a16:rowId xmlns:a16="http://schemas.microsoft.com/office/drawing/2014/main" val="10000"/>
                  </a:ext>
                </a:extLst>
              </a:tr>
              <a:tr h="731520">
                <a:tc>
                  <a:txBody>
                    <a:bodyPr/>
                    <a:lstStyle/>
                    <a:p>
                      <a:pPr>
                        <a:defRPr sz="1300">
                          <a:solidFill>
                            <a:srgbClr val="232323"/>
                          </a:solidFill>
                        </a:defRPr>
                      </a:pPr>
                      <a:r>
                        <a:rPr sz="1600"/>
                        <a:t>John Chola</a:t>
                      </a:r>
                    </a:p>
                  </a:txBody>
                  <a:tcPr>
                    <a:solidFill>
                      <a:srgbClr val="F2F5F9"/>
                    </a:solidFill>
                  </a:tcPr>
                </a:tc>
                <a:tc>
                  <a:txBody>
                    <a:bodyPr/>
                    <a:lstStyle/>
                    <a:p>
                      <a:pPr>
                        <a:defRPr sz="1300">
                          <a:solidFill>
                            <a:srgbClr val="232323"/>
                          </a:solidFill>
                        </a:defRPr>
                      </a:pPr>
                      <a:r>
                        <a:rPr sz="1600"/>
                        <a:t>2021422054</a:t>
                      </a:r>
                    </a:p>
                  </a:txBody>
                  <a:tcPr>
                    <a:solidFill>
                      <a:srgbClr val="F2F5F9"/>
                    </a:solidFill>
                  </a:tcPr>
                </a:tc>
                <a:tc>
                  <a:txBody>
                    <a:bodyPr/>
                    <a:lstStyle/>
                    <a:p>
                      <a:pPr>
                        <a:defRPr sz="1300">
                          <a:solidFill>
                            <a:srgbClr val="232323"/>
                          </a:solidFill>
                        </a:defRPr>
                      </a:pPr>
                      <a:r>
                        <a:rPr sz="1600"/>
                        <a:t>Sole developer: requirements, literature review, design, full-stack implementation, testing and report</a:t>
                      </a:r>
                    </a:p>
                  </a:txBody>
                  <a:tcPr>
                    <a:solidFill>
                      <a:srgbClr val="F2F5F9"/>
                    </a:solidFill>
                  </a:tcPr>
                </a:tc>
                <a:extLst>
                  <a:ext uri="{0D108BD9-81ED-4DB2-BD59-A6C34878D82A}">
                    <a16:rowId xmlns:a16="http://schemas.microsoft.com/office/drawing/2014/main" val="10001"/>
                  </a:ext>
                </a:extLst>
              </a:tr>
            </a:tbl>
          </a:graphicData>
        </a:graphic>
      </p:graphicFrame>
      <p:sp>
        <p:nvSpPr>
          <p:cNvPr id="4" name="TextBox 3"/>
          <p:cNvSpPr txBox="1"/>
          <p:nvPr/>
        </p:nvSpPr>
        <p:spPr>
          <a:xfrm>
            <a:off x="777240" y="5577840"/>
            <a:ext cx="10515600" cy="365760"/>
          </a:xfrm>
          <a:prstGeom prst="rect">
            <a:avLst/>
          </a:prstGeom>
          <a:noFill/>
        </p:spPr>
        <p:txBody>
          <a:bodyPr wrap="none">
            <a:spAutoFit/>
          </a:bodyPr>
          <a:lstStyle/>
          <a:p>
            <a:pPr>
              <a:defRPr sz="1500" b="1">
                <a:solidFill>
                  <a:srgbClr val="192D4B"/>
                </a:solidFill>
              </a:defRPr>
            </a:pPr>
            <a:r>
              <a:t>Supervisor: Mr. Martin Phiri · Individual project</a:t>
            </a:r>
          </a:p>
        </p:txBody>
      </p:sp>
      <p:sp>
        <p:nvSpPr>
          <p:cNvPr id="5" name="Rectangle 4"/>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2</a:t>
            </a:r>
          </a:p>
        </p:txBody>
      </p:sp>
      <p:sp>
        <p:nvSpPr>
          <p:cNvPr id="7" name="Rounded Rectangle 6"/>
          <p:cNvSpPr/>
          <p:nvPr/>
        </p:nvSpPr>
        <p:spPr>
          <a:xfrm>
            <a:off x="731520" y="329184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47472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192D4B"/>
                </a:solidFill>
                <a:latin typeface="Calibri"/>
              </a:rPr>
              <a:t>4</a:t>
            </a:r>
          </a:p>
        </p:txBody>
      </p:sp>
      <p:sp>
        <p:nvSpPr>
          <p:cNvPr id="9" name="TextBox 8"/>
          <p:cNvSpPr txBox="1"/>
          <p:nvPr/>
        </p:nvSpPr>
        <p:spPr>
          <a:xfrm>
            <a:off x="868680" y="438912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agile sprints + a
stabilisation period</a:t>
            </a:r>
          </a:p>
        </p:txBody>
      </p:sp>
      <p:sp>
        <p:nvSpPr>
          <p:cNvPr id="10" name="Rounded Rectangle 9"/>
          <p:cNvSpPr/>
          <p:nvPr/>
        </p:nvSpPr>
        <p:spPr>
          <a:xfrm>
            <a:off x="3474720" y="329184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347472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192D4B"/>
                </a:solidFill>
                <a:latin typeface="Calibri"/>
              </a:rPr>
              <a:t>8</a:t>
            </a:r>
          </a:p>
        </p:txBody>
      </p:sp>
      <p:sp>
        <p:nvSpPr>
          <p:cNvPr id="12" name="TextBox 11"/>
          <p:cNvSpPr txBox="1"/>
          <p:nvPr/>
        </p:nvSpPr>
        <p:spPr>
          <a:xfrm>
            <a:off x="3611879" y="438912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system modules</a:t>
            </a:r>
          </a:p>
        </p:txBody>
      </p:sp>
      <p:sp>
        <p:nvSpPr>
          <p:cNvPr id="13" name="Rounded Rectangle 12"/>
          <p:cNvSpPr/>
          <p:nvPr/>
        </p:nvSpPr>
        <p:spPr>
          <a:xfrm>
            <a:off x="6217920" y="329184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347472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D85A30"/>
                </a:solidFill>
                <a:latin typeface="Calibri"/>
              </a:rPr>
              <a:t>86</a:t>
            </a:r>
          </a:p>
        </p:txBody>
      </p:sp>
      <p:sp>
        <p:nvSpPr>
          <p:cNvPr id="15" name="TextBox 14"/>
          <p:cNvSpPr txBox="1"/>
          <p:nvPr/>
        </p:nvSpPr>
        <p:spPr>
          <a:xfrm>
            <a:off x="6355080" y="438912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automated tests,
all passing</a:t>
            </a:r>
          </a:p>
        </p:txBody>
      </p:sp>
      <p:sp>
        <p:nvSpPr>
          <p:cNvPr id="16" name="Rounded Rectangle 15"/>
          <p:cNvSpPr/>
          <p:nvPr/>
        </p:nvSpPr>
        <p:spPr>
          <a:xfrm>
            <a:off x="8961120" y="3291840"/>
            <a:ext cx="2468880" cy="182880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0" y="3474720"/>
            <a:ext cx="2468880" cy="914400"/>
          </a:xfrm>
          <a:prstGeom prst="rect">
            <a:avLst/>
          </a:prstGeom>
          <a:noFill/>
        </p:spPr>
        <p:txBody>
          <a:bodyPr wrap="square" anchor="t" lIns="45720" rIns="45720" tIns="27432" bIns="27432">
            <a:spAutoFit/>
          </a:bodyPr>
          <a:lstStyle/>
          <a:p>
            <a:pPr algn="ctr">
              <a:spcAft>
                <a:spcPts val="0"/>
              </a:spcAft>
            </a:pPr>
            <a:r>
              <a:rPr sz="4400" b="1" i="0">
                <a:solidFill>
                  <a:srgbClr val="192D4B"/>
                </a:solidFill>
                <a:latin typeface="Calibri"/>
              </a:rPr>
              <a:t>24</a:t>
            </a:r>
          </a:p>
        </p:txBody>
      </p:sp>
      <p:sp>
        <p:nvSpPr>
          <p:cNvPr id="18" name="TextBox 17"/>
          <p:cNvSpPr txBox="1"/>
          <p:nvPr/>
        </p:nvSpPr>
        <p:spPr>
          <a:xfrm>
            <a:off x="9098280" y="4389120"/>
            <a:ext cx="2194560" cy="685800"/>
          </a:xfrm>
          <a:prstGeom prst="rect">
            <a:avLst/>
          </a:prstGeom>
          <a:noFill/>
        </p:spPr>
        <p:txBody>
          <a:bodyPr wrap="square" anchor="t" lIns="45720" rIns="45720" tIns="27432" bIns="27432">
            <a:spAutoFit/>
          </a:bodyPr>
          <a:lstStyle/>
          <a:p>
            <a:pPr algn="ctr">
              <a:spcAft>
                <a:spcPts val="0"/>
              </a:spcAft>
            </a:pPr>
            <a:r>
              <a:rPr sz="1400" b="0" i="0">
                <a:solidFill>
                  <a:srgbClr val="5A6472"/>
                </a:solidFill>
                <a:latin typeface="Calibri"/>
              </a:rPr>
              <a:t>Lusaka-area places
supported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Problem Statement</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3</a:t>
            </a:r>
          </a:p>
        </p:txBody>
      </p:sp>
      <p:sp>
        <p:nvSpPr>
          <p:cNvPr id="6" name="Rounded Rectangle 5"/>
          <p:cNvSpPr/>
          <p:nvPr/>
        </p:nvSpPr>
        <p:spPr>
          <a:xfrm>
            <a:off x="731520" y="1371600"/>
            <a:ext cx="3383280" cy="31089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Sellers</a:t>
            </a:r>
          </a:p>
        </p:txBody>
      </p:sp>
      <p:sp>
        <p:nvSpPr>
          <p:cNvPr id="8" name="TextBox 7"/>
          <p:cNvSpPr txBox="1"/>
          <p:nvPr/>
        </p:nvSpPr>
        <p:spPr>
          <a:xfrm>
            <a:off x="914400" y="1965960"/>
            <a:ext cx="3017520" cy="23774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Reach only the people who walk past their stall</a:t>
            </a:r>
          </a:p>
          <a:p>
            <a:pPr algn="l">
              <a:spcAft>
                <a:spcPts val="500"/>
              </a:spcAft>
            </a:pPr>
            <a:r>
              <a:rPr sz="1600" b="0" i="0">
                <a:solidFill>
                  <a:srgbClr val="232323"/>
                </a:solidFill>
                <a:latin typeface="Calibri"/>
              </a:rPr>
              <a:t>Have no record of good conduct to show new buyers</a:t>
            </a:r>
          </a:p>
        </p:txBody>
      </p:sp>
      <p:sp>
        <p:nvSpPr>
          <p:cNvPr id="9" name="Rounded Rectangle 8"/>
          <p:cNvSpPr/>
          <p:nvPr/>
        </p:nvSpPr>
        <p:spPr>
          <a:xfrm>
            <a:off x="4389120" y="1371600"/>
            <a:ext cx="3383280" cy="31089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50876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Buyers</a:t>
            </a:r>
          </a:p>
        </p:txBody>
      </p:sp>
      <p:sp>
        <p:nvSpPr>
          <p:cNvPr id="11" name="TextBox 10"/>
          <p:cNvSpPr txBox="1"/>
          <p:nvPr/>
        </p:nvSpPr>
        <p:spPr>
          <a:xfrm>
            <a:off x="4572000" y="1965960"/>
            <a:ext cx="3017520" cy="23774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Cannot easily find a nearby seller or compare prices</a:t>
            </a:r>
          </a:p>
          <a:p>
            <a:pPr algn="l">
              <a:spcAft>
                <a:spcPts val="500"/>
              </a:spcAft>
            </a:pPr>
            <a:r>
              <a:rPr sz="1600" b="0" i="0">
                <a:solidFill>
                  <a:srgbClr val="232323"/>
                </a:solidFill>
                <a:latin typeface="Calibri"/>
              </a:rPr>
              <a:t>Cannot judge whether a stranger will deliver as promised</a:t>
            </a:r>
          </a:p>
        </p:txBody>
      </p:sp>
      <p:sp>
        <p:nvSpPr>
          <p:cNvPr id="12" name="Rounded Rectangle 11"/>
          <p:cNvSpPr/>
          <p:nvPr/>
        </p:nvSpPr>
        <p:spPr>
          <a:xfrm>
            <a:off x="8046720" y="1371600"/>
            <a:ext cx="3383280" cy="310896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508760"/>
            <a:ext cx="3017520" cy="457200"/>
          </a:xfrm>
          <a:prstGeom prst="rect">
            <a:avLst/>
          </a:prstGeom>
          <a:noFill/>
        </p:spPr>
        <p:txBody>
          <a:bodyPr wrap="square" anchor="t" lIns="45720" rIns="45720" tIns="27432" bIns="27432">
            <a:spAutoFit/>
          </a:bodyPr>
          <a:lstStyle/>
          <a:p>
            <a:pPr algn="l">
              <a:spcAft>
                <a:spcPts val="600"/>
              </a:spcAft>
            </a:pPr>
            <a:r>
              <a:rPr sz="1800" b="1" i="0">
                <a:solidFill>
                  <a:srgbClr val="192D4B"/>
                </a:solidFill>
                <a:latin typeface="Calibri"/>
              </a:rPr>
              <a:t>Existing tools</a:t>
            </a:r>
          </a:p>
        </p:txBody>
      </p:sp>
      <p:sp>
        <p:nvSpPr>
          <p:cNvPr id="14" name="TextBox 13"/>
          <p:cNvSpPr txBox="1"/>
          <p:nvPr/>
        </p:nvSpPr>
        <p:spPr>
          <a:xfrm>
            <a:off x="8229600" y="1965960"/>
            <a:ext cx="3017520" cy="2377439"/>
          </a:xfrm>
          <a:prstGeom prst="rect">
            <a:avLst/>
          </a:prstGeom>
          <a:noFill/>
        </p:spPr>
        <p:txBody>
          <a:bodyPr wrap="square" anchor="t" lIns="45720" rIns="45720" tIns="27432" bIns="27432">
            <a:spAutoFit/>
          </a:bodyPr>
          <a:lstStyle/>
          <a:p>
            <a:pPr algn="l">
              <a:spcAft>
                <a:spcPts val="500"/>
              </a:spcAft>
            </a:pPr>
            <a:r>
              <a:rPr sz="1600" b="0" i="0">
                <a:solidFill>
                  <a:srgbClr val="232323"/>
                </a:solidFill>
                <a:latin typeface="Calibri"/>
              </a:rPr>
              <a:t>WhatsApp and Facebook: no verifiable seller record; posts can be edited</a:t>
            </a:r>
          </a:p>
          <a:p>
            <a:pPr algn="l">
              <a:spcAft>
                <a:spcPts val="500"/>
              </a:spcAft>
            </a:pPr>
            <a:r>
              <a:rPr sz="1600" b="0" i="0">
                <a:solidFill>
                  <a:srgbClr val="232323"/>
                </a:solidFill>
                <a:latin typeface="Calibri"/>
              </a:rPr>
              <a:t>E-commerce: trust depends on online payment and a steady connection</a:t>
            </a:r>
          </a:p>
        </p:txBody>
      </p:sp>
      <p:sp>
        <p:nvSpPr>
          <p:cNvPr id="15" name="Rounded Rectangle 14"/>
          <p:cNvSpPr/>
          <p:nvPr/>
        </p:nvSpPr>
        <p:spPr>
          <a:xfrm>
            <a:off x="731520" y="4800600"/>
            <a:ext cx="10698480" cy="114300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846320"/>
            <a:ext cx="10241280" cy="1051560"/>
          </a:xfrm>
          <a:prstGeom prst="rect">
            <a:avLst/>
          </a:prstGeom>
          <a:noFill/>
        </p:spPr>
        <p:txBody>
          <a:bodyPr wrap="square" anchor="ctr" lIns="45720" rIns="45720" tIns="27432" bIns="27432">
            <a:spAutoFit/>
          </a:bodyPr>
          <a:lstStyle/>
          <a:p>
            <a:pPr algn="l">
              <a:spcAft>
                <a:spcPts val="600"/>
              </a:spcAft>
            </a:pPr>
            <a:r>
              <a:rPr sz="1900" b="1" i="0">
                <a:solidFill>
                  <a:srgbClr val="D85A30"/>
                </a:solidFill>
                <a:latin typeface="Calibri"/>
              </a:rPr>
              <a:t>The problem: </a:t>
            </a:r>
            <a:r>
              <a:rPr sz="1900" b="0" i="0">
                <a:solidFill>
                  <a:srgbClr val="232323"/>
                </a:solidFill>
                <a:latin typeface="Calibri"/>
              </a:rPr>
              <a:t>no tool combines local discovery of sellers, a verifiable trust record, cash trading and poor connectivity.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Project Objectives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4</a:t>
            </a:r>
          </a:p>
        </p:txBody>
      </p:sp>
      <p:sp>
        <p:nvSpPr>
          <p:cNvPr id="6" name="Oval 5"/>
          <p:cNvSpPr/>
          <p:nvPr/>
        </p:nvSpPr>
        <p:spPr>
          <a:xfrm>
            <a:off x="822960" y="1371600"/>
            <a:ext cx="548640" cy="54864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600200" y="132588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Listing creation and neighbourhood-based discovery, with neighbourhood, price and quantity filters</a:t>
            </a:r>
          </a:p>
        </p:txBody>
      </p:sp>
      <p:sp>
        <p:nvSpPr>
          <p:cNvPr id="8" name="Oval 7"/>
          <p:cNvSpPr/>
          <p:nvPr/>
        </p:nvSpPr>
        <p:spPr>
          <a:xfrm>
            <a:off x="822960" y="2286000"/>
            <a:ext cx="548640" cy="54864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600200" y="224028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Voice-based listing creation in English with the Web Speech API, pre-filling the form for review</a:t>
            </a:r>
          </a:p>
        </p:txBody>
      </p:sp>
      <p:sp>
        <p:nvSpPr>
          <p:cNvPr id="10" name="Oval 9"/>
          <p:cNvSpPr/>
          <p:nvPr/>
        </p:nvSpPr>
        <p:spPr>
          <a:xfrm>
            <a:off x="822960" y="3200400"/>
            <a:ext cx="548640" cy="54864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600200" y="315468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A seller trust score backed by a SHA-256 hash chain, with ratings only from buyers who contacted the seller</a:t>
            </a:r>
          </a:p>
        </p:txBody>
      </p:sp>
      <p:sp>
        <p:nvSpPr>
          <p:cNvPr id="12" name="Oval 11"/>
          <p:cNvSpPr/>
          <p:nvPr/>
        </p:nvSpPr>
        <p:spPr>
          <a:xfrm>
            <a:off x="822960" y="4114800"/>
            <a:ext cx="548640" cy="54864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3" name="TextBox 12"/>
          <p:cNvSpPr txBox="1"/>
          <p:nvPr/>
        </p:nvSpPr>
        <p:spPr>
          <a:xfrm>
            <a:off x="1600200" y="406908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Real-time buyer–seller messaging and offline support: cached browsing and queued messages</a:t>
            </a:r>
          </a:p>
        </p:txBody>
      </p:sp>
      <p:sp>
        <p:nvSpPr>
          <p:cNvPr id="14" name="Oval 13"/>
          <p:cNvSpPr/>
          <p:nvPr/>
        </p:nvSpPr>
        <p:spPr>
          <a:xfrm>
            <a:off x="822960" y="5029200"/>
            <a:ext cx="548640" cy="54864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15" name="TextBox 14"/>
          <p:cNvSpPr txBox="1"/>
          <p:nvPr/>
        </p:nvSpPr>
        <p:spPr>
          <a:xfrm>
            <a:off x="1600200" y="498348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Evaluation through functional testing, tamper-detection testing and a usability assessment</a:t>
            </a:r>
          </a:p>
        </p:txBody>
      </p:sp>
      <p:sp>
        <p:nvSpPr>
          <p:cNvPr id="16" name="TextBox 15"/>
          <p:cNvSpPr txBox="1"/>
          <p:nvPr/>
        </p:nvSpPr>
        <p:spPr>
          <a:xfrm>
            <a:off x="1600200" y="5897880"/>
            <a:ext cx="9875520" cy="411480"/>
          </a:xfrm>
          <a:prstGeom prst="rect">
            <a:avLst/>
          </a:prstGeom>
          <a:noFill/>
        </p:spPr>
        <p:txBody>
          <a:bodyPr wrap="square" anchor="t" lIns="45720" rIns="45720" tIns="27432" bIns="27432">
            <a:spAutoFit/>
          </a:bodyPr>
          <a:lstStyle/>
          <a:p>
            <a:pPr algn="l">
              <a:spcAft>
                <a:spcPts val="600"/>
              </a:spcAft>
            </a:pPr>
            <a:r>
              <a:rPr sz="1300" b="0" i="0">
                <a:solidFill>
                  <a:srgbClr val="5A6472"/>
                </a:solidFill>
                <a:latin typeface="Calibri"/>
              </a:rPr>
              <a:t>Objective 2 originally included Nyanja and Bemba; narrowed to English during development.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Research / Knowledge Gap</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5</a:t>
            </a:r>
          </a:p>
        </p:txBody>
      </p:sp>
      <p:graphicFrame>
        <p:nvGraphicFramePr>
          <p:cNvPr id="6" name="Table 5"/>
          <p:cNvGraphicFramePr>
            <a:graphicFrameLocks noGrp="1"/>
          </p:cNvGraphicFramePr>
          <p:nvPr/>
        </p:nvGraphicFramePr>
        <p:xfrm>
          <a:off x="731520" y="1280160"/>
          <a:ext cx="10698480" cy="3291840"/>
        </p:xfrm>
        <a:graphic>
          <a:graphicData uri="http://schemas.openxmlformats.org/drawingml/2006/table">
            <a:tbl>
              <a:tblPr firstRow="1" bandRow="1">
                <a:tableStyleId>{5C22544A-7EE6-4342-B048-85BDC9FD1C3A}</a:tableStyleId>
              </a:tblPr>
              <a:tblGrid>
                <a:gridCol w="2834640"/>
                <a:gridCol w="1965960"/>
                <a:gridCol w="1965960"/>
                <a:gridCol w="1965960"/>
                <a:gridCol w="1965960"/>
              </a:tblGrid>
              <a:tr h="548640">
                <a:tc>
                  <a:txBody>
                    <a:bodyPr wrap="square"/>
                    <a:lstStyle/>
                    <a:p>
                      <a:r>
                        <a:rPr sz="1400" b="1">
                          <a:solidFill>
                            <a:srgbClr val="FFFFFF"/>
                          </a:solidFill>
                          <a:latin typeface="Calibri"/>
                        </a:rPr>
                        <a:t/>
                      </a:r>
                    </a:p>
                  </a:txBody>
                  <a:tcPr marL="73152" marR="73152" marT="36576" marB="36576" anchor="ctr">
                    <a:solidFill>
                      <a:srgbClr val="192D4B"/>
                    </a:solidFill>
                  </a:tcPr>
                </a:tc>
                <a:tc>
                  <a:txBody>
                    <a:bodyPr wrap="square"/>
                    <a:lstStyle/>
                    <a:p>
                      <a:r>
                        <a:rPr sz="1400" b="1">
                          <a:solidFill>
                            <a:srgbClr val="FFFFFF"/>
                          </a:solidFill>
                          <a:latin typeface="Calibri"/>
                        </a:rPr>
                        <a:t>Local discovery</a:t>
                      </a:r>
                    </a:p>
                  </a:txBody>
                  <a:tcPr marL="73152" marR="73152" marT="36576" marB="36576" anchor="ctr">
                    <a:solidFill>
                      <a:srgbClr val="192D4B"/>
                    </a:solidFill>
                  </a:tcPr>
                </a:tc>
                <a:tc>
                  <a:txBody>
                    <a:bodyPr wrap="square"/>
                    <a:lstStyle/>
                    <a:p>
                      <a:r>
                        <a:rPr sz="1400" b="1">
                          <a:solidFill>
                            <a:srgbClr val="FFFFFF"/>
                          </a:solidFill>
                          <a:latin typeface="Calibri"/>
                        </a:rPr>
                        <a:t>Verifiable trust</a:t>
                      </a:r>
                    </a:p>
                  </a:txBody>
                  <a:tcPr marL="73152" marR="73152" marT="36576" marB="36576" anchor="ctr">
                    <a:solidFill>
                      <a:srgbClr val="192D4B"/>
                    </a:solidFill>
                  </a:tcPr>
                </a:tc>
                <a:tc>
                  <a:txBody>
                    <a:bodyPr wrap="square"/>
                    <a:lstStyle/>
                    <a:p>
                      <a:r>
                        <a:rPr sz="1400" b="1">
                          <a:solidFill>
                            <a:srgbClr val="FFFFFF"/>
                          </a:solidFill>
                          <a:latin typeface="Calibri"/>
                        </a:rPr>
                        <a:t>Works with cash</a:t>
                      </a:r>
                    </a:p>
                  </a:txBody>
                  <a:tcPr marL="73152" marR="73152" marT="36576" marB="36576" anchor="ctr">
                    <a:solidFill>
                      <a:srgbClr val="192D4B"/>
                    </a:solidFill>
                  </a:tcPr>
                </a:tc>
                <a:tc>
                  <a:txBody>
                    <a:bodyPr wrap="square"/>
                    <a:lstStyle/>
                    <a:p>
                      <a:r>
                        <a:rPr sz="1400" b="1">
                          <a:solidFill>
                            <a:srgbClr val="FFFFFF"/>
                          </a:solidFill>
                          <a:latin typeface="Calibri"/>
                        </a:rPr>
                        <a:t>Works offline</a:t>
                      </a:r>
                    </a:p>
                  </a:txBody>
                  <a:tcPr marL="73152" marR="73152" marT="36576" marB="36576" anchor="ctr">
                    <a:solidFill>
                      <a:srgbClr val="192D4B"/>
                    </a:solidFill>
                  </a:tcPr>
                </a:tc>
              </a:tr>
              <a:tr h="548640">
                <a:tc>
                  <a:txBody>
                    <a:bodyPr wrap="square"/>
                    <a:lstStyle/>
                    <a:p>
                      <a:r>
                        <a:rPr sz="1800" b="0">
                          <a:solidFill>
                            <a:srgbClr val="232323"/>
                          </a:solidFill>
                          <a:latin typeface="Calibri"/>
                        </a:rPr>
                        <a:t>B-ne</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r>
              <a:tr h="548640">
                <a:tc>
                  <a:txBody>
                    <a:bodyPr wrap="square"/>
                    <a:lstStyle/>
                    <a:p>
                      <a:r>
                        <a:rPr sz="1800" b="0">
                          <a:solidFill>
                            <a:srgbClr val="232323"/>
                          </a:solidFill>
                          <a:latin typeface="Calibri"/>
                        </a:rPr>
                        <a:t>Kaymu (now Jumia)</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c>
                  <a:txBody>
                    <a:bodyPr wrap="square"/>
                    <a:lstStyle/>
                    <a:p>
                      <a:pPr algn="ctr"/>
                      <a:r>
                        <a:rPr sz="1800" b="1">
                          <a:solidFill>
                            <a:srgbClr val="2E7D4F"/>
                          </a:solidFill>
                          <a:latin typeface="Calibri"/>
                        </a:rPr>
                        <a:t>✓</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r>
              <a:tr h="548640">
                <a:tc>
                  <a:txBody>
                    <a:bodyPr wrap="square"/>
                    <a:lstStyle/>
                    <a:p>
                      <a:r>
                        <a:rPr sz="1800" b="0">
                          <a:solidFill>
                            <a:srgbClr val="232323"/>
                          </a:solidFill>
                          <a:latin typeface="Calibri"/>
                        </a:rPr>
                        <a:t>TreeMarket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c>
                  <a:txBody>
                    <a:bodyPr wrap="square"/>
                    <a:lstStyle/>
                    <a:p>
                      <a:pPr algn="ctr"/>
                      <a:r>
                        <a:rPr sz="1800" b="0">
                          <a:solidFill>
                            <a:srgbClr val="5A6472"/>
                          </a:solidFill>
                          <a:latin typeface="Calibri"/>
                        </a:rPr>
                        <a:t>—</a:t>
                      </a:r>
                    </a:p>
                  </a:txBody>
                  <a:tcPr marL="73152" marR="73152" marT="36576" marB="36576" anchor="ctr">
                    <a:solidFill>
                      <a:srgbClr val="FFFFFF"/>
                    </a:solidFill>
                  </a:tcPr>
                </a:tc>
              </a:tr>
              <a:tr h="548640">
                <a:tc>
                  <a:txBody>
                    <a:bodyPr wrap="square"/>
                    <a:lstStyle/>
                    <a:p>
                      <a:r>
                        <a:rPr sz="1800" b="0">
                          <a:solidFill>
                            <a:srgbClr val="232323"/>
                          </a:solidFill>
                          <a:latin typeface="Calibri"/>
                        </a:rPr>
                        <a:t>Egatee</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c>
                  <a:txBody>
                    <a:bodyPr wrap="square"/>
                    <a:lstStyle/>
                    <a:p>
                      <a:pPr algn="ctr"/>
                      <a:r>
                        <a:rPr sz="1800" b="0">
                          <a:solidFill>
                            <a:srgbClr val="5A6472"/>
                          </a:solidFill>
                          <a:latin typeface="Calibri"/>
                        </a:rPr>
                        <a:t>—</a:t>
                      </a:r>
                    </a:p>
                  </a:txBody>
                  <a:tcPr marL="73152" marR="73152" marT="36576" marB="36576" anchor="ctr">
                    <a:solidFill>
                      <a:srgbClr val="EEF2F7"/>
                    </a:solidFill>
                  </a:tcPr>
                </a:tc>
              </a:tr>
              <a:tr h="548640">
                <a:tc>
                  <a:txBody>
                    <a:bodyPr wrap="square"/>
                    <a:lstStyle/>
                    <a:p>
                      <a:r>
                        <a:rPr sz="1800" b="1">
                          <a:solidFill>
                            <a:srgbClr val="D85A30"/>
                          </a:solidFill>
                          <a:latin typeface="Calibri"/>
                        </a:rPr>
                        <a:t>ZamMarket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c>
                  <a:txBody>
                    <a:bodyPr wrap="square"/>
                    <a:lstStyle/>
                    <a:p>
                      <a:pPr algn="ctr"/>
                      <a:r>
                        <a:rPr sz="1800" b="1">
                          <a:solidFill>
                            <a:srgbClr val="2E7D4F"/>
                          </a:solidFill>
                          <a:latin typeface="Calibri"/>
                        </a:rPr>
                        <a:t>✓</a:t>
                      </a:r>
                    </a:p>
                  </a:txBody>
                  <a:tcPr marL="73152" marR="73152" marT="36576" marB="36576" anchor="ctr">
                    <a:solidFill>
                      <a:srgbClr val="FFFFFF"/>
                    </a:solidFill>
                  </a:tcPr>
                </a:tc>
              </a:tr>
            </a:tbl>
          </a:graphicData>
        </a:graphic>
      </p:graphicFrame>
      <p:sp>
        <p:nvSpPr>
          <p:cNvPr id="7" name="TextBox 6"/>
          <p:cNvSpPr txBox="1"/>
          <p:nvPr/>
        </p:nvSpPr>
        <p:spPr>
          <a:xfrm>
            <a:off x="731520" y="4754880"/>
            <a:ext cx="10698480" cy="365760"/>
          </a:xfrm>
          <a:prstGeom prst="rect">
            <a:avLst/>
          </a:prstGeom>
          <a:noFill/>
        </p:spPr>
        <p:txBody>
          <a:bodyPr wrap="square" anchor="t" lIns="45720" rIns="45720" tIns="27432" bIns="27432">
            <a:spAutoFit/>
          </a:bodyPr>
          <a:lstStyle/>
          <a:p>
            <a:pPr algn="l">
              <a:spcAft>
                <a:spcPts val="600"/>
              </a:spcAft>
            </a:pPr>
            <a:r>
              <a:rPr sz="1200" b="0" i="0">
                <a:solidFill>
                  <a:srgbClr val="5A6472"/>
                </a:solidFill>
                <a:latin typeface="Calibri"/>
              </a:rPr>
              <a:t>— = not documented in the sources reviewed</a:t>
            </a:r>
          </a:p>
        </p:txBody>
      </p:sp>
      <p:sp>
        <p:nvSpPr>
          <p:cNvPr id="8" name="Rounded Rectangle 7"/>
          <p:cNvSpPr/>
          <p:nvPr/>
        </p:nvSpPr>
        <p:spPr>
          <a:xfrm>
            <a:off x="731520" y="5166360"/>
            <a:ext cx="10698480" cy="86868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66360"/>
            <a:ext cx="10332720" cy="868680"/>
          </a:xfrm>
          <a:prstGeom prst="rect">
            <a:avLst/>
          </a:prstGeom>
          <a:noFill/>
        </p:spPr>
        <p:txBody>
          <a:bodyPr wrap="square" anchor="ctr" lIns="45720" rIns="45720" tIns="27432" bIns="27432">
            <a:spAutoFit/>
          </a:bodyPr>
          <a:lstStyle/>
          <a:p>
            <a:pPr algn="l">
              <a:spcAft>
                <a:spcPts val="600"/>
              </a:spcAft>
            </a:pPr>
            <a:r>
              <a:rPr sz="1900" b="1" i="0">
                <a:solidFill>
                  <a:srgbClr val="232323"/>
                </a:solidFill>
                <a:latin typeface="Calibri"/>
              </a:rPr>
              <a:t>No reviewed platform combines all four. ZamMarket was designed for that combination.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System Architecture</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6</a:t>
            </a:r>
          </a:p>
        </p:txBody>
      </p:sp>
      <p:pic>
        <p:nvPicPr>
          <p:cNvPr id="6" name="Picture 5" descr="mcp-Claude_Docs-blob-1791666873468-bodkyw.png"/>
          <p:cNvPicPr>
            <a:picLocks noChangeAspect="1"/>
          </p:cNvPicPr>
          <p:nvPr/>
        </p:nvPicPr>
        <p:blipFill>
          <a:blip r:embed="rId2"/>
          <a:stretch>
            <a:fillRect/>
          </a:stretch>
        </p:blipFill>
        <p:spPr>
          <a:xfrm>
            <a:off x="548640" y="1188720"/>
            <a:ext cx="7080124" cy="4983480"/>
          </a:xfrm>
          <a:prstGeom prst="rect">
            <a:avLst/>
          </a:prstGeom>
        </p:spPr>
      </p:pic>
      <p:sp>
        <p:nvSpPr>
          <p:cNvPr id="7" name="TextBox 6"/>
          <p:cNvSpPr txBox="1"/>
          <p:nvPr/>
        </p:nvSpPr>
        <p:spPr>
          <a:xfrm>
            <a:off x="7863840" y="1371600"/>
            <a:ext cx="3749039" cy="4572000"/>
          </a:xfrm>
          <a:prstGeom prst="rect">
            <a:avLst/>
          </a:prstGeom>
          <a:noFill/>
        </p:spPr>
        <p:txBody>
          <a:bodyPr wrap="square" anchor="t" lIns="45720" rIns="45720" tIns="27432" bIns="27432">
            <a:spAutoFit/>
          </a:bodyPr>
          <a:lstStyle/>
          <a:p>
            <a:pPr algn="l">
              <a:spcAft>
                <a:spcPts val="1400"/>
              </a:spcAft>
            </a:pPr>
            <a:r>
              <a:rPr sz="1600" b="1" i="0">
                <a:solidFill>
                  <a:srgbClr val="192D4B"/>
                </a:solidFill>
                <a:latin typeface="Calibri"/>
              </a:rPr>
              <a:t>Presentation: </a:t>
            </a:r>
            <a:r>
              <a:rPr sz="1600" b="0" i="0">
                <a:solidFill>
                  <a:srgbClr val="232323"/>
                </a:solidFill>
                <a:latin typeface="Calibri"/>
              </a:rPr>
              <a:t>React PWA on the phone, with offline cache and message queue.</a:t>
            </a:r>
          </a:p>
          <a:p>
            <a:pPr algn="l">
              <a:spcAft>
                <a:spcPts val="1400"/>
              </a:spcAft>
            </a:pPr>
            <a:r>
              <a:rPr sz="1600" b="1" i="0">
                <a:solidFill>
                  <a:srgbClr val="192D4B"/>
                </a:solidFill>
                <a:latin typeface="Calibri"/>
              </a:rPr>
              <a:t>Application: </a:t>
            </a:r>
            <a:r>
              <a:rPr sz="1600" b="0" i="0">
                <a:solidFill>
                  <a:srgbClr val="232323"/>
                </a:solidFill>
                <a:latin typeface="Calibri"/>
              </a:rPr>
              <a:t>Express REST API and Socket.io server. Only the server writes trust blocks.</a:t>
            </a:r>
          </a:p>
          <a:p>
            <a:pPr algn="l">
              <a:spcAft>
                <a:spcPts val="1400"/>
              </a:spcAft>
            </a:pPr>
            <a:r>
              <a:rPr sz="1600" b="1" i="0">
                <a:solidFill>
                  <a:srgbClr val="192D4B"/>
                </a:solidFill>
                <a:latin typeface="Calibri"/>
              </a:rPr>
              <a:t>Data: </a:t>
            </a:r>
            <a:r>
              <a:rPr sz="1600" b="0" i="0">
                <a:solidFill>
                  <a:srgbClr val="232323"/>
                </a:solidFill>
                <a:latin typeface="Calibri"/>
              </a:rPr>
              <a:t>MongoDB Atlas (seven collections) and Cloudinary for photos.</a:t>
            </a:r>
          </a:p>
          <a:p>
            <a:pPr algn="l">
              <a:spcAft>
                <a:spcPts val="1400"/>
              </a:spcAft>
            </a:pPr>
            <a:r>
              <a:rPr sz="1600" b="1" i="0">
                <a:solidFill>
                  <a:srgbClr val="D85A30"/>
                </a:solidFill>
                <a:latin typeface="Calibri"/>
              </a:rPr>
              <a:t>Highlighted: </a:t>
            </a:r>
            <a:r>
              <a:rPr sz="1600" b="0" i="0">
                <a:solidFill>
                  <a:srgbClr val="232323"/>
                </a:solidFill>
                <a:latin typeface="Calibri"/>
              </a:rPr>
              <a:t>the trust module and TrustChain collection.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Interface / Interaction Design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7</a:t>
            </a:r>
          </a:p>
        </p:txBody>
      </p:sp>
      <p:pic>
        <p:nvPicPr>
          <p:cNvPr id="6" name="Picture 5" descr="browse.png"/>
          <p:cNvPicPr>
            <a:picLocks noChangeAspect="1"/>
          </p:cNvPicPr>
          <p:nvPr/>
        </p:nvPicPr>
        <p:blipFill>
          <a:blip r:embed="rId2"/>
          <a:stretch>
            <a:fillRect/>
          </a:stretch>
        </p:blipFill>
        <p:spPr>
          <a:xfrm>
            <a:off x="914400" y="1188720"/>
            <a:ext cx="2049274" cy="4434840"/>
          </a:xfrm>
          <a:prstGeom prst="rect">
            <a:avLst/>
          </a:prstGeom>
          <a:ln w="12700">
            <a:solidFill>
              <a:srgbClr val="D5DCE6"/>
            </a:solidFill>
          </a:ln>
        </p:spPr>
      </p:pic>
      <p:sp>
        <p:nvSpPr>
          <p:cNvPr id="7" name="TextBox 6"/>
          <p:cNvSpPr txBox="1"/>
          <p:nvPr/>
        </p:nvSpPr>
        <p:spPr>
          <a:xfrm>
            <a:off x="731520" y="5715000"/>
            <a:ext cx="2423160" cy="411480"/>
          </a:xfrm>
          <a:prstGeom prst="rect">
            <a:avLst/>
          </a:prstGeom>
          <a:noFill/>
        </p:spPr>
        <p:txBody>
          <a:bodyPr wrap="square" anchor="t" lIns="45720" rIns="45720" tIns="27432" bIns="27432">
            <a:spAutoFit/>
          </a:bodyPr>
          <a:lstStyle/>
          <a:p>
            <a:pPr algn="ctr">
              <a:spcAft>
                <a:spcPts val="600"/>
              </a:spcAft>
            </a:pPr>
            <a:r>
              <a:rPr sz="1400" b="1" i="0">
                <a:solidFill>
                  <a:srgbClr val="192D4B"/>
                </a:solidFill>
                <a:latin typeface="Calibri"/>
              </a:rPr>
              <a:t>Browse with filters</a:t>
            </a:r>
          </a:p>
        </p:txBody>
      </p:sp>
      <p:pic>
        <p:nvPicPr>
          <p:cNvPr id="8" name="Picture 7" descr="voice.png"/>
          <p:cNvPicPr>
            <a:picLocks noChangeAspect="1"/>
          </p:cNvPicPr>
          <p:nvPr/>
        </p:nvPicPr>
        <p:blipFill>
          <a:blip r:embed="rId3"/>
          <a:stretch>
            <a:fillRect/>
          </a:stretch>
        </p:blipFill>
        <p:spPr>
          <a:xfrm>
            <a:off x="3566160" y="1188720"/>
            <a:ext cx="2049274" cy="4434840"/>
          </a:xfrm>
          <a:prstGeom prst="rect">
            <a:avLst/>
          </a:prstGeom>
          <a:ln w="12700">
            <a:solidFill>
              <a:srgbClr val="D5DCE6"/>
            </a:solidFill>
          </a:ln>
        </p:spPr>
      </p:pic>
      <p:sp>
        <p:nvSpPr>
          <p:cNvPr id="9" name="TextBox 8"/>
          <p:cNvSpPr txBox="1"/>
          <p:nvPr/>
        </p:nvSpPr>
        <p:spPr>
          <a:xfrm>
            <a:off x="3383279" y="5715000"/>
            <a:ext cx="2423160" cy="411480"/>
          </a:xfrm>
          <a:prstGeom prst="rect">
            <a:avLst/>
          </a:prstGeom>
          <a:noFill/>
        </p:spPr>
        <p:txBody>
          <a:bodyPr wrap="square" anchor="t" lIns="45720" rIns="45720" tIns="27432" bIns="27432">
            <a:spAutoFit/>
          </a:bodyPr>
          <a:lstStyle/>
          <a:p>
            <a:pPr algn="ctr">
              <a:spcAft>
                <a:spcPts val="600"/>
              </a:spcAft>
            </a:pPr>
            <a:r>
              <a:rPr sz="1400" b="1" i="0">
                <a:solidFill>
                  <a:srgbClr val="192D4B"/>
                </a:solidFill>
                <a:latin typeface="Calibri"/>
              </a:rPr>
              <a:t>Voice listing</a:t>
            </a:r>
          </a:p>
        </p:txBody>
      </p:sp>
      <p:pic>
        <p:nvPicPr>
          <p:cNvPr id="10" name="Picture 9" descr="chat.png"/>
          <p:cNvPicPr>
            <a:picLocks noChangeAspect="1"/>
          </p:cNvPicPr>
          <p:nvPr/>
        </p:nvPicPr>
        <p:blipFill>
          <a:blip r:embed="rId4"/>
          <a:stretch>
            <a:fillRect/>
          </a:stretch>
        </p:blipFill>
        <p:spPr>
          <a:xfrm>
            <a:off x="6217920" y="1188720"/>
            <a:ext cx="2049274" cy="4434840"/>
          </a:xfrm>
          <a:prstGeom prst="rect">
            <a:avLst/>
          </a:prstGeom>
          <a:ln w="12700">
            <a:solidFill>
              <a:srgbClr val="D5DCE6"/>
            </a:solidFill>
          </a:ln>
        </p:spPr>
      </p:pic>
      <p:sp>
        <p:nvSpPr>
          <p:cNvPr id="11" name="TextBox 10"/>
          <p:cNvSpPr txBox="1"/>
          <p:nvPr/>
        </p:nvSpPr>
        <p:spPr>
          <a:xfrm>
            <a:off x="6035040" y="5715000"/>
            <a:ext cx="2423160" cy="411480"/>
          </a:xfrm>
          <a:prstGeom prst="rect">
            <a:avLst/>
          </a:prstGeom>
          <a:noFill/>
        </p:spPr>
        <p:txBody>
          <a:bodyPr wrap="square" anchor="t" lIns="45720" rIns="45720" tIns="27432" bIns="27432">
            <a:spAutoFit/>
          </a:bodyPr>
          <a:lstStyle/>
          <a:p>
            <a:pPr algn="ctr">
              <a:spcAft>
                <a:spcPts val="600"/>
              </a:spcAft>
            </a:pPr>
            <a:r>
              <a:rPr sz="1400" b="1" i="0">
                <a:solidFill>
                  <a:srgbClr val="192D4B"/>
                </a:solidFill>
                <a:latin typeface="Calibri"/>
              </a:rPr>
              <a:t>Chat + rating prompt</a:t>
            </a:r>
          </a:p>
        </p:txBody>
      </p:sp>
      <p:pic>
        <p:nvPicPr>
          <p:cNvPr id="12" name="Picture 11" descr="trust.png"/>
          <p:cNvPicPr>
            <a:picLocks noChangeAspect="1"/>
          </p:cNvPicPr>
          <p:nvPr/>
        </p:nvPicPr>
        <p:blipFill>
          <a:blip r:embed="rId5"/>
          <a:stretch>
            <a:fillRect/>
          </a:stretch>
        </p:blipFill>
        <p:spPr>
          <a:xfrm>
            <a:off x="8869680" y="1188720"/>
            <a:ext cx="2049274" cy="4434840"/>
          </a:xfrm>
          <a:prstGeom prst="rect">
            <a:avLst/>
          </a:prstGeom>
          <a:ln w="12700">
            <a:solidFill>
              <a:srgbClr val="D5DCE6"/>
            </a:solidFill>
          </a:ln>
        </p:spPr>
      </p:pic>
      <p:sp>
        <p:nvSpPr>
          <p:cNvPr id="13" name="TextBox 12"/>
          <p:cNvSpPr txBox="1"/>
          <p:nvPr/>
        </p:nvSpPr>
        <p:spPr>
          <a:xfrm>
            <a:off x="8686800" y="5715000"/>
            <a:ext cx="2423160" cy="411480"/>
          </a:xfrm>
          <a:prstGeom prst="rect">
            <a:avLst/>
          </a:prstGeom>
          <a:noFill/>
        </p:spPr>
        <p:txBody>
          <a:bodyPr wrap="square" anchor="t" lIns="45720" rIns="45720" tIns="27432" bIns="27432">
            <a:spAutoFit/>
          </a:bodyPr>
          <a:lstStyle/>
          <a:p>
            <a:pPr algn="ctr">
              <a:spcAft>
                <a:spcPts val="600"/>
              </a:spcAft>
            </a:pPr>
            <a:r>
              <a:rPr sz="1400" b="1" i="0">
                <a:solidFill>
                  <a:srgbClr val="192D4B"/>
                </a:solidFill>
                <a:latin typeface="Calibri"/>
              </a:rPr>
              <a:t>Trust score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Algorithms / Models / Technical Design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8</a:t>
            </a:r>
          </a:p>
        </p:txBody>
      </p:sp>
      <p:pic>
        <p:nvPicPr>
          <p:cNvPr id="6" name="Picture 5" descr="mcp-Claude_Docs-blob-1791666898869-jk3klf.png"/>
          <p:cNvPicPr>
            <a:picLocks noChangeAspect="1"/>
          </p:cNvPicPr>
          <p:nvPr/>
        </p:nvPicPr>
        <p:blipFill>
          <a:blip r:embed="rId2"/>
          <a:stretch>
            <a:fillRect/>
          </a:stretch>
        </p:blipFill>
        <p:spPr>
          <a:xfrm>
            <a:off x="502920" y="1188720"/>
            <a:ext cx="6949440" cy="3867694"/>
          </a:xfrm>
          <a:prstGeom prst="rect">
            <a:avLst/>
          </a:prstGeom>
        </p:spPr>
      </p:pic>
      <p:sp>
        <p:nvSpPr>
          <p:cNvPr id="7" name="TextBox 6"/>
          <p:cNvSpPr txBox="1"/>
          <p:nvPr/>
        </p:nvSpPr>
        <p:spPr>
          <a:xfrm>
            <a:off x="7726679" y="1234440"/>
            <a:ext cx="3931920" cy="4937760"/>
          </a:xfrm>
          <a:prstGeom prst="rect">
            <a:avLst/>
          </a:prstGeom>
          <a:noFill/>
        </p:spPr>
        <p:txBody>
          <a:bodyPr wrap="square" anchor="t" lIns="45720" rIns="45720" tIns="27432" bIns="27432">
            <a:spAutoFit/>
          </a:bodyPr>
          <a:lstStyle/>
          <a:p>
            <a:pPr algn="l">
              <a:spcAft>
                <a:spcPts val="1200"/>
              </a:spcAft>
            </a:pPr>
            <a:r>
              <a:rPr sz="1600" b="1" i="0">
                <a:solidFill>
                  <a:srgbClr val="192D4B"/>
                </a:solidFill>
                <a:latin typeface="Calibri"/>
              </a:rPr>
              <a:t>Block hash: </a:t>
            </a:r>
            <a:r>
              <a:rPr sz="1600" b="0" i="0">
                <a:solidFill>
                  <a:srgbClr val="232323"/>
                </a:solidFill>
                <a:latin typeface="Calibri"/>
              </a:rPr>
              <a:t>SHA-256 of time, event and previous hash.</a:t>
            </a:r>
          </a:p>
          <a:p>
            <a:pPr algn="l">
              <a:spcAft>
                <a:spcPts val="1200"/>
              </a:spcAft>
            </a:pPr>
            <a:r>
              <a:rPr sz="1600" b="1" i="0">
                <a:solidFill>
                  <a:srgbClr val="192D4B"/>
                </a:solidFill>
                <a:latin typeface="Calibri"/>
              </a:rPr>
              <a:t>Verify: </a:t>
            </a:r>
            <a:r>
              <a:rPr sz="1600" b="0" i="0">
                <a:solidFill>
                  <a:srgbClr val="232323"/>
                </a:solidFill>
                <a:latin typeface="Calibri"/>
              </a:rPr>
              <a:t>re-hash every block, check every link, compare the last hash with the one stored on the seller.</a:t>
            </a:r>
          </a:p>
          <a:p>
            <a:pPr algn="l">
              <a:spcAft>
                <a:spcPts val="1200"/>
              </a:spcAft>
            </a:pPr>
            <a:r>
              <a:rPr sz="1600" b="1" i="0">
                <a:solidFill>
                  <a:srgbClr val="192D4B"/>
                </a:solidFill>
                <a:latin typeface="Calibri"/>
              </a:rPr>
              <a:t>Score: </a:t>
            </a:r>
            <a:r>
              <a:rPr sz="1600" b="0" i="0">
                <a:solidFill>
                  <a:srgbClr val="232323"/>
                </a:solidFill>
                <a:latin typeface="Calibri"/>
              </a:rPr>
              <a:t>50 + event weights, kept between 0 and 100. Verified +15, 5★ +8, listing +2, 1★ −5.</a:t>
            </a:r>
          </a:p>
          <a:p>
            <a:pPr algn="l">
              <a:spcAft>
                <a:spcPts val="1200"/>
              </a:spcAft>
            </a:pPr>
            <a:r>
              <a:rPr sz="1600" b="1" i="0">
                <a:solidFill>
                  <a:srgbClr val="192D4B"/>
                </a:solidFill>
                <a:latin typeface="Calibri"/>
              </a:rPr>
              <a:t>Voice parser: </a:t>
            </a:r>
            <a:r>
              <a:rPr sz="1600" b="0" i="0">
                <a:solidFill>
                  <a:srgbClr val="232323"/>
                </a:solidFill>
                <a:latin typeface="Calibri"/>
              </a:rPr>
              <a:t>number words to digits, then price, quantity, unit and area by pattern.</a:t>
            </a:r>
          </a:p>
        </p:txBody>
      </p:sp>
      <p:sp>
        <p:nvSpPr>
          <p:cNvPr id="8" name="TextBox 7"/>
          <p:cNvSpPr txBox="1"/>
          <p:nvPr/>
        </p:nvSpPr>
        <p:spPr>
          <a:xfrm>
            <a:off x="502920" y="5257800"/>
            <a:ext cx="6949440" cy="822960"/>
          </a:xfrm>
          <a:prstGeom prst="rect">
            <a:avLst/>
          </a:prstGeom>
          <a:noFill/>
        </p:spPr>
        <p:txBody>
          <a:bodyPr wrap="square" anchor="t" lIns="45720" rIns="45720" tIns="27432" bIns="27432">
            <a:spAutoFit/>
          </a:bodyPr>
          <a:lstStyle/>
          <a:p>
            <a:pPr algn="l">
              <a:spcAft>
                <a:spcPts val="600"/>
              </a:spcAft>
            </a:pPr>
            <a:r>
              <a:rPr sz="1500" b="1" i="0">
                <a:solidFill>
                  <a:srgbClr val="192D4B"/>
                </a:solidFill>
                <a:latin typeface="Calibri"/>
              </a:rPr>
              <a:t>Why not a real blockchain? </a:t>
            </a:r>
            <a:r>
              <a:rPr sz="1500" b="0" i="0">
                <a:solidFill>
                  <a:srgbClr val="232323"/>
                </a:solidFill>
                <a:latin typeface="Calibri"/>
              </a:rPr>
              <a:t>One operator, no need for consensus; a hash chain gives tamper evidence at no cost.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Challenges and Solutions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9</a:t>
            </a:r>
          </a:p>
        </p:txBody>
      </p:sp>
      <p:graphicFrame>
        <p:nvGraphicFramePr>
          <p:cNvPr id="6" name="Table 5"/>
          <p:cNvGraphicFramePr>
            <a:graphicFrameLocks noGrp="1"/>
          </p:cNvGraphicFramePr>
          <p:nvPr/>
        </p:nvGraphicFramePr>
        <p:xfrm>
          <a:off x="548640" y="1280160"/>
          <a:ext cx="11064240" cy="4535424"/>
        </p:xfrm>
        <a:graphic>
          <a:graphicData uri="http://schemas.openxmlformats.org/drawingml/2006/table">
            <a:tbl>
              <a:tblPr firstRow="1" bandRow="1">
                <a:tableStyleId>{5C22544A-7EE6-4342-B048-85BDC9FD1C3A}</a:tableStyleId>
              </a:tblPr>
              <a:tblGrid>
                <a:gridCol w="5669280"/>
                <a:gridCol w="5394960"/>
              </a:tblGrid>
              <a:tr h="566928">
                <a:tc>
                  <a:txBody>
                    <a:bodyPr wrap="square"/>
                    <a:lstStyle/>
                    <a:p>
                      <a:r>
                        <a:rPr sz="1400" b="1">
                          <a:solidFill>
                            <a:srgbClr val="FFFFFF"/>
                          </a:solidFill>
                          <a:latin typeface="Calibri"/>
                        </a:rPr>
                        <a:t>Challenge</a:t>
                      </a:r>
                    </a:p>
                  </a:txBody>
                  <a:tcPr marL="73152" marR="73152" marT="36576" marB="36576" anchor="ctr">
                    <a:solidFill>
                      <a:srgbClr val="192D4B"/>
                    </a:solidFill>
                  </a:tcPr>
                </a:tc>
                <a:tc>
                  <a:txBody>
                    <a:bodyPr wrap="square"/>
                    <a:lstStyle/>
                    <a:p>
                      <a:r>
                        <a:rPr sz="1400" b="1">
                          <a:solidFill>
                            <a:srgbClr val="FFFFFF"/>
                          </a:solidFill>
                          <a:latin typeface="Calibri"/>
                        </a:rPr>
                        <a:t>Solution</a:t>
                      </a:r>
                    </a:p>
                  </a:txBody>
                  <a:tcPr marL="73152" marR="73152" marT="36576" marB="36576" anchor="ctr">
                    <a:solidFill>
                      <a:srgbClr val="192D4B"/>
                    </a:solidFill>
                  </a:tcPr>
                </a:tc>
              </a:tr>
              <a:tr h="566928">
                <a:tc>
                  <a:txBody>
                    <a:bodyPr wrap="square"/>
                    <a:lstStyle/>
                    <a:p>
                      <a:r>
                        <a:rPr sz="1500" b="0">
                          <a:solidFill>
                            <a:srgbClr val="232323"/>
                          </a:solidFill>
                          <a:latin typeface="Calibri"/>
                        </a:rPr>
                        <a:t>Every chain showed as tampered, though none was</a:t>
                      </a:r>
                    </a:p>
                  </a:txBody>
                  <a:tcPr marL="73152" marR="73152" marT="36576" marB="36576" anchor="ctr">
                    <a:solidFill>
                      <a:srgbClr val="FFFFFF"/>
                    </a:solidFill>
                  </a:tcPr>
                </a:tc>
                <a:tc>
                  <a:txBody>
                    <a:bodyPr wrap="square"/>
                    <a:lstStyle/>
                    <a:p>
                      <a:r>
                        <a:rPr sz="1500" b="0">
                          <a:solidFill>
                            <a:srgbClr val="232323"/>
                          </a:solidFill>
                          <a:latin typeface="Calibri"/>
                        </a:rPr>
                        <a:t>Re-hash only the original fields</a:t>
                      </a:r>
                    </a:p>
                  </a:txBody>
                  <a:tcPr marL="73152" marR="73152" marT="36576" marB="36576" anchor="ctr">
                    <a:solidFill>
                      <a:srgbClr val="FFFFFF"/>
                    </a:solidFill>
                  </a:tcPr>
                </a:tc>
              </a:tr>
              <a:tr h="566928">
                <a:tc>
                  <a:txBody>
                    <a:bodyPr wrap="square"/>
                    <a:lstStyle/>
                    <a:p>
                      <a:r>
                        <a:rPr sz="1500" b="0">
                          <a:solidFill>
                            <a:srgbClr val="232323"/>
                          </a:solidFill>
                          <a:latin typeface="Calibri"/>
                        </a:rPr>
                        <a:t>An edited last block could not be detected</a:t>
                      </a:r>
                    </a:p>
                  </a:txBody>
                  <a:tcPr marL="73152" marR="73152" marT="36576" marB="36576" anchor="ctr">
                    <a:solidFill>
                      <a:srgbClr val="EEF2F7"/>
                    </a:solidFill>
                  </a:tcPr>
                </a:tc>
                <a:tc>
                  <a:txBody>
                    <a:bodyPr wrap="square"/>
                    <a:lstStyle/>
                    <a:p>
                      <a:r>
                        <a:rPr sz="1500" b="0">
                          <a:solidFill>
                            <a:srgbClr val="232323"/>
                          </a:solidFill>
                          <a:latin typeface="Calibri"/>
                        </a:rPr>
                        <a:t>Check it against the hash stored on the seller</a:t>
                      </a:r>
                    </a:p>
                  </a:txBody>
                  <a:tcPr marL="73152" marR="73152" marT="36576" marB="36576" anchor="ctr">
                    <a:solidFill>
                      <a:srgbClr val="EEF2F7"/>
                    </a:solidFill>
                  </a:tcPr>
                </a:tc>
              </a:tr>
              <a:tr h="566928">
                <a:tc>
                  <a:txBody>
                    <a:bodyPr wrap="square"/>
                    <a:lstStyle/>
                    <a:p>
                      <a:r>
                        <a:rPr sz="1500" b="0">
                          <a:solidFill>
                            <a:srgbClr val="232323"/>
                          </a:solidFill>
                          <a:latin typeface="Calibri"/>
                        </a:rPr>
                        <a:t>Anyone could sign up as an administrator</a:t>
                      </a:r>
                    </a:p>
                  </a:txBody>
                  <a:tcPr marL="73152" marR="73152" marT="36576" marB="36576" anchor="ctr">
                    <a:solidFill>
                      <a:srgbClr val="FFFFFF"/>
                    </a:solidFill>
                  </a:tcPr>
                </a:tc>
                <a:tc>
                  <a:txBody>
                    <a:bodyPr wrap="square"/>
                    <a:lstStyle/>
                    <a:p>
                      <a:r>
                        <a:rPr sz="1500" b="0">
                          <a:solidFill>
                            <a:srgbClr val="232323"/>
                          </a:solidFill>
                          <a:latin typeface="Calibri"/>
                        </a:rPr>
                        <a:t>Sign-up limited to buyer and seller; admin created by a script</a:t>
                      </a:r>
                    </a:p>
                  </a:txBody>
                  <a:tcPr marL="73152" marR="73152" marT="36576" marB="36576" anchor="ctr">
                    <a:solidFill>
                      <a:srgbClr val="FFFFFF"/>
                    </a:solidFill>
                  </a:tcPr>
                </a:tc>
              </a:tr>
              <a:tr h="566928">
                <a:tc>
                  <a:txBody>
                    <a:bodyPr wrap="square"/>
                    <a:lstStyle/>
                    <a:p>
                      <a:r>
                        <a:rPr sz="1500" b="0">
                          <a:solidFill>
                            <a:srgbClr val="232323"/>
                          </a:solidFill>
                          <a:latin typeface="Calibri"/>
                        </a:rPr>
                        <a:t>An admin could verify twice (+15 again) or demote another admin</a:t>
                      </a:r>
                    </a:p>
                  </a:txBody>
                  <a:tcPr marL="73152" marR="73152" marT="36576" marB="36576" anchor="ctr">
                    <a:solidFill>
                      <a:srgbClr val="EEF2F7"/>
                    </a:solidFill>
                  </a:tcPr>
                </a:tc>
                <a:tc>
                  <a:txBody>
                    <a:bodyPr wrap="square"/>
                    <a:lstStyle/>
                    <a:p>
                      <a:r>
                        <a:rPr sz="1500" b="0">
                          <a:solidFill>
                            <a:srgbClr val="232323"/>
                          </a:solidFill>
                          <a:latin typeface="Calibri"/>
                        </a:rPr>
                        <a:t>Verify once only; admins protected; every action logged with a reason</a:t>
                      </a:r>
                    </a:p>
                  </a:txBody>
                  <a:tcPr marL="73152" marR="73152" marT="36576" marB="36576" anchor="ctr">
                    <a:solidFill>
                      <a:srgbClr val="EEF2F7"/>
                    </a:solidFill>
                  </a:tcPr>
                </a:tc>
              </a:tr>
              <a:tr h="566928">
                <a:tc>
                  <a:txBody>
                    <a:bodyPr wrap="square"/>
                    <a:lstStyle/>
                    <a:p>
                      <a:r>
                        <a:rPr sz="1500" b="0">
                          <a:solidFill>
                            <a:srgbClr val="232323"/>
                          </a:solidFill>
                          <a:latin typeface="Calibri"/>
                        </a:rPr>
                        <a:t>Browsers cannot recognise Nyanja or Bemba</a:t>
                      </a:r>
                    </a:p>
                  </a:txBody>
                  <a:tcPr marL="73152" marR="73152" marT="36576" marB="36576" anchor="ctr">
                    <a:solidFill>
                      <a:srgbClr val="FFFFFF"/>
                    </a:solidFill>
                  </a:tcPr>
                </a:tc>
                <a:tc>
                  <a:txBody>
                    <a:bodyPr wrap="square"/>
                    <a:lstStyle/>
                    <a:p>
                      <a:r>
                        <a:rPr sz="1500" b="0">
                          <a:solidFill>
                            <a:srgbClr val="232323"/>
                          </a:solidFill>
                          <a:latin typeface="Calibri"/>
                        </a:rPr>
                        <a:t>Scope narrowed to English, stated openly</a:t>
                      </a:r>
                    </a:p>
                  </a:txBody>
                  <a:tcPr marL="73152" marR="73152" marT="36576" marB="36576" anchor="ctr">
                    <a:solidFill>
                      <a:srgbClr val="FFFFFF"/>
                    </a:solidFill>
                  </a:tcPr>
                </a:tc>
              </a:tr>
              <a:tr h="566928">
                <a:tc>
                  <a:txBody>
                    <a:bodyPr wrap="square"/>
                    <a:lstStyle/>
                    <a:p>
                      <a:r>
                        <a:rPr sz="1500" b="0">
                          <a:solidFill>
                            <a:srgbClr val="232323"/>
                          </a:solidFill>
                          <a:latin typeface="Calibri"/>
                        </a:rPr>
                        <a:t>Voice parser missed "ninety five" and "at 100"</a:t>
                      </a:r>
                    </a:p>
                  </a:txBody>
                  <a:tcPr marL="73152" marR="73152" marT="36576" marB="36576" anchor="ctr">
                    <a:solidFill>
                      <a:srgbClr val="EEF2F7"/>
                    </a:solidFill>
                  </a:tcPr>
                </a:tc>
                <a:tc>
                  <a:txBody>
                    <a:bodyPr wrap="square"/>
                    <a:lstStyle/>
                    <a:p>
                      <a:r>
                        <a:rPr sz="1500" b="0">
                          <a:solidFill>
                            <a:srgbClr val="232323"/>
                          </a:solidFill>
                          <a:latin typeface="Calibri"/>
                        </a:rPr>
                        <a:t>Rewritten as a separate, tested module</a:t>
                      </a:r>
                    </a:p>
                  </a:txBody>
                  <a:tcPr marL="73152" marR="73152" marT="36576" marB="36576" anchor="ctr">
                    <a:solidFill>
                      <a:srgbClr val="EEF2F7"/>
                    </a:solidFill>
                  </a:tcPr>
                </a:tc>
              </a:tr>
              <a:tr h="566928">
                <a:tc>
                  <a:txBody>
                    <a:bodyPr wrap="square"/>
                    <a:lstStyle/>
                    <a:p>
                      <a:r>
                        <a:rPr sz="1500" b="0">
                          <a:solidFill>
                            <a:srgbClr val="232323"/>
                          </a:solidFill>
                          <a:latin typeface="Calibri"/>
                        </a:rPr>
                        <a:t>Deployment failed (July and September 2026)</a:t>
                      </a:r>
                    </a:p>
                  </a:txBody>
                  <a:tcPr marL="73152" marR="73152" marT="36576" marB="36576" anchor="ctr">
                    <a:solidFill>
                      <a:srgbClr val="FFFFFF"/>
                    </a:solidFill>
                  </a:tcPr>
                </a:tc>
                <a:tc>
                  <a:txBody>
                    <a:bodyPr wrap="square"/>
                    <a:lstStyle/>
                    <a:p>
                      <a:r>
                        <a:rPr sz="1500" b="0">
                          <a:solidFill>
                            <a:srgbClr val="232323"/>
                          </a:solidFill>
                          <a:latin typeface="Calibri"/>
                        </a:rPr>
                        <a:t>Found and fixed four causes; live since 12 October 2026</a:t>
                      </a:r>
                    </a:p>
                  </a:txBody>
                  <a:tcPr marL="73152" marR="73152" marT="36576" marB="36576"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Test Results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10</a:t>
            </a:r>
          </a:p>
        </p:txBody>
      </p:sp>
      <p:graphicFrame>
        <p:nvGraphicFramePr>
          <p:cNvPr id="6" name="Table 5"/>
          <p:cNvGraphicFramePr>
            <a:graphicFrameLocks noGrp="1"/>
          </p:cNvGraphicFramePr>
          <p:nvPr/>
        </p:nvGraphicFramePr>
        <p:xfrm>
          <a:off x="548640" y="1234440"/>
          <a:ext cx="11064240" cy="4279392"/>
        </p:xfrm>
        <a:graphic>
          <a:graphicData uri="http://schemas.openxmlformats.org/drawingml/2006/table">
            <a:tbl>
              <a:tblPr firstRow="1" bandRow="1">
                <a:tableStyleId>{5C22544A-7EE6-4342-B048-85BDC9FD1C3A}</a:tableStyleId>
              </a:tblPr>
              <a:tblGrid>
                <a:gridCol w="1005840"/>
                <a:gridCol w="4572000"/>
                <a:gridCol w="4023360"/>
                <a:gridCol w="1463040"/>
              </a:tblGrid>
              <a:tr h="475488">
                <a:tc>
                  <a:txBody>
                    <a:bodyPr wrap="square"/>
                    <a:lstStyle/>
                    <a:p>
                      <a:r>
                        <a:rPr sz="1400" b="1">
                          <a:solidFill>
                            <a:srgbClr val="FFFFFF"/>
                          </a:solidFill>
                          <a:latin typeface="Calibri"/>
                        </a:rPr>
                        <a:t>ID</a:t>
                      </a:r>
                    </a:p>
                  </a:txBody>
                  <a:tcPr marL="73152" marR="73152" marT="36576" marB="36576" anchor="ctr">
                    <a:solidFill>
                      <a:srgbClr val="192D4B"/>
                    </a:solidFill>
                  </a:tcPr>
                </a:tc>
                <a:tc>
                  <a:txBody>
                    <a:bodyPr wrap="square"/>
                    <a:lstStyle/>
                    <a:p>
                      <a:r>
                        <a:rPr sz="1400" b="1">
                          <a:solidFill>
                            <a:srgbClr val="FFFFFF"/>
                          </a:solidFill>
                          <a:latin typeface="Calibri"/>
                        </a:rPr>
                        <a:t>Test case</a:t>
                      </a:r>
                    </a:p>
                  </a:txBody>
                  <a:tcPr marL="73152" marR="73152" marT="36576" marB="36576" anchor="ctr">
                    <a:solidFill>
                      <a:srgbClr val="192D4B"/>
                    </a:solidFill>
                  </a:tcPr>
                </a:tc>
                <a:tc>
                  <a:txBody>
                    <a:bodyPr wrap="square"/>
                    <a:lstStyle/>
                    <a:p>
                      <a:r>
                        <a:rPr sz="1400" b="1">
                          <a:solidFill>
                            <a:srgbClr val="FFFFFF"/>
                          </a:solidFill>
                          <a:latin typeface="Calibri"/>
                        </a:rPr>
                        <a:t>Expected</a:t>
                      </a:r>
                    </a:p>
                  </a:txBody>
                  <a:tcPr marL="73152" marR="73152" marT="36576" marB="36576" anchor="ctr">
                    <a:solidFill>
                      <a:srgbClr val="192D4B"/>
                    </a:solidFill>
                  </a:tcPr>
                </a:tc>
                <a:tc>
                  <a:txBody>
                    <a:bodyPr wrap="square"/>
                    <a:lstStyle/>
                    <a:p>
                      <a:r>
                        <a:rPr sz="1400" b="1">
                          <a:solidFill>
                            <a:srgbClr val="FFFFFF"/>
                          </a:solidFill>
                          <a:latin typeface="Calibri"/>
                        </a:rPr>
                        <a:t>Result</a:t>
                      </a:r>
                    </a:p>
                  </a:txBody>
                  <a:tcPr marL="73152" marR="73152" marT="36576" marB="36576" anchor="ctr">
                    <a:solidFill>
                      <a:srgbClr val="192D4B"/>
                    </a:solidFill>
                  </a:tcPr>
                </a:tc>
              </a:tr>
              <a:tr h="475488">
                <a:tc>
                  <a:txBody>
                    <a:bodyPr wrap="square"/>
                    <a:lstStyle/>
                    <a:p>
                      <a:r>
                        <a:rPr sz="1500" b="0">
                          <a:solidFill>
                            <a:srgbClr val="232323"/>
                          </a:solidFill>
                          <a:latin typeface="Calibri"/>
                        </a:rPr>
                        <a:t>B06</a:t>
                      </a:r>
                    </a:p>
                  </a:txBody>
                  <a:tcPr marL="73152" marR="73152" marT="36576" marB="36576" anchor="ctr">
                    <a:solidFill>
                      <a:srgbClr val="FFFFFF"/>
                    </a:solidFill>
                  </a:tcPr>
                </a:tc>
                <a:tc>
                  <a:txBody>
                    <a:bodyPr wrap="square"/>
                    <a:lstStyle/>
                    <a:p>
                      <a:r>
                        <a:rPr sz="1500" b="0">
                          <a:solidFill>
                            <a:srgbClr val="232323"/>
                          </a:solidFill>
                          <a:latin typeface="Calibri"/>
                        </a:rPr>
                        <a:t>Sign up with role "admin"</a:t>
                      </a:r>
                    </a:p>
                  </a:txBody>
                  <a:tcPr marL="73152" marR="73152" marT="36576" marB="36576" anchor="ctr">
                    <a:solidFill>
                      <a:srgbClr val="FFFFFF"/>
                    </a:solidFill>
                  </a:tcPr>
                </a:tc>
                <a:tc>
                  <a:txBody>
                    <a:bodyPr wrap="square"/>
                    <a:lstStyle/>
                    <a:p>
                      <a:r>
                        <a:rPr sz="1500" b="0">
                          <a:solidFill>
                            <a:srgbClr val="232323"/>
                          </a:solidFill>
                          <a:latin typeface="Calibri"/>
                        </a:rPr>
                        <a:t>Rejected (400)</a:t>
                      </a:r>
                    </a:p>
                  </a:txBody>
                  <a:tcPr marL="73152" marR="73152" marT="36576" marB="36576" anchor="ctr">
                    <a:solidFill>
                      <a:srgbClr val="FFFFFF"/>
                    </a:solidFill>
                  </a:tcPr>
                </a:tc>
                <a:tc>
                  <a:txBody>
                    <a:bodyPr wrap="square"/>
                    <a:lstStyle/>
                    <a:p>
                      <a:r>
                        <a:rPr sz="1500" b="1">
                          <a:solidFill>
                            <a:srgbClr val="2E7D4F"/>
                          </a:solidFill>
                          <a:latin typeface="Calibri"/>
                        </a:rPr>
                        <a:t>PASS</a:t>
                      </a:r>
                    </a:p>
                  </a:txBody>
                  <a:tcPr marL="73152" marR="73152" marT="36576" marB="36576" anchor="ctr">
                    <a:solidFill>
                      <a:srgbClr val="FFFFFF"/>
                    </a:solidFill>
                  </a:tcPr>
                </a:tc>
              </a:tr>
              <a:tr h="475488">
                <a:tc>
                  <a:txBody>
                    <a:bodyPr wrap="square"/>
                    <a:lstStyle/>
                    <a:p>
                      <a:r>
                        <a:rPr sz="1500" b="0">
                          <a:solidFill>
                            <a:srgbClr val="232323"/>
                          </a:solidFill>
                          <a:latin typeface="Calibri"/>
                        </a:rPr>
                        <a:t>B11</a:t>
                      </a:r>
                    </a:p>
                  </a:txBody>
                  <a:tcPr marL="73152" marR="73152" marT="36576" marB="36576" anchor="ctr">
                    <a:solidFill>
                      <a:srgbClr val="EEF2F7"/>
                    </a:solidFill>
                  </a:tcPr>
                </a:tc>
                <a:tc>
                  <a:txBody>
                    <a:bodyPr wrap="square"/>
                    <a:lstStyle/>
                    <a:p>
                      <a:r>
                        <a:rPr sz="1500" b="0">
                          <a:solidFill>
                            <a:srgbClr val="232323"/>
                          </a:solidFill>
                          <a:latin typeface="Calibri"/>
                        </a:rPr>
                        <a:t>Rate a seller without a conversation</a:t>
                      </a:r>
                    </a:p>
                  </a:txBody>
                  <a:tcPr marL="73152" marR="73152" marT="36576" marB="36576" anchor="ctr">
                    <a:solidFill>
                      <a:srgbClr val="EEF2F7"/>
                    </a:solidFill>
                  </a:tcPr>
                </a:tc>
                <a:tc>
                  <a:txBody>
                    <a:bodyPr wrap="square"/>
                    <a:lstStyle/>
                    <a:p>
                      <a:r>
                        <a:rPr sz="1500" b="0">
                          <a:solidFill>
                            <a:srgbClr val="232323"/>
                          </a:solidFill>
                          <a:latin typeface="Calibri"/>
                        </a:rPr>
                        <a:t>Rejected (403)</a:t>
                      </a:r>
                    </a:p>
                  </a:txBody>
                  <a:tcPr marL="73152" marR="73152" marT="36576" marB="36576" anchor="ctr">
                    <a:solidFill>
                      <a:srgbClr val="EEF2F7"/>
                    </a:solidFill>
                  </a:tcPr>
                </a:tc>
                <a:tc>
                  <a:txBody>
                    <a:bodyPr wrap="square"/>
                    <a:lstStyle/>
                    <a:p>
                      <a:r>
                        <a:rPr sz="1500" b="1">
                          <a:solidFill>
                            <a:srgbClr val="2E7D4F"/>
                          </a:solidFill>
                          <a:latin typeface="Calibri"/>
                        </a:rPr>
                        <a:t>PASS</a:t>
                      </a:r>
                    </a:p>
                  </a:txBody>
                  <a:tcPr marL="73152" marR="73152" marT="36576" marB="36576" anchor="ctr">
                    <a:solidFill>
                      <a:srgbClr val="EEF2F7"/>
                    </a:solidFill>
                  </a:tcPr>
                </a:tc>
              </a:tr>
              <a:tr h="475488">
                <a:tc>
                  <a:txBody>
                    <a:bodyPr wrap="square"/>
                    <a:lstStyle/>
                    <a:p>
                      <a:r>
                        <a:rPr sz="1500" b="0">
                          <a:solidFill>
                            <a:srgbClr val="232323"/>
                          </a:solidFill>
                          <a:latin typeface="Calibri"/>
                        </a:rPr>
                        <a:t>B12</a:t>
                      </a:r>
                    </a:p>
                  </a:txBody>
                  <a:tcPr marL="73152" marR="73152" marT="36576" marB="36576" anchor="ctr">
                    <a:solidFill>
                      <a:srgbClr val="FFFFFF"/>
                    </a:solidFill>
                  </a:tcPr>
                </a:tc>
                <a:tc>
                  <a:txBody>
                    <a:bodyPr wrap="square"/>
                    <a:lstStyle/>
                    <a:p>
                      <a:r>
                        <a:rPr sz="1500" b="0">
                          <a:solidFill>
                            <a:srgbClr val="232323"/>
                          </a:solidFill>
                          <a:latin typeface="Calibri"/>
                        </a:rPr>
                        <a:t>Rate the same conversation twice</a:t>
                      </a:r>
                    </a:p>
                  </a:txBody>
                  <a:tcPr marL="73152" marR="73152" marT="36576" marB="36576" anchor="ctr">
                    <a:solidFill>
                      <a:srgbClr val="FFFFFF"/>
                    </a:solidFill>
                  </a:tcPr>
                </a:tc>
                <a:tc>
                  <a:txBody>
                    <a:bodyPr wrap="square"/>
                    <a:lstStyle/>
                    <a:p>
                      <a:r>
                        <a:rPr sz="1500" b="0">
                          <a:solidFill>
                            <a:srgbClr val="232323"/>
                          </a:solidFill>
                          <a:latin typeface="Calibri"/>
                        </a:rPr>
                        <a:t>Rejected (409)</a:t>
                      </a:r>
                    </a:p>
                  </a:txBody>
                  <a:tcPr marL="73152" marR="73152" marT="36576" marB="36576" anchor="ctr">
                    <a:solidFill>
                      <a:srgbClr val="FFFFFF"/>
                    </a:solidFill>
                  </a:tcPr>
                </a:tc>
                <a:tc>
                  <a:txBody>
                    <a:bodyPr wrap="square"/>
                    <a:lstStyle/>
                    <a:p>
                      <a:r>
                        <a:rPr sz="1500" b="1">
                          <a:solidFill>
                            <a:srgbClr val="2E7D4F"/>
                          </a:solidFill>
                          <a:latin typeface="Calibri"/>
                        </a:rPr>
                        <a:t>PASS</a:t>
                      </a:r>
                    </a:p>
                  </a:txBody>
                  <a:tcPr marL="73152" marR="73152" marT="36576" marB="36576" anchor="ctr">
                    <a:solidFill>
                      <a:srgbClr val="FFFFFF"/>
                    </a:solidFill>
                  </a:tcPr>
                </a:tc>
              </a:tr>
              <a:tr h="475488">
                <a:tc>
                  <a:txBody>
                    <a:bodyPr wrap="square"/>
                    <a:lstStyle/>
                    <a:p>
                      <a:r>
                        <a:rPr sz="1500" b="0">
                          <a:solidFill>
                            <a:srgbClr val="232323"/>
                          </a:solidFill>
                          <a:latin typeface="Calibri"/>
                        </a:rPr>
                        <a:t>B16</a:t>
                      </a:r>
                    </a:p>
                  </a:txBody>
                  <a:tcPr marL="73152" marR="73152" marT="36576" marB="36576" anchor="ctr">
                    <a:solidFill>
                      <a:srgbClr val="EEF2F7"/>
                    </a:solidFill>
                  </a:tcPr>
                </a:tc>
                <a:tc>
                  <a:txBody>
                    <a:bodyPr wrap="square"/>
                    <a:lstStyle/>
                    <a:p>
                      <a:r>
                        <a:rPr sz="1500" b="0">
                          <a:solidFill>
                            <a:srgbClr val="232323"/>
                          </a:solidFill>
                          <a:latin typeface="Calibri"/>
                        </a:rPr>
                        <a:t>Edit, delete or reorder a block</a:t>
                      </a:r>
                    </a:p>
                  </a:txBody>
                  <a:tcPr marL="73152" marR="73152" marT="36576" marB="36576" anchor="ctr">
                    <a:solidFill>
                      <a:srgbClr val="EEF2F7"/>
                    </a:solidFill>
                  </a:tcPr>
                </a:tc>
                <a:tc>
                  <a:txBody>
                    <a:bodyPr wrap="square"/>
                    <a:lstStyle/>
                    <a:p>
                      <a:r>
                        <a:rPr sz="1500" b="0">
                          <a:solidFill>
                            <a:srgbClr val="232323"/>
                          </a:solidFill>
                          <a:latin typeface="Calibri"/>
                        </a:rPr>
                        <a:t>Chain invalid</a:t>
                      </a:r>
                    </a:p>
                  </a:txBody>
                  <a:tcPr marL="73152" marR="73152" marT="36576" marB="36576" anchor="ctr">
                    <a:solidFill>
                      <a:srgbClr val="EEF2F7"/>
                    </a:solidFill>
                  </a:tcPr>
                </a:tc>
                <a:tc>
                  <a:txBody>
                    <a:bodyPr wrap="square"/>
                    <a:lstStyle/>
                    <a:p>
                      <a:r>
                        <a:rPr sz="1500" b="1">
                          <a:solidFill>
                            <a:srgbClr val="2E7D4F"/>
                          </a:solidFill>
                          <a:latin typeface="Calibri"/>
                        </a:rPr>
                        <a:t>PASS</a:t>
                      </a:r>
                    </a:p>
                  </a:txBody>
                  <a:tcPr marL="73152" marR="73152" marT="36576" marB="36576" anchor="ctr">
                    <a:solidFill>
                      <a:srgbClr val="EEF2F7"/>
                    </a:solidFill>
                  </a:tcPr>
                </a:tc>
              </a:tr>
              <a:tr h="475488">
                <a:tc>
                  <a:txBody>
                    <a:bodyPr wrap="square"/>
                    <a:lstStyle/>
                    <a:p>
                      <a:r>
                        <a:rPr sz="1500" b="0">
                          <a:solidFill>
                            <a:srgbClr val="232323"/>
                          </a:solidFill>
                          <a:latin typeface="Calibri"/>
                        </a:rPr>
                        <a:t>B17</a:t>
                      </a:r>
                    </a:p>
                  </a:txBody>
                  <a:tcPr marL="73152" marR="73152" marT="36576" marB="36576" anchor="ctr">
                    <a:solidFill>
                      <a:srgbClr val="FFFFFF"/>
                    </a:solidFill>
                  </a:tcPr>
                </a:tc>
                <a:tc>
                  <a:txBody>
                    <a:bodyPr wrap="square"/>
                    <a:lstStyle/>
                    <a:p>
                      <a:r>
                        <a:rPr sz="1500" b="0">
                          <a:solidFill>
                            <a:srgbClr val="232323"/>
                          </a:solidFill>
                          <a:latin typeface="Calibri"/>
                        </a:rPr>
                        <a:t>Edit the most recent block</a:t>
                      </a:r>
                    </a:p>
                  </a:txBody>
                  <a:tcPr marL="73152" marR="73152" marT="36576" marB="36576" anchor="ctr">
                    <a:solidFill>
                      <a:srgbClr val="FFFFFF"/>
                    </a:solidFill>
                  </a:tcPr>
                </a:tc>
                <a:tc>
                  <a:txBody>
                    <a:bodyPr wrap="square"/>
                    <a:lstStyle/>
                    <a:p>
                      <a:r>
                        <a:rPr sz="1500" b="0">
                          <a:solidFill>
                            <a:srgbClr val="232323"/>
                          </a:solidFill>
                          <a:latin typeface="Calibri"/>
                        </a:rPr>
                        <a:t>Caught by stored head hash</a:t>
                      </a:r>
                    </a:p>
                  </a:txBody>
                  <a:tcPr marL="73152" marR="73152" marT="36576" marB="36576" anchor="ctr">
                    <a:solidFill>
                      <a:srgbClr val="FFFFFF"/>
                    </a:solidFill>
                  </a:tcPr>
                </a:tc>
                <a:tc>
                  <a:txBody>
                    <a:bodyPr wrap="square"/>
                    <a:lstStyle/>
                    <a:p>
                      <a:r>
                        <a:rPr sz="1500" b="1">
                          <a:solidFill>
                            <a:srgbClr val="2E7D4F"/>
                          </a:solidFill>
                          <a:latin typeface="Calibri"/>
                        </a:rPr>
                        <a:t>PASS</a:t>
                      </a:r>
                    </a:p>
                  </a:txBody>
                  <a:tcPr marL="73152" marR="73152" marT="36576" marB="36576" anchor="ctr">
                    <a:solidFill>
                      <a:srgbClr val="FFFFFF"/>
                    </a:solidFill>
                  </a:tcPr>
                </a:tc>
              </a:tr>
              <a:tr h="475488">
                <a:tc>
                  <a:txBody>
                    <a:bodyPr wrap="square"/>
                    <a:lstStyle/>
                    <a:p>
                      <a:r>
                        <a:rPr sz="1500" b="0">
                          <a:solidFill>
                            <a:srgbClr val="232323"/>
                          </a:solidFill>
                          <a:latin typeface="Calibri"/>
                        </a:rPr>
                        <a:t>B08</a:t>
                      </a:r>
                    </a:p>
                  </a:txBody>
                  <a:tcPr marL="73152" marR="73152" marT="36576" marB="36576" anchor="ctr">
                    <a:solidFill>
                      <a:srgbClr val="EEF2F7"/>
                    </a:solidFill>
                  </a:tcPr>
                </a:tc>
                <a:tc>
                  <a:txBody>
                    <a:bodyPr wrap="square"/>
                    <a:lstStyle/>
                    <a:p>
                      <a:r>
                        <a:rPr sz="1500" b="0">
                          <a:solidFill>
                            <a:srgbClr val="232323"/>
                          </a:solidFill>
                          <a:latin typeface="Calibri"/>
                        </a:rPr>
                        <a:t>Two trust events at the same moment</a:t>
                      </a:r>
                    </a:p>
                  </a:txBody>
                  <a:tcPr marL="73152" marR="73152" marT="36576" marB="36576" anchor="ctr">
                    <a:solidFill>
                      <a:srgbClr val="EEF2F7"/>
                    </a:solidFill>
                  </a:tcPr>
                </a:tc>
                <a:tc>
                  <a:txBody>
                    <a:bodyPr wrap="square"/>
                    <a:lstStyle/>
                    <a:p>
                      <a:r>
                        <a:rPr sz="1500" b="0">
                          <a:solidFill>
                            <a:srgbClr val="232323"/>
                          </a:solidFill>
                          <a:latin typeface="Calibri"/>
                        </a:rPr>
                        <a:t>Second retried, no fork</a:t>
                      </a:r>
                    </a:p>
                  </a:txBody>
                  <a:tcPr marL="73152" marR="73152" marT="36576" marB="36576" anchor="ctr">
                    <a:solidFill>
                      <a:srgbClr val="EEF2F7"/>
                    </a:solidFill>
                  </a:tcPr>
                </a:tc>
                <a:tc>
                  <a:txBody>
                    <a:bodyPr wrap="square"/>
                    <a:lstStyle/>
                    <a:p>
                      <a:r>
                        <a:rPr sz="1500" b="1">
                          <a:solidFill>
                            <a:srgbClr val="2E7D4F"/>
                          </a:solidFill>
                          <a:latin typeface="Calibri"/>
                        </a:rPr>
                        <a:t>PASS</a:t>
                      </a:r>
                    </a:p>
                  </a:txBody>
                  <a:tcPr marL="73152" marR="73152" marT="36576" marB="36576" anchor="ctr">
                    <a:solidFill>
                      <a:srgbClr val="EEF2F7"/>
                    </a:solidFill>
                  </a:tcPr>
                </a:tc>
              </a:tr>
              <a:tr h="475488">
                <a:tc>
                  <a:txBody>
                    <a:bodyPr wrap="square"/>
                    <a:lstStyle/>
                    <a:p>
                      <a:r>
                        <a:rPr sz="1500" b="0">
                          <a:solidFill>
                            <a:srgbClr val="232323"/>
                          </a:solidFill>
                          <a:latin typeface="Calibri"/>
                        </a:rPr>
                        <a:t>V05</a:t>
                      </a:r>
                    </a:p>
                  </a:txBody>
                  <a:tcPr marL="73152" marR="73152" marT="36576" marB="36576" anchor="ctr">
                    <a:solidFill>
                      <a:srgbClr val="FFFFFF"/>
                    </a:solidFill>
                  </a:tcPr>
                </a:tc>
                <a:tc>
                  <a:txBody>
                    <a:bodyPr wrap="square"/>
                    <a:lstStyle/>
                    <a:p>
                      <a:r>
                        <a:rPr sz="1500" b="0">
                          <a:solidFill>
                            <a:srgbClr val="232323"/>
                          </a:solidFill>
                          <a:latin typeface="Calibri"/>
                        </a:rPr>
                        <a:t>"ninety five kwacha ten bags"</a:t>
                      </a:r>
                    </a:p>
                  </a:txBody>
                  <a:tcPr marL="73152" marR="73152" marT="36576" marB="36576" anchor="ctr">
                    <a:solidFill>
                      <a:srgbClr val="FFFFFF"/>
                    </a:solidFill>
                  </a:tcPr>
                </a:tc>
                <a:tc>
                  <a:txBody>
                    <a:bodyPr wrap="square"/>
                    <a:lstStyle/>
                    <a:p>
                      <a:r>
                        <a:rPr sz="1500" b="0">
                          <a:solidFill>
                            <a:srgbClr val="232323"/>
                          </a:solidFill>
                          <a:latin typeface="Calibri"/>
                        </a:rPr>
                        <a:t>K95, 10 bags</a:t>
                      </a:r>
                    </a:p>
                  </a:txBody>
                  <a:tcPr marL="73152" marR="73152" marT="36576" marB="36576" anchor="ctr">
                    <a:solidFill>
                      <a:srgbClr val="FFFFFF"/>
                    </a:solidFill>
                  </a:tcPr>
                </a:tc>
                <a:tc>
                  <a:txBody>
                    <a:bodyPr wrap="square"/>
                    <a:lstStyle/>
                    <a:p>
                      <a:r>
                        <a:rPr sz="1500" b="1">
                          <a:solidFill>
                            <a:srgbClr val="2E7D4F"/>
                          </a:solidFill>
                          <a:latin typeface="Calibri"/>
                        </a:rPr>
                        <a:t>PASS</a:t>
                      </a:r>
                    </a:p>
                  </a:txBody>
                  <a:tcPr marL="73152" marR="73152" marT="36576" marB="36576" anchor="ctr">
                    <a:solidFill>
                      <a:srgbClr val="FFFFFF"/>
                    </a:solidFill>
                  </a:tcPr>
                </a:tc>
              </a:tr>
              <a:tr h="475488">
                <a:tc>
                  <a:txBody>
                    <a:bodyPr wrap="square"/>
                    <a:lstStyle/>
                    <a:p>
                      <a:r>
                        <a:rPr sz="1500" b="0">
                          <a:solidFill>
                            <a:srgbClr val="232323"/>
                          </a:solidFill>
                          <a:latin typeface="Calibri"/>
                        </a:rPr>
                        <a:t>V10</a:t>
                      </a:r>
                    </a:p>
                  </a:txBody>
                  <a:tcPr marL="73152" marR="73152" marT="36576" marB="36576" anchor="ctr">
                    <a:solidFill>
                      <a:srgbClr val="EEF2F7"/>
                    </a:solidFill>
                  </a:tcPr>
                </a:tc>
                <a:tc>
                  <a:txBody>
                    <a:bodyPr wrap="square"/>
                    <a:lstStyle/>
                    <a:p>
                      <a:r>
                        <a:rPr sz="1500" b="0">
                          <a:solidFill>
                            <a:srgbClr val="232323"/>
                          </a:solidFill>
                          <a:latin typeface="Calibri"/>
                        </a:rPr>
                        <a:t>"25kg bags, 6 bags, K200 each"</a:t>
                      </a:r>
                    </a:p>
                  </a:txBody>
                  <a:tcPr marL="73152" marR="73152" marT="36576" marB="36576" anchor="ctr">
                    <a:solidFill>
                      <a:srgbClr val="EEF2F7"/>
                    </a:solidFill>
                  </a:tcPr>
                </a:tc>
                <a:tc>
                  <a:txBody>
                    <a:bodyPr wrap="square"/>
                    <a:lstStyle/>
                    <a:p>
                      <a:r>
                        <a:rPr sz="1500" b="0">
                          <a:solidFill>
                            <a:srgbClr val="232323"/>
                          </a:solidFill>
                          <a:latin typeface="Calibri"/>
                        </a:rPr>
                        <a:t>K200, 6 (25kg is the size)</a:t>
                      </a:r>
                    </a:p>
                  </a:txBody>
                  <a:tcPr marL="73152" marR="73152" marT="36576" marB="36576" anchor="ctr">
                    <a:solidFill>
                      <a:srgbClr val="EEF2F7"/>
                    </a:solidFill>
                  </a:tcPr>
                </a:tc>
                <a:tc>
                  <a:txBody>
                    <a:bodyPr wrap="square"/>
                    <a:lstStyle/>
                    <a:p>
                      <a:r>
                        <a:rPr sz="1500" b="1">
                          <a:solidFill>
                            <a:srgbClr val="2E7D4F"/>
                          </a:solidFill>
                          <a:latin typeface="Calibri"/>
                        </a:rPr>
                        <a:t>PASS</a:t>
                      </a:r>
                    </a:p>
                  </a:txBody>
                  <a:tcPr marL="73152" marR="73152" marT="36576" marB="36576" anchor="ctr">
                    <a:solidFill>
                      <a:srgbClr val="EEF2F7"/>
                    </a:solidFill>
                  </a:tcPr>
                </a:tc>
              </a:tr>
            </a:tbl>
          </a:graphicData>
        </a:graphic>
      </p:graphicFrame>
      <p:sp>
        <p:nvSpPr>
          <p:cNvPr id="7" name="TextBox 6"/>
          <p:cNvSpPr txBox="1"/>
          <p:nvPr/>
        </p:nvSpPr>
        <p:spPr>
          <a:xfrm>
            <a:off x="548640" y="5669280"/>
            <a:ext cx="11064240" cy="457200"/>
          </a:xfrm>
          <a:prstGeom prst="rect">
            <a:avLst/>
          </a:prstGeom>
          <a:noFill/>
        </p:spPr>
        <p:txBody>
          <a:bodyPr wrap="square" anchor="t" lIns="45720" rIns="45720" tIns="27432" bIns="27432">
            <a:spAutoFit/>
          </a:bodyPr>
          <a:lstStyle/>
          <a:p>
            <a:pPr algn="l">
              <a:spcAft>
                <a:spcPts val="600"/>
              </a:spcAft>
            </a:pPr>
            <a:r>
              <a:rPr sz="1500" b="0" i="0">
                <a:solidFill>
                  <a:srgbClr val="5A6472"/>
                </a:solidFill>
                <a:latin typeface="Calibri"/>
              </a:rPr>
              <a:t>All 73 backend and 13 voice-parser tests pass; the live system passed its phone tests. Full tables: Report Tables 6.1 to 6.3.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Objective-by-Objective Evaluation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11</a:t>
            </a:r>
          </a:p>
        </p:txBody>
      </p:sp>
      <p:sp>
        <p:nvSpPr>
          <p:cNvPr id="6" name="Rounded Rectangle 5"/>
          <p:cNvSpPr/>
          <p:nvPr/>
        </p:nvSpPr>
        <p:spPr>
          <a:xfrm>
            <a:off x="731520" y="1325880"/>
            <a:ext cx="10698480" cy="777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25880"/>
            <a:ext cx="3657600" cy="777240"/>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1. Discovery and filters</a:t>
            </a:r>
          </a:p>
        </p:txBody>
      </p:sp>
      <p:sp>
        <p:nvSpPr>
          <p:cNvPr id="8" name="TextBox 7"/>
          <p:cNvSpPr txBox="1"/>
          <p:nvPr/>
        </p:nvSpPr>
        <p:spPr>
          <a:xfrm>
            <a:off x="4572000" y="1325880"/>
            <a:ext cx="4206240" cy="7772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Implemented; pages checked in the browser</a:t>
            </a:r>
          </a:p>
        </p:txBody>
      </p:sp>
      <p:sp>
        <p:nvSpPr>
          <p:cNvPr id="9" name="Rounded Rectangle 8"/>
          <p:cNvSpPr/>
          <p:nvPr/>
        </p:nvSpPr>
        <p:spPr>
          <a:xfrm>
            <a:off x="8961120" y="1536192"/>
            <a:ext cx="228600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0" y="1536192"/>
            <a:ext cx="228600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11" name="Rounded Rectangle 10"/>
          <p:cNvSpPr/>
          <p:nvPr/>
        </p:nvSpPr>
        <p:spPr>
          <a:xfrm>
            <a:off x="731520" y="2240280"/>
            <a:ext cx="10698480" cy="777240"/>
          </a:xfrm>
          <a:prstGeom prst="roundRect">
            <a:avLst>
              <a:gd name="adj" fmla="val 8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240280"/>
            <a:ext cx="3657600" cy="777240"/>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2. English voice listing</a:t>
            </a:r>
          </a:p>
        </p:txBody>
      </p:sp>
      <p:sp>
        <p:nvSpPr>
          <p:cNvPr id="13" name="TextBox 12"/>
          <p:cNvSpPr txBox="1"/>
          <p:nvPr/>
        </p:nvSpPr>
        <p:spPr>
          <a:xfrm>
            <a:off x="4572000" y="2240280"/>
            <a:ext cx="4206240" cy="7772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13/13 parser tests; dictation tested on a phone</a:t>
            </a:r>
          </a:p>
        </p:txBody>
      </p:sp>
      <p:sp>
        <p:nvSpPr>
          <p:cNvPr id="14" name="Rounded Rectangle 13"/>
          <p:cNvSpPr/>
          <p:nvPr/>
        </p:nvSpPr>
        <p:spPr>
          <a:xfrm>
            <a:off x="8961120" y="2450592"/>
            <a:ext cx="228600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0" y="2450592"/>
            <a:ext cx="228600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 (English)</a:t>
            </a:r>
          </a:p>
        </p:txBody>
      </p:sp>
      <p:sp>
        <p:nvSpPr>
          <p:cNvPr id="16" name="Rounded Rectangle 15"/>
          <p:cNvSpPr/>
          <p:nvPr/>
        </p:nvSpPr>
        <p:spPr>
          <a:xfrm>
            <a:off x="731520" y="3154680"/>
            <a:ext cx="10698480" cy="777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154680"/>
            <a:ext cx="3657600" cy="777240"/>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3. Tamper-evident trust score</a:t>
            </a:r>
          </a:p>
        </p:txBody>
      </p:sp>
      <p:sp>
        <p:nvSpPr>
          <p:cNvPr id="18" name="TextBox 17"/>
          <p:cNvSpPr txBox="1"/>
          <p:nvPr/>
        </p:nvSpPr>
        <p:spPr>
          <a:xfrm>
            <a:off x="4572000" y="3154680"/>
            <a:ext cx="4206240" cy="7772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73/73 tests incl. most recent block</a:t>
            </a:r>
          </a:p>
        </p:txBody>
      </p:sp>
      <p:sp>
        <p:nvSpPr>
          <p:cNvPr id="19" name="Rounded Rectangle 18"/>
          <p:cNvSpPr/>
          <p:nvPr/>
        </p:nvSpPr>
        <p:spPr>
          <a:xfrm>
            <a:off x="8961120" y="3364992"/>
            <a:ext cx="228600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0" y="3364992"/>
            <a:ext cx="228600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21" name="Rounded Rectangle 20"/>
          <p:cNvSpPr/>
          <p:nvPr/>
        </p:nvSpPr>
        <p:spPr>
          <a:xfrm>
            <a:off x="731520" y="4069080"/>
            <a:ext cx="10698480" cy="777240"/>
          </a:xfrm>
          <a:prstGeom prst="roundRect">
            <a:avLst>
              <a:gd name="adj" fmla="val 8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069080"/>
            <a:ext cx="3657600" cy="777240"/>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4. Messaging and offline</a:t>
            </a:r>
          </a:p>
        </p:txBody>
      </p:sp>
      <p:sp>
        <p:nvSpPr>
          <p:cNvPr id="23" name="TextBox 22"/>
          <p:cNvSpPr txBox="1"/>
          <p:nvPr/>
        </p:nvSpPr>
        <p:spPr>
          <a:xfrm>
            <a:off x="4572000" y="4069080"/>
            <a:ext cx="4206240" cy="7772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Chat, offline queue, offline listing drafts</a:t>
            </a:r>
          </a:p>
        </p:txBody>
      </p:sp>
      <p:sp>
        <p:nvSpPr>
          <p:cNvPr id="24" name="Rounded Rectangle 23"/>
          <p:cNvSpPr/>
          <p:nvPr/>
        </p:nvSpPr>
        <p:spPr>
          <a:xfrm>
            <a:off x="8961120" y="4279392"/>
            <a:ext cx="2286000" cy="347472"/>
          </a:xfrm>
          <a:prstGeom prst="roundRect">
            <a:avLst>
              <a:gd name="adj" fmla="val 50000"/>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0" y="4279392"/>
            <a:ext cx="2286000" cy="347472"/>
          </a:xfrm>
          <a:prstGeom prst="rect">
            <a:avLst/>
          </a:prstGeom>
          <a:noFill/>
        </p:spPr>
        <p:txBody>
          <a:bodyPr wrap="square" anchor="ctr" lIns="45720" rIns="45720" tIns="27432" bIns="27432">
            <a:spAutoFit/>
          </a:bodyPr>
          <a:lstStyle/>
          <a:p>
            <a:pPr algn="ctr">
              <a:spcAft>
                <a:spcPts val="0"/>
              </a:spcAft>
            </a:pPr>
            <a:r>
              <a:rPr sz="1300" b="1" i="0">
                <a:solidFill>
                  <a:srgbClr val="2E7D4F"/>
                </a:solidFill>
                <a:latin typeface="Calibri"/>
              </a:rPr>
              <a:t>Achieved</a:t>
            </a:r>
          </a:p>
        </p:txBody>
      </p:sp>
      <p:sp>
        <p:nvSpPr>
          <p:cNvPr id="26" name="Rounded Rectangle 25"/>
          <p:cNvSpPr/>
          <p:nvPr/>
        </p:nvSpPr>
        <p:spPr>
          <a:xfrm>
            <a:off x="731520" y="4983480"/>
            <a:ext cx="10698480" cy="777240"/>
          </a:xfrm>
          <a:prstGeom prst="roundRect">
            <a:avLst>
              <a:gd name="adj" fmla="val 8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983480"/>
            <a:ext cx="3657600" cy="777240"/>
          </a:xfrm>
          <a:prstGeom prst="rect">
            <a:avLst/>
          </a:prstGeom>
          <a:noFill/>
        </p:spPr>
        <p:txBody>
          <a:bodyPr wrap="square" anchor="ctr" lIns="45720" rIns="45720" tIns="27432" bIns="27432">
            <a:spAutoFit/>
          </a:bodyPr>
          <a:lstStyle/>
          <a:p>
            <a:pPr algn="l">
              <a:spcAft>
                <a:spcPts val="600"/>
              </a:spcAft>
            </a:pPr>
            <a:r>
              <a:rPr sz="1700" b="1" i="0">
                <a:solidFill>
                  <a:srgbClr val="192D4B"/>
                </a:solidFill>
                <a:latin typeface="Calibri"/>
              </a:rPr>
              <a:t>5. Evaluation</a:t>
            </a:r>
          </a:p>
        </p:txBody>
      </p:sp>
      <p:sp>
        <p:nvSpPr>
          <p:cNvPr id="28" name="TextBox 27"/>
          <p:cNvSpPr txBox="1"/>
          <p:nvPr/>
        </p:nvSpPr>
        <p:spPr>
          <a:xfrm>
            <a:off x="4572000" y="4983480"/>
            <a:ext cx="4206240" cy="777240"/>
          </a:xfrm>
          <a:prstGeom prst="rect">
            <a:avLst/>
          </a:prstGeom>
          <a:noFill/>
        </p:spPr>
        <p:txBody>
          <a:bodyPr wrap="square" anchor="ctr" lIns="45720" rIns="45720" tIns="27432" bIns="27432">
            <a:spAutoFit/>
          </a:bodyPr>
          <a:lstStyle/>
          <a:p>
            <a:pPr algn="l">
              <a:spcAft>
                <a:spcPts val="600"/>
              </a:spcAft>
            </a:pPr>
            <a:r>
              <a:rPr sz="1500" b="0" i="0">
                <a:solidFill>
                  <a:srgbClr val="232323"/>
                </a:solidFill>
                <a:latin typeface="Calibri"/>
              </a:rPr>
              <a:t>Tests in CI; live system tested; SUS pending</a:t>
            </a:r>
          </a:p>
        </p:txBody>
      </p:sp>
      <p:sp>
        <p:nvSpPr>
          <p:cNvPr id="29" name="Rounded Rectangle 28"/>
          <p:cNvSpPr/>
          <p:nvPr/>
        </p:nvSpPr>
        <p:spPr>
          <a:xfrm>
            <a:off x="8961120" y="5193792"/>
            <a:ext cx="2286000" cy="347472"/>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0" y="5193792"/>
            <a:ext cx="2286000" cy="347472"/>
          </a:xfrm>
          <a:prstGeom prst="rect">
            <a:avLst/>
          </a:prstGeom>
          <a:noFill/>
        </p:spPr>
        <p:txBody>
          <a:bodyPr wrap="square" anchor="ctr" lIns="45720" rIns="45720" tIns="27432" bIns="27432">
            <a:spAutoFit/>
          </a:bodyPr>
          <a:lstStyle/>
          <a:p>
            <a:pPr algn="ctr">
              <a:spcAft>
                <a:spcPts val="0"/>
              </a:spcAft>
            </a:pPr>
            <a:r>
              <a:rPr sz="1300" b="1" i="0">
                <a:solidFill>
                  <a:srgbClr val="B26B00"/>
                </a:solidFill>
                <a:latin typeface="Calibri"/>
              </a:rPr>
              <a:t>Partly achieved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Limitations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12</a:t>
            </a:r>
          </a:p>
        </p:txBody>
      </p:sp>
      <p:sp>
        <p:nvSpPr>
          <p:cNvPr id="6" name="TextBox 5"/>
          <p:cNvSpPr txBox="1"/>
          <p:nvPr/>
        </p:nvSpPr>
        <p:spPr>
          <a:xfrm>
            <a:off x="731520" y="1325880"/>
            <a:ext cx="10698480" cy="4206240"/>
          </a:xfrm>
          <a:prstGeom prst="rect">
            <a:avLst/>
          </a:prstGeom>
          <a:noFill/>
        </p:spPr>
        <p:txBody>
          <a:bodyPr wrap="square" anchor="t" lIns="45720" rIns="45720" tIns="27432" bIns="27432">
            <a:spAutoFit/>
          </a:bodyPr>
          <a:lstStyle/>
          <a:p>
            <a:pPr algn="l">
              <a:spcAft>
                <a:spcPts val="1400"/>
              </a:spcAft>
            </a:pPr>
            <a:r>
              <a:rPr sz="1900" b="0" i="0">
                <a:solidFill>
                  <a:srgbClr val="232323"/>
                </a:solidFill>
                <a:latin typeface="Calibri"/>
              </a:rPr>
              <a:t/>
            </a:r>
            <a:r>
              <a:rPr sz="1900" b="1" i="0">
                <a:solidFill>
                  <a:srgbClr val="192D4B"/>
                </a:solidFill>
                <a:latin typeface="Calibri"/>
              </a:rPr>
              <a:t>No user study yet: </a:t>
            </a:r>
            <a:r>
              <a:rPr sz="1900" b="0" i="0">
                <a:solidFill>
                  <a:srgbClr val="232323"/>
                </a:solidFill>
                <a:latin typeface="Calibri"/>
              </a:rPr>
              <a:t>usability and real-world benefit are not yet measured</a:t>
            </a:r>
          </a:p>
          <a:p>
            <a:pPr algn="l">
              <a:spcAft>
                <a:spcPts val="1400"/>
              </a:spcAft>
            </a:pPr>
            <a:r>
              <a:rPr sz="1900" b="0" i="0">
                <a:solidFill>
                  <a:srgbClr val="232323"/>
                </a:solidFill>
                <a:latin typeface="Calibri"/>
              </a:rPr>
              <a:t/>
            </a:r>
            <a:r>
              <a:rPr sz="1900" b="1" i="0">
                <a:solidFill>
                  <a:srgbClr val="192D4B"/>
                </a:solidFill>
                <a:latin typeface="Calibri"/>
              </a:rPr>
              <a:t>English-only voice: </a:t>
            </a:r>
            <a:r>
              <a:rPr sz="1900" b="0" i="0">
                <a:solidFill>
                  <a:srgbClr val="232323"/>
                </a:solidFill>
                <a:latin typeface="Calibri"/>
              </a:rPr>
              <a:t>excludes some sellers who would gain most</a:t>
            </a:r>
          </a:p>
          <a:p>
            <a:pPr algn="l">
              <a:spcAft>
                <a:spcPts val="1400"/>
              </a:spcAft>
            </a:pPr>
            <a:r>
              <a:rPr sz="1900" b="0" i="0">
                <a:solidFill>
                  <a:srgbClr val="232323"/>
                </a:solidFill>
                <a:latin typeface="Calibri"/>
              </a:rPr>
              <a:t/>
            </a:r>
            <a:r>
              <a:rPr sz="1900" b="1" i="0">
                <a:solidFill>
                  <a:srgbClr val="192D4B"/>
                </a:solidFill>
                <a:latin typeface="Calibri"/>
              </a:rPr>
              <a:t>Tamper-evident, not tamper-proof: </a:t>
            </a:r>
            <a:r>
              <a:rPr sz="1900" b="0" i="0">
                <a:solidFill>
                  <a:srgbClr val="232323"/>
                </a:solidFill>
                <a:latin typeface="Calibri"/>
              </a:rPr>
              <a:t>someone with full database access could rewrite a whole chain</a:t>
            </a:r>
          </a:p>
          <a:p>
            <a:pPr algn="l">
              <a:spcAft>
                <a:spcPts val="1400"/>
              </a:spcAft>
            </a:pPr>
            <a:r>
              <a:rPr sz="1900" b="0" i="0">
                <a:solidFill>
                  <a:srgbClr val="232323"/>
                </a:solidFill>
                <a:latin typeface="Calibri"/>
              </a:rPr>
              <a:t/>
            </a:r>
            <a:r>
              <a:rPr sz="1900" b="1" i="0">
                <a:solidFill>
                  <a:srgbClr val="192D4B"/>
                </a:solidFill>
                <a:latin typeface="Calibri"/>
              </a:rPr>
              <a:t>Rating gate: </a:t>
            </a:r>
            <a:r>
              <a:rPr sz="1900" b="0" i="0">
                <a:solidFill>
                  <a:srgbClr val="232323"/>
                </a:solidFill>
                <a:latin typeface="Calibri"/>
              </a:rPr>
              <a:t>checks that a conversation happened, not that a sale did</a:t>
            </a:r>
          </a:p>
          <a:p>
            <a:pPr algn="l">
              <a:spcAft>
                <a:spcPts val="1400"/>
              </a:spcAft>
            </a:pPr>
            <a:r>
              <a:rPr sz="1900" b="0" i="0">
                <a:solidFill>
                  <a:srgbClr val="232323"/>
                </a:solidFill>
                <a:latin typeface="Calibri"/>
              </a:rPr>
              <a:t/>
            </a:r>
            <a:r>
              <a:rPr sz="1900" b="1" i="0">
                <a:solidFill>
                  <a:srgbClr val="192D4B"/>
                </a:solidFill>
                <a:latin typeface="Calibri"/>
              </a:rPr>
              <a:t>No paid SMS: </a:t>
            </a:r>
            <a:r>
              <a:rPr sz="1900" b="0" i="0">
                <a:solidFill>
                  <a:srgbClr val="232323"/>
                </a:solidFill>
                <a:latin typeface="Calibri"/>
              </a:rPr>
              <a:t>registration codes go to the server log; real SMS is built in and is one setting away</a:t>
            </a:r>
          </a:p>
        </p:txBody>
      </p:sp>
      <p:sp>
        <p:nvSpPr>
          <p:cNvPr id="7" name="Rounded Rectangle 6"/>
          <p:cNvSpPr/>
          <p:nvPr/>
        </p:nvSpPr>
        <p:spPr>
          <a:xfrm>
            <a:off x="731520" y="4343400"/>
            <a:ext cx="10698480" cy="822960"/>
          </a:xfrm>
          <a:prstGeom prst="roundRect">
            <a:avLst>
              <a:gd name="adj" fmla="val 8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343400"/>
            <a:ext cx="10332720" cy="822960"/>
          </a:xfrm>
          <a:prstGeom prst="rect">
            <a:avLst/>
          </a:prstGeom>
          <a:noFill/>
        </p:spPr>
        <p:txBody>
          <a:bodyPr wrap="square" anchor="ctr" lIns="45720" rIns="45720" tIns="27432" bIns="27432">
            <a:spAutoFit/>
          </a:bodyPr>
          <a:lstStyle/>
          <a:p>
            <a:pPr algn="l">
              <a:spcAft>
                <a:spcPts val="600"/>
              </a:spcAft>
            </a:pPr>
            <a:r>
              <a:rPr sz="1700" b="1" i="0">
                <a:solidFill>
                  <a:srgbClr val="232323"/>
                </a:solidFill>
                <a:latin typeface="Calibri"/>
              </a:rPr>
              <a:t>Implication: the results show technical feasibility, not yet adoption or real-world benefit.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Recommendations</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13</a:t>
            </a:r>
          </a:p>
        </p:txBody>
      </p:sp>
      <p:sp>
        <p:nvSpPr>
          <p:cNvPr id="6" name="Oval 5"/>
          <p:cNvSpPr/>
          <p:nvPr/>
        </p:nvSpPr>
        <p:spPr>
          <a:xfrm>
            <a:off x="822960" y="141732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7" name="TextBox 6"/>
          <p:cNvSpPr txBox="1"/>
          <p:nvPr/>
        </p:nvSpPr>
        <p:spPr>
          <a:xfrm>
            <a:off x="1600200" y="137160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Run the usability study with sellers and buyers before wider release</a:t>
            </a:r>
          </a:p>
        </p:txBody>
      </p:sp>
      <p:sp>
        <p:nvSpPr>
          <p:cNvPr id="8" name="Oval 7"/>
          <p:cNvSpPr/>
          <p:nvPr/>
        </p:nvSpPr>
        <p:spPr>
          <a:xfrm>
            <a:off x="822960" y="233172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1600200" y="228600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Switch on real SMS through Africa's Talking (MTN, Airtel, Zamtel)</a:t>
            </a:r>
          </a:p>
        </p:txBody>
      </p:sp>
      <p:sp>
        <p:nvSpPr>
          <p:cNvPr id="10" name="Oval 9"/>
          <p:cNvSpPr/>
          <p:nvPr/>
        </p:nvSpPr>
        <p:spPr>
          <a:xfrm>
            <a:off x="822960" y="324612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1" name="TextBox 10"/>
          <p:cNvSpPr txBox="1"/>
          <p:nvPr/>
        </p:nvSpPr>
        <p:spPr>
          <a:xfrm>
            <a:off x="1600200" y="320040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Anchor each seller's latest hash outside the database</a:t>
            </a:r>
          </a:p>
        </p:txBody>
      </p:sp>
      <p:sp>
        <p:nvSpPr>
          <p:cNvPr id="12" name="Oval 11"/>
          <p:cNvSpPr/>
          <p:nvPr/>
        </p:nvSpPr>
        <p:spPr>
          <a:xfrm>
            <a:off x="822960" y="416052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3" name="TextBox 12"/>
          <p:cNvSpPr txBox="1"/>
          <p:nvPr/>
        </p:nvSpPr>
        <p:spPr>
          <a:xfrm>
            <a:off x="1600200" y="411480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Calibrate the score weights with real rating data</a:t>
            </a:r>
          </a:p>
        </p:txBody>
      </p:sp>
      <p:sp>
        <p:nvSpPr>
          <p:cNvPr id="14" name="Oval 13"/>
          <p:cNvSpPr/>
          <p:nvPr/>
        </p:nvSpPr>
        <p:spPr>
          <a:xfrm>
            <a:off x="822960" y="5074920"/>
            <a:ext cx="548640" cy="54864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15" name="TextBox 14"/>
          <p:cNvSpPr txBox="1"/>
          <p:nvPr/>
        </p:nvSpPr>
        <p:spPr>
          <a:xfrm>
            <a:off x="1600200" y="5029200"/>
            <a:ext cx="9875520" cy="731520"/>
          </a:xfrm>
          <a:prstGeom prst="rect">
            <a:avLst/>
          </a:prstGeom>
          <a:noFill/>
        </p:spPr>
        <p:txBody>
          <a:bodyPr wrap="square" anchor="ctr" lIns="45720" rIns="45720" tIns="27432" bIns="27432">
            <a:spAutoFit/>
          </a:bodyPr>
          <a:lstStyle/>
          <a:p>
            <a:pPr algn="l">
              <a:spcAft>
                <a:spcPts val="600"/>
              </a:spcAft>
            </a:pPr>
            <a:r>
              <a:rPr sz="1900" b="0" i="0">
                <a:solidFill>
                  <a:srgbClr val="232323"/>
                </a:solidFill>
                <a:latin typeface="Calibri"/>
              </a:rPr>
              <a:t>Record seller forestry licences before verification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Demonstration Plan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14</a:t>
            </a:r>
          </a:p>
        </p:txBody>
      </p:sp>
      <p:sp>
        <p:nvSpPr>
          <p:cNvPr id="6" name="Oval 5"/>
          <p:cNvSpPr/>
          <p:nvPr/>
        </p:nvSpPr>
        <p:spPr>
          <a:xfrm>
            <a:off x="731520" y="1344168"/>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7" name="TextBox 6"/>
          <p:cNvSpPr txBox="1"/>
          <p:nvPr/>
        </p:nvSpPr>
        <p:spPr>
          <a:xfrm>
            <a:off x="1417320" y="1280160"/>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Buyer</a:t>
            </a:r>
          </a:p>
        </p:txBody>
      </p:sp>
      <p:sp>
        <p:nvSpPr>
          <p:cNvPr id="8" name="TextBox 7"/>
          <p:cNvSpPr txBox="1"/>
          <p:nvPr/>
        </p:nvSpPr>
        <p:spPr>
          <a:xfrm>
            <a:off x="2606040" y="1280160"/>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Browse and filter by neighbourhood and price</a:t>
            </a:r>
          </a:p>
        </p:txBody>
      </p:sp>
      <p:sp>
        <p:nvSpPr>
          <p:cNvPr id="9" name="Oval 8"/>
          <p:cNvSpPr/>
          <p:nvPr/>
        </p:nvSpPr>
        <p:spPr>
          <a:xfrm>
            <a:off x="731520" y="2130551"/>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10" name="TextBox 9"/>
          <p:cNvSpPr txBox="1"/>
          <p:nvPr/>
        </p:nvSpPr>
        <p:spPr>
          <a:xfrm>
            <a:off x="1417320" y="2066543"/>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Seller</a:t>
            </a:r>
          </a:p>
        </p:txBody>
      </p:sp>
      <p:sp>
        <p:nvSpPr>
          <p:cNvPr id="11" name="TextBox 10"/>
          <p:cNvSpPr txBox="1"/>
          <p:nvPr/>
        </p:nvSpPr>
        <p:spPr>
          <a:xfrm>
            <a:off x="2606040" y="2066543"/>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Post a listing by voice: "ten bags, ninety five kwacha, Kanyama"</a:t>
            </a:r>
          </a:p>
        </p:txBody>
      </p:sp>
      <p:sp>
        <p:nvSpPr>
          <p:cNvPr id="12" name="Oval 11"/>
          <p:cNvSpPr/>
          <p:nvPr/>
        </p:nvSpPr>
        <p:spPr>
          <a:xfrm>
            <a:off x="731520" y="2916936"/>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3" name="TextBox 12"/>
          <p:cNvSpPr txBox="1"/>
          <p:nvPr/>
        </p:nvSpPr>
        <p:spPr>
          <a:xfrm>
            <a:off x="1417320" y="2852928"/>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Both</a:t>
            </a:r>
          </a:p>
        </p:txBody>
      </p:sp>
      <p:sp>
        <p:nvSpPr>
          <p:cNvPr id="14" name="TextBox 13"/>
          <p:cNvSpPr txBox="1"/>
          <p:nvPr/>
        </p:nvSpPr>
        <p:spPr>
          <a:xfrm>
            <a:off x="2606040" y="2852928"/>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Chat; go offline, send a message and post a listing, then reconnect</a:t>
            </a:r>
          </a:p>
        </p:txBody>
      </p:sp>
      <p:sp>
        <p:nvSpPr>
          <p:cNvPr id="15" name="Oval 14"/>
          <p:cNvSpPr/>
          <p:nvPr/>
        </p:nvSpPr>
        <p:spPr>
          <a:xfrm>
            <a:off x="731520" y="3703320"/>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6" name="TextBox 15"/>
          <p:cNvSpPr txBox="1"/>
          <p:nvPr/>
        </p:nvSpPr>
        <p:spPr>
          <a:xfrm>
            <a:off x="1417320" y="3639312"/>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Buyer</a:t>
            </a:r>
          </a:p>
        </p:txBody>
      </p:sp>
      <p:sp>
        <p:nvSpPr>
          <p:cNvPr id="17" name="TextBox 16"/>
          <p:cNvSpPr txBox="1"/>
          <p:nvPr/>
        </p:nvSpPr>
        <p:spPr>
          <a:xfrm>
            <a:off x="2606040" y="3639312"/>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Rate the seller after collection; score updates</a:t>
            </a:r>
          </a:p>
        </p:txBody>
      </p:sp>
      <p:sp>
        <p:nvSpPr>
          <p:cNvPr id="18" name="Oval 17"/>
          <p:cNvSpPr/>
          <p:nvPr/>
        </p:nvSpPr>
        <p:spPr>
          <a:xfrm>
            <a:off x="731520" y="4489704"/>
            <a:ext cx="502920" cy="502920"/>
          </a:xfrm>
          <a:prstGeom prst="ellipse">
            <a:avLst/>
          </a:prstGeom>
          <a:solidFill>
            <a:srgbClr val="D85A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19" name="TextBox 18"/>
          <p:cNvSpPr txBox="1"/>
          <p:nvPr/>
        </p:nvSpPr>
        <p:spPr>
          <a:xfrm>
            <a:off x="1417320" y="4425696"/>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Tamper</a:t>
            </a:r>
          </a:p>
        </p:txBody>
      </p:sp>
      <p:sp>
        <p:nvSpPr>
          <p:cNvPr id="20" name="TextBox 19"/>
          <p:cNvSpPr txBox="1"/>
          <p:nvPr/>
        </p:nvSpPr>
        <p:spPr>
          <a:xfrm>
            <a:off x="2606040" y="4425696"/>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Edit a block in MongoDB Atlas: a red "Record has been altered" warning</a:t>
            </a:r>
          </a:p>
        </p:txBody>
      </p:sp>
      <p:sp>
        <p:nvSpPr>
          <p:cNvPr id="21" name="Oval 20"/>
          <p:cNvSpPr/>
          <p:nvPr/>
        </p:nvSpPr>
        <p:spPr>
          <a:xfrm>
            <a:off x="731520" y="5276088"/>
            <a:ext cx="502920" cy="502920"/>
          </a:xfrm>
          <a:prstGeom prst="ellipse">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22" name="TextBox 21"/>
          <p:cNvSpPr txBox="1"/>
          <p:nvPr/>
        </p:nvSpPr>
        <p:spPr>
          <a:xfrm>
            <a:off x="1417320" y="5212079"/>
            <a:ext cx="1188720" cy="640080"/>
          </a:xfrm>
          <a:prstGeom prst="rect">
            <a:avLst/>
          </a:prstGeom>
          <a:noFill/>
        </p:spPr>
        <p:txBody>
          <a:bodyPr wrap="square" anchor="ctr" lIns="45720" rIns="45720" tIns="27432" bIns="27432">
            <a:spAutoFit/>
          </a:bodyPr>
          <a:lstStyle/>
          <a:p>
            <a:pPr algn="l">
              <a:spcAft>
                <a:spcPts val="600"/>
              </a:spcAft>
            </a:pPr>
            <a:r>
              <a:rPr sz="1600" b="1" i="0">
                <a:solidFill>
                  <a:srgbClr val="192D4B"/>
                </a:solidFill>
                <a:latin typeface="Calibri"/>
              </a:rPr>
              <a:t>Admin</a:t>
            </a:r>
          </a:p>
        </p:txBody>
      </p:sp>
      <p:sp>
        <p:nvSpPr>
          <p:cNvPr id="23" name="TextBox 22"/>
          <p:cNvSpPr txBox="1"/>
          <p:nvPr/>
        </p:nvSpPr>
        <p:spPr>
          <a:xfrm>
            <a:off x="2606040" y="5212079"/>
            <a:ext cx="5943600" cy="640080"/>
          </a:xfrm>
          <a:prstGeom prst="rect">
            <a:avLst/>
          </a:prstGeom>
          <a:noFill/>
        </p:spPr>
        <p:txBody>
          <a:bodyPr wrap="square" anchor="ctr" lIns="45720" rIns="45720" tIns="27432" bIns="27432">
            <a:spAutoFit/>
          </a:bodyPr>
          <a:lstStyle/>
          <a:p>
            <a:pPr algn="l">
              <a:spcAft>
                <a:spcPts val="600"/>
              </a:spcAft>
            </a:pPr>
            <a:r>
              <a:rPr sz="1600" b="0" i="0">
                <a:solidFill>
                  <a:srgbClr val="232323"/>
                </a:solidFill>
                <a:latin typeface="Calibri"/>
              </a:rPr>
              <a:t>Integrity tab flags the altered record; verify a seller: +15</a:t>
            </a:r>
          </a:p>
        </p:txBody>
      </p:sp>
      <p:pic>
        <p:nvPicPr>
          <p:cNvPr id="24" name="Picture 23" descr="trust_tampered.png"/>
          <p:cNvPicPr>
            <a:picLocks noChangeAspect="1"/>
          </p:cNvPicPr>
          <p:nvPr/>
        </p:nvPicPr>
        <p:blipFill>
          <a:blip r:embed="rId2"/>
          <a:stretch>
            <a:fillRect/>
          </a:stretch>
        </p:blipFill>
        <p:spPr>
          <a:xfrm>
            <a:off x="8869680" y="1188720"/>
            <a:ext cx="2281666" cy="4937760"/>
          </a:xfrm>
          <a:prstGeom prst="rect">
            <a:avLst/>
          </a:prstGeom>
          <a:ln w="12700">
            <a:solidFill>
              <a:srgbClr val="D5DCE6"/>
            </a:solidFill>
          </a:ln>
        </p:spPr>
      </p:pic>
      <p:sp>
        <p:nvSpPr>
          <p:cNvPr id="25" name="TextBox 24"/>
          <p:cNvSpPr txBox="1"/>
          <p:nvPr/>
        </p:nvSpPr>
        <p:spPr>
          <a:xfrm>
            <a:off x="731520" y="5989320"/>
            <a:ext cx="7863840" cy="365760"/>
          </a:xfrm>
          <a:prstGeom prst="rect">
            <a:avLst/>
          </a:prstGeom>
          <a:noFill/>
        </p:spPr>
        <p:txBody>
          <a:bodyPr wrap="square" anchor="t" lIns="45720" rIns="45720" tIns="27432" bIns="27432">
            <a:spAutoFit/>
          </a:bodyPr>
          <a:lstStyle/>
          <a:p>
            <a:pPr algn="l">
              <a:spcAft>
                <a:spcPts val="600"/>
              </a:spcAft>
            </a:pPr>
            <a:r>
              <a:rPr sz="1300" b="0" i="0">
                <a:solidFill>
                  <a:srgbClr val="5A6472"/>
                </a:solidFill>
                <a:latin typeface="Calibri"/>
              </a:rPr>
              <a:t>Live: zam-market-khaki.vercel.app · Backup if the network fails: screenshots in the report.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none">
            <a:spAutoFit/>
          </a:bodyPr>
          <a:lstStyle/>
          <a:p>
            <a:pPr algn="ctr">
              <a:defRPr sz="2800" b="1">
                <a:solidFill>
                  <a:srgbClr val="192D4B"/>
                </a:solidFill>
              </a:defRPr>
            </a:pPr>
            <a:r>
              <a:t>Questions and Discussion</a:t>
            </a:r>
          </a:p>
        </p:txBody>
      </p:sp>
      <p:sp>
        <p:nvSpPr>
          <p:cNvPr id="4" name="Rectangle 3"/>
          <p:cNvSpPr/>
          <p:nvPr/>
        </p:nvSpPr>
        <p:spPr>
          <a:xfrm>
            <a:off x="0" y="6565392"/>
            <a:ext cx="12191695" cy="292608"/>
          </a:xfrm>
          <a:prstGeom prst="rect">
            <a:avLst/>
          </a:prstGeom>
          <a:solidFill>
            <a:srgbClr val="192D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0040" y="6574536"/>
            <a:ext cx="11521440" cy="201168"/>
          </a:xfrm>
          <a:prstGeom prst="rect">
            <a:avLst/>
          </a:prstGeom>
          <a:noFill/>
        </p:spPr>
        <p:txBody>
          <a:bodyPr wrap="none">
            <a:spAutoFit/>
          </a:bodyPr>
          <a:lstStyle/>
          <a:p>
            <a:pPr>
              <a:defRPr sz="900">
                <a:solidFill>
                  <a:srgbClr val="FFFFFF"/>
                </a:solidFill>
              </a:defRPr>
            </a:pPr>
            <a:r>
              <a:t>Final Year Project • Academic Year 2026                                      15</a:t>
            </a:r>
          </a:p>
        </p:txBody>
      </p:sp>
      <p:sp>
        <p:nvSpPr>
          <p:cNvPr id="6" name="Rounded Rectangle 5"/>
          <p:cNvSpPr/>
          <p:nvPr/>
        </p:nvSpPr>
        <p:spPr>
          <a:xfrm>
            <a:off x="2011680" y="1463040"/>
            <a:ext cx="8138160" cy="4206240"/>
          </a:xfrm>
          <a:prstGeom prst="roundRect">
            <a:avLst>
              <a:gd name="adj" fmla="val 8000"/>
            </a:avLst>
          </a:prstGeom>
          <a:solidFill>
            <a:srgbClr val="192D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37360"/>
            <a:ext cx="8138160" cy="914400"/>
          </a:xfrm>
          <a:prstGeom prst="rect">
            <a:avLst/>
          </a:prstGeom>
          <a:noFill/>
        </p:spPr>
        <p:txBody>
          <a:bodyPr wrap="square" anchor="t" lIns="45720" rIns="45720" tIns="27432" bIns="27432">
            <a:spAutoFit/>
          </a:bodyPr>
          <a:lstStyle/>
          <a:p>
            <a:pPr algn="ctr">
              <a:spcAft>
                <a:spcPts val="600"/>
              </a:spcAft>
            </a:pPr>
            <a:r>
              <a:rPr sz="4400" b="1" i="0">
                <a:solidFill>
                  <a:srgbClr val="FFFFFF"/>
                </a:solidFill>
                <a:latin typeface="Calibri"/>
              </a:rPr>
              <a:t>Thank you</a:t>
            </a:r>
          </a:p>
        </p:txBody>
      </p:sp>
      <p:sp>
        <p:nvSpPr>
          <p:cNvPr id="8" name="TextBox 7"/>
          <p:cNvSpPr txBox="1"/>
          <p:nvPr/>
        </p:nvSpPr>
        <p:spPr>
          <a:xfrm>
            <a:off x="2377440" y="2743200"/>
            <a:ext cx="7406640" cy="1097280"/>
          </a:xfrm>
          <a:prstGeom prst="rect">
            <a:avLst/>
          </a:prstGeom>
          <a:noFill/>
        </p:spPr>
        <p:txBody>
          <a:bodyPr wrap="square" anchor="t" lIns="45720" rIns="45720" tIns="27432" bIns="27432">
            <a:spAutoFit/>
          </a:bodyPr>
          <a:lstStyle/>
          <a:p>
            <a:pPr algn="ctr">
              <a:spcAft>
                <a:spcPts val="600"/>
              </a:spcAft>
            </a:pPr>
            <a:r>
              <a:rPr sz="2000" b="0" i="0">
                <a:solidFill>
                  <a:srgbClr val="CFDAEA"/>
                </a:solidFill>
                <a:latin typeface="Calibri"/>
              </a:rPr>
              <a:t>ZamMarket: local charcoal trading with a tamper-evident seller trust score</a:t>
            </a:r>
          </a:p>
        </p:txBody>
      </p:sp>
      <p:sp>
        <p:nvSpPr>
          <p:cNvPr id="9" name="TextBox 8"/>
          <p:cNvSpPr txBox="1"/>
          <p:nvPr/>
        </p:nvSpPr>
        <p:spPr>
          <a:xfrm>
            <a:off x="2377440" y="3840480"/>
            <a:ext cx="7406640" cy="457200"/>
          </a:xfrm>
          <a:prstGeom prst="rect">
            <a:avLst/>
          </a:prstGeom>
          <a:noFill/>
        </p:spPr>
        <p:txBody>
          <a:bodyPr wrap="square" anchor="t" lIns="45720" rIns="45720" tIns="27432" bIns="27432">
            <a:spAutoFit/>
          </a:bodyPr>
          <a:lstStyle/>
          <a:p>
            <a:pPr algn="ctr">
              <a:spcAft>
                <a:spcPts val="600"/>
              </a:spcAft>
            </a:pPr>
            <a:r>
              <a:rPr sz="1800" b="0" i="0">
                <a:solidFill>
                  <a:srgbClr val="FFFFFF"/>
                </a:solidFill>
                <a:latin typeface="Calibri"/>
              </a:rPr>
              <a:t>John Chola · 2021422054</a:t>
            </a:r>
          </a:p>
        </p:txBody>
      </p:sp>
      <p:sp>
        <p:nvSpPr>
          <p:cNvPr id="10" name="TextBox 9"/>
          <p:cNvSpPr txBox="1"/>
          <p:nvPr/>
        </p:nvSpPr>
        <p:spPr>
          <a:xfrm>
            <a:off x="2377440" y="4343400"/>
            <a:ext cx="7406640" cy="457200"/>
          </a:xfrm>
          <a:prstGeom prst="rect">
            <a:avLst/>
          </a:prstGeom>
          <a:noFill/>
        </p:spPr>
        <p:txBody>
          <a:bodyPr wrap="square" anchor="t" lIns="45720" rIns="45720" tIns="27432" bIns="27432">
            <a:spAutoFit/>
          </a:bodyPr>
          <a:lstStyle/>
          <a:p>
            <a:pPr algn="ctr">
              <a:spcAft>
                <a:spcPts val="600"/>
              </a:spcAft>
            </a:pPr>
            <a:r>
              <a:rPr sz="1600" b="0" i="0">
                <a:solidFill>
                  <a:srgbClr val="CFDAEA"/>
                </a:solidFill>
                <a:latin typeface="Calibri"/>
              </a:rPr>
              <a:t>zam-market-khaki.vercel.app · github.com/john-chola/ZamMarket</a:t>
            </a:r>
          </a:p>
        </p:txBody>
      </p:sp>
      <p:sp>
        <p:nvSpPr>
          <p:cNvPr id="11" name="TextBox 10"/>
          <p:cNvSpPr txBox="1"/>
          <p:nvPr/>
        </p:nvSpPr>
        <p:spPr>
          <a:xfrm>
            <a:off x="2011680" y="4892040"/>
            <a:ext cx="8138160" cy="640080"/>
          </a:xfrm>
          <a:prstGeom prst="rect">
            <a:avLst/>
          </a:prstGeom>
          <a:noFill/>
        </p:spPr>
        <p:txBody>
          <a:bodyPr wrap="square" anchor="t" lIns="45720" rIns="45720" tIns="27432" bIns="27432">
            <a:spAutoFit/>
          </a:bodyPr>
          <a:lstStyle/>
          <a:p>
            <a:pPr algn="ctr">
              <a:spcAft>
                <a:spcPts val="600"/>
              </a:spcAft>
            </a:pPr>
            <a:r>
              <a:rPr sz="2600" b="1" i="0">
                <a:solidFill>
                  <a:srgbClr val="F4A286"/>
                </a:solidFill>
                <a:latin typeface="Calibri"/>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1710</Words>
  <Application>Microsoft Office PowerPoint</Application>
  <PresentationFormat>Widescreen</PresentationFormat>
  <Paragraphs>271</Paragraphs>
  <Slides>48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Alinani Simukanga</cp:lastModifiedBy>
  <cp:revision>3</cp:revision>
  <dcterms:created xsi:type="dcterms:W3CDTF">2013-01-27T09:14:16Z</dcterms:created>
  <dcterms:modified xsi:type="dcterms:W3CDTF">2026-09-22T12:32:30Z</dcterms:modified>
  <cp:category/>
</cp:coreProperties>
</file>