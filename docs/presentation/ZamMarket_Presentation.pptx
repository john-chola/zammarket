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60" r:id="rId7"/>
    <p:sldId id="277" r:id="rId8"/>
    <p:sldId id="280" r:id="rId9"/>
    <p:sldId id="278" r:id="rId10"/>
    <p:sldId id="282" r:id="rId11"/>
    <p:sldId id="283" r:id="rId12"/>
    <p:sldId id="284" r:id="rId13"/>
    <p:sldId id="285" r:id="rId14"/>
    <p:sldId id="288" r:id="rId15"/>
    <p:sldId id="296" r:id="rId16"/>
    <p:sldId id="298" r:id="rId17"/>
    <p:sldId id="301" r:id="rId18"/>
    <p:sldId id="306"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31"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428" autoAdjust="0"/>
    <p:restoredTop sz="94660"/>
  </p:normalViewPr>
  <p:slideViewPr>
    <p:cSldViewPr snapToGrid="0" snapToObjects="1" showGuides="1">
      <p:cViewPr varScale="1">
        <p:scale>
          <a:sx n="78" d="100"/>
          <a:sy n="78" d="100"/>
        </p:scale>
        <p:origin x="629" y="43"/>
      </p:cViewPr>
      <p:guideLst>
        <p:guide orient="horz" pos="2231"/>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Good morning. My name is John Chola, computer number 2021422054, and my supervisor is Mr. Martin Phiri. My project is ZamMarket: a mobile web app that helps people in Lusaka find charcoal sellers near them, and gives every seller a trust score that cannot be quietly edited.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was an individual project, so I did all of the work myself, under Mr. Phiri's supervision. In numbers: four agile sprints plus a stabilisation period, eight modules, and 86 automated tests that all pass. It is live at zam-market-khaki.vercel.app. The app covers twenty-four Lusaka-area places.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About ten minutes of slides, following the report, then a four-minute live demonstration.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Charcoal is the most common cooking fuel in urban Zambia: 44 percent of urban households cook mainly with it. It is sold informally and in cash. Buyers find sellers by walking and asking, and cannot judge a stranger; sellers cannot prove they are reliable. WhatsApp posts can be edited, and online shops build trust through online payment, which these traders do not use. My aim: a mobile web app for local discovery with a trust score that cannot be quietly edited. (About 1 minute.)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Three layers. The phone runs the React app, which can cache data and queue messages offline. It talks to the Express API over REST and to the chat server over WebSockets. Only the server can write to the trust chain, which is stored in MongoDB.</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This is the core algorithm. Every event becomes a block whose hash covers the previous block's hash. When a profile is viewed, the server re-hashes everything and checks every link, and checks the last block against the hash stored on the seller. If anything was changed, the chain shows as broken. I chose a hash chain over a real blockchain because there is a single operator, so distributed consensus would add cost without benefit.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Seven MongoDB collections. Two design decisions to point out: each trust block is its own document, with a unique index on seller and position so two simultaneous events cannot fork the chain; and the latest hash is also stored on the user, which lets us detect edits to the most recent block.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Standard, free tools. I tested mobile behaviour and voice input on an Android phone in Chrome, because that is what most sellers would use.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Eight modules. Most are standard for a marketplace. The two highlighted ones are what make ZamMarket different: voice input, and the trust chain.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Five details I am proud of. One: a race condition. If two trust events arrived at the same moment, they could both claim the same position and fork the chain; a unique index plus a retry fixes that. Two: early on, every chain looked tampered, because MongoDB adds its own fields; I fixed that by re-hashing exactly what was originally hashed. Three: the voice parser understands spoken numbers.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Some honest challenges. The most interesting: I found a security hole myself during polishing. Anyone could register as an administrator by sending the word 'admin' to the API. Now sign-up only allows buyer or seller, and administrators are created by a script. Deployment failed twice; I traced it to four causes, fixed all four, and the system is now live.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These are system tests I ran on the live system with an Android phone on mobile data, plus B17, the most important automated test: editing the most recent trust block is caught by the hash stored on the seller. All 86 automated tests run on every push to GitHub. (About 1 minute.)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most important finding: you can give informal cash traders a verifiable reputation without online payment and without a real blockchain. Research questions 1 and 3 are answered largely yes; question 2 partly, because of the language limit.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The limitations, honestly. The biggest is that there has been no user study. The trust chain is tamper-evident, not tamper-proof: someone with full database access could rebuild a whole chain. Anchoring the latest hash outside the database would fix that, and it is in my recommendations.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Four of the five objectives are achieved; the fifth is partly achieved because the user study is still to be run, which is my first next step. Real SMS needs only a paid account and one setting. The main conclusion: a simple hash chain gives informal cash traders a verifiable reputation without online payment, and the system is live. Now I will show it. (About 1 minute.)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Thank you. I am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4398010" y="245110"/>
            <a:ext cx="3365500" cy="1198880"/>
          </a:xfrm>
          <a:prstGeom prst="rect">
            <a:avLst/>
          </a:prstGeom>
          <a:noFill/>
        </p:spPr>
        <p:txBody>
          <a:bodyPr wrap="none">
            <a:spAutoFit/>
          </a:bodyPr>
          <a:lstStyle/>
          <a:p>
            <a:pPr algn="ctr">
              <a:lnSpc>
                <a:spcPct val="150000"/>
              </a:lnSpc>
              <a:defRPr sz="4000" b="1">
                <a:solidFill>
                  <a:srgbClr val="FFFFFF"/>
                </a:solidFill>
              </a:defRPr>
            </a:pPr>
            <a:r>
              <a:rPr sz="4800">
                <a:solidFill>
                  <a:schemeClr val="tx1"/>
                </a:solidFill>
                <a:latin typeface="Times New Roman" panose="02020603050405020304" charset="0"/>
                <a:cs typeface="Times New Roman" panose="02020603050405020304" charset="0"/>
              </a:rPr>
              <a:t>ZamMarket</a:t>
            </a:r>
            <a:endParaRPr sz="4800">
              <a:solidFill>
                <a:schemeClr val="tx1"/>
              </a:solidFill>
              <a:latin typeface="Times New Roman" panose="02020603050405020304" charset="0"/>
              <a:cs typeface="Times New Roman" panose="02020603050405020304" charset="0"/>
            </a:endParaRPr>
          </a:p>
        </p:txBody>
      </p:sp>
      <p:sp>
        <p:nvSpPr>
          <p:cNvPr id="3" name="TextBox 2"/>
          <p:cNvSpPr txBox="1"/>
          <p:nvPr/>
        </p:nvSpPr>
        <p:spPr>
          <a:xfrm>
            <a:off x="3647758" y="2967355"/>
            <a:ext cx="4866005" cy="3322955"/>
          </a:xfrm>
          <a:prstGeom prst="rect">
            <a:avLst/>
          </a:prstGeom>
          <a:noFill/>
        </p:spPr>
        <p:txBody>
          <a:bodyPr wrap="none">
            <a:spAutoFit/>
          </a:bodyPr>
          <a:lstStyle/>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rPr>
              <a:t>John Chola </a:t>
            </a:r>
            <a:endParaRPr b="1">
              <a:solidFill>
                <a:schemeClr val="tx1"/>
              </a:solidFill>
              <a:latin typeface="Times New Roman" panose="02020603050405020304" charset="0"/>
              <a:cs typeface="Times New Roman" panose="02020603050405020304" charset="0"/>
            </a:endParaRPr>
          </a:p>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rPr>
              <a:t> 2021422054</a:t>
            </a:r>
            <a:endParaRPr b="1">
              <a:solidFill>
                <a:schemeClr val="tx1"/>
              </a:solidFill>
              <a:latin typeface="Times New Roman" panose="02020603050405020304" charset="0"/>
              <a:cs typeface="Times New Roman" panose="02020603050405020304" charset="0"/>
            </a:endParaRPr>
          </a:p>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sym typeface="+mn-ea"/>
              </a:rPr>
              <a:t>Final Year Project Presentation</a:t>
            </a:r>
            <a:endParaRPr b="1">
              <a:solidFill>
                <a:schemeClr val="tx1"/>
              </a:solidFill>
              <a:latin typeface="Times New Roman" panose="02020603050405020304" charset="0"/>
              <a:cs typeface="Times New Roman" panose="02020603050405020304" charset="0"/>
            </a:endParaRPr>
          </a:p>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rPr>
              <a:t>University of Zambia</a:t>
            </a:r>
            <a:endParaRPr b="1">
              <a:solidFill>
                <a:schemeClr val="tx1"/>
              </a:solidFill>
              <a:latin typeface="Times New Roman" panose="02020603050405020304" charset="0"/>
              <a:cs typeface="Times New Roman" panose="02020603050405020304" charset="0"/>
            </a:endParaRPr>
          </a:p>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rPr>
              <a:t>School of Natural and Applied Sciences</a:t>
            </a:r>
            <a:endParaRPr b="1">
              <a:solidFill>
                <a:schemeClr val="tx1"/>
              </a:solidFill>
              <a:latin typeface="Times New Roman" panose="02020603050405020304" charset="0"/>
              <a:cs typeface="Times New Roman" panose="02020603050405020304" charset="0"/>
            </a:endParaRPr>
          </a:p>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rPr>
              <a:t>Department of Computing and Informatics</a:t>
            </a:r>
            <a:endParaRPr b="1">
              <a:solidFill>
                <a:schemeClr val="tx1"/>
              </a:solidFill>
              <a:latin typeface="Times New Roman" panose="02020603050405020304" charset="0"/>
              <a:cs typeface="Times New Roman" panose="02020603050405020304" charset="0"/>
            </a:endParaRPr>
          </a:p>
          <a:p>
            <a:pPr algn="ctr">
              <a:lnSpc>
                <a:spcPct val="150000"/>
              </a:lnSpc>
              <a:defRPr sz="2000">
                <a:solidFill>
                  <a:srgbClr val="FFFFFF"/>
                </a:solidFill>
              </a:defRPr>
            </a:pPr>
            <a:r>
              <a:rPr b="1">
                <a:solidFill>
                  <a:schemeClr val="tx1"/>
                </a:solidFill>
                <a:latin typeface="Times New Roman" panose="02020603050405020304" charset="0"/>
                <a:cs typeface="Times New Roman" panose="02020603050405020304" charset="0"/>
              </a:rPr>
              <a:t>2026</a:t>
            </a:r>
            <a:endParaRPr b="1">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6574536"/>
            <a:ext cx="25120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a:solidFill>
                  <a:schemeClr val="tx1"/>
                </a:solidFill>
                <a:latin typeface="Times New Roman" panose="02020603050405020304" charset="0"/>
                <a:cs typeface="Times New Roman" panose="02020603050405020304" charset="0"/>
              </a:rPr>
              <a:t>Final Year Project • Academic Year 2026         1</a:t>
            </a:r>
            <a:endParaRPr b="1">
              <a:solidFill>
                <a:schemeClr val="tx1"/>
              </a:solidFill>
              <a:latin typeface="Times New Roman" panose="02020603050405020304" charset="0"/>
              <a:cs typeface="Times New Roman" panose="02020603050405020304" charset="0"/>
            </a:endParaRPr>
          </a:p>
        </p:txBody>
      </p:sp>
      <p:sp>
        <p:nvSpPr>
          <p:cNvPr id="6" name="Subtitle"/>
          <p:cNvSpPr txBox="1"/>
          <p:nvPr/>
        </p:nvSpPr>
        <p:spPr>
          <a:xfrm>
            <a:off x="1198880" y="1443990"/>
            <a:ext cx="9966960" cy="700405"/>
          </a:xfrm>
          <a:prstGeom prst="rect">
            <a:avLst/>
          </a:prstGeom>
          <a:noFill/>
        </p:spPr>
        <p:txBody>
          <a:bodyPr wrap="square" lIns="45720" tIns="27432" rIns="45720" bIns="27432" anchor="t">
            <a:spAutoFit/>
          </a:bodyPr>
          <a:lstStyle/>
          <a:p>
            <a:pPr algn="ctr">
              <a:lnSpc>
                <a:spcPct val="150000"/>
              </a:lnSpc>
              <a:spcAft>
                <a:spcPts val="600"/>
              </a:spcAft>
            </a:pPr>
            <a:r>
              <a:rPr sz="2800" b="1" i="0">
                <a:solidFill>
                  <a:schemeClr val="tx1"/>
                </a:solidFill>
                <a:latin typeface="Times New Roman" panose="02020603050405020304" charset="0"/>
                <a:cs typeface="Times New Roman" panose="02020603050405020304" charset="0"/>
              </a:rPr>
              <a:t>A Progressive Web App for Local Charcoal Trading in Lusaka</a:t>
            </a:r>
            <a:endParaRPr sz="2800"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2506663" y="131445"/>
            <a:ext cx="7148195"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Team Roles and Responsibilities</a:t>
            </a:r>
            <a:endParaRPr sz="4000">
              <a:solidFill>
                <a:schemeClr val="tx1"/>
              </a:solidFill>
              <a:latin typeface="Times New Roman" panose="02020603050405020304" charset="0"/>
              <a:cs typeface="Times New Roman" panose="02020603050405020304" charset="0"/>
            </a:endParaRPr>
          </a:p>
        </p:txBody>
      </p:sp>
      <p:graphicFrame>
        <p:nvGraphicFramePr>
          <p:cNvPr id="3" name="Table 2"/>
          <p:cNvGraphicFramePr>
            <a:graphicFrameLocks noGrp="1"/>
          </p:cNvGraphicFramePr>
          <p:nvPr/>
        </p:nvGraphicFramePr>
        <p:xfrm>
          <a:off x="731520" y="1234440"/>
          <a:ext cx="10698480" cy="1463040"/>
        </p:xfrm>
        <a:graphic>
          <a:graphicData uri="http://schemas.openxmlformats.org/drawingml/2006/table">
            <a:tbl>
              <a:tblPr firstRow="1" bandRow="1">
                <a:tableStyleId>{5C22544A-7EE6-4342-B048-85BDC9FD1C3A}</a:tableStyleId>
              </a:tblPr>
              <a:tblGrid>
                <a:gridCol w="3017520"/>
                <a:gridCol w="2194560"/>
                <a:gridCol w="5486400"/>
              </a:tblGrid>
              <a:tr h="731520">
                <a:tc>
                  <a:txBody>
                    <a:bodyPr/>
                    <a:lstStyle/>
                    <a:p>
                      <a:pPr>
                        <a:lnSpc>
                          <a:spcPct val="150000"/>
                        </a:lnSpc>
                        <a:defRPr sz="1400" b="1">
                          <a:solidFill>
                            <a:srgbClr val="FFFFFF"/>
                          </a:solidFill>
                        </a:defRPr>
                      </a:pPr>
                      <a:r>
                        <a:rPr sz="1800">
                          <a:solidFill>
                            <a:schemeClr val="tx1"/>
                          </a:solidFill>
                          <a:latin typeface="Times New Roman" panose="02020603050405020304" charset="0"/>
                          <a:cs typeface="Times New Roman" panose="02020603050405020304" charset="0"/>
                        </a:rPr>
                        <a:t>Member</a:t>
                      </a:r>
                      <a:endParaRPr sz="1800">
                        <a:solidFill>
                          <a:schemeClr val="tx1"/>
                        </a:solidFill>
                        <a:latin typeface="Times New Roman" panose="02020603050405020304" charset="0"/>
                        <a:cs typeface="Times New Roman" panose="02020603050405020304" charset="0"/>
                      </a:endParaRPr>
                    </a:p>
                  </a:txBody>
                  <a:tcPr>
                    <a:solidFill>
                      <a:schemeClr val="accent3">
                        <a:lumMod val="40000"/>
                        <a:lumOff val="60000"/>
                      </a:schemeClr>
                    </a:solidFill>
                  </a:tcPr>
                </a:tc>
                <a:tc>
                  <a:txBody>
                    <a:bodyPr/>
                    <a:lstStyle/>
                    <a:p>
                      <a:pPr>
                        <a:lnSpc>
                          <a:spcPct val="150000"/>
                        </a:lnSpc>
                        <a:defRPr sz="1400" b="1">
                          <a:solidFill>
                            <a:srgbClr val="FFFFFF"/>
                          </a:solidFill>
                        </a:defRPr>
                      </a:pPr>
                      <a:r>
                        <a:rPr sz="1800">
                          <a:solidFill>
                            <a:schemeClr val="tx1"/>
                          </a:solidFill>
                          <a:latin typeface="Times New Roman" panose="02020603050405020304" charset="0"/>
                          <a:cs typeface="Times New Roman" panose="02020603050405020304" charset="0"/>
                        </a:rPr>
                        <a:t>Computer No.</a:t>
                      </a:r>
                      <a:endParaRPr sz="1800">
                        <a:solidFill>
                          <a:schemeClr val="tx1"/>
                        </a:solidFill>
                        <a:latin typeface="Times New Roman" panose="02020603050405020304" charset="0"/>
                        <a:cs typeface="Times New Roman" panose="02020603050405020304" charset="0"/>
                      </a:endParaRPr>
                    </a:p>
                  </a:txBody>
                  <a:tcPr>
                    <a:solidFill>
                      <a:schemeClr val="accent3">
                        <a:lumMod val="40000"/>
                        <a:lumOff val="60000"/>
                      </a:schemeClr>
                    </a:solidFill>
                  </a:tcPr>
                </a:tc>
                <a:tc>
                  <a:txBody>
                    <a:bodyPr/>
                    <a:lstStyle/>
                    <a:p>
                      <a:pPr>
                        <a:lnSpc>
                          <a:spcPct val="150000"/>
                        </a:lnSpc>
                        <a:defRPr sz="1400" b="1">
                          <a:solidFill>
                            <a:srgbClr val="FFFFFF"/>
                          </a:solidFill>
                        </a:defRPr>
                      </a:pPr>
                      <a:r>
                        <a:rPr sz="1800">
                          <a:solidFill>
                            <a:schemeClr val="tx1"/>
                          </a:solidFill>
                          <a:latin typeface="Times New Roman" panose="02020603050405020304" charset="0"/>
                          <a:cs typeface="Times New Roman" panose="02020603050405020304" charset="0"/>
                        </a:rPr>
                        <a:t>Primary Role / Responsibilities</a:t>
                      </a:r>
                      <a:endParaRPr sz="1800">
                        <a:solidFill>
                          <a:schemeClr val="tx1"/>
                        </a:solidFill>
                        <a:latin typeface="Times New Roman" panose="02020603050405020304" charset="0"/>
                        <a:cs typeface="Times New Roman" panose="02020603050405020304" charset="0"/>
                      </a:endParaRPr>
                    </a:p>
                  </a:txBody>
                  <a:tcPr>
                    <a:solidFill>
                      <a:schemeClr val="accent3">
                        <a:lumMod val="40000"/>
                        <a:lumOff val="60000"/>
                      </a:schemeClr>
                    </a:solidFill>
                  </a:tcPr>
                </a:tc>
              </a:tr>
              <a:tr h="731520">
                <a:tc>
                  <a:txBody>
                    <a:bodyPr/>
                    <a:lstStyle/>
                    <a:p>
                      <a:pPr>
                        <a:lnSpc>
                          <a:spcPct val="150000"/>
                        </a:lnSpc>
                        <a:defRPr sz="1300">
                          <a:solidFill>
                            <a:srgbClr val="232323"/>
                          </a:solidFill>
                        </a:defRPr>
                      </a:pPr>
                      <a:r>
                        <a:rPr sz="1600" b="1">
                          <a:latin typeface="Times New Roman" panose="02020603050405020304" charset="0"/>
                          <a:cs typeface="Times New Roman" panose="02020603050405020304" charset="0"/>
                        </a:rPr>
                        <a:t>John Chola</a:t>
                      </a:r>
                      <a:endParaRPr sz="1600" b="1">
                        <a:latin typeface="Times New Roman" panose="02020603050405020304" charset="0"/>
                        <a:cs typeface="Times New Roman" panose="02020603050405020304" charset="0"/>
                      </a:endParaRPr>
                    </a:p>
                  </a:txBody>
                  <a:tcPr>
                    <a:solidFill>
                      <a:schemeClr val="accent3">
                        <a:lumMod val="20000"/>
                        <a:lumOff val="80000"/>
                      </a:schemeClr>
                    </a:solidFill>
                  </a:tcPr>
                </a:tc>
                <a:tc>
                  <a:txBody>
                    <a:bodyPr/>
                    <a:lstStyle/>
                    <a:p>
                      <a:pPr>
                        <a:lnSpc>
                          <a:spcPct val="150000"/>
                        </a:lnSpc>
                        <a:defRPr sz="1300">
                          <a:solidFill>
                            <a:srgbClr val="232323"/>
                          </a:solidFill>
                        </a:defRPr>
                      </a:pPr>
                      <a:r>
                        <a:rPr sz="1600" b="1">
                          <a:latin typeface="Times New Roman" panose="02020603050405020304" charset="0"/>
                          <a:cs typeface="Times New Roman" panose="02020603050405020304" charset="0"/>
                        </a:rPr>
                        <a:t>2021422054</a:t>
                      </a:r>
                      <a:endParaRPr sz="1600" b="1">
                        <a:latin typeface="Times New Roman" panose="02020603050405020304" charset="0"/>
                        <a:cs typeface="Times New Roman" panose="02020603050405020304" charset="0"/>
                      </a:endParaRPr>
                    </a:p>
                  </a:txBody>
                  <a:tcPr>
                    <a:solidFill>
                      <a:schemeClr val="accent3">
                        <a:lumMod val="20000"/>
                        <a:lumOff val="80000"/>
                      </a:schemeClr>
                    </a:solidFill>
                  </a:tcPr>
                </a:tc>
                <a:tc>
                  <a:txBody>
                    <a:bodyPr/>
                    <a:lstStyle/>
                    <a:p>
                      <a:pPr>
                        <a:lnSpc>
                          <a:spcPct val="150000"/>
                        </a:lnSpc>
                        <a:defRPr sz="1300">
                          <a:solidFill>
                            <a:srgbClr val="232323"/>
                          </a:solidFill>
                        </a:defRPr>
                      </a:pPr>
                      <a:r>
                        <a:rPr sz="1600" b="1">
                          <a:latin typeface="Times New Roman" panose="02020603050405020304" charset="0"/>
                          <a:cs typeface="Times New Roman" panose="02020603050405020304" charset="0"/>
                        </a:rPr>
                        <a:t>Sole developer: requirements, literature review, design, full-stack implementation, testing and report</a:t>
                      </a:r>
                      <a:endParaRPr sz="1600" b="1">
                        <a:latin typeface="Times New Roman" panose="02020603050405020304" charset="0"/>
                        <a:cs typeface="Times New Roman" panose="02020603050405020304" charset="0"/>
                      </a:endParaRPr>
                    </a:p>
                  </a:txBody>
                  <a:tcPr>
                    <a:solidFill>
                      <a:schemeClr val="accent3">
                        <a:lumMod val="20000"/>
                        <a:lumOff val="80000"/>
                      </a:schemeClr>
                    </a:solidFill>
                  </a:tcPr>
                </a:tc>
              </a:tr>
            </a:tbl>
          </a:graphicData>
        </a:graphic>
      </p:graphicFrame>
      <p:sp>
        <p:nvSpPr>
          <p:cNvPr id="4" name="TextBox 3"/>
          <p:cNvSpPr txBox="1"/>
          <p:nvPr/>
        </p:nvSpPr>
        <p:spPr>
          <a:xfrm>
            <a:off x="777240" y="5577840"/>
            <a:ext cx="5001895" cy="506730"/>
          </a:xfrm>
          <a:prstGeom prst="rect">
            <a:avLst/>
          </a:prstGeom>
          <a:noFill/>
        </p:spPr>
        <p:txBody>
          <a:bodyPr wrap="none">
            <a:spAutoFit/>
          </a:bodyPr>
          <a:lstStyle/>
          <a:p>
            <a:pPr>
              <a:lnSpc>
                <a:spcPct val="150000"/>
              </a:lnSpc>
              <a:defRPr sz="1500" b="1">
                <a:solidFill>
                  <a:srgbClr val="192D4B"/>
                </a:solidFill>
              </a:defRPr>
            </a:pPr>
            <a:r>
              <a:rPr sz="1800">
                <a:solidFill>
                  <a:schemeClr val="tx1"/>
                </a:solidFill>
                <a:latin typeface="Times New Roman" panose="02020603050405020304" charset="0"/>
                <a:cs typeface="Times New Roman" panose="02020603050405020304" charset="0"/>
              </a:rPr>
              <a:t>Supervisor: Mr. Martin Phiri · Individual project</a:t>
            </a:r>
            <a:endParaRPr sz="1800">
              <a:solidFill>
                <a:schemeClr val="tx1"/>
              </a:solidFill>
              <a:latin typeface="Times New Roman" panose="02020603050405020304" charset="0"/>
              <a:cs typeface="Times New Roman" panose="02020603050405020304" charset="0"/>
            </a:endParaRPr>
          </a:p>
        </p:txBody>
      </p:sp>
      <p:sp>
        <p:nvSpPr>
          <p:cNvPr id="5" name="Rectangle 4"/>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6" name="TextBox 5"/>
          <p:cNvSpPr txBox="1"/>
          <p:nvPr/>
        </p:nvSpPr>
        <p:spPr>
          <a:xfrm>
            <a:off x="320040" y="6574536"/>
            <a:ext cx="245491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a:solidFill>
                  <a:schemeClr val="tx1"/>
                </a:solidFill>
                <a:latin typeface="Times New Roman" panose="02020603050405020304" charset="0"/>
                <a:cs typeface="Times New Roman" panose="02020603050405020304" charset="0"/>
              </a:rPr>
              <a:t>Final Year Project • Academic Year 2026       2</a:t>
            </a:r>
            <a:endParaRPr b="1">
              <a:solidFill>
                <a:schemeClr val="tx1"/>
              </a:solidFill>
              <a:latin typeface="Times New Roman" panose="02020603050405020304" charset="0"/>
              <a:cs typeface="Times New Roman" panose="02020603050405020304" charset="0"/>
            </a:endParaRPr>
          </a:p>
        </p:txBody>
      </p:sp>
      <p:sp>
        <p:nvSpPr>
          <p:cNvPr id="7" name="Rounded Rectangle 6"/>
          <p:cNvSpPr/>
          <p:nvPr/>
        </p:nvSpPr>
        <p:spPr>
          <a:xfrm>
            <a:off x="731520" y="3291840"/>
            <a:ext cx="2468880" cy="18288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8" name="TextBox 7"/>
          <p:cNvSpPr txBox="1"/>
          <p:nvPr/>
        </p:nvSpPr>
        <p:spPr>
          <a:xfrm>
            <a:off x="731520" y="3474720"/>
            <a:ext cx="2468880" cy="700405"/>
          </a:xfrm>
          <a:prstGeom prst="rect">
            <a:avLst/>
          </a:prstGeom>
          <a:noFill/>
        </p:spPr>
        <p:txBody>
          <a:bodyPr wrap="square" lIns="45720" tIns="27432" rIns="45720" bIns="27432" anchor="t">
            <a:spAutoFit/>
          </a:bodyPr>
          <a:lstStyle/>
          <a:p>
            <a:pPr algn="ctr">
              <a:lnSpc>
                <a:spcPct val="150000"/>
              </a:lnSpc>
              <a:spcAft>
                <a:spcPts val="0"/>
              </a:spcAft>
            </a:pPr>
            <a:r>
              <a:rPr sz="2800" b="1" i="0">
                <a:solidFill>
                  <a:schemeClr val="tx1"/>
                </a:solidFill>
                <a:latin typeface="Times New Roman" panose="02020603050405020304" charset="0"/>
                <a:cs typeface="Times New Roman" panose="02020603050405020304" charset="0"/>
              </a:rPr>
              <a:t>4</a:t>
            </a:r>
            <a:endParaRPr sz="2800" b="1" i="0">
              <a:solidFill>
                <a:schemeClr val="tx1"/>
              </a:solidFill>
              <a:latin typeface="Times New Roman" panose="02020603050405020304" charset="0"/>
              <a:cs typeface="Times New Roman" panose="02020603050405020304" charset="0"/>
            </a:endParaRPr>
          </a:p>
        </p:txBody>
      </p:sp>
      <p:sp>
        <p:nvSpPr>
          <p:cNvPr id="9" name="TextBox 8"/>
          <p:cNvSpPr txBox="1"/>
          <p:nvPr/>
        </p:nvSpPr>
        <p:spPr>
          <a:xfrm>
            <a:off x="868680" y="4389120"/>
            <a:ext cx="2194560" cy="793115"/>
          </a:xfrm>
          <a:prstGeom prst="rect">
            <a:avLst/>
          </a:prstGeom>
          <a:noFill/>
        </p:spPr>
        <p:txBody>
          <a:bodyPr wrap="square" lIns="45720" tIns="27432" rIns="45720" bIns="27432" anchor="t">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agile sprints + a
stabilisation period</a:t>
            </a:r>
            <a:endParaRPr sz="1600" b="1" i="0">
              <a:solidFill>
                <a:schemeClr val="tx1"/>
              </a:solidFill>
              <a:latin typeface="Times New Roman" panose="02020603050405020304" charset="0"/>
              <a:cs typeface="Times New Roman" panose="02020603050405020304" charset="0"/>
            </a:endParaRPr>
          </a:p>
        </p:txBody>
      </p:sp>
      <p:sp>
        <p:nvSpPr>
          <p:cNvPr id="10" name="Rounded Rectangle 9"/>
          <p:cNvSpPr/>
          <p:nvPr/>
        </p:nvSpPr>
        <p:spPr>
          <a:xfrm>
            <a:off x="3474720" y="3291840"/>
            <a:ext cx="2468880" cy="18288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11" name="TextBox 10"/>
          <p:cNvSpPr txBox="1"/>
          <p:nvPr/>
        </p:nvSpPr>
        <p:spPr>
          <a:xfrm>
            <a:off x="3474720" y="3474720"/>
            <a:ext cx="2468880" cy="700405"/>
          </a:xfrm>
          <a:prstGeom prst="rect">
            <a:avLst/>
          </a:prstGeom>
          <a:noFill/>
        </p:spPr>
        <p:txBody>
          <a:bodyPr wrap="square" lIns="45720" tIns="27432" rIns="45720" bIns="27432" anchor="t">
            <a:spAutoFit/>
          </a:bodyPr>
          <a:lstStyle/>
          <a:p>
            <a:pPr algn="ctr">
              <a:lnSpc>
                <a:spcPct val="150000"/>
              </a:lnSpc>
              <a:spcAft>
                <a:spcPts val="0"/>
              </a:spcAft>
            </a:pPr>
            <a:r>
              <a:rPr sz="2800" b="1" i="0">
                <a:solidFill>
                  <a:schemeClr val="tx1"/>
                </a:solidFill>
                <a:latin typeface="Times New Roman" panose="02020603050405020304" charset="0"/>
                <a:cs typeface="Times New Roman" panose="02020603050405020304" charset="0"/>
              </a:rPr>
              <a:t>8</a:t>
            </a:r>
            <a:endParaRPr sz="2800" b="1" i="0">
              <a:solidFill>
                <a:schemeClr val="tx1"/>
              </a:solidFill>
              <a:latin typeface="Times New Roman" panose="02020603050405020304" charset="0"/>
              <a:cs typeface="Times New Roman" panose="02020603050405020304" charset="0"/>
            </a:endParaRPr>
          </a:p>
        </p:txBody>
      </p:sp>
      <p:sp>
        <p:nvSpPr>
          <p:cNvPr id="12" name="TextBox 11"/>
          <p:cNvSpPr txBox="1"/>
          <p:nvPr/>
        </p:nvSpPr>
        <p:spPr>
          <a:xfrm>
            <a:off x="3611879" y="4389120"/>
            <a:ext cx="2194560" cy="469900"/>
          </a:xfrm>
          <a:prstGeom prst="rect">
            <a:avLst/>
          </a:prstGeom>
          <a:noFill/>
        </p:spPr>
        <p:txBody>
          <a:bodyPr wrap="square" lIns="45720" tIns="27432" rIns="45720" bIns="27432" anchor="t">
            <a:spAutoFit/>
          </a:bodyPr>
          <a:lstStyle/>
          <a:p>
            <a:pPr algn="ctr">
              <a:lnSpc>
                <a:spcPct val="150000"/>
              </a:lnSpc>
              <a:spcAft>
                <a:spcPts val="0"/>
              </a:spcAft>
            </a:pPr>
            <a:r>
              <a:rPr b="1" i="0">
                <a:solidFill>
                  <a:schemeClr val="tx1"/>
                </a:solidFill>
                <a:latin typeface="Times New Roman" panose="02020603050405020304" charset="0"/>
                <a:cs typeface="Times New Roman" panose="02020603050405020304" charset="0"/>
              </a:rPr>
              <a:t>system modules</a:t>
            </a:r>
            <a:endParaRPr b="1" i="0">
              <a:solidFill>
                <a:schemeClr val="tx1"/>
              </a:solidFill>
              <a:latin typeface="Times New Roman" panose="02020603050405020304" charset="0"/>
              <a:cs typeface="Times New Roman" panose="02020603050405020304" charset="0"/>
            </a:endParaRPr>
          </a:p>
        </p:txBody>
      </p:sp>
      <p:sp>
        <p:nvSpPr>
          <p:cNvPr id="13" name="Rounded Rectangle 12"/>
          <p:cNvSpPr/>
          <p:nvPr/>
        </p:nvSpPr>
        <p:spPr>
          <a:xfrm>
            <a:off x="6217920" y="3291840"/>
            <a:ext cx="2468880" cy="18288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14" name="TextBox 13"/>
          <p:cNvSpPr txBox="1"/>
          <p:nvPr/>
        </p:nvSpPr>
        <p:spPr>
          <a:xfrm>
            <a:off x="6217920" y="3474720"/>
            <a:ext cx="2468880" cy="700405"/>
          </a:xfrm>
          <a:prstGeom prst="rect">
            <a:avLst/>
          </a:prstGeom>
          <a:noFill/>
        </p:spPr>
        <p:txBody>
          <a:bodyPr wrap="square" lIns="45720" tIns="27432" rIns="45720" bIns="27432" anchor="t">
            <a:spAutoFit/>
          </a:bodyPr>
          <a:lstStyle/>
          <a:p>
            <a:pPr algn="ctr">
              <a:lnSpc>
                <a:spcPct val="150000"/>
              </a:lnSpc>
              <a:spcAft>
                <a:spcPts val="0"/>
              </a:spcAft>
            </a:pPr>
            <a:r>
              <a:rPr sz="2800" b="1" i="0">
                <a:solidFill>
                  <a:schemeClr val="tx1"/>
                </a:solidFill>
                <a:latin typeface="Times New Roman" panose="02020603050405020304" charset="0"/>
                <a:cs typeface="Times New Roman" panose="02020603050405020304" charset="0"/>
              </a:rPr>
              <a:t>86</a:t>
            </a:r>
            <a:endParaRPr sz="2800" b="1" i="0">
              <a:solidFill>
                <a:schemeClr val="tx1"/>
              </a:solidFill>
              <a:latin typeface="Times New Roman" panose="02020603050405020304" charset="0"/>
              <a:cs typeface="Times New Roman" panose="02020603050405020304" charset="0"/>
            </a:endParaRPr>
          </a:p>
        </p:txBody>
      </p:sp>
      <p:sp>
        <p:nvSpPr>
          <p:cNvPr id="15" name="TextBox 14"/>
          <p:cNvSpPr txBox="1"/>
          <p:nvPr/>
        </p:nvSpPr>
        <p:spPr>
          <a:xfrm>
            <a:off x="6355080" y="4389120"/>
            <a:ext cx="2194560" cy="793115"/>
          </a:xfrm>
          <a:prstGeom prst="rect">
            <a:avLst/>
          </a:prstGeom>
          <a:noFill/>
        </p:spPr>
        <p:txBody>
          <a:bodyPr wrap="square" lIns="45720" tIns="27432" rIns="45720" bIns="27432" anchor="t">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automated tests,
all passing</a:t>
            </a:r>
            <a:endParaRPr sz="1600" b="1" i="0">
              <a:solidFill>
                <a:schemeClr val="tx1"/>
              </a:solidFill>
              <a:latin typeface="Times New Roman" panose="02020603050405020304" charset="0"/>
              <a:cs typeface="Times New Roman" panose="02020603050405020304" charset="0"/>
            </a:endParaRPr>
          </a:p>
        </p:txBody>
      </p:sp>
      <p:sp>
        <p:nvSpPr>
          <p:cNvPr id="16" name="Rounded Rectangle 15"/>
          <p:cNvSpPr/>
          <p:nvPr/>
        </p:nvSpPr>
        <p:spPr>
          <a:xfrm>
            <a:off x="8961120" y="3291840"/>
            <a:ext cx="2468880" cy="1828800"/>
          </a:xfrm>
          <a:prstGeom prst="roundRect">
            <a:avLst>
              <a:gd name="adj" fmla="val 8000"/>
            </a:avLst>
          </a:prstGeom>
          <a:solidFill>
            <a:schemeClr val="accent3">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17" name="TextBox 16"/>
          <p:cNvSpPr txBox="1"/>
          <p:nvPr/>
        </p:nvSpPr>
        <p:spPr>
          <a:xfrm>
            <a:off x="8961120" y="3474720"/>
            <a:ext cx="2468880" cy="700405"/>
          </a:xfrm>
          <a:prstGeom prst="rect">
            <a:avLst/>
          </a:prstGeom>
          <a:noFill/>
        </p:spPr>
        <p:txBody>
          <a:bodyPr wrap="square" lIns="45720" tIns="27432" rIns="45720" bIns="27432" anchor="t">
            <a:spAutoFit/>
          </a:bodyPr>
          <a:lstStyle/>
          <a:p>
            <a:pPr algn="ctr">
              <a:lnSpc>
                <a:spcPct val="150000"/>
              </a:lnSpc>
              <a:spcAft>
                <a:spcPts val="0"/>
              </a:spcAft>
            </a:pPr>
            <a:r>
              <a:rPr sz="2800" b="1" i="0">
                <a:solidFill>
                  <a:schemeClr val="tx1"/>
                </a:solidFill>
                <a:latin typeface="Times New Roman" panose="02020603050405020304" charset="0"/>
                <a:cs typeface="Times New Roman" panose="02020603050405020304" charset="0"/>
              </a:rPr>
              <a:t>24</a:t>
            </a:r>
            <a:endParaRPr sz="2800" b="1" i="0">
              <a:solidFill>
                <a:schemeClr val="tx1"/>
              </a:solidFill>
              <a:latin typeface="Times New Roman" panose="02020603050405020304" charset="0"/>
              <a:cs typeface="Times New Roman" panose="02020603050405020304" charset="0"/>
            </a:endParaRPr>
          </a:p>
        </p:txBody>
      </p:sp>
      <p:sp>
        <p:nvSpPr>
          <p:cNvPr id="18" name="TextBox 17"/>
          <p:cNvSpPr txBox="1"/>
          <p:nvPr/>
        </p:nvSpPr>
        <p:spPr>
          <a:xfrm>
            <a:off x="9098280" y="4389120"/>
            <a:ext cx="2194560" cy="793115"/>
          </a:xfrm>
          <a:prstGeom prst="rect">
            <a:avLst/>
          </a:prstGeom>
          <a:noFill/>
        </p:spPr>
        <p:txBody>
          <a:bodyPr wrap="square" lIns="45720" tIns="27432" rIns="45720" bIns="27432" anchor="t">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Lusaka-area places
supported</a:t>
            </a:r>
            <a:endParaRPr sz="1600"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518853" y="320040"/>
            <a:ext cx="5123815"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Presentation Overview</a:t>
            </a:r>
            <a:endParaRPr sz="4000">
              <a:latin typeface="Times New Roman" panose="02020603050405020304" charset="0"/>
              <a:cs typeface="Times New Roman" panose="02020603050405020304" charset="0"/>
            </a:endParaRPr>
          </a:p>
        </p:txBody>
      </p:sp>
      <p:sp>
        <p:nvSpPr>
          <p:cNvPr id="3" name="TextBox 2"/>
          <p:cNvSpPr txBox="1"/>
          <p:nvPr/>
        </p:nvSpPr>
        <p:spPr>
          <a:xfrm>
            <a:off x="822960" y="1325880"/>
            <a:ext cx="10607040" cy="4892675"/>
          </a:xfrm>
          <a:prstGeom prst="rect">
            <a:avLst/>
          </a:prstGeom>
          <a:noFill/>
        </p:spPr>
        <p:txBody>
          <a:bodyPr wrap="square">
            <a:spAutoFit/>
          </a:bodyPr>
          <a:lstStyle/>
          <a:p>
            <a:pPr>
              <a:lnSpc>
                <a:spcPct val="150000"/>
              </a:lnSpc>
              <a:spcAft>
                <a:spcPts val="1200"/>
              </a:spcAft>
              <a:defRPr sz="2100">
                <a:solidFill>
                  <a:srgbClr val="232323"/>
                </a:solidFill>
              </a:defRPr>
            </a:pPr>
            <a:r>
              <a:rPr lang="en-US" sz="2400" b="1" dirty="0">
                <a:solidFill>
                  <a:schemeClr val="tx1"/>
                </a:solidFill>
                <a:latin typeface="Times New Roman" panose="02020603050405020304" charset="0"/>
                <a:cs typeface="Times New Roman" panose="02020603050405020304" charset="0"/>
              </a:rPr>
              <a:t>Background </a:t>
            </a:r>
            <a:r>
              <a:rPr lang="en-US" sz="2400" b="1">
                <a:solidFill>
                  <a:schemeClr val="tx1"/>
                </a:solidFill>
                <a:latin typeface="Times New Roman" panose="02020603050405020304" charset="0"/>
                <a:cs typeface="Times New Roman" panose="02020603050405020304" charset="0"/>
              </a:rPr>
              <a:t>and Context</a:t>
            </a:r>
            <a:endParaRPr sz="2400" b="1" dirty="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dirty="0">
                <a:solidFill>
                  <a:schemeClr val="tx1"/>
                </a:solidFill>
                <a:latin typeface="Times New Roman" panose="02020603050405020304" charset="0"/>
                <a:cs typeface="Times New Roman" panose="02020603050405020304" charset="0"/>
              </a:rPr>
              <a:t>System Analysis and Design</a:t>
            </a:r>
            <a:endParaRPr sz="2400" b="1" dirty="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dirty="0">
                <a:solidFill>
                  <a:schemeClr val="tx1"/>
                </a:solidFill>
                <a:latin typeface="Times New Roman" panose="02020603050405020304" charset="0"/>
                <a:cs typeface="Times New Roman" panose="02020603050405020304" charset="0"/>
              </a:rPr>
              <a:t>Implementation / Development</a:t>
            </a:r>
            <a:endParaRPr sz="2400" b="1" dirty="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dirty="0">
                <a:solidFill>
                  <a:schemeClr val="tx1"/>
                </a:solidFill>
                <a:latin typeface="Times New Roman" panose="02020603050405020304" charset="0"/>
                <a:cs typeface="Times New Roman" panose="02020603050405020304" charset="0"/>
              </a:rPr>
              <a:t>Testing, Results and Evaluation</a:t>
            </a:r>
            <a:endParaRPr sz="2400" b="1" dirty="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dirty="0">
                <a:solidFill>
                  <a:schemeClr val="tx1"/>
                </a:solidFill>
                <a:latin typeface="Times New Roman" panose="02020603050405020304" charset="0"/>
                <a:cs typeface="Times New Roman" panose="02020603050405020304" charset="0"/>
              </a:rPr>
              <a:t>Discussion</a:t>
            </a:r>
            <a:endParaRPr sz="2400" b="1" dirty="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dirty="0">
                <a:solidFill>
                  <a:schemeClr val="tx1"/>
                </a:solidFill>
                <a:latin typeface="Times New Roman" panose="02020603050405020304" charset="0"/>
                <a:cs typeface="Times New Roman" panose="02020603050405020304" charset="0"/>
              </a:rPr>
              <a:t>Conclusion</a:t>
            </a:r>
            <a:r>
              <a:rPr lang="en-US" sz="2400" b="1" dirty="0">
                <a:solidFill>
                  <a:schemeClr val="tx1"/>
                </a:solidFill>
                <a:latin typeface="Times New Roman" panose="02020603050405020304" charset="0"/>
                <a:cs typeface="Times New Roman" panose="02020603050405020304" charset="0"/>
              </a:rPr>
              <a:t> </a:t>
            </a:r>
            <a:endParaRPr lang="en-US" sz="2400" b="1" dirty="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dirty="0">
                <a:solidFill>
                  <a:schemeClr val="tx1"/>
                </a:solidFill>
                <a:latin typeface="Times New Roman" panose="02020603050405020304" charset="0"/>
                <a:cs typeface="Times New Roman" panose="02020603050405020304" charset="0"/>
              </a:rPr>
              <a:t>System Demonstration</a:t>
            </a:r>
            <a:endParaRPr sz="2400" b="1" dirty="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solidFill>
              <a:schemeClr val="accent3">
                <a:lumMod val="50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5120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a:solidFill>
                  <a:schemeClr val="tx1"/>
                </a:solidFill>
                <a:latin typeface="Times New Roman" panose="02020603050405020304" charset="0"/>
                <a:cs typeface="Times New Roman" panose="02020603050405020304" charset="0"/>
              </a:rPr>
              <a:t>Final Year Project • Academic Year 2026         3</a:t>
            </a:r>
            <a:endParaRPr b="1">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053398" y="-84455"/>
            <a:ext cx="5649595"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Background and Context</a:t>
            </a:r>
            <a:endParaRPr sz="4000">
              <a:latin typeface="Times New Roman" panose="02020603050405020304" charset="0"/>
              <a:cs typeface="Times New Roman" panose="02020603050405020304" charset="0"/>
            </a:endParaRPr>
          </a:p>
        </p:txBody>
      </p:sp>
      <p:sp>
        <p:nvSpPr>
          <p:cNvPr id="4" name="Rectangle 3"/>
          <p:cNvSpPr/>
          <p:nvPr/>
        </p:nvSpPr>
        <p:spPr>
          <a:xfrm>
            <a:off x="635"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675" y="6574536"/>
            <a:ext cx="2483485"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a:ln>
            <a:gradFill>
              <a:gsLst>
                <a:gs pos="50000">
                  <a:schemeClr val="accent2"/>
                </a:gs>
                <a:gs pos="0">
                  <a:schemeClr val="accent2">
                    <a:lumMod val="25000"/>
                    <a:lumOff val="75000"/>
                  </a:schemeClr>
                </a:gs>
                <a:gs pos="100000">
                  <a:schemeClr val="accent2">
                    <a:lumMod val="85000"/>
                  </a:schemeClr>
                </a:gs>
              </a:gsLst>
              <a:lin ang="5400000" scaled="0"/>
            </a:gradFill>
          </a:ln>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4</a:t>
            </a:r>
            <a:endParaRPr b="1" dirty="0">
              <a:solidFill>
                <a:schemeClr val="tx1"/>
              </a:solidFill>
              <a:latin typeface="Times New Roman" panose="02020603050405020304" charset="0"/>
              <a:cs typeface="Times New Roman" panose="02020603050405020304" charset="0"/>
            </a:endParaRPr>
          </a:p>
        </p:txBody>
      </p:sp>
      <p:sp>
        <p:nvSpPr>
          <p:cNvPr id="6" name="TextBox 5"/>
          <p:cNvSpPr txBox="1"/>
          <p:nvPr/>
        </p:nvSpPr>
        <p:spPr>
          <a:xfrm>
            <a:off x="732790" y="868680"/>
            <a:ext cx="6766560" cy="4209415"/>
          </a:xfrm>
          <a:prstGeom prst="rect">
            <a:avLst/>
          </a:prstGeom>
          <a:noFill/>
        </p:spPr>
        <p:txBody>
          <a:bodyPr wrap="square" lIns="45720" tIns="27432" rIns="45720" bIns="27432" anchor="t">
            <a:spAutoFit/>
          </a:bodyPr>
          <a:lstStyle/>
          <a:p>
            <a:pPr algn="l">
              <a:lnSpc>
                <a:spcPct val="150000"/>
              </a:lnSpc>
              <a:spcAft>
                <a:spcPts val="1200"/>
              </a:spcAft>
            </a:pPr>
            <a:r>
              <a:rPr sz="2000" b="1" i="0">
                <a:solidFill>
                  <a:schemeClr val="tx1"/>
                </a:solidFill>
                <a:latin typeface="Times New Roman" panose="02020603050405020304" charset="0"/>
                <a:cs typeface="Times New Roman" panose="02020603050405020304" charset="0"/>
              </a:rPr>
              <a:t>Charcoal is the main cooking fuel </a:t>
            </a:r>
            <a:r>
              <a:rPr sz="2000" b="0" i="0">
                <a:solidFill>
                  <a:schemeClr val="tx1"/>
                </a:solidFill>
                <a:latin typeface="Times New Roman" panose="02020603050405020304" charset="0"/>
                <a:cs typeface="Times New Roman" panose="02020603050405020304" charset="0"/>
              </a:rPr>
              <a:t>for most urban Zambian households, even those with electricity.</a:t>
            </a:r>
            <a:endParaRPr sz="2000" b="0" i="0">
              <a:solidFill>
                <a:schemeClr val="tx1"/>
              </a:solidFill>
              <a:latin typeface="Times New Roman" panose="02020603050405020304" charset="0"/>
              <a:cs typeface="Times New Roman" panose="02020603050405020304" charset="0"/>
            </a:endParaRPr>
          </a:p>
          <a:p>
            <a:pPr algn="l">
              <a:lnSpc>
                <a:spcPct val="150000"/>
              </a:lnSpc>
              <a:spcAft>
                <a:spcPts val="1200"/>
              </a:spcAft>
            </a:pPr>
            <a:r>
              <a:rPr sz="2000" b="1" i="0">
                <a:solidFill>
                  <a:schemeClr val="tx1"/>
                </a:solidFill>
                <a:latin typeface="Times New Roman" panose="02020603050405020304" charset="0"/>
                <a:cs typeface="Times New Roman" panose="02020603050405020304" charset="0"/>
              </a:rPr>
              <a:t>It is sold informally, </a:t>
            </a:r>
            <a:r>
              <a:rPr sz="2000" b="0" i="0">
                <a:solidFill>
                  <a:schemeClr val="tx1"/>
                </a:solidFill>
                <a:latin typeface="Times New Roman" panose="02020603050405020304" charset="0"/>
                <a:cs typeface="Times New Roman" panose="02020603050405020304" charset="0"/>
              </a:rPr>
              <a:t>face to face and in cash; buyers find sellers by walking around and asking.</a:t>
            </a:r>
            <a:endParaRPr sz="2000" b="0" i="0">
              <a:solidFill>
                <a:schemeClr val="tx1"/>
              </a:solidFill>
              <a:latin typeface="Times New Roman" panose="02020603050405020304" charset="0"/>
              <a:cs typeface="Times New Roman" panose="02020603050405020304" charset="0"/>
            </a:endParaRPr>
          </a:p>
          <a:p>
            <a:pPr algn="l">
              <a:lnSpc>
                <a:spcPct val="150000"/>
              </a:lnSpc>
              <a:spcAft>
                <a:spcPts val="1200"/>
              </a:spcAft>
            </a:pPr>
            <a:r>
              <a:rPr sz="2000" b="1" i="0">
                <a:solidFill>
                  <a:schemeClr val="tx1"/>
                </a:solidFill>
                <a:latin typeface="Times New Roman" panose="02020603050405020304" charset="0"/>
                <a:cs typeface="Times New Roman" panose="02020603050405020304" charset="0"/>
              </a:rPr>
              <a:t>Trust is the gap: </a:t>
            </a:r>
            <a:r>
              <a:rPr sz="2000" b="0" i="0">
                <a:solidFill>
                  <a:schemeClr val="tx1"/>
                </a:solidFill>
                <a:latin typeface="Times New Roman" panose="02020603050405020304" charset="0"/>
                <a:cs typeface="Times New Roman" panose="02020603050405020304" charset="0"/>
              </a:rPr>
              <a:t>sellers have no record of good conduct, and buyers cannot judge strangers.</a:t>
            </a:r>
            <a:endParaRPr sz="2000" b="0" i="0">
              <a:solidFill>
                <a:schemeClr val="tx1"/>
              </a:solidFill>
              <a:latin typeface="Times New Roman" panose="02020603050405020304" charset="0"/>
              <a:cs typeface="Times New Roman" panose="02020603050405020304" charset="0"/>
            </a:endParaRPr>
          </a:p>
          <a:p>
            <a:pPr algn="l">
              <a:lnSpc>
                <a:spcPct val="150000"/>
              </a:lnSpc>
              <a:spcAft>
                <a:spcPts val="1200"/>
              </a:spcAft>
            </a:pPr>
            <a:r>
              <a:rPr sz="2000" b="1" i="0">
                <a:solidFill>
                  <a:schemeClr val="tx1"/>
                </a:solidFill>
                <a:latin typeface="Times New Roman" panose="02020603050405020304" charset="0"/>
                <a:cs typeface="Times New Roman" panose="02020603050405020304" charset="0"/>
              </a:rPr>
              <a:t>Who benefits: </a:t>
            </a:r>
            <a:r>
              <a:rPr sz="2000" b="0" i="0">
                <a:solidFill>
                  <a:schemeClr val="tx1"/>
                </a:solidFill>
                <a:latin typeface="Times New Roman" panose="02020603050405020304" charset="0"/>
                <a:cs typeface="Times New Roman" panose="02020603050405020304" charset="0"/>
              </a:rPr>
              <a:t>charcoal sellers, charcoal buyers, and the administrators who keep the market honest.</a:t>
            </a:r>
            <a:endParaRPr sz="2000" b="0" i="0">
              <a:solidFill>
                <a:schemeClr val="tx1"/>
              </a:solidFill>
              <a:latin typeface="Times New Roman" panose="02020603050405020304" charset="0"/>
              <a:cs typeface="Times New Roman" panose="02020603050405020304" charset="0"/>
            </a:endParaRPr>
          </a:p>
        </p:txBody>
      </p:sp>
      <p:sp>
        <p:nvSpPr>
          <p:cNvPr id="7" name="Rounded Rectangle 6"/>
          <p:cNvSpPr/>
          <p:nvPr/>
        </p:nvSpPr>
        <p:spPr>
          <a:xfrm>
            <a:off x="7864475" y="1325880"/>
            <a:ext cx="3657600" cy="3429000"/>
          </a:xfrm>
          <a:prstGeom prst="roundRect">
            <a:avLst>
              <a:gd name="adj" fmla="val 8000"/>
            </a:avLst>
          </a:prstGeom>
          <a:solidFill>
            <a:schemeClr val="accent3">
              <a:lumMod val="60000"/>
              <a:lumOff val="4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8" name="TextBox 7"/>
          <p:cNvSpPr txBox="1"/>
          <p:nvPr/>
        </p:nvSpPr>
        <p:spPr>
          <a:xfrm>
            <a:off x="7864475" y="1463040"/>
            <a:ext cx="3657600" cy="885190"/>
          </a:xfrm>
          <a:prstGeom prst="rect">
            <a:avLst/>
          </a:prstGeom>
          <a:noFill/>
        </p:spPr>
        <p:txBody>
          <a:bodyPr wrap="square" lIns="45720" tIns="27432" rIns="45720" bIns="27432" anchor="t">
            <a:spAutoFit/>
          </a:bodyPr>
          <a:lstStyle/>
          <a:p>
            <a:pPr algn="ctr">
              <a:lnSpc>
                <a:spcPct val="150000"/>
              </a:lnSpc>
              <a:spcAft>
                <a:spcPts val="600"/>
              </a:spcAft>
            </a:pPr>
            <a:r>
              <a:rPr sz="3600" b="1" i="0">
                <a:solidFill>
                  <a:schemeClr val="tx1"/>
                </a:solidFill>
                <a:latin typeface="Times New Roman" panose="02020603050405020304" charset="0"/>
                <a:cs typeface="Times New Roman" panose="02020603050405020304" charset="0"/>
              </a:rPr>
              <a:t>44%</a:t>
            </a:r>
            <a:endParaRPr sz="3600" b="1" i="0">
              <a:solidFill>
                <a:schemeClr val="tx1"/>
              </a:solidFill>
              <a:latin typeface="Times New Roman" panose="02020603050405020304" charset="0"/>
              <a:cs typeface="Times New Roman" panose="02020603050405020304" charset="0"/>
            </a:endParaRPr>
          </a:p>
        </p:txBody>
      </p:sp>
      <p:sp>
        <p:nvSpPr>
          <p:cNvPr id="9" name="TextBox 8"/>
          <p:cNvSpPr txBox="1"/>
          <p:nvPr/>
        </p:nvSpPr>
        <p:spPr>
          <a:xfrm>
            <a:off x="8047355" y="2560320"/>
            <a:ext cx="3291840" cy="885190"/>
          </a:xfrm>
          <a:prstGeom prst="rect">
            <a:avLst/>
          </a:prstGeom>
          <a:noFill/>
        </p:spPr>
        <p:txBody>
          <a:bodyPr wrap="square" lIns="45720" tIns="27432" rIns="45720" bIns="27432" anchor="t">
            <a:spAutoFit/>
          </a:bodyPr>
          <a:lstStyle/>
          <a:p>
            <a:pPr algn="ctr">
              <a:lnSpc>
                <a:spcPct val="150000"/>
              </a:lnSpc>
              <a:spcAft>
                <a:spcPts val="600"/>
              </a:spcAft>
            </a:pPr>
            <a:r>
              <a:rPr b="1" i="0">
                <a:solidFill>
                  <a:schemeClr val="tx1"/>
                </a:solidFill>
                <a:latin typeface="Times New Roman" panose="02020603050405020304" charset="0"/>
                <a:cs typeface="Times New Roman" panose="02020603050405020304" charset="0"/>
              </a:rPr>
              <a:t>of urban households cook mainly with charcoal alone</a:t>
            </a:r>
            <a:endParaRPr b="1" i="0">
              <a:solidFill>
                <a:schemeClr val="tx1"/>
              </a:solidFill>
              <a:latin typeface="Times New Roman" panose="02020603050405020304" charset="0"/>
              <a:cs typeface="Times New Roman" panose="02020603050405020304" charset="0"/>
            </a:endParaRPr>
          </a:p>
        </p:txBody>
      </p:sp>
      <p:sp>
        <p:nvSpPr>
          <p:cNvPr id="10" name="TextBox 9"/>
          <p:cNvSpPr txBox="1"/>
          <p:nvPr/>
        </p:nvSpPr>
        <p:spPr>
          <a:xfrm>
            <a:off x="8047355" y="3520440"/>
            <a:ext cx="3291840" cy="793115"/>
          </a:xfrm>
          <a:prstGeom prst="rect">
            <a:avLst/>
          </a:prstGeom>
          <a:noFill/>
        </p:spPr>
        <p:txBody>
          <a:bodyPr wrap="square" lIns="45720" tIns="27432" rIns="45720" bIns="27432" anchor="t">
            <a:spAutoFit/>
          </a:bodyPr>
          <a:lstStyle/>
          <a:p>
            <a:pPr algn="ctr">
              <a:lnSpc>
                <a:spcPct val="150000"/>
              </a:lnSpc>
              <a:spcAft>
                <a:spcPts val="600"/>
              </a:spcAft>
            </a:pPr>
            <a:r>
              <a:rPr sz="1600" b="1" i="0">
                <a:solidFill>
                  <a:schemeClr val="tx1"/>
                </a:solidFill>
                <a:latin typeface="Times New Roman" panose="02020603050405020304" charset="0"/>
                <a:cs typeface="Times New Roman" panose="02020603050405020304" charset="0"/>
              </a:rPr>
              <a:t>A further 38% combine charcoal and electricity</a:t>
            </a:r>
            <a:endParaRPr sz="1600" b="1" i="0">
              <a:solidFill>
                <a:schemeClr val="tx1"/>
              </a:solidFill>
              <a:latin typeface="Times New Roman" panose="02020603050405020304" charset="0"/>
              <a:cs typeface="Times New Roman" panose="02020603050405020304" charset="0"/>
            </a:endParaRPr>
          </a:p>
        </p:txBody>
      </p:sp>
      <p:sp>
        <p:nvSpPr>
          <p:cNvPr id="11" name="TextBox 10"/>
          <p:cNvSpPr txBox="1"/>
          <p:nvPr/>
        </p:nvSpPr>
        <p:spPr>
          <a:xfrm>
            <a:off x="8047355" y="4251960"/>
            <a:ext cx="3291840" cy="377190"/>
          </a:xfrm>
          <a:prstGeom prst="rect">
            <a:avLst/>
          </a:prstGeom>
          <a:noFill/>
        </p:spPr>
        <p:txBody>
          <a:bodyPr wrap="square" lIns="45720" tIns="27432" rIns="45720" bIns="27432" anchor="t">
            <a:spAutoFit/>
          </a:bodyPr>
          <a:lstStyle/>
          <a:p>
            <a:pPr algn="ctr">
              <a:lnSpc>
                <a:spcPct val="150000"/>
              </a:lnSpc>
              <a:spcAft>
                <a:spcPts val="600"/>
              </a:spcAft>
            </a:pPr>
            <a:r>
              <a:rPr sz="1400" b="0" i="0">
                <a:solidFill>
                  <a:schemeClr val="tx1"/>
                </a:solidFill>
                <a:latin typeface="Times New Roman" panose="02020603050405020304" charset="0"/>
                <a:cs typeface="Times New Roman" panose="02020603050405020304" charset="0"/>
              </a:rPr>
              <a:t>Tembo, Mulenga &amp; Sitko (2015), IAPRI</a:t>
            </a:r>
            <a:endParaRPr sz="1400" b="0" i="0">
              <a:solidFill>
                <a:schemeClr val="tx1"/>
              </a:solidFill>
              <a:latin typeface="Times New Roman" panose="02020603050405020304" charset="0"/>
              <a:cs typeface="Times New Roman" panose="02020603050405020304" charset="0"/>
            </a:endParaRPr>
          </a:p>
        </p:txBody>
      </p:sp>
      <p:sp>
        <p:nvSpPr>
          <p:cNvPr id="12" name="Rounded Rectangle 11"/>
          <p:cNvSpPr/>
          <p:nvPr/>
        </p:nvSpPr>
        <p:spPr>
          <a:xfrm>
            <a:off x="732790" y="4931410"/>
            <a:ext cx="10789920" cy="105156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3" name="TextBox 12"/>
          <p:cNvSpPr txBox="1"/>
          <p:nvPr/>
        </p:nvSpPr>
        <p:spPr>
          <a:xfrm>
            <a:off x="680720" y="5006340"/>
            <a:ext cx="10658475" cy="977900"/>
          </a:xfrm>
          <a:prstGeom prst="rect">
            <a:avLst/>
          </a:prstGeom>
          <a:noFill/>
        </p:spPr>
        <p:txBody>
          <a:bodyPr wrap="square" lIns="45720" tIns="27432" rIns="45720" bIns="27432" anchor="ctr">
            <a:spAutoFit/>
          </a:bodyPr>
          <a:lstStyle/>
          <a:p>
            <a:pPr algn="l">
              <a:lnSpc>
                <a:spcPct val="150000"/>
              </a:lnSpc>
              <a:spcAft>
                <a:spcPts val="600"/>
              </a:spcAft>
            </a:pPr>
            <a:r>
              <a:rPr sz="2000" b="1" i="0">
                <a:solidFill>
                  <a:srgbClr val="D85A30"/>
                </a:solidFill>
                <a:latin typeface="Times New Roman" panose="02020603050405020304" charset="0"/>
                <a:cs typeface="Times New Roman" panose="02020603050405020304" charset="0"/>
              </a:rPr>
              <a:t>Aim: </a:t>
            </a:r>
            <a:r>
              <a:rPr sz="2000" b="1" i="0">
                <a:solidFill>
                  <a:srgbClr val="232323"/>
                </a:solidFill>
                <a:latin typeface="Times New Roman" panose="02020603050405020304" charset="0"/>
                <a:cs typeface="Times New Roman" panose="02020603050405020304" charset="0"/>
              </a:rPr>
              <a:t>a mobile web app that connects charcoal sellers and buyers by neighbourhood, lets sellers list by voice, works on poor connections, and gives every seller a tamper-evident trust score.</a:t>
            </a:r>
            <a:endParaRPr sz="2000" b="1" i="0">
              <a:solidFill>
                <a:srgbClr val="232323"/>
              </a:solidFill>
              <a:latin typeface="Times New Roman" panose="02020603050405020304" charset="0"/>
              <a:cs typeface="Times New Roman" panose="0202060305040502030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908425" y="0"/>
            <a:ext cx="4577080"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System Architecture</a:t>
            </a:r>
            <a:endParaRPr sz="400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6574536"/>
            <a:ext cx="2397760" cy="229870"/>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a:t>
            </a:r>
            <a:r>
              <a:rPr lang="en-US" b="1" dirty="0">
                <a:solidFill>
                  <a:schemeClr val="tx1"/>
                </a:solidFill>
                <a:latin typeface="Times New Roman" panose="02020603050405020304" charset="0"/>
                <a:cs typeface="Times New Roman" panose="02020603050405020304" charset="0"/>
              </a:rPr>
              <a:t>6</a:t>
            </a:r>
            <a:r>
              <a:rPr b="1" dirty="0">
                <a:solidFill>
                  <a:schemeClr val="tx1"/>
                </a:solidFill>
                <a:latin typeface="Times New Roman" panose="02020603050405020304" charset="0"/>
                <a:cs typeface="Times New Roman" panose="02020603050405020304" charset="0"/>
              </a:rPr>
              <a:t>     5</a:t>
            </a:r>
            <a:endParaRPr b="1" dirty="0">
              <a:solidFill>
                <a:schemeClr val="tx1"/>
              </a:solidFill>
              <a:latin typeface="Times New Roman" panose="02020603050405020304" charset="0"/>
              <a:cs typeface="Times New Roman" panose="02020603050405020304" charset="0"/>
            </a:endParaRPr>
          </a:p>
        </p:txBody>
      </p:sp>
      <p:sp>
        <p:nvSpPr>
          <p:cNvPr id="7" name="TextBox 6"/>
          <p:cNvSpPr txBox="1"/>
          <p:nvPr/>
        </p:nvSpPr>
        <p:spPr>
          <a:xfrm>
            <a:off x="8355965" y="1284605"/>
            <a:ext cx="3749039" cy="4106545"/>
          </a:xfrm>
          <a:prstGeom prst="rect">
            <a:avLst/>
          </a:prstGeom>
          <a:noFill/>
        </p:spPr>
        <p:txBody>
          <a:bodyPr wrap="square" lIns="45720" tIns="27432" rIns="45720" bIns="27432" anchor="t">
            <a:spAutoFit/>
          </a:bodyPr>
          <a:lstStyle/>
          <a:p>
            <a:pPr algn="l">
              <a:spcAft>
                <a:spcPts val="1400"/>
              </a:spcAft>
            </a:pPr>
            <a:r>
              <a:rPr sz="2400" b="1" i="0">
                <a:solidFill>
                  <a:schemeClr val="tx1"/>
                </a:solidFill>
                <a:latin typeface="Times New Roman" panose="02020603050405020304" charset="0"/>
                <a:cs typeface="Times New Roman" panose="02020603050405020304" charset="0"/>
              </a:rPr>
              <a:t>Presentation:</a:t>
            </a:r>
            <a:r>
              <a:rPr sz="2400" i="0">
                <a:solidFill>
                  <a:schemeClr val="tx1"/>
                </a:solidFill>
                <a:latin typeface="Times New Roman" panose="02020603050405020304" charset="0"/>
                <a:cs typeface="Times New Roman" panose="02020603050405020304" charset="0"/>
              </a:rPr>
              <a:t> React PWA on the phone, with offline cache and message queue.</a:t>
            </a:r>
            <a:endParaRPr sz="2400" i="0">
              <a:solidFill>
                <a:schemeClr val="tx1"/>
              </a:solidFill>
              <a:latin typeface="Times New Roman" panose="02020603050405020304" charset="0"/>
              <a:cs typeface="Times New Roman" panose="02020603050405020304" charset="0"/>
            </a:endParaRPr>
          </a:p>
          <a:p>
            <a:pPr algn="l">
              <a:spcAft>
                <a:spcPts val="1400"/>
              </a:spcAft>
            </a:pPr>
            <a:r>
              <a:rPr sz="2400" b="1" i="0">
                <a:solidFill>
                  <a:schemeClr val="tx1"/>
                </a:solidFill>
                <a:latin typeface="Times New Roman" panose="02020603050405020304" charset="0"/>
                <a:cs typeface="Times New Roman" panose="02020603050405020304" charset="0"/>
              </a:rPr>
              <a:t>Application:</a:t>
            </a:r>
            <a:r>
              <a:rPr sz="2400" i="0">
                <a:solidFill>
                  <a:schemeClr val="tx1"/>
                </a:solidFill>
                <a:latin typeface="Times New Roman" panose="02020603050405020304" charset="0"/>
                <a:cs typeface="Times New Roman" panose="02020603050405020304" charset="0"/>
              </a:rPr>
              <a:t> Express REST API and Socket.io server. Only the server writes trust blocks.</a:t>
            </a:r>
            <a:endParaRPr sz="2400" i="0">
              <a:solidFill>
                <a:schemeClr val="tx1"/>
              </a:solidFill>
              <a:latin typeface="Times New Roman" panose="02020603050405020304" charset="0"/>
              <a:cs typeface="Times New Roman" panose="02020603050405020304" charset="0"/>
            </a:endParaRPr>
          </a:p>
          <a:p>
            <a:pPr algn="l">
              <a:spcAft>
                <a:spcPts val="1400"/>
              </a:spcAft>
            </a:pPr>
            <a:r>
              <a:rPr sz="2400" b="1" i="0">
                <a:solidFill>
                  <a:schemeClr val="tx1"/>
                </a:solidFill>
                <a:latin typeface="Times New Roman" panose="02020603050405020304" charset="0"/>
                <a:cs typeface="Times New Roman" panose="02020603050405020304" charset="0"/>
              </a:rPr>
              <a:t>Data:</a:t>
            </a:r>
            <a:r>
              <a:rPr sz="2400" i="0">
                <a:solidFill>
                  <a:schemeClr val="tx1"/>
                </a:solidFill>
                <a:latin typeface="Times New Roman" panose="02020603050405020304" charset="0"/>
                <a:cs typeface="Times New Roman" panose="02020603050405020304" charset="0"/>
              </a:rPr>
              <a:t> MongoDB Atlas (seven collections) and Cloudinary for photos.</a:t>
            </a:r>
            <a:endParaRPr sz="2400" i="0">
              <a:solidFill>
                <a:schemeClr val="tx1"/>
              </a:solidFill>
              <a:latin typeface="Times New Roman" panose="02020603050405020304" charset="0"/>
              <a:cs typeface="Times New Roman" panose="02020603050405020304" charset="0"/>
            </a:endParaRPr>
          </a:p>
        </p:txBody>
      </p:sp>
      <p:pic>
        <p:nvPicPr>
          <p:cNvPr id="8" name="Picture 7" descr="FYP-DESIGN.drawio"/>
          <p:cNvPicPr>
            <a:picLocks noChangeAspect="1"/>
          </p:cNvPicPr>
          <p:nvPr/>
        </p:nvPicPr>
        <p:blipFill>
          <a:blip r:embed="rId1"/>
          <a:stretch>
            <a:fillRect/>
          </a:stretch>
        </p:blipFill>
        <p:spPr>
          <a:xfrm>
            <a:off x="74295" y="800100"/>
            <a:ext cx="7789545" cy="52578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869950" y="0"/>
            <a:ext cx="8661400"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Algorithms / Models / Technical Design</a:t>
            </a:r>
            <a:endParaRPr sz="4000">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rgbClr val="192D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 y="6574536"/>
            <a:ext cx="11521440" cy="230832"/>
          </a:xfrm>
          <a:prstGeom prst="rect">
            <a:avLst/>
          </a:prstGeom>
          <a:noFill/>
        </p:spPr>
        <p:txBody>
          <a:bodyPr wrap="none">
            <a:spAutoFit/>
          </a:bodyPr>
          <a:lstStyle/>
          <a:p>
            <a:pPr>
              <a:defRPr sz="900">
                <a:solidFill>
                  <a:srgbClr val="FFFFFF"/>
                </a:solidFill>
              </a:defRPr>
            </a:pPr>
            <a:r>
              <a:rPr dirty="0"/>
              <a:t>Final Year Project • Academic Year 2026                                      7</a:t>
            </a:r>
            <a:endParaRPr dirty="0"/>
          </a:p>
        </p:txBody>
      </p:sp>
      <p:sp>
        <p:nvSpPr>
          <p:cNvPr id="7" name="TextBox 6"/>
          <p:cNvSpPr txBox="1"/>
          <p:nvPr/>
        </p:nvSpPr>
        <p:spPr>
          <a:xfrm>
            <a:off x="7726679" y="1234440"/>
            <a:ext cx="3931920" cy="5086350"/>
          </a:xfrm>
          <a:prstGeom prst="rect">
            <a:avLst/>
          </a:prstGeom>
          <a:noFill/>
        </p:spPr>
        <p:txBody>
          <a:bodyPr wrap="square" lIns="45720" tIns="27432" rIns="45720" bIns="27432" anchor="t">
            <a:spAutoFit/>
          </a:bodyPr>
          <a:lstStyle/>
          <a:p>
            <a:pPr algn="l">
              <a:lnSpc>
                <a:spcPct val="150000"/>
              </a:lnSpc>
              <a:spcAft>
                <a:spcPts val="1200"/>
              </a:spcAft>
            </a:pPr>
            <a:r>
              <a:rPr b="1" i="0">
                <a:solidFill>
                  <a:schemeClr val="tx1"/>
                </a:solidFill>
                <a:latin typeface="Times New Roman" panose="02020603050405020304" charset="0"/>
                <a:cs typeface="Times New Roman" panose="02020603050405020304" charset="0"/>
              </a:rPr>
              <a:t>Block hash:</a:t>
            </a:r>
            <a:r>
              <a:rPr i="0">
                <a:solidFill>
                  <a:schemeClr val="tx1"/>
                </a:solidFill>
                <a:latin typeface="Times New Roman" panose="02020603050405020304" charset="0"/>
                <a:cs typeface="Times New Roman" panose="02020603050405020304" charset="0"/>
              </a:rPr>
              <a:t> SHA-256 of time, event and previous hash.</a:t>
            </a:r>
            <a:endParaRPr i="0">
              <a:solidFill>
                <a:schemeClr val="tx1"/>
              </a:solidFill>
              <a:latin typeface="Times New Roman" panose="02020603050405020304" charset="0"/>
              <a:cs typeface="Times New Roman" panose="02020603050405020304" charset="0"/>
            </a:endParaRPr>
          </a:p>
          <a:p>
            <a:pPr algn="l">
              <a:lnSpc>
                <a:spcPct val="150000"/>
              </a:lnSpc>
              <a:spcAft>
                <a:spcPts val="1200"/>
              </a:spcAft>
            </a:pPr>
            <a:r>
              <a:rPr b="1" i="0">
                <a:solidFill>
                  <a:schemeClr val="tx1"/>
                </a:solidFill>
                <a:latin typeface="Times New Roman" panose="02020603050405020304" charset="0"/>
                <a:cs typeface="Times New Roman" panose="02020603050405020304" charset="0"/>
              </a:rPr>
              <a:t>Verify: </a:t>
            </a:r>
            <a:r>
              <a:rPr i="0">
                <a:solidFill>
                  <a:schemeClr val="tx1"/>
                </a:solidFill>
                <a:latin typeface="Times New Roman" panose="02020603050405020304" charset="0"/>
                <a:cs typeface="Times New Roman" panose="02020603050405020304" charset="0"/>
              </a:rPr>
              <a:t>re-hash every block, check every link, compare the last hash with the one stored on the seller.</a:t>
            </a:r>
            <a:endParaRPr i="0">
              <a:solidFill>
                <a:schemeClr val="tx1"/>
              </a:solidFill>
              <a:latin typeface="Times New Roman" panose="02020603050405020304" charset="0"/>
              <a:cs typeface="Times New Roman" panose="02020603050405020304" charset="0"/>
            </a:endParaRPr>
          </a:p>
          <a:p>
            <a:pPr algn="l">
              <a:lnSpc>
                <a:spcPct val="150000"/>
              </a:lnSpc>
              <a:spcAft>
                <a:spcPts val="1200"/>
              </a:spcAft>
            </a:pPr>
            <a:r>
              <a:rPr b="1" i="0">
                <a:solidFill>
                  <a:schemeClr val="tx1"/>
                </a:solidFill>
                <a:latin typeface="Times New Roman" panose="02020603050405020304" charset="0"/>
                <a:cs typeface="Times New Roman" panose="02020603050405020304" charset="0"/>
              </a:rPr>
              <a:t>Score:</a:t>
            </a:r>
            <a:r>
              <a:rPr i="0">
                <a:solidFill>
                  <a:schemeClr val="tx1"/>
                </a:solidFill>
                <a:latin typeface="Times New Roman" panose="02020603050405020304" charset="0"/>
                <a:cs typeface="Times New Roman" panose="02020603050405020304" charset="0"/>
              </a:rPr>
              <a:t> 50 + event weights, kept between 0 and 100. Verified +15, 5★ +8, listing +2, 1★ −5.</a:t>
            </a:r>
            <a:endParaRPr i="0">
              <a:solidFill>
                <a:schemeClr val="tx1"/>
              </a:solidFill>
              <a:latin typeface="Times New Roman" panose="02020603050405020304" charset="0"/>
              <a:cs typeface="Times New Roman" panose="02020603050405020304" charset="0"/>
            </a:endParaRPr>
          </a:p>
          <a:p>
            <a:pPr algn="l">
              <a:lnSpc>
                <a:spcPct val="150000"/>
              </a:lnSpc>
              <a:spcAft>
                <a:spcPts val="1200"/>
              </a:spcAft>
            </a:pPr>
            <a:r>
              <a:rPr b="1" i="0">
                <a:solidFill>
                  <a:schemeClr val="tx1"/>
                </a:solidFill>
                <a:latin typeface="Times New Roman" panose="02020603050405020304" charset="0"/>
                <a:cs typeface="Times New Roman" panose="02020603050405020304" charset="0"/>
              </a:rPr>
              <a:t>Voice parser:</a:t>
            </a:r>
            <a:r>
              <a:rPr i="0">
                <a:solidFill>
                  <a:schemeClr val="tx1"/>
                </a:solidFill>
                <a:latin typeface="Times New Roman" panose="02020603050405020304" charset="0"/>
                <a:cs typeface="Times New Roman" panose="02020603050405020304" charset="0"/>
              </a:rPr>
              <a:t> number words to digits, then price, quantity, unit and area by pattern.</a:t>
            </a:r>
            <a:endParaRPr i="0">
              <a:solidFill>
                <a:schemeClr val="tx1"/>
              </a:solidFill>
              <a:latin typeface="Times New Roman" panose="02020603050405020304" charset="0"/>
              <a:cs typeface="Times New Roman" panose="02020603050405020304" charset="0"/>
            </a:endParaRPr>
          </a:p>
        </p:txBody>
      </p:sp>
      <p:sp>
        <p:nvSpPr>
          <p:cNvPr id="8" name="TextBox 7"/>
          <p:cNvSpPr txBox="1"/>
          <p:nvPr/>
        </p:nvSpPr>
        <p:spPr>
          <a:xfrm>
            <a:off x="502920" y="5257800"/>
            <a:ext cx="6949440" cy="885190"/>
          </a:xfrm>
          <a:prstGeom prst="rect">
            <a:avLst/>
          </a:prstGeom>
          <a:noFill/>
        </p:spPr>
        <p:txBody>
          <a:bodyPr wrap="square" lIns="45720" tIns="27432" rIns="45720" bIns="27432" anchor="t">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Why not a real blockchain?</a:t>
            </a:r>
            <a:r>
              <a:rPr sz="1600" b="1" i="0">
                <a:solidFill>
                  <a:schemeClr val="tx1"/>
                </a:solidFill>
                <a:latin typeface="Times New Roman" panose="02020603050405020304" charset="0"/>
                <a:cs typeface="Times New Roman" panose="02020603050405020304" charset="0"/>
              </a:rPr>
              <a:t> </a:t>
            </a:r>
            <a:r>
              <a:rPr b="1" i="0">
                <a:solidFill>
                  <a:schemeClr val="tx1"/>
                </a:solidFill>
                <a:latin typeface="Times New Roman" panose="02020603050405020304" charset="0"/>
                <a:cs typeface="Times New Roman" panose="02020603050405020304" charset="0"/>
              </a:rPr>
              <a:t>One operator, no need for consensus; a hash chain gives tamper evidence at no cost.</a:t>
            </a:r>
            <a:endParaRPr b="1" i="0">
              <a:solidFill>
                <a:schemeClr val="tx1"/>
              </a:solidFill>
              <a:latin typeface="Times New Roman" panose="02020603050405020304" charset="0"/>
              <a:cs typeface="Times New Roman" panose="02020603050405020304" charset="0"/>
            </a:endParaRPr>
          </a:p>
        </p:txBody>
      </p:sp>
      <p:pic>
        <p:nvPicPr>
          <p:cNvPr id="9" name="Picture 8" descr="Untitled Diagram.drawio (17)"/>
          <p:cNvPicPr>
            <a:picLocks noChangeAspect="1"/>
          </p:cNvPicPr>
          <p:nvPr/>
        </p:nvPicPr>
        <p:blipFill>
          <a:blip r:embed="rId1"/>
          <a:stretch>
            <a:fillRect/>
          </a:stretch>
        </p:blipFill>
        <p:spPr>
          <a:xfrm>
            <a:off x="503555" y="1292860"/>
            <a:ext cx="6919595" cy="398970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470910" y="320040"/>
            <a:ext cx="5219700"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Database / Data Design</a:t>
            </a:r>
            <a:endParaRPr sz="4000" dirty="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3977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a:t>
            </a:r>
            <a:r>
              <a:rPr lang="en-US" b="1" dirty="0">
                <a:solidFill>
                  <a:schemeClr val="tx1"/>
                </a:solidFill>
                <a:latin typeface="Times New Roman" panose="02020603050405020304" charset="0"/>
                <a:cs typeface="Times New Roman" panose="02020603050405020304" charset="0"/>
              </a:rPr>
              <a:t>   </a:t>
            </a:r>
            <a:r>
              <a:rPr b="1" dirty="0">
                <a:solidFill>
                  <a:schemeClr val="tx1"/>
                </a:solidFill>
                <a:latin typeface="Times New Roman" panose="02020603050405020304" charset="0"/>
                <a:cs typeface="Times New Roman" panose="02020603050405020304" charset="0"/>
              </a:rPr>
              <a:t>6</a:t>
            </a:r>
            <a:endParaRPr b="1" dirty="0">
              <a:solidFill>
                <a:schemeClr val="tx1"/>
              </a:solidFill>
              <a:latin typeface="Times New Roman" panose="02020603050405020304" charset="0"/>
              <a:cs typeface="Times New Roman" panose="02020603050405020304" charset="0"/>
            </a:endParaRPr>
          </a:p>
        </p:txBody>
      </p:sp>
      <p:graphicFrame>
        <p:nvGraphicFramePr>
          <p:cNvPr id="6" name="Table 5"/>
          <p:cNvGraphicFramePr>
            <a:graphicFrameLocks noGrp="1"/>
          </p:cNvGraphicFramePr>
          <p:nvPr/>
        </p:nvGraphicFramePr>
        <p:xfrm>
          <a:off x="548640" y="1234440"/>
          <a:ext cx="11064240" cy="4096512"/>
        </p:xfrm>
        <a:graphic>
          <a:graphicData uri="http://schemas.openxmlformats.org/drawingml/2006/table">
            <a:tbl>
              <a:tblPr firstRow="1" bandRow="1">
                <a:tableStyleId>{5C22544A-7EE6-4342-B048-85BDC9FD1C3A}</a:tableStyleId>
              </a:tblPr>
              <a:tblGrid>
                <a:gridCol w="1828800"/>
                <a:gridCol w="5120640"/>
                <a:gridCol w="4114800"/>
              </a:tblGrid>
              <a:tr h="512064">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Collection</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Key fields</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Design decision</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User</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phone (unique), role, neighbourhood, trustScore {score, chainHash}</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Head hash of the chain stored here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Listing</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seller, price, unit, quantity, neighbourhood, image, status</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Index on (neighbourhood, status, date)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Conversation</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listing, buyer, seller, lastMessage, unread counts</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One per buyer per listing (unique)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Message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conversation, sender, text, readAt</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Index on (conversation, date)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TrustChain</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seller, blockIndex, timestamp, event, previousHash, hash</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Unique (seller, blockIndex): no forks</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OTP</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phone, code, attempts, expiresAt</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Auto-deleted after 10 minutes (TTL)</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512064">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AdminLog</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admin, action, target, reason, time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Every admin action is accountable</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bl>
          </a:graphicData>
        </a:graphic>
      </p:graphicFrame>
      <p:sp>
        <p:nvSpPr>
          <p:cNvPr id="7" name="TextBox 6"/>
          <p:cNvSpPr txBox="1"/>
          <p:nvPr/>
        </p:nvSpPr>
        <p:spPr>
          <a:xfrm>
            <a:off x="548640" y="5532120"/>
            <a:ext cx="11064240" cy="977900"/>
          </a:xfrm>
          <a:prstGeom prst="rect">
            <a:avLst/>
          </a:prstGeom>
          <a:noFill/>
        </p:spPr>
        <p:txBody>
          <a:bodyPr wrap="square" lIns="45720" tIns="27432" rIns="45720" bIns="27432" anchor="t">
            <a:spAutoFit/>
          </a:bodyPr>
          <a:lstStyle/>
          <a:p>
            <a:pPr algn="l">
              <a:lnSpc>
                <a:spcPct val="150000"/>
              </a:lnSpc>
              <a:spcAft>
                <a:spcPts val="600"/>
              </a:spcAft>
            </a:pPr>
            <a:r>
              <a:rPr sz="2000" b="1" i="0">
                <a:solidFill>
                  <a:schemeClr val="tx1"/>
                </a:solidFill>
                <a:latin typeface="Times New Roman" panose="02020603050405020304" charset="0"/>
                <a:cs typeface="Times New Roman" panose="02020603050405020304" charset="0"/>
              </a:rPr>
              <a:t>One seller has many listings and many trust blocks; a conversation links one buyer, one seller and one listing.</a:t>
            </a:r>
            <a:endParaRPr sz="2000"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066733" y="407035"/>
            <a:ext cx="6028055"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Development Environment</a:t>
            </a:r>
            <a:endParaRPr sz="4000">
              <a:solidFill>
                <a:schemeClr val="tx1"/>
              </a:solidFill>
              <a:latin typeface="Times New Roman" panose="02020603050405020304" charset="0"/>
              <a:cs typeface="Times New Roman" panose="02020603050405020304" charset="0"/>
            </a:endParaRPr>
          </a:p>
        </p:txBody>
      </p:sp>
      <p:sp>
        <p:nvSpPr>
          <p:cNvPr id="3" name="TextBox 2"/>
          <p:cNvSpPr txBox="1"/>
          <p:nvPr/>
        </p:nvSpPr>
        <p:spPr>
          <a:xfrm>
            <a:off x="822960" y="1325880"/>
            <a:ext cx="10607040" cy="4739005"/>
          </a:xfrm>
          <a:prstGeom prst="rect">
            <a:avLst/>
          </a:prstGeom>
          <a:noFill/>
        </p:spPr>
        <p:txBody>
          <a:bodyPr wrap="square">
            <a:spAutoFit/>
          </a:bodyPr>
          <a:lstStyle/>
          <a:p>
            <a:pPr>
              <a:lnSpc>
                <a:spcPct val="150000"/>
              </a:lnSpc>
              <a:spcAft>
                <a:spcPts val="1200"/>
              </a:spcAft>
              <a:defRPr sz="2100">
                <a:solidFill>
                  <a:srgbClr val="232323"/>
                </a:solidFill>
              </a:defRPr>
            </a:pPr>
            <a:r>
              <a:rPr sz="2400" b="1">
                <a:solidFill>
                  <a:schemeClr val="tx1"/>
                </a:solidFill>
                <a:latin typeface="Times New Roman" panose="02020603050405020304" charset="0"/>
                <a:cs typeface="Times New Roman" panose="02020603050405020304" charset="0"/>
              </a:rPr>
              <a:t>Operating system: </a:t>
            </a:r>
            <a:r>
              <a:rPr sz="2400">
                <a:solidFill>
                  <a:schemeClr val="tx1"/>
                </a:solidFill>
                <a:latin typeface="Times New Roman" panose="02020603050405020304" charset="0"/>
                <a:cs typeface="Times New Roman" panose="02020603050405020304" charset="0"/>
              </a:rPr>
              <a:t>Windows on the development laptop; Android with Chrome for mobile and voice testing</a:t>
            </a:r>
            <a:endParaRPr sz="240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a:solidFill>
                  <a:schemeClr val="tx1"/>
                </a:solidFill>
                <a:latin typeface="Times New Roman" panose="02020603050405020304" charset="0"/>
                <a:cs typeface="Times New Roman" panose="02020603050405020304" charset="0"/>
              </a:rPr>
              <a:t>Programming language: </a:t>
            </a:r>
            <a:r>
              <a:rPr sz="2400">
                <a:solidFill>
                  <a:schemeClr val="tx1"/>
                </a:solidFill>
                <a:latin typeface="Times New Roman" panose="02020603050405020304" charset="0"/>
                <a:cs typeface="Times New Roman" panose="02020603050405020304" charset="0"/>
              </a:rPr>
              <a:t>JavaScript (Node.js 18+ and React JSX)</a:t>
            </a:r>
            <a:endParaRPr sz="240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a:solidFill>
                  <a:schemeClr val="tx1"/>
                </a:solidFill>
                <a:latin typeface="Times New Roman" panose="02020603050405020304" charset="0"/>
                <a:cs typeface="Times New Roman" panose="02020603050405020304" charset="0"/>
              </a:rPr>
              <a:t>Frameworks: </a:t>
            </a:r>
            <a:r>
              <a:rPr sz="2400">
                <a:solidFill>
                  <a:schemeClr val="tx1"/>
                </a:solidFill>
                <a:latin typeface="Times New Roman" panose="02020603050405020304" charset="0"/>
                <a:cs typeface="Times New Roman" panose="02020603050405020304" charset="0"/>
              </a:rPr>
              <a:t>React 19, Redux Toolkit, Express 4, Socket.io</a:t>
            </a:r>
            <a:endParaRPr sz="240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a:solidFill>
                  <a:schemeClr val="tx1"/>
                </a:solidFill>
                <a:latin typeface="Times New Roman" panose="02020603050405020304" charset="0"/>
                <a:cs typeface="Times New Roman" panose="02020603050405020304" charset="0"/>
              </a:rPr>
              <a:t>Database: </a:t>
            </a:r>
            <a:r>
              <a:rPr sz="2400">
                <a:solidFill>
                  <a:schemeClr val="tx1"/>
                </a:solidFill>
                <a:latin typeface="Times New Roman" panose="02020603050405020304" charset="0"/>
                <a:cs typeface="Times New Roman" panose="02020603050405020304" charset="0"/>
              </a:rPr>
              <a:t>MongoDB Atlas (free tier) via Mongoose</a:t>
            </a:r>
            <a:endParaRPr sz="240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a:solidFill>
                  <a:schemeClr val="tx1"/>
                </a:solidFill>
                <a:latin typeface="Times New Roman" panose="02020603050405020304" charset="0"/>
                <a:cs typeface="Times New Roman" panose="02020603050405020304" charset="0"/>
              </a:rPr>
              <a:t>IDE / development tools: </a:t>
            </a:r>
            <a:r>
              <a:rPr sz="2400">
                <a:solidFill>
                  <a:schemeClr val="tx1"/>
                </a:solidFill>
                <a:latin typeface="Times New Roman" panose="02020603050405020304" charset="0"/>
                <a:cs typeface="Times New Roman" panose="02020603050405020304" charset="0"/>
              </a:rPr>
              <a:t>VS Code, Chrome DevTools, Nodemon, ESLint</a:t>
            </a:r>
            <a:endParaRPr sz="2400">
              <a:solidFill>
                <a:schemeClr val="tx1"/>
              </a:solidFill>
              <a:latin typeface="Times New Roman" panose="02020603050405020304" charset="0"/>
              <a:cs typeface="Times New Roman" panose="02020603050405020304" charset="0"/>
            </a:endParaRPr>
          </a:p>
          <a:p>
            <a:pPr>
              <a:lnSpc>
                <a:spcPct val="150000"/>
              </a:lnSpc>
              <a:spcAft>
                <a:spcPts val="1200"/>
              </a:spcAft>
              <a:defRPr sz="2100">
                <a:solidFill>
                  <a:srgbClr val="232323"/>
                </a:solidFill>
              </a:defRPr>
            </a:pPr>
            <a:r>
              <a:rPr sz="2400" b="1">
                <a:solidFill>
                  <a:schemeClr val="tx1"/>
                </a:solidFill>
                <a:latin typeface="Times New Roman" panose="02020603050405020304" charset="0"/>
                <a:cs typeface="Times New Roman" panose="02020603050405020304" charset="0"/>
              </a:rPr>
              <a:t>Version control / deployment: </a:t>
            </a:r>
            <a:r>
              <a:rPr sz="2400">
                <a:solidFill>
                  <a:schemeClr val="tx1"/>
                </a:solidFill>
                <a:latin typeface="Times New Roman" panose="02020603050405020304" charset="0"/>
                <a:cs typeface="Times New Roman" panose="02020603050405020304" charset="0"/>
              </a:rPr>
              <a:t>Git and GitHub, GitHub Actions, Vercel and Render</a:t>
            </a:r>
            <a:endParaRPr sz="240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5" name="TextBox 4"/>
          <p:cNvSpPr txBox="1"/>
          <p:nvPr/>
        </p:nvSpPr>
        <p:spPr>
          <a:xfrm>
            <a:off x="320040" y="6574536"/>
            <a:ext cx="23977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a:t>
            </a:r>
            <a:r>
              <a:rPr lang="en-US" b="1" dirty="0">
                <a:solidFill>
                  <a:schemeClr val="tx1"/>
                </a:solidFill>
                <a:latin typeface="Times New Roman" panose="02020603050405020304" charset="0"/>
                <a:cs typeface="Times New Roman" panose="02020603050405020304" charset="0"/>
              </a:rPr>
              <a:t>6</a:t>
            </a:r>
            <a:r>
              <a:rPr b="1" dirty="0">
                <a:solidFill>
                  <a:schemeClr val="tx1"/>
                </a:solidFill>
                <a:latin typeface="Times New Roman" panose="02020603050405020304" charset="0"/>
                <a:cs typeface="Times New Roman" panose="02020603050405020304" charset="0"/>
              </a:rPr>
              <a:t>     8</a:t>
            </a:r>
            <a:endParaRPr b="1" dirty="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2652713" y="320040"/>
            <a:ext cx="6856095"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System Components / Modules</a:t>
            </a:r>
            <a:endParaRPr sz="400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426335"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a:t>
            </a:r>
            <a:r>
              <a:rPr lang="en-US" b="1" dirty="0">
                <a:solidFill>
                  <a:schemeClr val="tx1"/>
                </a:solidFill>
                <a:latin typeface="Times New Roman" panose="02020603050405020304" charset="0"/>
                <a:cs typeface="Times New Roman" panose="02020603050405020304" charset="0"/>
              </a:rPr>
              <a:t>  </a:t>
            </a:r>
            <a:r>
              <a:rPr b="1" dirty="0">
                <a:solidFill>
                  <a:schemeClr val="tx1"/>
                </a:solidFill>
                <a:latin typeface="Times New Roman" panose="02020603050405020304" charset="0"/>
                <a:cs typeface="Times New Roman" panose="02020603050405020304" charset="0"/>
              </a:rPr>
              <a:t>  9</a:t>
            </a:r>
            <a:endParaRPr b="1" dirty="0">
              <a:solidFill>
                <a:schemeClr val="tx1"/>
              </a:solidFill>
              <a:latin typeface="Times New Roman" panose="02020603050405020304" charset="0"/>
              <a:cs typeface="Times New Roman" panose="02020603050405020304" charset="0"/>
            </a:endParaRPr>
          </a:p>
        </p:txBody>
      </p:sp>
      <p:sp>
        <p:nvSpPr>
          <p:cNvPr id="6" name="Rounded Rectangle 5"/>
          <p:cNvSpPr/>
          <p:nvPr/>
        </p:nvSpPr>
        <p:spPr>
          <a:xfrm>
            <a:off x="731520" y="137160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7" name="TextBox 6"/>
          <p:cNvSpPr txBox="1"/>
          <p:nvPr/>
        </p:nvSpPr>
        <p:spPr>
          <a:xfrm>
            <a:off x="914400" y="150876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Authentication</a:t>
            </a:r>
            <a:endParaRPr sz="2400" b="1" i="0">
              <a:solidFill>
                <a:schemeClr val="tx1"/>
              </a:solidFill>
              <a:latin typeface="Times New Roman" panose="02020603050405020304" charset="0"/>
              <a:cs typeface="Times New Roman" panose="02020603050405020304" charset="0"/>
            </a:endParaRPr>
          </a:p>
        </p:txBody>
      </p:sp>
      <p:sp>
        <p:nvSpPr>
          <p:cNvPr id="8" name="TextBox 7"/>
          <p:cNvSpPr txBox="1"/>
          <p:nvPr/>
        </p:nvSpPr>
        <p:spPr>
          <a:xfrm>
            <a:off x="914400" y="1965960"/>
            <a:ext cx="2148840" cy="1439545"/>
          </a:xfrm>
          <a:prstGeom prst="rect">
            <a:avLst/>
          </a:prstGeom>
          <a:noFill/>
        </p:spPr>
        <p:txBody>
          <a:bodyPr wrap="square" lIns="45720" tIns="27432" rIns="45720" bIns="27432" anchor="t">
            <a:spAutoFit/>
          </a:bodyPr>
          <a:lstStyle/>
          <a:p>
            <a:pPr algn="l">
              <a:lnSpc>
                <a:spcPct val="150000"/>
              </a:lnSpc>
              <a:spcAft>
                <a:spcPts val="500"/>
              </a:spcAft>
            </a:pPr>
            <a:r>
              <a:rPr sz="2000" b="1" i="0">
                <a:solidFill>
                  <a:schemeClr val="tx1"/>
                </a:solidFill>
                <a:latin typeface="Times New Roman" panose="02020603050405020304" charset="0"/>
                <a:cs typeface="Times New Roman" panose="02020603050405020304" charset="0"/>
              </a:rPr>
              <a:t>OTP sign-up, JWT login, roles; admin by script</a:t>
            </a:r>
            <a:endParaRPr sz="2000" b="1" i="0">
              <a:solidFill>
                <a:schemeClr val="tx1"/>
              </a:solidFill>
              <a:latin typeface="Times New Roman" panose="02020603050405020304" charset="0"/>
              <a:cs typeface="Times New Roman" panose="02020603050405020304" charset="0"/>
            </a:endParaRPr>
          </a:p>
        </p:txBody>
      </p:sp>
      <p:sp>
        <p:nvSpPr>
          <p:cNvPr id="9" name="Rounded Rectangle 8"/>
          <p:cNvSpPr/>
          <p:nvPr/>
        </p:nvSpPr>
        <p:spPr>
          <a:xfrm>
            <a:off x="3447288" y="137160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0" name="TextBox 9"/>
          <p:cNvSpPr txBox="1"/>
          <p:nvPr/>
        </p:nvSpPr>
        <p:spPr>
          <a:xfrm>
            <a:off x="3630168" y="150876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Listings</a:t>
            </a:r>
            <a:endParaRPr sz="2400" b="1" i="0">
              <a:solidFill>
                <a:schemeClr val="tx1"/>
              </a:solidFill>
              <a:latin typeface="Times New Roman" panose="02020603050405020304" charset="0"/>
              <a:cs typeface="Times New Roman" panose="02020603050405020304" charset="0"/>
            </a:endParaRPr>
          </a:p>
        </p:txBody>
      </p:sp>
      <p:sp>
        <p:nvSpPr>
          <p:cNvPr id="11" name="TextBox 10"/>
          <p:cNvSpPr txBox="1"/>
          <p:nvPr/>
        </p:nvSpPr>
        <p:spPr>
          <a:xfrm>
            <a:off x="3630168" y="1965960"/>
            <a:ext cx="2148840" cy="977900"/>
          </a:xfrm>
          <a:prstGeom prst="rect">
            <a:avLst/>
          </a:prstGeom>
          <a:noFill/>
        </p:spPr>
        <p:txBody>
          <a:bodyPr wrap="square" lIns="45720" tIns="27432" rIns="45720" bIns="27432" anchor="t">
            <a:spAutoFit/>
          </a:bodyPr>
          <a:lstStyle/>
          <a:p>
            <a:pPr algn="l">
              <a:lnSpc>
                <a:spcPct val="150000"/>
              </a:lnSpc>
              <a:spcAft>
                <a:spcPts val="500"/>
              </a:spcAft>
            </a:pPr>
            <a:r>
              <a:rPr sz="2000" b="1" i="0">
                <a:solidFill>
                  <a:schemeClr val="tx1"/>
                </a:solidFill>
                <a:latin typeface="Times New Roman" panose="02020603050405020304" charset="0"/>
                <a:cs typeface="Times New Roman" panose="02020603050405020304" charset="0"/>
              </a:rPr>
              <a:t>Create, edit, pause, sell; photo upload</a:t>
            </a:r>
            <a:endParaRPr sz="2000" b="1" i="0">
              <a:solidFill>
                <a:schemeClr val="tx1"/>
              </a:solidFill>
              <a:latin typeface="Times New Roman" panose="02020603050405020304" charset="0"/>
              <a:cs typeface="Times New Roman" panose="02020603050405020304" charset="0"/>
            </a:endParaRPr>
          </a:p>
        </p:txBody>
      </p:sp>
      <p:sp>
        <p:nvSpPr>
          <p:cNvPr id="12" name="Rounded Rectangle 11"/>
          <p:cNvSpPr/>
          <p:nvPr/>
        </p:nvSpPr>
        <p:spPr>
          <a:xfrm>
            <a:off x="6163056" y="137160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3" name="TextBox 12"/>
          <p:cNvSpPr txBox="1"/>
          <p:nvPr/>
        </p:nvSpPr>
        <p:spPr>
          <a:xfrm>
            <a:off x="6345936" y="150876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Browse</a:t>
            </a:r>
            <a:endParaRPr sz="2400" b="1" i="0">
              <a:solidFill>
                <a:schemeClr val="tx1"/>
              </a:solidFill>
              <a:latin typeface="Times New Roman" panose="02020603050405020304" charset="0"/>
              <a:cs typeface="Times New Roman" panose="02020603050405020304" charset="0"/>
            </a:endParaRPr>
          </a:p>
        </p:txBody>
      </p:sp>
      <p:sp>
        <p:nvSpPr>
          <p:cNvPr id="14" name="TextBox 13"/>
          <p:cNvSpPr txBox="1"/>
          <p:nvPr/>
        </p:nvSpPr>
        <p:spPr>
          <a:xfrm>
            <a:off x="6345936" y="1965960"/>
            <a:ext cx="2148840" cy="1439545"/>
          </a:xfrm>
          <a:prstGeom prst="rect">
            <a:avLst/>
          </a:prstGeom>
          <a:noFill/>
        </p:spPr>
        <p:txBody>
          <a:bodyPr wrap="square" lIns="45720" tIns="27432" rIns="45720" bIns="27432" anchor="t">
            <a:spAutoFit/>
          </a:bodyPr>
          <a:lstStyle/>
          <a:p>
            <a:pPr algn="l">
              <a:lnSpc>
                <a:spcPct val="150000"/>
              </a:lnSpc>
              <a:spcAft>
                <a:spcPts val="500"/>
              </a:spcAft>
            </a:pPr>
            <a:r>
              <a:rPr sz="2000" b="1" i="0">
                <a:solidFill>
                  <a:srgbClr val="232323"/>
                </a:solidFill>
                <a:latin typeface="Times New Roman" panose="02020603050405020304" charset="0"/>
                <a:cs typeface="Times New Roman" panose="02020603050405020304" charset="0"/>
              </a:rPr>
              <a:t>Neighbourhood, keyword, price, quantity</a:t>
            </a:r>
            <a:endParaRPr sz="2000" b="1" i="0">
              <a:solidFill>
                <a:srgbClr val="232323"/>
              </a:solidFill>
              <a:latin typeface="Times New Roman" panose="02020603050405020304" charset="0"/>
              <a:cs typeface="Times New Roman" panose="02020603050405020304" charset="0"/>
            </a:endParaRPr>
          </a:p>
        </p:txBody>
      </p:sp>
      <p:sp>
        <p:nvSpPr>
          <p:cNvPr id="15" name="Rounded Rectangle 14"/>
          <p:cNvSpPr/>
          <p:nvPr/>
        </p:nvSpPr>
        <p:spPr>
          <a:xfrm>
            <a:off x="8878824" y="137160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6" name="TextBox 15"/>
          <p:cNvSpPr txBox="1"/>
          <p:nvPr/>
        </p:nvSpPr>
        <p:spPr>
          <a:xfrm>
            <a:off x="9061704" y="150876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Voice input</a:t>
            </a:r>
            <a:endParaRPr sz="2400" b="1" i="0">
              <a:solidFill>
                <a:schemeClr val="tx1"/>
              </a:solidFill>
              <a:latin typeface="Times New Roman" panose="02020603050405020304" charset="0"/>
              <a:cs typeface="Times New Roman" panose="02020603050405020304" charset="0"/>
            </a:endParaRPr>
          </a:p>
        </p:txBody>
      </p:sp>
      <p:sp>
        <p:nvSpPr>
          <p:cNvPr id="17" name="TextBox 16"/>
          <p:cNvSpPr txBox="1"/>
          <p:nvPr/>
        </p:nvSpPr>
        <p:spPr>
          <a:xfrm>
            <a:off x="9061704" y="1965960"/>
            <a:ext cx="2148840" cy="1439545"/>
          </a:xfrm>
          <a:prstGeom prst="rect">
            <a:avLst/>
          </a:prstGeom>
          <a:noFill/>
        </p:spPr>
        <p:txBody>
          <a:bodyPr wrap="square" lIns="45720" tIns="27432" rIns="45720" bIns="27432" anchor="t">
            <a:spAutoFit/>
          </a:bodyPr>
          <a:lstStyle/>
          <a:p>
            <a:pPr algn="l">
              <a:lnSpc>
                <a:spcPct val="150000"/>
              </a:lnSpc>
              <a:spcAft>
                <a:spcPts val="500"/>
              </a:spcAft>
            </a:pPr>
            <a:r>
              <a:rPr sz="2000" b="1" i="0">
                <a:solidFill>
                  <a:schemeClr val="tx1"/>
                </a:solidFill>
                <a:latin typeface="Times New Roman" panose="02020603050405020304" charset="0"/>
                <a:cs typeface="Times New Roman" panose="02020603050405020304" charset="0"/>
              </a:rPr>
              <a:t>Speech to text, parsed into the form</a:t>
            </a:r>
            <a:endParaRPr sz="2000" b="1" i="0">
              <a:solidFill>
                <a:schemeClr val="tx1"/>
              </a:solidFill>
              <a:latin typeface="Times New Roman" panose="02020603050405020304" charset="0"/>
              <a:cs typeface="Times New Roman" panose="02020603050405020304" charset="0"/>
            </a:endParaRPr>
          </a:p>
        </p:txBody>
      </p:sp>
      <p:sp>
        <p:nvSpPr>
          <p:cNvPr id="18" name="Rounded Rectangle 17"/>
          <p:cNvSpPr/>
          <p:nvPr/>
        </p:nvSpPr>
        <p:spPr>
          <a:xfrm>
            <a:off x="731520" y="370332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9" name="TextBox 18"/>
          <p:cNvSpPr txBox="1"/>
          <p:nvPr/>
        </p:nvSpPr>
        <p:spPr>
          <a:xfrm>
            <a:off x="861695" y="385318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Chat</a:t>
            </a:r>
            <a:endParaRPr sz="2400" b="1" i="0">
              <a:solidFill>
                <a:schemeClr val="tx1"/>
              </a:solidFill>
              <a:latin typeface="Times New Roman" panose="02020603050405020304" charset="0"/>
              <a:cs typeface="Times New Roman" panose="02020603050405020304" charset="0"/>
            </a:endParaRPr>
          </a:p>
        </p:txBody>
      </p:sp>
      <p:sp>
        <p:nvSpPr>
          <p:cNvPr id="20" name="TextBox 19"/>
          <p:cNvSpPr txBox="1"/>
          <p:nvPr/>
        </p:nvSpPr>
        <p:spPr>
          <a:xfrm>
            <a:off x="914400" y="4297680"/>
            <a:ext cx="2148840" cy="1439545"/>
          </a:xfrm>
          <a:prstGeom prst="rect">
            <a:avLst/>
          </a:prstGeom>
          <a:noFill/>
        </p:spPr>
        <p:txBody>
          <a:bodyPr wrap="square" lIns="45720" tIns="27432" rIns="45720" bIns="27432" anchor="t">
            <a:spAutoFit/>
          </a:bodyPr>
          <a:lstStyle/>
          <a:p>
            <a:pPr algn="l">
              <a:lnSpc>
                <a:spcPct val="150000"/>
              </a:lnSpc>
              <a:spcAft>
                <a:spcPts val="500"/>
              </a:spcAft>
            </a:pPr>
            <a:r>
              <a:rPr sz="2000" b="1" i="0">
                <a:solidFill>
                  <a:schemeClr val="tx1"/>
                </a:solidFill>
                <a:latin typeface="Times New Roman" panose="02020603050405020304" charset="0"/>
                <a:cs typeface="Times New Roman" panose="02020603050405020304" charset="0"/>
              </a:rPr>
              <a:t>Socket.io rooms, typing, unread counts</a:t>
            </a:r>
            <a:endParaRPr sz="2000" b="1" i="0">
              <a:solidFill>
                <a:schemeClr val="tx1"/>
              </a:solidFill>
              <a:latin typeface="Times New Roman" panose="02020603050405020304" charset="0"/>
              <a:cs typeface="Times New Roman" panose="02020603050405020304" charset="0"/>
            </a:endParaRPr>
          </a:p>
        </p:txBody>
      </p:sp>
      <p:sp>
        <p:nvSpPr>
          <p:cNvPr id="21" name="Rounded Rectangle 20"/>
          <p:cNvSpPr/>
          <p:nvPr/>
        </p:nvSpPr>
        <p:spPr>
          <a:xfrm>
            <a:off x="3447288" y="370332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22" name="TextBox 21"/>
          <p:cNvSpPr txBox="1"/>
          <p:nvPr/>
        </p:nvSpPr>
        <p:spPr>
          <a:xfrm>
            <a:off x="3630168" y="384048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Offline</a:t>
            </a:r>
            <a:endParaRPr sz="2400" b="1" i="0">
              <a:solidFill>
                <a:schemeClr val="tx1"/>
              </a:solidFill>
              <a:latin typeface="Times New Roman" panose="02020603050405020304" charset="0"/>
              <a:cs typeface="Times New Roman" panose="02020603050405020304" charset="0"/>
            </a:endParaRPr>
          </a:p>
        </p:txBody>
      </p:sp>
      <p:sp>
        <p:nvSpPr>
          <p:cNvPr id="23" name="TextBox 22"/>
          <p:cNvSpPr txBox="1"/>
          <p:nvPr/>
        </p:nvSpPr>
        <p:spPr>
          <a:xfrm>
            <a:off x="3630168" y="4297680"/>
            <a:ext cx="2148840" cy="1439545"/>
          </a:xfrm>
          <a:prstGeom prst="rect">
            <a:avLst/>
          </a:prstGeom>
          <a:noFill/>
        </p:spPr>
        <p:txBody>
          <a:bodyPr wrap="square" lIns="45720" tIns="27432" rIns="45720" bIns="27432" anchor="t">
            <a:spAutoFit/>
          </a:bodyPr>
          <a:lstStyle/>
          <a:p>
            <a:pPr algn="l">
              <a:lnSpc>
                <a:spcPct val="150000"/>
              </a:lnSpc>
              <a:spcAft>
                <a:spcPts val="500"/>
              </a:spcAft>
            </a:pPr>
            <a:r>
              <a:rPr sz="2000" b="1" i="0">
                <a:solidFill>
                  <a:schemeClr val="tx1"/>
                </a:solidFill>
                <a:latin typeface="Times New Roman" panose="02020603050405020304" charset="0"/>
                <a:cs typeface="Times New Roman" panose="02020603050405020304" charset="0"/>
              </a:rPr>
              <a:t>Service worker cache, IndexedDB queue</a:t>
            </a:r>
            <a:endParaRPr sz="2000" b="1" i="0">
              <a:solidFill>
                <a:schemeClr val="tx1"/>
              </a:solidFill>
              <a:latin typeface="Times New Roman" panose="02020603050405020304" charset="0"/>
              <a:cs typeface="Times New Roman" panose="02020603050405020304" charset="0"/>
            </a:endParaRPr>
          </a:p>
        </p:txBody>
      </p:sp>
      <p:sp>
        <p:nvSpPr>
          <p:cNvPr id="24" name="Rounded Rectangle 23"/>
          <p:cNvSpPr/>
          <p:nvPr/>
        </p:nvSpPr>
        <p:spPr>
          <a:xfrm>
            <a:off x="6163056" y="370332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25" name="TextBox 24"/>
          <p:cNvSpPr txBox="1"/>
          <p:nvPr/>
        </p:nvSpPr>
        <p:spPr>
          <a:xfrm>
            <a:off x="6345936" y="3840480"/>
            <a:ext cx="2148840" cy="700405"/>
          </a:xfrm>
          <a:prstGeom prst="rect">
            <a:avLst/>
          </a:prstGeom>
          <a:noFill/>
        </p:spPr>
        <p:txBody>
          <a:bodyPr wrap="square" lIns="45720" tIns="27432" rIns="45720" bIns="27432" anchor="t">
            <a:spAutoFit/>
          </a:bodyPr>
          <a:lstStyle/>
          <a:p>
            <a:pPr algn="l">
              <a:lnSpc>
                <a:spcPct val="150000"/>
              </a:lnSpc>
              <a:spcAft>
                <a:spcPts val="600"/>
              </a:spcAft>
            </a:pPr>
            <a:r>
              <a:rPr sz="2800" b="1" i="0">
                <a:solidFill>
                  <a:schemeClr val="tx1"/>
                </a:solidFill>
                <a:latin typeface="Times New Roman" panose="02020603050405020304" charset="0"/>
                <a:cs typeface="Times New Roman" panose="02020603050405020304" charset="0"/>
              </a:rPr>
              <a:t>Trust</a:t>
            </a:r>
            <a:endParaRPr sz="2800" b="1" i="0">
              <a:solidFill>
                <a:schemeClr val="tx1"/>
              </a:solidFill>
              <a:latin typeface="Times New Roman" panose="02020603050405020304" charset="0"/>
              <a:cs typeface="Times New Roman" panose="02020603050405020304" charset="0"/>
            </a:endParaRPr>
          </a:p>
        </p:txBody>
      </p:sp>
      <p:sp>
        <p:nvSpPr>
          <p:cNvPr id="26" name="TextBox 25"/>
          <p:cNvSpPr txBox="1"/>
          <p:nvPr/>
        </p:nvSpPr>
        <p:spPr>
          <a:xfrm>
            <a:off x="6345936" y="4297680"/>
            <a:ext cx="2148840" cy="977900"/>
          </a:xfrm>
          <a:prstGeom prst="rect">
            <a:avLst/>
          </a:prstGeom>
          <a:noFill/>
        </p:spPr>
        <p:txBody>
          <a:bodyPr wrap="square" lIns="45720" tIns="27432" rIns="45720" bIns="27432" anchor="t">
            <a:spAutoFit/>
          </a:bodyPr>
          <a:lstStyle/>
          <a:p>
            <a:pPr algn="l">
              <a:lnSpc>
                <a:spcPct val="150000"/>
              </a:lnSpc>
              <a:spcAft>
                <a:spcPts val="500"/>
              </a:spcAft>
            </a:pPr>
            <a:r>
              <a:rPr sz="2000" b="1" i="0">
                <a:solidFill>
                  <a:schemeClr val="tx1"/>
                </a:solidFill>
                <a:latin typeface="Times New Roman" panose="02020603050405020304" charset="0"/>
                <a:cs typeface="Times New Roman" panose="02020603050405020304" charset="0"/>
              </a:rPr>
              <a:t>Hash chain, score, rating rules</a:t>
            </a:r>
            <a:endParaRPr sz="2000" b="1" i="0">
              <a:solidFill>
                <a:schemeClr val="tx1"/>
              </a:solidFill>
              <a:latin typeface="Times New Roman" panose="02020603050405020304" charset="0"/>
              <a:cs typeface="Times New Roman" panose="02020603050405020304" charset="0"/>
            </a:endParaRPr>
          </a:p>
        </p:txBody>
      </p:sp>
      <p:sp>
        <p:nvSpPr>
          <p:cNvPr id="27" name="Rounded Rectangle 26"/>
          <p:cNvSpPr/>
          <p:nvPr/>
        </p:nvSpPr>
        <p:spPr>
          <a:xfrm>
            <a:off x="8878824" y="3703320"/>
            <a:ext cx="2514600" cy="205740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28" name="TextBox 27"/>
          <p:cNvSpPr txBox="1"/>
          <p:nvPr/>
        </p:nvSpPr>
        <p:spPr>
          <a:xfrm>
            <a:off x="9061704" y="3840480"/>
            <a:ext cx="21488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Administration</a:t>
            </a:r>
            <a:endParaRPr sz="2400" b="1" i="0">
              <a:solidFill>
                <a:schemeClr val="tx1"/>
              </a:solidFill>
              <a:latin typeface="Times New Roman" panose="02020603050405020304" charset="0"/>
              <a:cs typeface="Times New Roman" panose="02020603050405020304" charset="0"/>
            </a:endParaRPr>
          </a:p>
        </p:txBody>
      </p:sp>
      <p:sp>
        <p:nvSpPr>
          <p:cNvPr id="29" name="TextBox 28"/>
          <p:cNvSpPr txBox="1"/>
          <p:nvPr/>
        </p:nvSpPr>
        <p:spPr>
          <a:xfrm>
            <a:off x="9061704" y="4297680"/>
            <a:ext cx="2148840" cy="1439545"/>
          </a:xfrm>
          <a:prstGeom prst="rect">
            <a:avLst/>
          </a:prstGeom>
          <a:noFill/>
        </p:spPr>
        <p:txBody>
          <a:bodyPr wrap="square" lIns="45720" tIns="27432" rIns="45720" bIns="27432" anchor="t">
            <a:spAutoFit/>
          </a:bodyPr>
          <a:lstStyle/>
          <a:p>
            <a:pPr algn="l">
              <a:lnSpc>
                <a:spcPct val="150000"/>
              </a:lnSpc>
              <a:spcAft>
                <a:spcPts val="500"/>
              </a:spcAft>
            </a:pPr>
            <a:r>
              <a:rPr sz="2000" b="1" i="0">
                <a:solidFill>
                  <a:srgbClr val="232323"/>
                </a:solidFill>
                <a:latin typeface="Times New Roman" panose="02020603050405020304" charset="0"/>
                <a:cs typeface="Times New Roman" panose="02020603050405020304" charset="0"/>
              </a:rPr>
              <a:t>Verify queue, integrity check, logged moderation</a:t>
            </a:r>
            <a:endParaRPr sz="2000" b="1" i="0">
              <a:solidFill>
                <a:srgbClr val="232323"/>
              </a:solidFill>
              <a:latin typeface="Times New Roman" panose="02020603050405020304" charset="0"/>
              <a:cs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2942908" y="320040"/>
            <a:ext cx="6275705"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Key Implementation Details</a:t>
            </a:r>
            <a:endParaRPr sz="400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5120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10</a:t>
            </a:r>
            <a:endParaRPr b="1" dirty="0">
              <a:solidFill>
                <a:schemeClr val="tx1"/>
              </a:solidFill>
              <a:latin typeface="Times New Roman" panose="02020603050405020304" charset="0"/>
              <a:cs typeface="Times New Roman" panose="02020603050405020304" charset="0"/>
            </a:endParaRPr>
          </a:p>
        </p:txBody>
      </p:sp>
      <p:sp>
        <p:nvSpPr>
          <p:cNvPr id="6" name="Rounded Rectangle 5"/>
          <p:cNvSpPr/>
          <p:nvPr/>
        </p:nvSpPr>
        <p:spPr>
          <a:xfrm>
            <a:off x="731520" y="1325880"/>
            <a:ext cx="10698480" cy="804672"/>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7" name="TextBox 6"/>
          <p:cNvSpPr txBox="1"/>
          <p:nvPr/>
        </p:nvSpPr>
        <p:spPr>
          <a:xfrm>
            <a:off x="914400" y="1493266"/>
            <a:ext cx="2743200" cy="46990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Appending a block</a:t>
            </a:r>
            <a:endParaRPr b="1" i="0">
              <a:solidFill>
                <a:schemeClr val="tx1"/>
              </a:solidFill>
              <a:latin typeface="Times New Roman" panose="02020603050405020304" charset="0"/>
              <a:cs typeface="Times New Roman" panose="02020603050405020304" charset="0"/>
            </a:endParaRPr>
          </a:p>
        </p:txBody>
      </p:sp>
      <p:sp>
        <p:nvSpPr>
          <p:cNvPr id="8" name="TextBox 7"/>
          <p:cNvSpPr txBox="1"/>
          <p:nvPr/>
        </p:nvSpPr>
        <p:spPr>
          <a:xfrm>
            <a:off x="3657600" y="1285621"/>
            <a:ext cx="7589520" cy="88519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Read the last block, link to its hash, save. A unique index rejects a clash; the write is retried.</a:t>
            </a:r>
            <a:endParaRPr b="1" i="0">
              <a:solidFill>
                <a:schemeClr val="tx1"/>
              </a:solidFill>
              <a:latin typeface="Times New Roman" panose="02020603050405020304" charset="0"/>
              <a:cs typeface="Times New Roman" panose="02020603050405020304" charset="0"/>
            </a:endParaRPr>
          </a:p>
        </p:txBody>
      </p:sp>
      <p:sp>
        <p:nvSpPr>
          <p:cNvPr id="9" name="Rounded Rectangle 8"/>
          <p:cNvSpPr/>
          <p:nvPr/>
        </p:nvSpPr>
        <p:spPr>
          <a:xfrm>
            <a:off x="731520" y="2267712"/>
            <a:ext cx="10698480" cy="804672"/>
          </a:xfrm>
          <a:prstGeom prst="roundRect">
            <a:avLst>
              <a:gd name="adj" fmla="val 8000"/>
            </a:avLst>
          </a:prstGeom>
          <a:solidFill>
            <a:schemeClr val="accent3">
              <a:lumMod val="20000"/>
              <a:lumOff val="80000"/>
            </a:schemeClr>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0" name="TextBox 9"/>
          <p:cNvSpPr txBox="1"/>
          <p:nvPr/>
        </p:nvSpPr>
        <p:spPr>
          <a:xfrm>
            <a:off x="914400" y="2435098"/>
            <a:ext cx="2743200" cy="46990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Verifying a chain</a:t>
            </a:r>
            <a:endParaRPr b="1" i="0">
              <a:solidFill>
                <a:schemeClr val="tx1"/>
              </a:solidFill>
              <a:latin typeface="Times New Roman" panose="02020603050405020304" charset="0"/>
              <a:cs typeface="Times New Roman" panose="02020603050405020304" charset="0"/>
            </a:endParaRPr>
          </a:p>
        </p:txBody>
      </p:sp>
      <p:sp>
        <p:nvSpPr>
          <p:cNvPr id="11" name="TextBox 10"/>
          <p:cNvSpPr txBox="1"/>
          <p:nvPr/>
        </p:nvSpPr>
        <p:spPr>
          <a:xfrm>
            <a:off x="3657600" y="2227453"/>
            <a:ext cx="7589520" cy="88519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Rebuild exactly what was hashed, so database fields (_id, __v) never cause false alarms.</a:t>
            </a:r>
            <a:endParaRPr b="1" i="0">
              <a:solidFill>
                <a:schemeClr val="tx1"/>
              </a:solidFill>
              <a:latin typeface="Times New Roman" panose="02020603050405020304" charset="0"/>
              <a:cs typeface="Times New Roman" panose="02020603050405020304" charset="0"/>
            </a:endParaRPr>
          </a:p>
        </p:txBody>
      </p:sp>
      <p:sp>
        <p:nvSpPr>
          <p:cNvPr id="12" name="Rounded Rectangle 11"/>
          <p:cNvSpPr/>
          <p:nvPr/>
        </p:nvSpPr>
        <p:spPr>
          <a:xfrm>
            <a:off x="731520" y="3209544"/>
            <a:ext cx="10698480" cy="804672"/>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3" name="TextBox 12"/>
          <p:cNvSpPr txBox="1"/>
          <p:nvPr/>
        </p:nvSpPr>
        <p:spPr>
          <a:xfrm>
            <a:off x="914400" y="3376930"/>
            <a:ext cx="2743200" cy="46990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Voice parsing</a:t>
            </a:r>
            <a:endParaRPr b="1" i="0">
              <a:solidFill>
                <a:schemeClr val="tx1"/>
              </a:solidFill>
              <a:latin typeface="Times New Roman" panose="02020603050405020304" charset="0"/>
              <a:cs typeface="Times New Roman" panose="02020603050405020304" charset="0"/>
            </a:endParaRPr>
          </a:p>
        </p:txBody>
      </p:sp>
      <p:sp>
        <p:nvSpPr>
          <p:cNvPr id="14" name="TextBox 13"/>
          <p:cNvSpPr txBox="1"/>
          <p:nvPr/>
        </p:nvSpPr>
        <p:spPr>
          <a:xfrm>
            <a:off x="3657600" y="3169285"/>
            <a:ext cx="7589520" cy="88519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"ninety five kwacha" → K95. The best of three recognition guesses is used; the seller can correct it.</a:t>
            </a:r>
            <a:endParaRPr b="1" i="0">
              <a:solidFill>
                <a:schemeClr val="tx1"/>
              </a:solidFill>
              <a:latin typeface="Times New Roman" panose="02020603050405020304" charset="0"/>
              <a:cs typeface="Times New Roman" panose="02020603050405020304" charset="0"/>
            </a:endParaRPr>
          </a:p>
        </p:txBody>
      </p:sp>
      <p:sp>
        <p:nvSpPr>
          <p:cNvPr id="15" name="Rounded Rectangle 14"/>
          <p:cNvSpPr/>
          <p:nvPr/>
        </p:nvSpPr>
        <p:spPr>
          <a:xfrm>
            <a:off x="731520" y="4151376"/>
            <a:ext cx="10698480" cy="804672"/>
          </a:xfrm>
          <a:prstGeom prst="roundRect">
            <a:avLst>
              <a:gd name="adj" fmla="val 8000"/>
            </a:avLst>
          </a:prstGeom>
          <a:solidFill>
            <a:schemeClr val="accent3">
              <a:lumMod val="20000"/>
              <a:lumOff val="80000"/>
            </a:schemeClr>
          </a:solidFill>
          <a:ln w="12700">
            <a:solidFill>
              <a:srgbClr val="D5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6" name="TextBox 15"/>
          <p:cNvSpPr txBox="1"/>
          <p:nvPr/>
        </p:nvSpPr>
        <p:spPr>
          <a:xfrm>
            <a:off x="914400" y="4318762"/>
            <a:ext cx="2743200" cy="46990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Offline replay</a:t>
            </a:r>
            <a:endParaRPr b="1" i="0">
              <a:solidFill>
                <a:schemeClr val="tx1"/>
              </a:solidFill>
              <a:latin typeface="Times New Roman" panose="02020603050405020304" charset="0"/>
              <a:cs typeface="Times New Roman" panose="02020603050405020304" charset="0"/>
            </a:endParaRPr>
          </a:p>
        </p:txBody>
      </p:sp>
      <p:sp>
        <p:nvSpPr>
          <p:cNvPr id="17" name="TextBox 16"/>
          <p:cNvSpPr txBox="1"/>
          <p:nvPr/>
        </p:nvSpPr>
        <p:spPr>
          <a:xfrm>
            <a:off x="3657600" y="4111117"/>
            <a:ext cx="7589520" cy="88519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Queued messages are sent in order when the connection returns, each removed only once confirmed.</a:t>
            </a:r>
            <a:endParaRPr b="1" i="0">
              <a:solidFill>
                <a:schemeClr val="tx1"/>
              </a:solidFill>
              <a:latin typeface="Times New Roman" panose="02020603050405020304" charset="0"/>
              <a:cs typeface="Times New Roman" panose="02020603050405020304" charset="0"/>
            </a:endParaRPr>
          </a:p>
        </p:txBody>
      </p:sp>
      <p:sp>
        <p:nvSpPr>
          <p:cNvPr id="18" name="Rounded Rectangle 17"/>
          <p:cNvSpPr/>
          <p:nvPr/>
        </p:nvSpPr>
        <p:spPr>
          <a:xfrm>
            <a:off x="731520" y="5093208"/>
            <a:ext cx="10698480" cy="804672"/>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9" name="TextBox 18"/>
          <p:cNvSpPr txBox="1"/>
          <p:nvPr/>
        </p:nvSpPr>
        <p:spPr>
          <a:xfrm>
            <a:off x="914400" y="5347589"/>
            <a:ext cx="2743200" cy="46990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Security</a:t>
            </a:r>
            <a:endParaRPr b="1" i="0">
              <a:solidFill>
                <a:schemeClr val="tx1"/>
              </a:solidFill>
              <a:latin typeface="Times New Roman" panose="02020603050405020304" charset="0"/>
              <a:cs typeface="Times New Roman" panose="02020603050405020304" charset="0"/>
            </a:endParaRPr>
          </a:p>
        </p:txBody>
      </p:sp>
      <p:sp>
        <p:nvSpPr>
          <p:cNvPr id="20" name="TextBox 19"/>
          <p:cNvSpPr txBox="1"/>
          <p:nvPr/>
        </p:nvSpPr>
        <p:spPr>
          <a:xfrm>
            <a:off x="3657600" y="5052949"/>
            <a:ext cx="7589520" cy="88519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bcrypt, JWT, rate limits on login, OTP and sign-up; search text escaped; admins only by script.</a:t>
            </a:r>
            <a:endParaRPr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265488" y="320040"/>
            <a:ext cx="5630545"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Challenges and Solutions</a:t>
            </a:r>
            <a:endParaRPr sz="4000">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540635"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11</a:t>
            </a:r>
            <a:endParaRPr b="1" dirty="0">
              <a:solidFill>
                <a:schemeClr val="tx1"/>
              </a:solidFill>
              <a:latin typeface="Times New Roman" panose="02020603050405020304" charset="0"/>
              <a:cs typeface="Times New Roman" panose="02020603050405020304" charset="0"/>
            </a:endParaRPr>
          </a:p>
        </p:txBody>
      </p:sp>
      <p:graphicFrame>
        <p:nvGraphicFramePr>
          <p:cNvPr id="6" name="Table 5"/>
          <p:cNvGraphicFramePr>
            <a:graphicFrameLocks noGrp="1"/>
          </p:cNvGraphicFramePr>
          <p:nvPr/>
        </p:nvGraphicFramePr>
        <p:xfrm>
          <a:off x="417195" y="1280160"/>
          <a:ext cx="11195685" cy="4728210"/>
        </p:xfrm>
        <a:graphic>
          <a:graphicData uri="http://schemas.openxmlformats.org/drawingml/2006/table">
            <a:tbl>
              <a:tblPr firstRow="1" bandRow="1">
                <a:tableStyleId>{5C22544A-7EE6-4342-B048-85BDC9FD1C3A}</a:tableStyleId>
              </a:tblPr>
              <a:tblGrid>
                <a:gridCol w="5800725"/>
                <a:gridCol w="5394960"/>
              </a:tblGrid>
              <a:tr h="566928">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Challenge</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Solution</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r>
              <a:tr h="567055">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Every chain showed as tampered, though none was</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Re-hash only the original fields</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566928">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An edited last block could not be detected</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Check it against the hash stored on the seller</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566928">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Anyone could sign up as an administrator</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Sign-up limited to buyer and seller; admin created by a script</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566928">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An admin could verify twice (+15 again) or demote another admin</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Verify once only; admins protected; every action logged with a reason</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566928">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Browsers cannot recognise Nyanja or Bemba</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Scope narrowed to English, stated openly</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566928">
                <a:tc>
                  <a:txBody>
                    <a:bodyPr wrap="square"/>
                    <a:lstStyle/>
                    <a:p>
                      <a:pPr>
                        <a:lnSpc>
                          <a:spcPct val="150000"/>
                        </a:lnSpc>
                      </a:pPr>
                      <a:r>
                        <a:rPr lang="en-US" sz="1600" b="1">
                          <a:solidFill>
                            <a:schemeClr val="tx1"/>
                          </a:solidFill>
                          <a:latin typeface="Times New Roman" panose="02020603050405020304" charset="0"/>
                          <a:cs typeface="Times New Roman" panose="02020603050405020304" charset="0"/>
                        </a:rPr>
                        <a:t>Uploads failed with “stale request” as the laptop’s clock was off</a:t>
                      </a:r>
                      <a:endParaRPr lang="en-US"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lang="en-US" sz="1600" b="1">
                          <a:solidFill>
                            <a:schemeClr val="tx1"/>
                          </a:solidFill>
                          <a:latin typeface="Times New Roman" panose="02020603050405020304" charset="0"/>
                          <a:cs typeface="Times New Roman" panose="02020603050405020304" charset="0"/>
                        </a:rPr>
                        <a:t>Solved by syncing the clock and adding a diagnostic check</a:t>
                      </a:r>
                      <a:endParaRPr lang="en-US"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566928">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Deployment failed (July  2026)</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600" b="1">
                          <a:solidFill>
                            <a:schemeClr val="tx1"/>
                          </a:solidFill>
                          <a:latin typeface="Times New Roman" panose="02020603050405020304" charset="0"/>
                          <a:cs typeface="Times New Roman" panose="02020603050405020304" charset="0"/>
                        </a:rPr>
                        <a:t>Found and fixed causes; live since 12 October 2026</a:t>
                      </a:r>
                      <a:endParaRPr sz="16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4693920" y="320040"/>
            <a:ext cx="2773680"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Test Results</a:t>
            </a:r>
            <a:endParaRPr sz="4000">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5120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12</a:t>
            </a:r>
            <a:endParaRPr b="1" dirty="0">
              <a:solidFill>
                <a:schemeClr val="tx1"/>
              </a:solidFill>
              <a:latin typeface="Times New Roman" panose="02020603050405020304" charset="0"/>
              <a:cs typeface="Times New Roman" panose="02020603050405020304" charset="0"/>
            </a:endParaRPr>
          </a:p>
        </p:txBody>
      </p:sp>
      <p:graphicFrame>
        <p:nvGraphicFramePr>
          <p:cNvPr id="6" name="Table 5"/>
          <p:cNvGraphicFramePr>
            <a:graphicFrameLocks noGrp="1"/>
          </p:cNvGraphicFramePr>
          <p:nvPr/>
        </p:nvGraphicFramePr>
        <p:xfrm>
          <a:off x="548640" y="1188720"/>
          <a:ext cx="11064240" cy="4114800"/>
        </p:xfrm>
        <a:graphic>
          <a:graphicData uri="http://schemas.openxmlformats.org/drawingml/2006/table">
            <a:tbl>
              <a:tblPr firstRow="1" bandRow="1">
                <a:tableStyleId>{5C22544A-7EE6-4342-B048-85BDC9FD1C3A}</a:tableStyleId>
              </a:tblPr>
              <a:tblGrid>
                <a:gridCol w="1005840"/>
                <a:gridCol w="5568315"/>
                <a:gridCol w="3334385"/>
                <a:gridCol w="1155700"/>
              </a:tblGrid>
              <a:tr h="457200">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ID</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Test case (live system, Android phone)</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Expected</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c>
                  <a:txBody>
                    <a:bodyPr wrap="square"/>
                    <a:lstStyle/>
                    <a:p>
                      <a:pPr>
                        <a:lnSpc>
                          <a:spcPct val="150000"/>
                        </a:lnSpc>
                      </a:pPr>
                      <a:r>
                        <a:rPr sz="2000" b="1">
                          <a:solidFill>
                            <a:schemeClr val="tx1"/>
                          </a:solidFill>
                          <a:latin typeface="Times New Roman" panose="02020603050405020304" charset="0"/>
                          <a:cs typeface="Times New Roman" panose="02020603050405020304" charset="0"/>
                        </a:rPr>
                        <a:t>Result</a:t>
                      </a:r>
                      <a:endParaRPr sz="20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60000"/>
                        <a:lumOff val="4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TC-01</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Register with a Zambian number and a one-time code</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Account created</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TC-04</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Seller posts a listing with a photo</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Listing appears in Browse</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TC-06</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Seller dictates a listing in Chrome on Android</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Form filled from speech</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TC-07</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Buyer and seller chat</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Message arrives instantly</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TC-14</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Admin verifies a seller</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Badge shown; score +15</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TC-17</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Hosted app (Vercel + Render) on mobile data</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Pages load; chat connects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TC-22</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Install the app from Chrome on Android</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Opens from the home screen</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20000"/>
                        <a:lumOff val="80000"/>
                      </a:schemeClr>
                    </a:solidFill>
                  </a:tcPr>
                </a:tc>
              </a:tr>
              <a:tr h="457200">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B17</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Edit the most recent trust block (automated)</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Caught by stored head hash</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c>
                  <a:txBody>
                    <a:bodyPr wrap="square"/>
                    <a:lstStyle/>
                    <a:p>
                      <a:pPr>
                        <a:lnSpc>
                          <a:spcPct val="150000"/>
                        </a:lnSpc>
                      </a:pPr>
                      <a:r>
                        <a:rPr sz="1800" b="1">
                          <a:solidFill>
                            <a:schemeClr val="tx1"/>
                          </a:solidFill>
                          <a:latin typeface="Times New Roman" panose="02020603050405020304" charset="0"/>
                          <a:cs typeface="Times New Roman" panose="02020603050405020304" charset="0"/>
                        </a:rPr>
                        <a:t>PASS</a:t>
                      </a:r>
                      <a:endParaRPr sz="1800" b="1">
                        <a:solidFill>
                          <a:schemeClr val="tx1"/>
                        </a:solidFill>
                        <a:latin typeface="Times New Roman" panose="02020603050405020304" charset="0"/>
                        <a:cs typeface="Times New Roman" panose="02020603050405020304" charset="0"/>
                      </a:endParaRPr>
                    </a:p>
                  </a:txBody>
                  <a:tcPr marL="73152" marR="73152" marT="36576" marB="36576" anchor="ctr">
                    <a:solidFill>
                      <a:schemeClr val="accent3">
                        <a:lumMod val="40000"/>
                        <a:lumOff val="60000"/>
                      </a:schemeClr>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562033" y="320040"/>
            <a:ext cx="5037455"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Discussion of Findings</a:t>
            </a:r>
            <a:endParaRPr sz="4000">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483485"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13</a:t>
            </a:r>
            <a:endParaRPr b="1" dirty="0">
              <a:solidFill>
                <a:schemeClr val="tx1"/>
              </a:solidFill>
              <a:latin typeface="Times New Roman" panose="02020603050405020304" charset="0"/>
              <a:cs typeface="Times New Roman" panose="02020603050405020304" charset="0"/>
            </a:endParaRPr>
          </a:p>
        </p:txBody>
      </p:sp>
      <p:sp>
        <p:nvSpPr>
          <p:cNvPr id="6" name="Rounded Rectangle 5"/>
          <p:cNvSpPr/>
          <p:nvPr/>
        </p:nvSpPr>
        <p:spPr>
          <a:xfrm>
            <a:off x="731520" y="1325880"/>
            <a:ext cx="5257800" cy="214884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7" name="TextBox 6"/>
          <p:cNvSpPr txBox="1"/>
          <p:nvPr/>
        </p:nvSpPr>
        <p:spPr>
          <a:xfrm>
            <a:off x="960120" y="1508760"/>
            <a:ext cx="2743200" cy="700405"/>
          </a:xfrm>
          <a:prstGeom prst="rect">
            <a:avLst/>
          </a:prstGeom>
          <a:noFill/>
        </p:spPr>
        <p:txBody>
          <a:bodyPr wrap="square" lIns="45720" tIns="27432" rIns="45720" bIns="27432" anchor="t">
            <a:spAutoFit/>
          </a:bodyPr>
          <a:lstStyle/>
          <a:p>
            <a:pPr algn="l">
              <a:lnSpc>
                <a:spcPct val="150000"/>
              </a:lnSpc>
              <a:spcAft>
                <a:spcPts val="600"/>
              </a:spcAft>
            </a:pPr>
            <a:r>
              <a:rPr sz="2800" b="1" i="0">
                <a:solidFill>
                  <a:schemeClr val="tx1"/>
                </a:solidFill>
                <a:latin typeface="Times New Roman" panose="02020603050405020304" charset="0"/>
                <a:cs typeface="Times New Roman" panose="02020603050405020304" charset="0"/>
              </a:rPr>
              <a:t>Trust</a:t>
            </a:r>
            <a:endParaRPr sz="2800" b="1" i="0">
              <a:solidFill>
                <a:schemeClr val="tx1"/>
              </a:solidFill>
              <a:latin typeface="Times New Roman" panose="02020603050405020304" charset="0"/>
              <a:cs typeface="Times New Roman" panose="02020603050405020304" charset="0"/>
            </a:endParaRPr>
          </a:p>
        </p:txBody>
      </p:sp>
      <p:sp>
        <p:nvSpPr>
          <p:cNvPr id="8" name="Rounded Rectangle 7"/>
          <p:cNvSpPr/>
          <p:nvPr/>
        </p:nvSpPr>
        <p:spPr>
          <a:xfrm>
            <a:off x="402336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9" name="TextBox 8"/>
          <p:cNvSpPr txBox="1"/>
          <p:nvPr/>
        </p:nvSpPr>
        <p:spPr>
          <a:xfrm>
            <a:off x="4023360" y="1465834"/>
            <a:ext cx="1737360" cy="469900"/>
          </a:xfrm>
          <a:prstGeom prst="rect">
            <a:avLst/>
          </a:prstGeom>
          <a:solidFill>
            <a:schemeClr val="accent3">
              <a:lumMod val="20000"/>
              <a:lumOff val="80000"/>
            </a:schemeClr>
          </a:solidFill>
        </p:spPr>
        <p:txBody>
          <a:bodyPr wrap="square" lIns="45720" tIns="27432" rIns="45720" bIns="27432" anchor="ctr">
            <a:spAutoFit/>
          </a:bodyPr>
          <a:lstStyle/>
          <a:p>
            <a:pPr algn="ctr">
              <a:lnSpc>
                <a:spcPct val="150000"/>
              </a:lnSpc>
              <a:spcAft>
                <a:spcPts val="0"/>
              </a:spcAft>
            </a:pPr>
            <a:r>
              <a:rPr b="1" i="0">
                <a:solidFill>
                  <a:schemeClr val="tx1"/>
                </a:solidFill>
                <a:latin typeface="Times New Roman" panose="02020603050405020304" charset="0"/>
                <a:cs typeface="Times New Roman" panose="02020603050405020304" charset="0"/>
              </a:rPr>
              <a:t>RQ1: Yes</a:t>
            </a:r>
            <a:endParaRPr b="1" i="0">
              <a:solidFill>
                <a:schemeClr val="tx1"/>
              </a:solidFill>
              <a:latin typeface="Times New Roman" panose="02020603050405020304" charset="0"/>
              <a:cs typeface="Times New Roman" panose="02020603050405020304" charset="0"/>
            </a:endParaRPr>
          </a:p>
        </p:txBody>
      </p:sp>
      <p:sp>
        <p:nvSpPr>
          <p:cNvPr id="10" name="TextBox 9"/>
          <p:cNvSpPr txBox="1"/>
          <p:nvPr/>
        </p:nvSpPr>
        <p:spPr>
          <a:xfrm>
            <a:off x="960120" y="2103120"/>
            <a:ext cx="4800600" cy="1439545"/>
          </a:xfrm>
          <a:prstGeom prst="rect">
            <a:avLst/>
          </a:prstGeom>
          <a:noFill/>
        </p:spPr>
        <p:txBody>
          <a:bodyPr wrap="square" lIns="45720" tIns="27432" rIns="45720" bIns="27432" anchor="t">
            <a:spAutoFit/>
          </a:bodyPr>
          <a:lstStyle/>
          <a:p>
            <a:pPr algn="l">
              <a:lnSpc>
                <a:spcPct val="150000"/>
              </a:lnSpc>
              <a:spcAft>
                <a:spcPts val="600"/>
              </a:spcAft>
            </a:pPr>
            <a:r>
              <a:rPr sz="2000" b="1" i="0">
                <a:solidFill>
                  <a:schemeClr val="tx1"/>
                </a:solidFill>
                <a:latin typeface="Times New Roman" panose="02020603050405020304" charset="0"/>
                <a:cs typeface="Times New Roman" panose="02020603050405020304" charset="0"/>
              </a:rPr>
              <a:t>A hash chain on an ordinary database detects any edited, deleted or reordered event, cheaply.</a:t>
            </a:r>
            <a:endParaRPr sz="2000" b="1" i="0">
              <a:solidFill>
                <a:schemeClr val="tx1"/>
              </a:solidFill>
              <a:latin typeface="Times New Roman" panose="02020603050405020304" charset="0"/>
              <a:cs typeface="Times New Roman" panose="02020603050405020304" charset="0"/>
            </a:endParaRPr>
          </a:p>
        </p:txBody>
      </p:sp>
      <p:sp>
        <p:nvSpPr>
          <p:cNvPr id="11" name="Rounded Rectangle 10"/>
          <p:cNvSpPr/>
          <p:nvPr/>
        </p:nvSpPr>
        <p:spPr>
          <a:xfrm>
            <a:off x="6172200" y="1325880"/>
            <a:ext cx="5257800" cy="214884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2" name="TextBox 11"/>
          <p:cNvSpPr txBox="1"/>
          <p:nvPr/>
        </p:nvSpPr>
        <p:spPr>
          <a:xfrm>
            <a:off x="6400800" y="1508760"/>
            <a:ext cx="2743200" cy="700405"/>
          </a:xfrm>
          <a:prstGeom prst="rect">
            <a:avLst/>
          </a:prstGeom>
          <a:noFill/>
        </p:spPr>
        <p:txBody>
          <a:bodyPr wrap="square" lIns="45720" tIns="27432" rIns="45720" bIns="27432" anchor="t">
            <a:spAutoFit/>
          </a:bodyPr>
          <a:lstStyle/>
          <a:p>
            <a:pPr algn="l">
              <a:lnSpc>
                <a:spcPct val="150000"/>
              </a:lnSpc>
              <a:spcAft>
                <a:spcPts val="600"/>
              </a:spcAft>
            </a:pPr>
            <a:r>
              <a:rPr sz="2800" b="1" i="0">
                <a:solidFill>
                  <a:schemeClr val="tx1"/>
                </a:solidFill>
                <a:latin typeface="Times New Roman" panose="02020603050405020304" charset="0"/>
                <a:cs typeface="Times New Roman" panose="02020603050405020304" charset="0"/>
              </a:rPr>
              <a:t>Discovery</a:t>
            </a:r>
            <a:endParaRPr sz="2800" b="1" i="0">
              <a:solidFill>
                <a:schemeClr val="tx1"/>
              </a:solidFill>
              <a:latin typeface="Times New Roman" panose="02020603050405020304" charset="0"/>
              <a:cs typeface="Times New Roman" panose="02020603050405020304" charset="0"/>
            </a:endParaRPr>
          </a:p>
        </p:txBody>
      </p:sp>
      <p:sp>
        <p:nvSpPr>
          <p:cNvPr id="13" name="Rounded Rectangle 12"/>
          <p:cNvSpPr/>
          <p:nvPr/>
        </p:nvSpPr>
        <p:spPr>
          <a:xfrm>
            <a:off x="9464040" y="1527048"/>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4" name="TextBox 13"/>
          <p:cNvSpPr txBox="1"/>
          <p:nvPr/>
        </p:nvSpPr>
        <p:spPr>
          <a:xfrm>
            <a:off x="9464040" y="1465834"/>
            <a:ext cx="1737360" cy="469900"/>
          </a:xfrm>
          <a:prstGeom prst="rect">
            <a:avLst/>
          </a:prstGeom>
          <a:solidFill>
            <a:schemeClr val="accent3">
              <a:lumMod val="20000"/>
              <a:lumOff val="80000"/>
            </a:schemeClr>
          </a:solidFill>
        </p:spPr>
        <p:txBody>
          <a:bodyPr wrap="square" lIns="45720" tIns="27432" rIns="45720" bIns="27432" anchor="ctr">
            <a:spAutoFit/>
          </a:bodyPr>
          <a:lstStyle/>
          <a:p>
            <a:pPr algn="ctr">
              <a:lnSpc>
                <a:spcPct val="150000"/>
              </a:lnSpc>
              <a:spcAft>
                <a:spcPts val="0"/>
              </a:spcAft>
            </a:pPr>
            <a:r>
              <a:rPr b="1" i="0">
                <a:solidFill>
                  <a:schemeClr val="tx1"/>
                </a:solidFill>
                <a:latin typeface="Times New Roman" panose="02020603050405020304" charset="0"/>
                <a:cs typeface="Times New Roman" panose="02020603050405020304" charset="0"/>
              </a:rPr>
              <a:t>Achieved</a:t>
            </a:r>
            <a:endParaRPr b="1" i="0">
              <a:solidFill>
                <a:schemeClr val="tx1"/>
              </a:solidFill>
              <a:latin typeface="Times New Roman" panose="02020603050405020304" charset="0"/>
              <a:cs typeface="Times New Roman" panose="02020603050405020304" charset="0"/>
            </a:endParaRPr>
          </a:p>
        </p:txBody>
      </p:sp>
      <p:sp>
        <p:nvSpPr>
          <p:cNvPr id="15" name="TextBox 14"/>
          <p:cNvSpPr txBox="1"/>
          <p:nvPr/>
        </p:nvSpPr>
        <p:spPr>
          <a:xfrm>
            <a:off x="6400800" y="2103120"/>
            <a:ext cx="4800600" cy="793115"/>
          </a:xfrm>
          <a:prstGeom prst="rect">
            <a:avLst/>
          </a:prstGeom>
          <a:noFill/>
        </p:spPr>
        <p:txBody>
          <a:bodyPr wrap="square" lIns="45720" tIns="27432" rIns="45720" bIns="27432" anchor="t">
            <a:spAutoFit/>
          </a:bodyPr>
          <a:lstStyle/>
          <a:p>
            <a:pPr algn="l">
              <a:lnSpc>
                <a:spcPct val="150000"/>
              </a:lnSpc>
              <a:spcAft>
                <a:spcPts val="600"/>
              </a:spcAft>
            </a:pPr>
            <a:r>
              <a:rPr sz="1600" b="0" i="0">
                <a:solidFill>
                  <a:srgbClr val="232323"/>
                </a:solidFill>
                <a:latin typeface="Times New Roman" panose="02020603050405020304" charset="0"/>
                <a:cs typeface="Times New Roman" panose="02020603050405020304" charset="0"/>
              </a:rPr>
              <a:t>Neighbourhood filters match how residents describe location, with no GPS needed.</a:t>
            </a:r>
            <a:endParaRPr sz="1600" b="0" i="0">
              <a:solidFill>
                <a:srgbClr val="232323"/>
              </a:solidFill>
              <a:latin typeface="Times New Roman" panose="02020603050405020304" charset="0"/>
              <a:cs typeface="Times New Roman" panose="02020603050405020304" charset="0"/>
            </a:endParaRPr>
          </a:p>
        </p:txBody>
      </p:sp>
      <p:sp>
        <p:nvSpPr>
          <p:cNvPr id="16" name="Rounded Rectangle 15"/>
          <p:cNvSpPr/>
          <p:nvPr/>
        </p:nvSpPr>
        <p:spPr>
          <a:xfrm>
            <a:off x="731520" y="3703320"/>
            <a:ext cx="5257800" cy="214884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7" name="TextBox 16"/>
          <p:cNvSpPr txBox="1"/>
          <p:nvPr/>
        </p:nvSpPr>
        <p:spPr>
          <a:xfrm>
            <a:off x="960120" y="3886200"/>
            <a:ext cx="2743200" cy="700405"/>
          </a:xfrm>
          <a:prstGeom prst="rect">
            <a:avLst/>
          </a:prstGeom>
          <a:noFill/>
        </p:spPr>
        <p:txBody>
          <a:bodyPr wrap="square" lIns="45720" tIns="27432" rIns="45720" bIns="27432" anchor="t">
            <a:spAutoFit/>
          </a:bodyPr>
          <a:lstStyle/>
          <a:p>
            <a:pPr algn="l">
              <a:lnSpc>
                <a:spcPct val="150000"/>
              </a:lnSpc>
              <a:spcAft>
                <a:spcPts val="600"/>
              </a:spcAft>
            </a:pPr>
            <a:r>
              <a:rPr sz="2800" b="1" i="0">
                <a:solidFill>
                  <a:schemeClr val="tx1"/>
                </a:solidFill>
                <a:latin typeface="Times New Roman" panose="02020603050405020304" charset="0"/>
                <a:cs typeface="Times New Roman" panose="02020603050405020304" charset="0"/>
              </a:rPr>
              <a:t>Voice</a:t>
            </a:r>
            <a:endParaRPr sz="2800" b="1" i="0">
              <a:solidFill>
                <a:schemeClr val="tx1"/>
              </a:solidFill>
              <a:latin typeface="Times New Roman" panose="02020603050405020304" charset="0"/>
              <a:cs typeface="Times New Roman" panose="02020603050405020304" charset="0"/>
            </a:endParaRPr>
          </a:p>
        </p:txBody>
      </p:sp>
      <p:sp>
        <p:nvSpPr>
          <p:cNvPr id="18" name="Rounded Rectangle 17"/>
          <p:cNvSpPr/>
          <p:nvPr/>
        </p:nvSpPr>
        <p:spPr>
          <a:xfrm>
            <a:off x="4023360" y="3904487"/>
            <a:ext cx="173736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19" name="TextBox 18"/>
          <p:cNvSpPr txBox="1"/>
          <p:nvPr/>
        </p:nvSpPr>
        <p:spPr>
          <a:xfrm>
            <a:off x="4023360" y="3843273"/>
            <a:ext cx="1737360" cy="469900"/>
          </a:xfrm>
          <a:prstGeom prst="rect">
            <a:avLst/>
          </a:prstGeom>
          <a:solidFill>
            <a:schemeClr val="accent3">
              <a:lumMod val="20000"/>
              <a:lumOff val="80000"/>
            </a:schemeClr>
          </a:solidFill>
        </p:spPr>
        <p:txBody>
          <a:bodyPr wrap="square" lIns="45720" tIns="27432" rIns="45720" bIns="27432" anchor="ctr">
            <a:spAutoFit/>
          </a:bodyPr>
          <a:lstStyle/>
          <a:p>
            <a:pPr algn="ctr">
              <a:lnSpc>
                <a:spcPct val="150000"/>
              </a:lnSpc>
              <a:spcAft>
                <a:spcPts val="0"/>
              </a:spcAft>
            </a:pPr>
            <a:r>
              <a:rPr b="1" i="0">
                <a:solidFill>
                  <a:schemeClr val="tx1"/>
                </a:solidFill>
                <a:latin typeface="Times New Roman" panose="02020603050405020304" charset="0"/>
                <a:cs typeface="Times New Roman" panose="02020603050405020304" charset="0"/>
              </a:rPr>
              <a:t>RQ2: Partly</a:t>
            </a:r>
            <a:endParaRPr b="1" i="0">
              <a:solidFill>
                <a:schemeClr val="tx1"/>
              </a:solidFill>
              <a:latin typeface="Times New Roman" panose="02020603050405020304" charset="0"/>
              <a:cs typeface="Times New Roman" panose="02020603050405020304" charset="0"/>
            </a:endParaRPr>
          </a:p>
        </p:txBody>
      </p:sp>
      <p:sp>
        <p:nvSpPr>
          <p:cNvPr id="20" name="TextBox 19"/>
          <p:cNvSpPr txBox="1"/>
          <p:nvPr/>
        </p:nvSpPr>
        <p:spPr>
          <a:xfrm>
            <a:off x="960120" y="4480559"/>
            <a:ext cx="4800600" cy="977900"/>
          </a:xfrm>
          <a:prstGeom prst="rect">
            <a:avLst/>
          </a:prstGeom>
          <a:noFill/>
        </p:spPr>
        <p:txBody>
          <a:bodyPr wrap="square" lIns="45720" tIns="27432" rIns="45720" bIns="27432" anchor="t">
            <a:spAutoFit/>
          </a:bodyPr>
          <a:lstStyle/>
          <a:p>
            <a:pPr algn="l">
              <a:lnSpc>
                <a:spcPct val="150000"/>
              </a:lnSpc>
              <a:spcAft>
                <a:spcPts val="600"/>
              </a:spcAft>
            </a:pPr>
            <a:r>
              <a:rPr sz="2000" b="0" i="0">
                <a:solidFill>
                  <a:srgbClr val="232323"/>
                </a:solidFill>
                <a:latin typeface="Times New Roman" panose="02020603050405020304" charset="0"/>
                <a:cs typeface="Times New Roman" panose="02020603050405020304" charset="0"/>
              </a:rPr>
              <a:t>Works for English sentences, but Nyanja and Bemba speakers are not served.</a:t>
            </a:r>
            <a:endParaRPr sz="2000" b="0" i="0">
              <a:solidFill>
                <a:srgbClr val="232323"/>
              </a:solidFill>
              <a:latin typeface="Times New Roman" panose="02020603050405020304" charset="0"/>
              <a:cs typeface="Times New Roman" panose="02020603050405020304" charset="0"/>
            </a:endParaRPr>
          </a:p>
        </p:txBody>
      </p:sp>
      <p:sp>
        <p:nvSpPr>
          <p:cNvPr id="21" name="Rounded Rectangle 20"/>
          <p:cNvSpPr/>
          <p:nvPr/>
        </p:nvSpPr>
        <p:spPr>
          <a:xfrm>
            <a:off x="6172200" y="3703320"/>
            <a:ext cx="5257800" cy="214884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22" name="TextBox 21"/>
          <p:cNvSpPr txBox="1"/>
          <p:nvPr/>
        </p:nvSpPr>
        <p:spPr>
          <a:xfrm>
            <a:off x="6400800" y="3886200"/>
            <a:ext cx="2743200" cy="700405"/>
          </a:xfrm>
          <a:prstGeom prst="rect">
            <a:avLst/>
          </a:prstGeom>
          <a:noFill/>
        </p:spPr>
        <p:txBody>
          <a:bodyPr wrap="square" lIns="45720" tIns="27432" rIns="45720" bIns="27432" anchor="t">
            <a:spAutoFit/>
          </a:bodyPr>
          <a:lstStyle/>
          <a:p>
            <a:pPr algn="l">
              <a:lnSpc>
                <a:spcPct val="150000"/>
              </a:lnSpc>
              <a:spcAft>
                <a:spcPts val="600"/>
              </a:spcAft>
            </a:pPr>
            <a:r>
              <a:rPr sz="2800" b="1" i="0">
                <a:solidFill>
                  <a:schemeClr val="tx1"/>
                </a:solidFill>
                <a:latin typeface="Times New Roman" panose="02020603050405020304" charset="0"/>
                <a:cs typeface="Times New Roman" panose="02020603050405020304" charset="0"/>
              </a:rPr>
              <a:t>Connectivity</a:t>
            </a:r>
            <a:endParaRPr sz="2800" b="1" i="0">
              <a:solidFill>
                <a:schemeClr val="tx1"/>
              </a:solidFill>
              <a:latin typeface="Times New Roman" panose="02020603050405020304" charset="0"/>
              <a:cs typeface="Times New Roman" panose="02020603050405020304" charset="0"/>
            </a:endParaRPr>
          </a:p>
        </p:txBody>
      </p:sp>
      <p:sp>
        <p:nvSpPr>
          <p:cNvPr id="23" name="Rounded Rectangle 22"/>
          <p:cNvSpPr/>
          <p:nvPr/>
        </p:nvSpPr>
        <p:spPr>
          <a:xfrm>
            <a:off x="9464040" y="3904487"/>
            <a:ext cx="173736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24" name="TextBox 23"/>
          <p:cNvSpPr txBox="1"/>
          <p:nvPr/>
        </p:nvSpPr>
        <p:spPr>
          <a:xfrm>
            <a:off x="9464040" y="3843273"/>
            <a:ext cx="1737360" cy="469900"/>
          </a:xfrm>
          <a:prstGeom prst="rect">
            <a:avLst/>
          </a:prstGeom>
          <a:solidFill>
            <a:schemeClr val="accent3">
              <a:lumMod val="20000"/>
              <a:lumOff val="80000"/>
            </a:schemeClr>
          </a:solidFill>
        </p:spPr>
        <p:txBody>
          <a:bodyPr wrap="square" lIns="45720" tIns="27432" rIns="45720" bIns="27432" anchor="ctr">
            <a:spAutoFit/>
          </a:bodyPr>
          <a:lstStyle/>
          <a:p>
            <a:pPr algn="ctr">
              <a:lnSpc>
                <a:spcPct val="150000"/>
              </a:lnSpc>
              <a:spcAft>
                <a:spcPts val="0"/>
              </a:spcAft>
            </a:pPr>
            <a:r>
              <a:rPr b="1" i="0">
                <a:solidFill>
                  <a:schemeClr val="tx1"/>
                </a:solidFill>
                <a:latin typeface="Times New Roman" panose="02020603050405020304" charset="0"/>
                <a:cs typeface="Times New Roman" panose="02020603050405020304" charset="0"/>
              </a:rPr>
              <a:t>RQ3: Largely</a:t>
            </a:r>
            <a:endParaRPr b="1" i="0">
              <a:solidFill>
                <a:schemeClr val="tx1"/>
              </a:solidFill>
              <a:latin typeface="Times New Roman" panose="02020603050405020304" charset="0"/>
              <a:cs typeface="Times New Roman" panose="02020603050405020304" charset="0"/>
            </a:endParaRPr>
          </a:p>
        </p:txBody>
      </p:sp>
      <p:sp>
        <p:nvSpPr>
          <p:cNvPr id="25" name="TextBox 24"/>
          <p:cNvSpPr txBox="1"/>
          <p:nvPr/>
        </p:nvSpPr>
        <p:spPr>
          <a:xfrm>
            <a:off x="6400800" y="4480559"/>
            <a:ext cx="4800600" cy="977900"/>
          </a:xfrm>
          <a:prstGeom prst="rect">
            <a:avLst/>
          </a:prstGeom>
          <a:noFill/>
        </p:spPr>
        <p:txBody>
          <a:bodyPr wrap="square" lIns="45720" tIns="27432" rIns="45720" bIns="27432" anchor="t">
            <a:spAutoFit/>
          </a:bodyPr>
          <a:lstStyle/>
          <a:p>
            <a:pPr algn="l">
              <a:lnSpc>
                <a:spcPct val="150000"/>
              </a:lnSpc>
              <a:spcAft>
                <a:spcPts val="600"/>
              </a:spcAft>
            </a:pPr>
            <a:r>
              <a:rPr sz="2000" b="0" i="0">
                <a:solidFill>
                  <a:schemeClr val="tx1"/>
                </a:solidFill>
                <a:latin typeface="Times New Roman" panose="02020603050405020304" charset="0"/>
                <a:cs typeface="Times New Roman" panose="02020603050405020304" charset="0"/>
              </a:rPr>
              <a:t>Reading, messaging and new listings survive drops; ratings need a connection.</a:t>
            </a:r>
            <a:endParaRPr sz="2000" b="0" i="0">
              <a:solidFill>
                <a:schemeClr val="tx1"/>
              </a:solidFill>
              <a:latin typeface="Times New Roman" panose="02020603050405020304" charset="0"/>
              <a:cs typeface="Times New Roman" panose="02020603050405020304" charset="0"/>
            </a:endParaRPr>
          </a:p>
        </p:txBody>
      </p:sp>
      <p:sp>
        <p:nvSpPr>
          <p:cNvPr id="26" name="TextBox 25"/>
          <p:cNvSpPr txBox="1"/>
          <p:nvPr/>
        </p:nvSpPr>
        <p:spPr>
          <a:xfrm>
            <a:off x="731520" y="6080760"/>
            <a:ext cx="10698480" cy="423545"/>
          </a:xfrm>
          <a:prstGeom prst="rect">
            <a:avLst/>
          </a:prstGeom>
          <a:noFill/>
        </p:spPr>
        <p:txBody>
          <a:bodyPr wrap="square" lIns="45720" tIns="27432" rIns="45720" bIns="27432" anchor="t">
            <a:spAutoFit/>
          </a:bodyPr>
          <a:lstStyle/>
          <a:p>
            <a:pPr algn="l">
              <a:lnSpc>
                <a:spcPct val="150000"/>
              </a:lnSpc>
              <a:spcAft>
                <a:spcPts val="600"/>
              </a:spcAft>
            </a:pPr>
            <a:r>
              <a:rPr sz="1600" b="1" i="0">
                <a:solidFill>
                  <a:schemeClr val="tx1"/>
                </a:solidFill>
                <a:latin typeface="Times New Roman" panose="02020603050405020304" charset="0"/>
                <a:cs typeface="Times New Roman" panose="02020603050405020304" charset="0"/>
              </a:rPr>
              <a:t>Most important finding: verifiable trust is possible without online payment.</a:t>
            </a:r>
            <a:endParaRPr sz="1600"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066415" y="259080"/>
            <a:ext cx="2693670"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Limitations</a:t>
            </a:r>
            <a:endParaRPr sz="400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5" name="TextBox 4"/>
          <p:cNvSpPr txBox="1"/>
          <p:nvPr/>
        </p:nvSpPr>
        <p:spPr>
          <a:xfrm>
            <a:off x="320040" y="6574536"/>
            <a:ext cx="245491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14</a:t>
            </a:r>
            <a:endParaRPr b="1" dirty="0">
              <a:solidFill>
                <a:schemeClr val="tx1"/>
              </a:solidFill>
              <a:latin typeface="Times New Roman" panose="02020603050405020304" charset="0"/>
              <a:cs typeface="Times New Roman" panose="02020603050405020304" charset="0"/>
            </a:endParaRPr>
          </a:p>
        </p:txBody>
      </p:sp>
      <p:sp>
        <p:nvSpPr>
          <p:cNvPr id="6" name="TextBox 5"/>
          <p:cNvSpPr txBox="1"/>
          <p:nvPr/>
        </p:nvSpPr>
        <p:spPr>
          <a:xfrm>
            <a:off x="731520" y="1325880"/>
            <a:ext cx="10698480" cy="4650740"/>
          </a:xfrm>
          <a:prstGeom prst="rect">
            <a:avLst/>
          </a:prstGeom>
          <a:noFill/>
        </p:spPr>
        <p:txBody>
          <a:bodyPr wrap="square" lIns="45720" tIns="27432" rIns="45720" bIns="27432" anchor="t">
            <a:spAutoFit/>
          </a:bodyPr>
          <a:lstStyle/>
          <a:p>
            <a:pPr algn="l">
              <a:lnSpc>
                <a:spcPct val="150000"/>
              </a:lnSpc>
              <a:spcAft>
                <a:spcPts val="1400"/>
              </a:spcAft>
            </a:pPr>
            <a:r>
              <a:rPr sz="2400" b="1" i="0">
                <a:solidFill>
                  <a:schemeClr val="tx1"/>
                </a:solidFill>
                <a:latin typeface="Times New Roman" panose="02020603050405020304" charset="0"/>
                <a:cs typeface="Times New Roman" panose="02020603050405020304" charset="0"/>
              </a:rPr>
              <a:t>No user study yet: </a:t>
            </a:r>
            <a:r>
              <a:rPr sz="2400" b="0" i="0">
                <a:solidFill>
                  <a:schemeClr val="tx1"/>
                </a:solidFill>
                <a:latin typeface="Times New Roman" panose="02020603050405020304" charset="0"/>
                <a:cs typeface="Times New Roman" panose="02020603050405020304" charset="0"/>
              </a:rPr>
              <a:t>usability and real-world benefit are not yet measured</a:t>
            </a:r>
            <a:endParaRPr sz="2400" b="0" i="0">
              <a:solidFill>
                <a:schemeClr val="tx1"/>
              </a:solidFill>
              <a:latin typeface="Times New Roman" panose="02020603050405020304" charset="0"/>
              <a:cs typeface="Times New Roman" panose="02020603050405020304" charset="0"/>
            </a:endParaRPr>
          </a:p>
          <a:p>
            <a:pPr algn="l">
              <a:lnSpc>
                <a:spcPct val="150000"/>
              </a:lnSpc>
              <a:spcAft>
                <a:spcPts val="1400"/>
              </a:spcAft>
            </a:pPr>
            <a:r>
              <a:rPr sz="2400" b="1" i="0">
                <a:solidFill>
                  <a:schemeClr val="tx1"/>
                </a:solidFill>
                <a:latin typeface="Times New Roman" panose="02020603050405020304" charset="0"/>
                <a:cs typeface="Times New Roman" panose="02020603050405020304" charset="0"/>
              </a:rPr>
              <a:t>English-only voice: </a:t>
            </a:r>
            <a:r>
              <a:rPr sz="2400" b="0" i="0">
                <a:solidFill>
                  <a:schemeClr val="tx1"/>
                </a:solidFill>
                <a:latin typeface="Times New Roman" panose="02020603050405020304" charset="0"/>
                <a:cs typeface="Times New Roman" panose="02020603050405020304" charset="0"/>
              </a:rPr>
              <a:t>excludes some sellers who would gain most</a:t>
            </a:r>
            <a:endParaRPr sz="2400" b="0" i="0">
              <a:solidFill>
                <a:schemeClr val="tx1"/>
              </a:solidFill>
              <a:latin typeface="Times New Roman" panose="02020603050405020304" charset="0"/>
              <a:cs typeface="Times New Roman" panose="02020603050405020304" charset="0"/>
            </a:endParaRPr>
          </a:p>
          <a:p>
            <a:pPr algn="l">
              <a:lnSpc>
                <a:spcPct val="150000"/>
              </a:lnSpc>
              <a:spcAft>
                <a:spcPts val="1400"/>
              </a:spcAft>
            </a:pPr>
            <a:r>
              <a:rPr sz="2400" b="1" i="0">
                <a:solidFill>
                  <a:schemeClr val="tx1"/>
                </a:solidFill>
                <a:latin typeface="Times New Roman" panose="02020603050405020304" charset="0"/>
                <a:cs typeface="Times New Roman" panose="02020603050405020304" charset="0"/>
              </a:rPr>
              <a:t>Tamper-evident, not tamper-proof: </a:t>
            </a:r>
            <a:r>
              <a:rPr sz="2400" b="0" i="0">
                <a:solidFill>
                  <a:schemeClr val="tx1"/>
                </a:solidFill>
                <a:latin typeface="Times New Roman" panose="02020603050405020304" charset="0"/>
                <a:cs typeface="Times New Roman" panose="02020603050405020304" charset="0"/>
              </a:rPr>
              <a:t>someone with full database access could rewrite a whole chain</a:t>
            </a:r>
            <a:endParaRPr sz="2400" b="0" i="0">
              <a:solidFill>
                <a:schemeClr val="tx1"/>
              </a:solidFill>
              <a:latin typeface="Times New Roman" panose="02020603050405020304" charset="0"/>
              <a:cs typeface="Times New Roman" panose="02020603050405020304" charset="0"/>
            </a:endParaRPr>
          </a:p>
          <a:p>
            <a:pPr algn="l">
              <a:lnSpc>
                <a:spcPct val="150000"/>
              </a:lnSpc>
              <a:spcAft>
                <a:spcPts val="1400"/>
              </a:spcAft>
            </a:pPr>
            <a:r>
              <a:rPr sz="2400" b="1" i="0">
                <a:solidFill>
                  <a:schemeClr val="tx1"/>
                </a:solidFill>
                <a:latin typeface="Times New Roman" panose="02020603050405020304" charset="0"/>
                <a:cs typeface="Times New Roman" panose="02020603050405020304" charset="0"/>
              </a:rPr>
              <a:t>Rating gate: </a:t>
            </a:r>
            <a:r>
              <a:rPr sz="2400" b="0" i="0">
                <a:solidFill>
                  <a:schemeClr val="tx1"/>
                </a:solidFill>
                <a:latin typeface="Times New Roman" panose="02020603050405020304" charset="0"/>
                <a:cs typeface="Times New Roman" panose="02020603050405020304" charset="0"/>
              </a:rPr>
              <a:t>checks that a conversation happened, not that a sale did</a:t>
            </a:r>
            <a:endParaRPr sz="2400" b="0" i="0">
              <a:solidFill>
                <a:schemeClr val="tx1"/>
              </a:solidFill>
              <a:latin typeface="Times New Roman" panose="02020603050405020304" charset="0"/>
              <a:cs typeface="Times New Roman" panose="02020603050405020304" charset="0"/>
            </a:endParaRPr>
          </a:p>
          <a:p>
            <a:pPr algn="l">
              <a:lnSpc>
                <a:spcPct val="150000"/>
              </a:lnSpc>
              <a:spcAft>
                <a:spcPts val="1400"/>
              </a:spcAft>
            </a:pPr>
            <a:r>
              <a:rPr sz="2400" b="1" i="0">
                <a:solidFill>
                  <a:schemeClr val="tx1"/>
                </a:solidFill>
                <a:latin typeface="Times New Roman" panose="02020603050405020304" charset="0"/>
                <a:cs typeface="Times New Roman" panose="02020603050405020304" charset="0"/>
              </a:rPr>
              <a:t>No paid SMS: </a:t>
            </a:r>
            <a:r>
              <a:rPr sz="2400" b="0" i="0">
                <a:solidFill>
                  <a:schemeClr val="tx1"/>
                </a:solidFill>
                <a:latin typeface="Times New Roman" panose="02020603050405020304" charset="0"/>
                <a:cs typeface="Times New Roman" panose="02020603050405020304" charset="0"/>
              </a:rPr>
              <a:t>registration codes go to the server log; real SMS is built in and is one setting away</a:t>
            </a:r>
            <a:endParaRPr sz="2400" b="0"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4094163" y="48260"/>
            <a:ext cx="2610485" cy="1014730"/>
          </a:xfrm>
          <a:prstGeom prst="rect">
            <a:avLst/>
          </a:prstGeom>
          <a:noFill/>
        </p:spPr>
        <p:txBody>
          <a:bodyPr wrap="none">
            <a:spAutoFit/>
          </a:bodyPr>
          <a:lstStyle/>
          <a:p>
            <a:pPr algn="ctr">
              <a:lnSpc>
                <a:spcPct val="150000"/>
              </a:lnSpc>
              <a:defRPr sz="2800" b="1">
                <a:solidFill>
                  <a:srgbClr val="192D4B"/>
                </a:solidFill>
              </a:defRPr>
            </a:pPr>
            <a:r>
              <a:rPr sz="4000">
                <a:solidFill>
                  <a:schemeClr val="tx1"/>
                </a:solidFill>
                <a:latin typeface="Times New Roman" panose="02020603050405020304" charset="0"/>
                <a:cs typeface="Times New Roman" panose="02020603050405020304" charset="0"/>
              </a:rPr>
              <a:t>Conclusion</a:t>
            </a:r>
            <a:endParaRPr sz="4000" dirty="0">
              <a:solidFill>
                <a:schemeClr val="tx1"/>
              </a:solidFill>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5" name="TextBox 4"/>
          <p:cNvSpPr txBox="1"/>
          <p:nvPr/>
        </p:nvSpPr>
        <p:spPr>
          <a:xfrm>
            <a:off x="320040" y="6574536"/>
            <a:ext cx="2426335"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15</a:t>
            </a:r>
            <a:endParaRPr b="1" dirty="0">
              <a:solidFill>
                <a:schemeClr val="tx1"/>
              </a:solidFill>
              <a:latin typeface="Times New Roman" panose="02020603050405020304" charset="0"/>
              <a:cs typeface="Times New Roman" panose="02020603050405020304" charset="0"/>
            </a:endParaRPr>
          </a:p>
        </p:txBody>
      </p:sp>
      <p:sp>
        <p:nvSpPr>
          <p:cNvPr id="6" name="TextBox 5"/>
          <p:cNvSpPr txBox="1"/>
          <p:nvPr/>
        </p:nvSpPr>
        <p:spPr>
          <a:xfrm>
            <a:off x="731520" y="1188720"/>
            <a:ext cx="585216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Objectives</a:t>
            </a:r>
            <a:endParaRPr sz="2400" b="1" i="0">
              <a:solidFill>
                <a:schemeClr val="tx1"/>
              </a:solidFill>
              <a:latin typeface="Times New Roman" panose="02020603050405020304" charset="0"/>
              <a:cs typeface="Times New Roman" panose="02020603050405020304" charset="0"/>
            </a:endParaRPr>
          </a:p>
        </p:txBody>
      </p:sp>
      <p:sp>
        <p:nvSpPr>
          <p:cNvPr id="7" name="TextBox 6"/>
          <p:cNvSpPr txBox="1"/>
          <p:nvPr/>
        </p:nvSpPr>
        <p:spPr>
          <a:xfrm>
            <a:off x="731520" y="1753870"/>
            <a:ext cx="4206240" cy="469900"/>
          </a:xfrm>
          <a:prstGeom prst="rect">
            <a:avLst/>
          </a:prstGeom>
          <a:noFill/>
        </p:spPr>
        <p:txBody>
          <a:bodyPr wrap="square" lIns="45720" tIns="27432" rIns="45720" bIns="27432" anchor="ctr">
            <a:spAutoFit/>
          </a:bodyPr>
          <a:lstStyle/>
          <a:p>
            <a:pPr algn="l">
              <a:lnSpc>
                <a:spcPct val="150000"/>
              </a:lnSpc>
              <a:spcAft>
                <a:spcPts val="600"/>
              </a:spcAft>
            </a:pPr>
            <a:r>
              <a:rPr b="1" i="0">
                <a:solidFill>
                  <a:schemeClr val="tx1"/>
                </a:solidFill>
                <a:latin typeface="Times New Roman" panose="02020603050405020304" charset="0"/>
                <a:cs typeface="Times New Roman" panose="02020603050405020304" charset="0"/>
              </a:rPr>
              <a:t>1. Discovery and filters</a:t>
            </a:r>
            <a:endParaRPr b="1" i="0">
              <a:solidFill>
                <a:schemeClr val="tx1"/>
              </a:solidFill>
              <a:latin typeface="Times New Roman" panose="02020603050405020304" charset="0"/>
              <a:cs typeface="Times New Roman" panose="02020603050405020304" charset="0"/>
            </a:endParaRPr>
          </a:p>
        </p:txBody>
      </p:sp>
      <p:sp>
        <p:nvSpPr>
          <p:cNvPr id="8" name="Rounded Rectangle 7"/>
          <p:cNvSpPr/>
          <p:nvPr/>
        </p:nvSpPr>
        <p:spPr>
          <a:xfrm>
            <a:off x="4937760" y="1810512"/>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9" name="TextBox 8"/>
          <p:cNvSpPr txBox="1"/>
          <p:nvPr/>
        </p:nvSpPr>
        <p:spPr>
          <a:xfrm>
            <a:off x="4937760" y="1772475"/>
            <a:ext cx="1463040" cy="423545"/>
          </a:xfrm>
          <a:prstGeom prst="rect">
            <a:avLst/>
          </a:prstGeom>
          <a:solidFill>
            <a:schemeClr val="accent3">
              <a:lumMod val="40000"/>
              <a:lumOff val="60000"/>
            </a:schemeClr>
          </a:solidFill>
        </p:spPr>
        <p:txBody>
          <a:bodyPr wrap="square" lIns="45720" tIns="27432" rIns="45720" bIns="27432" anchor="ctr">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Achieved</a:t>
            </a:r>
            <a:endParaRPr sz="1600" b="1" i="0">
              <a:solidFill>
                <a:schemeClr val="tx1"/>
              </a:solidFill>
              <a:latin typeface="Times New Roman" panose="02020603050405020304" charset="0"/>
              <a:cs typeface="Times New Roman" panose="02020603050405020304" charset="0"/>
            </a:endParaRPr>
          </a:p>
        </p:txBody>
      </p:sp>
      <p:sp>
        <p:nvSpPr>
          <p:cNvPr id="10" name="TextBox 9"/>
          <p:cNvSpPr txBox="1"/>
          <p:nvPr/>
        </p:nvSpPr>
        <p:spPr>
          <a:xfrm>
            <a:off x="731520" y="2389060"/>
            <a:ext cx="4206240" cy="516255"/>
          </a:xfrm>
          <a:prstGeom prst="rect">
            <a:avLst/>
          </a:prstGeom>
          <a:noFill/>
        </p:spPr>
        <p:txBody>
          <a:bodyPr wrap="square" lIns="45720" tIns="27432" rIns="45720" bIns="27432" anchor="ctr">
            <a:spAutoFit/>
          </a:bodyPr>
          <a:lstStyle/>
          <a:p>
            <a:pPr algn="l">
              <a:lnSpc>
                <a:spcPct val="150000"/>
              </a:lnSpc>
              <a:spcAft>
                <a:spcPts val="600"/>
              </a:spcAft>
            </a:pPr>
            <a:r>
              <a:rPr sz="2000" b="1" i="0">
                <a:solidFill>
                  <a:schemeClr val="tx1"/>
                </a:solidFill>
                <a:latin typeface="Times New Roman" panose="02020603050405020304" charset="0"/>
                <a:cs typeface="Times New Roman" panose="02020603050405020304" charset="0"/>
              </a:rPr>
              <a:t>2. English voice listing</a:t>
            </a:r>
            <a:endParaRPr sz="2000" b="1" i="0">
              <a:solidFill>
                <a:schemeClr val="tx1"/>
              </a:solidFill>
              <a:latin typeface="Times New Roman" panose="02020603050405020304" charset="0"/>
              <a:cs typeface="Times New Roman" panose="02020603050405020304" charset="0"/>
            </a:endParaRPr>
          </a:p>
        </p:txBody>
      </p:sp>
      <p:sp>
        <p:nvSpPr>
          <p:cNvPr id="11" name="Rounded Rectangle 10"/>
          <p:cNvSpPr/>
          <p:nvPr/>
        </p:nvSpPr>
        <p:spPr>
          <a:xfrm>
            <a:off x="4937760" y="2468880"/>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12" name="TextBox 11"/>
          <p:cNvSpPr txBox="1"/>
          <p:nvPr/>
        </p:nvSpPr>
        <p:spPr>
          <a:xfrm>
            <a:off x="4937760" y="2430844"/>
            <a:ext cx="1463040" cy="423545"/>
          </a:xfrm>
          <a:prstGeom prst="rect">
            <a:avLst/>
          </a:prstGeom>
          <a:solidFill>
            <a:schemeClr val="accent3">
              <a:lumMod val="40000"/>
              <a:lumOff val="60000"/>
            </a:schemeClr>
          </a:solidFill>
        </p:spPr>
        <p:txBody>
          <a:bodyPr wrap="square" lIns="45720" tIns="27432" rIns="45720" bIns="27432" anchor="ctr">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Achieved</a:t>
            </a:r>
            <a:endParaRPr sz="1600" b="1" i="0">
              <a:solidFill>
                <a:schemeClr val="tx1"/>
              </a:solidFill>
              <a:latin typeface="Times New Roman" panose="02020603050405020304" charset="0"/>
              <a:cs typeface="Times New Roman" panose="02020603050405020304" charset="0"/>
            </a:endParaRPr>
          </a:p>
        </p:txBody>
      </p:sp>
      <p:sp>
        <p:nvSpPr>
          <p:cNvPr id="13" name="TextBox 12"/>
          <p:cNvSpPr txBox="1"/>
          <p:nvPr/>
        </p:nvSpPr>
        <p:spPr>
          <a:xfrm>
            <a:off x="731520" y="3047429"/>
            <a:ext cx="4206240" cy="516255"/>
          </a:xfrm>
          <a:prstGeom prst="rect">
            <a:avLst/>
          </a:prstGeom>
          <a:noFill/>
        </p:spPr>
        <p:txBody>
          <a:bodyPr wrap="square" lIns="45720" tIns="27432" rIns="45720" bIns="27432" anchor="ctr">
            <a:spAutoFit/>
          </a:bodyPr>
          <a:lstStyle/>
          <a:p>
            <a:pPr algn="l">
              <a:lnSpc>
                <a:spcPct val="150000"/>
              </a:lnSpc>
              <a:spcAft>
                <a:spcPts val="600"/>
              </a:spcAft>
            </a:pPr>
            <a:r>
              <a:rPr sz="2000" b="1" i="0">
                <a:solidFill>
                  <a:schemeClr val="tx1"/>
                </a:solidFill>
                <a:latin typeface="Times New Roman" panose="02020603050405020304" charset="0"/>
                <a:cs typeface="Times New Roman" panose="02020603050405020304" charset="0"/>
              </a:rPr>
              <a:t>3. Tamper-evident trust score</a:t>
            </a:r>
            <a:endParaRPr sz="2000" b="1" i="0">
              <a:solidFill>
                <a:schemeClr val="tx1"/>
              </a:solidFill>
              <a:latin typeface="Times New Roman" panose="02020603050405020304" charset="0"/>
              <a:cs typeface="Times New Roman" panose="02020603050405020304" charset="0"/>
            </a:endParaRPr>
          </a:p>
        </p:txBody>
      </p:sp>
      <p:sp>
        <p:nvSpPr>
          <p:cNvPr id="14" name="Rounded Rectangle 13"/>
          <p:cNvSpPr/>
          <p:nvPr/>
        </p:nvSpPr>
        <p:spPr>
          <a:xfrm>
            <a:off x="4937760" y="3127248"/>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15" name="TextBox 14"/>
          <p:cNvSpPr txBox="1"/>
          <p:nvPr/>
        </p:nvSpPr>
        <p:spPr>
          <a:xfrm>
            <a:off x="4937760" y="3089212"/>
            <a:ext cx="1463040" cy="423545"/>
          </a:xfrm>
          <a:prstGeom prst="rect">
            <a:avLst/>
          </a:prstGeom>
          <a:solidFill>
            <a:schemeClr val="accent3">
              <a:lumMod val="40000"/>
              <a:lumOff val="60000"/>
            </a:schemeClr>
          </a:solidFill>
        </p:spPr>
        <p:txBody>
          <a:bodyPr wrap="square" lIns="45720" tIns="27432" rIns="45720" bIns="27432" anchor="ctr">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Achieved</a:t>
            </a:r>
            <a:endParaRPr sz="1600" b="1" i="0">
              <a:solidFill>
                <a:schemeClr val="tx1"/>
              </a:solidFill>
              <a:latin typeface="Times New Roman" panose="02020603050405020304" charset="0"/>
              <a:cs typeface="Times New Roman" panose="02020603050405020304" charset="0"/>
            </a:endParaRPr>
          </a:p>
        </p:txBody>
      </p:sp>
      <p:sp>
        <p:nvSpPr>
          <p:cNvPr id="16" name="TextBox 15"/>
          <p:cNvSpPr txBox="1"/>
          <p:nvPr/>
        </p:nvSpPr>
        <p:spPr>
          <a:xfrm>
            <a:off x="731520" y="3705797"/>
            <a:ext cx="4206240" cy="516255"/>
          </a:xfrm>
          <a:prstGeom prst="rect">
            <a:avLst/>
          </a:prstGeom>
          <a:noFill/>
        </p:spPr>
        <p:txBody>
          <a:bodyPr wrap="square" lIns="45720" tIns="27432" rIns="45720" bIns="27432" anchor="ctr">
            <a:spAutoFit/>
          </a:bodyPr>
          <a:lstStyle/>
          <a:p>
            <a:pPr algn="l">
              <a:lnSpc>
                <a:spcPct val="150000"/>
              </a:lnSpc>
              <a:spcAft>
                <a:spcPts val="600"/>
              </a:spcAft>
            </a:pPr>
            <a:r>
              <a:rPr sz="2000" b="1" i="0">
                <a:solidFill>
                  <a:schemeClr val="tx1"/>
                </a:solidFill>
                <a:latin typeface="Times New Roman" panose="02020603050405020304" charset="0"/>
                <a:cs typeface="Times New Roman" panose="02020603050405020304" charset="0"/>
              </a:rPr>
              <a:t>4. Messaging and offline support</a:t>
            </a:r>
            <a:endParaRPr sz="2000" b="1" i="0">
              <a:solidFill>
                <a:schemeClr val="tx1"/>
              </a:solidFill>
              <a:latin typeface="Times New Roman" panose="02020603050405020304" charset="0"/>
              <a:cs typeface="Times New Roman" panose="02020603050405020304" charset="0"/>
            </a:endParaRPr>
          </a:p>
        </p:txBody>
      </p:sp>
      <p:sp>
        <p:nvSpPr>
          <p:cNvPr id="17" name="Rounded Rectangle 16"/>
          <p:cNvSpPr/>
          <p:nvPr/>
        </p:nvSpPr>
        <p:spPr>
          <a:xfrm>
            <a:off x="4937760" y="3785616"/>
            <a:ext cx="1463040" cy="347472"/>
          </a:xfrm>
          <a:prstGeom prst="roundRect">
            <a:avLst>
              <a:gd name="adj" fmla="val 50000"/>
            </a:avLst>
          </a:prstGeom>
          <a:solidFill>
            <a:srgbClr val="E3F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18" name="TextBox 17"/>
          <p:cNvSpPr txBox="1"/>
          <p:nvPr/>
        </p:nvSpPr>
        <p:spPr>
          <a:xfrm>
            <a:off x="4937760" y="3747580"/>
            <a:ext cx="1463040" cy="423545"/>
          </a:xfrm>
          <a:prstGeom prst="rect">
            <a:avLst/>
          </a:prstGeom>
          <a:solidFill>
            <a:schemeClr val="accent3">
              <a:lumMod val="40000"/>
              <a:lumOff val="60000"/>
            </a:schemeClr>
          </a:solidFill>
        </p:spPr>
        <p:txBody>
          <a:bodyPr wrap="square" lIns="45720" tIns="27432" rIns="45720" bIns="27432" anchor="ctr">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Achieved</a:t>
            </a:r>
            <a:endParaRPr sz="1600" b="1" i="0">
              <a:solidFill>
                <a:schemeClr val="tx1"/>
              </a:solidFill>
              <a:latin typeface="Times New Roman" panose="02020603050405020304" charset="0"/>
              <a:cs typeface="Times New Roman" panose="02020603050405020304" charset="0"/>
            </a:endParaRPr>
          </a:p>
        </p:txBody>
      </p:sp>
      <p:sp>
        <p:nvSpPr>
          <p:cNvPr id="19" name="TextBox 18"/>
          <p:cNvSpPr txBox="1"/>
          <p:nvPr/>
        </p:nvSpPr>
        <p:spPr>
          <a:xfrm>
            <a:off x="731520" y="4364164"/>
            <a:ext cx="4206240" cy="516255"/>
          </a:xfrm>
          <a:prstGeom prst="rect">
            <a:avLst/>
          </a:prstGeom>
          <a:noFill/>
        </p:spPr>
        <p:txBody>
          <a:bodyPr wrap="square" lIns="45720" tIns="27432" rIns="45720" bIns="27432" anchor="ctr">
            <a:spAutoFit/>
          </a:bodyPr>
          <a:lstStyle/>
          <a:p>
            <a:pPr algn="l">
              <a:lnSpc>
                <a:spcPct val="150000"/>
              </a:lnSpc>
              <a:spcAft>
                <a:spcPts val="600"/>
              </a:spcAft>
            </a:pPr>
            <a:r>
              <a:rPr sz="2000" b="1" i="0">
                <a:solidFill>
                  <a:schemeClr val="tx1"/>
                </a:solidFill>
                <a:latin typeface="Times New Roman" panose="02020603050405020304" charset="0"/>
                <a:cs typeface="Times New Roman" panose="02020603050405020304" charset="0"/>
              </a:rPr>
              <a:t>5. Evaluation (user study pending)</a:t>
            </a:r>
            <a:endParaRPr sz="2000" b="1" i="0">
              <a:solidFill>
                <a:schemeClr val="tx1"/>
              </a:solidFill>
              <a:latin typeface="Times New Roman" panose="02020603050405020304" charset="0"/>
              <a:cs typeface="Times New Roman" panose="02020603050405020304" charset="0"/>
            </a:endParaRPr>
          </a:p>
        </p:txBody>
      </p:sp>
      <p:sp>
        <p:nvSpPr>
          <p:cNvPr id="20" name="Rounded Rectangle 19"/>
          <p:cNvSpPr/>
          <p:nvPr/>
        </p:nvSpPr>
        <p:spPr>
          <a:xfrm>
            <a:off x="4937760" y="4443983"/>
            <a:ext cx="1463040" cy="347472"/>
          </a:xfrm>
          <a:prstGeom prst="roundRect">
            <a:avLst>
              <a:gd name="adj" fmla="val 50000"/>
            </a:avLst>
          </a:prstGeom>
          <a:solidFill>
            <a:srgbClr val="FD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21" name="TextBox 20"/>
          <p:cNvSpPr txBox="1"/>
          <p:nvPr/>
        </p:nvSpPr>
        <p:spPr>
          <a:xfrm>
            <a:off x="4937760" y="4405947"/>
            <a:ext cx="1463040" cy="423545"/>
          </a:xfrm>
          <a:prstGeom prst="rect">
            <a:avLst/>
          </a:prstGeom>
          <a:solidFill>
            <a:schemeClr val="accent3">
              <a:lumMod val="40000"/>
              <a:lumOff val="60000"/>
            </a:schemeClr>
          </a:solidFill>
        </p:spPr>
        <p:txBody>
          <a:bodyPr wrap="square" lIns="45720" tIns="27432" rIns="45720" bIns="27432" anchor="ctr">
            <a:spAutoFit/>
          </a:bodyPr>
          <a:lstStyle/>
          <a:p>
            <a:pPr algn="ctr">
              <a:lnSpc>
                <a:spcPct val="150000"/>
              </a:lnSpc>
              <a:spcAft>
                <a:spcPts val="0"/>
              </a:spcAft>
            </a:pPr>
            <a:r>
              <a:rPr sz="1600" b="1" i="0">
                <a:solidFill>
                  <a:schemeClr val="tx1"/>
                </a:solidFill>
                <a:latin typeface="Times New Roman" panose="02020603050405020304" charset="0"/>
                <a:cs typeface="Times New Roman" panose="02020603050405020304" charset="0"/>
              </a:rPr>
              <a:t>Partly</a:t>
            </a:r>
            <a:endParaRPr sz="1600" b="1" i="0">
              <a:solidFill>
                <a:schemeClr val="tx1"/>
              </a:solidFill>
              <a:latin typeface="Times New Roman" panose="02020603050405020304" charset="0"/>
              <a:cs typeface="Times New Roman" panose="02020603050405020304" charset="0"/>
            </a:endParaRPr>
          </a:p>
        </p:txBody>
      </p:sp>
      <p:sp>
        <p:nvSpPr>
          <p:cNvPr id="22" name="Rounded Rectangle 21"/>
          <p:cNvSpPr/>
          <p:nvPr/>
        </p:nvSpPr>
        <p:spPr>
          <a:xfrm>
            <a:off x="6949440" y="1188720"/>
            <a:ext cx="4572000" cy="361188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23" name="TextBox 22"/>
          <p:cNvSpPr txBox="1"/>
          <p:nvPr/>
        </p:nvSpPr>
        <p:spPr>
          <a:xfrm>
            <a:off x="7132320" y="1325880"/>
            <a:ext cx="4206240" cy="608330"/>
          </a:xfrm>
          <a:prstGeom prst="rect">
            <a:avLst/>
          </a:prstGeom>
          <a:noFill/>
        </p:spPr>
        <p:txBody>
          <a:bodyPr wrap="square" lIns="45720" tIns="27432" rIns="45720" bIns="27432" anchor="t">
            <a:spAutoFit/>
          </a:bodyPr>
          <a:lstStyle/>
          <a:p>
            <a:pPr algn="l">
              <a:lnSpc>
                <a:spcPct val="150000"/>
              </a:lnSpc>
              <a:spcAft>
                <a:spcPts val="600"/>
              </a:spcAft>
            </a:pPr>
            <a:r>
              <a:rPr sz="2400" b="1" i="0">
                <a:solidFill>
                  <a:schemeClr val="tx1"/>
                </a:solidFill>
                <a:latin typeface="Times New Roman" panose="02020603050405020304" charset="0"/>
                <a:cs typeface="Times New Roman" panose="02020603050405020304" charset="0"/>
              </a:rPr>
              <a:t>Next steps</a:t>
            </a:r>
            <a:endParaRPr sz="2400" b="1" i="0">
              <a:solidFill>
                <a:schemeClr val="tx1"/>
              </a:solidFill>
              <a:latin typeface="Times New Roman" panose="02020603050405020304" charset="0"/>
              <a:cs typeface="Times New Roman" panose="02020603050405020304" charset="0"/>
            </a:endParaRPr>
          </a:p>
        </p:txBody>
      </p:sp>
      <p:sp>
        <p:nvSpPr>
          <p:cNvPr id="24" name="TextBox 23"/>
          <p:cNvSpPr txBox="1"/>
          <p:nvPr/>
        </p:nvSpPr>
        <p:spPr>
          <a:xfrm>
            <a:off x="7132320" y="1783080"/>
            <a:ext cx="4206240" cy="2324100"/>
          </a:xfrm>
          <a:prstGeom prst="rect">
            <a:avLst/>
          </a:prstGeom>
          <a:noFill/>
        </p:spPr>
        <p:txBody>
          <a:bodyPr wrap="square" lIns="45720" tIns="27432" rIns="45720" bIns="27432" anchor="t">
            <a:spAutoFit/>
          </a:bodyPr>
          <a:lstStyle/>
          <a:p>
            <a:pPr algn="l">
              <a:lnSpc>
                <a:spcPct val="150000"/>
              </a:lnSpc>
              <a:spcAft>
                <a:spcPts val="500"/>
              </a:spcAft>
            </a:pPr>
            <a:r>
              <a:rPr b="1" i="0">
                <a:solidFill>
                  <a:schemeClr val="tx1"/>
                </a:solidFill>
                <a:latin typeface="Times New Roman" panose="02020603050405020304" charset="0"/>
                <a:cs typeface="Times New Roman" panose="02020603050405020304" charset="0"/>
              </a:rPr>
              <a:t>1. Usability study with sellers and buyers</a:t>
            </a:r>
            <a:endParaRPr b="1" i="0">
              <a:solidFill>
                <a:schemeClr val="tx1"/>
              </a:solidFill>
              <a:latin typeface="Times New Roman" panose="02020603050405020304" charset="0"/>
              <a:cs typeface="Times New Roman" panose="02020603050405020304" charset="0"/>
            </a:endParaRPr>
          </a:p>
          <a:p>
            <a:pPr algn="l">
              <a:lnSpc>
                <a:spcPct val="150000"/>
              </a:lnSpc>
              <a:spcAft>
                <a:spcPts val="500"/>
              </a:spcAft>
            </a:pPr>
            <a:r>
              <a:rPr b="1" i="0">
                <a:solidFill>
                  <a:schemeClr val="tx1"/>
                </a:solidFill>
                <a:latin typeface="Times New Roman" panose="02020603050405020304" charset="0"/>
                <a:cs typeface="Times New Roman" panose="02020603050405020304" charset="0"/>
              </a:rPr>
              <a:t>2. Switch on real SMS (Africa's Talking)</a:t>
            </a:r>
            <a:endParaRPr b="1" i="0">
              <a:solidFill>
                <a:schemeClr val="tx1"/>
              </a:solidFill>
              <a:latin typeface="Times New Roman" panose="02020603050405020304" charset="0"/>
              <a:cs typeface="Times New Roman" panose="02020603050405020304" charset="0"/>
            </a:endParaRPr>
          </a:p>
          <a:p>
            <a:pPr algn="l">
              <a:lnSpc>
                <a:spcPct val="150000"/>
              </a:lnSpc>
              <a:spcAft>
                <a:spcPts val="500"/>
              </a:spcAft>
            </a:pPr>
            <a:r>
              <a:rPr b="1" i="0">
                <a:solidFill>
                  <a:schemeClr val="tx1"/>
                </a:solidFill>
                <a:latin typeface="Times New Roman" panose="02020603050405020304" charset="0"/>
                <a:cs typeface="Times New Roman" panose="02020603050405020304" charset="0"/>
              </a:rPr>
              <a:t>3. Anchor the latest hash outside the database</a:t>
            </a:r>
            <a:endParaRPr b="1" i="0">
              <a:solidFill>
                <a:schemeClr val="tx1"/>
              </a:solidFill>
              <a:latin typeface="Times New Roman" panose="02020603050405020304" charset="0"/>
              <a:cs typeface="Times New Roman" panose="02020603050405020304" charset="0"/>
            </a:endParaRPr>
          </a:p>
          <a:p>
            <a:pPr algn="l">
              <a:lnSpc>
                <a:spcPct val="150000"/>
              </a:lnSpc>
              <a:spcAft>
                <a:spcPts val="500"/>
              </a:spcAft>
            </a:pPr>
            <a:r>
              <a:rPr b="1" i="0">
                <a:solidFill>
                  <a:schemeClr val="tx1"/>
                </a:solidFill>
                <a:latin typeface="Times New Roman" panose="02020603050405020304" charset="0"/>
                <a:cs typeface="Times New Roman" panose="02020603050405020304" charset="0"/>
              </a:rPr>
              <a:t>4. Nyanja and Bemba voice input</a:t>
            </a:r>
            <a:endParaRPr b="1" i="0">
              <a:solidFill>
                <a:schemeClr val="tx1"/>
              </a:solidFill>
              <a:latin typeface="Times New Roman" panose="02020603050405020304" charset="0"/>
              <a:cs typeface="Times New Roman" panose="02020603050405020304" charset="0"/>
            </a:endParaRPr>
          </a:p>
        </p:txBody>
      </p:sp>
      <p:sp>
        <p:nvSpPr>
          <p:cNvPr id="25" name="Rounded Rectangle 24"/>
          <p:cNvSpPr/>
          <p:nvPr/>
        </p:nvSpPr>
        <p:spPr>
          <a:xfrm>
            <a:off x="731520" y="5074920"/>
            <a:ext cx="10789920" cy="96012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solidFill>
                <a:schemeClr val="tx1"/>
              </a:solidFill>
              <a:latin typeface="Times New Roman" panose="02020603050405020304" charset="0"/>
              <a:cs typeface="Times New Roman" panose="02020603050405020304" charset="0"/>
            </a:endParaRPr>
          </a:p>
        </p:txBody>
      </p:sp>
      <p:sp>
        <p:nvSpPr>
          <p:cNvPr id="26" name="TextBox 25"/>
          <p:cNvSpPr txBox="1"/>
          <p:nvPr/>
        </p:nvSpPr>
        <p:spPr>
          <a:xfrm>
            <a:off x="960120" y="5066030"/>
            <a:ext cx="10332720" cy="977900"/>
          </a:xfrm>
          <a:prstGeom prst="rect">
            <a:avLst/>
          </a:prstGeom>
          <a:solidFill>
            <a:schemeClr val="accent3">
              <a:lumMod val="40000"/>
              <a:lumOff val="60000"/>
            </a:schemeClr>
          </a:solidFill>
        </p:spPr>
        <p:txBody>
          <a:bodyPr wrap="square" lIns="45720" tIns="27432" rIns="45720" bIns="27432" anchor="ctr">
            <a:spAutoFit/>
          </a:bodyPr>
          <a:lstStyle/>
          <a:p>
            <a:pPr algn="ctr">
              <a:lnSpc>
                <a:spcPct val="150000"/>
              </a:lnSpc>
              <a:spcAft>
                <a:spcPts val="600"/>
              </a:spcAft>
            </a:pPr>
            <a:r>
              <a:rPr sz="2000" b="1" i="0">
                <a:solidFill>
                  <a:schemeClr val="tx1"/>
                </a:solidFill>
                <a:latin typeface="Times New Roman" panose="02020603050405020304" charset="0"/>
                <a:cs typeface="Times New Roman" panose="02020603050405020304" charset="0"/>
              </a:rPr>
              <a:t>Verifiable trust for cash traders is possible without online payment, and ZamMarket is live at zam-market-khaki.vercel.app.</a:t>
            </a:r>
            <a:endParaRPr sz="2000"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50000">
              <a:schemeClr val="accent3"/>
            </a:gs>
            <a:gs pos="0">
              <a:schemeClr val="accent3">
                <a:lumMod val="25000"/>
                <a:lumOff val="75000"/>
              </a:schemeClr>
            </a:gs>
            <a:gs pos="100000">
              <a:schemeClr val="accent3">
                <a:lumMod val="85000"/>
              </a:schemeClr>
            </a:gs>
          </a:gsLst>
          <a:lin ang="5400000" scaled="1"/>
        </a:gradFill>
        <a:effectLst/>
      </p:bgPr>
    </p:bg>
    <p:spTree>
      <p:nvGrpSpPr>
        <p:cNvPr id="1" name=""/>
        <p:cNvGrpSpPr/>
        <p:nvPr/>
      </p:nvGrpSpPr>
      <p:grpSpPr>
        <a:xfrm>
          <a:off x="0" y="0"/>
          <a:ext cx="0" cy="0"/>
          <a:chOff x="0" y="0"/>
          <a:chExt cx="0" cy="0"/>
        </a:xfrm>
      </p:grpSpPr>
      <p:sp>
        <p:nvSpPr>
          <p:cNvPr id="2" name="TextBox 1"/>
          <p:cNvSpPr txBox="1"/>
          <p:nvPr/>
        </p:nvSpPr>
        <p:spPr>
          <a:xfrm>
            <a:off x="3237548" y="320040"/>
            <a:ext cx="5686425" cy="1014730"/>
          </a:xfrm>
          <a:prstGeom prst="rect">
            <a:avLst/>
          </a:prstGeom>
          <a:noFill/>
        </p:spPr>
        <p:txBody>
          <a:bodyPr wrap="none">
            <a:spAutoFit/>
          </a:bodyPr>
          <a:lstStyle/>
          <a:p>
            <a:pPr algn="ctr">
              <a:lnSpc>
                <a:spcPct val="150000"/>
              </a:lnSpc>
              <a:defRPr sz="2800" b="1">
                <a:solidFill>
                  <a:srgbClr val="192D4B"/>
                </a:solidFill>
              </a:defRPr>
            </a:pPr>
            <a:r>
              <a:rPr sz="4000">
                <a:latin typeface="Times New Roman" panose="02020603050405020304" charset="0"/>
                <a:cs typeface="Times New Roman" panose="02020603050405020304" charset="0"/>
              </a:rPr>
              <a:t>Questions and Discussion</a:t>
            </a:r>
            <a:endParaRPr sz="4000">
              <a:latin typeface="Times New Roman" panose="02020603050405020304" charset="0"/>
              <a:cs typeface="Times New Roman" panose="02020603050405020304" charset="0"/>
            </a:endParaRPr>
          </a:p>
        </p:txBody>
      </p:sp>
      <p:sp>
        <p:nvSpPr>
          <p:cNvPr id="4" name="Rectangle 3"/>
          <p:cNvSpPr/>
          <p:nvPr/>
        </p:nvSpPr>
        <p:spPr>
          <a:xfrm>
            <a:off x="0" y="6565392"/>
            <a:ext cx="12191695" cy="292608"/>
          </a:xfrm>
          <a:prstGeom prst="rect">
            <a:avLst/>
          </a:prstGeom>
          <a:solidFill>
            <a:schemeClr val="accent3">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5" name="TextBox 4"/>
          <p:cNvSpPr txBox="1"/>
          <p:nvPr/>
        </p:nvSpPr>
        <p:spPr>
          <a:xfrm>
            <a:off x="320040" y="6574536"/>
            <a:ext cx="2512060" cy="299085"/>
          </a:xfrm>
          <a:prstGeom prst="rect">
            <a:avLst/>
          </a:prstGeom>
          <a:gradFill>
            <a:gsLst>
              <a:gs pos="50000">
                <a:schemeClr val="accent2"/>
              </a:gs>
              <a:gs pos="0">
                <a:schemeClr val="accent2">
                  <a:lumMod val="25000"/>
                  <a:lumOff val="75000"/>
                </a:schemeClr>
              </a:gs>
              <a:gs pos="100000">
                <a:schemeClr val="accent2">
                  <a:lumMod val="85000"/>
                </a:schemeClr>
              </a:gs>
            </a:gsLst>
            <a:lin ang="5400000" scaled="1"/>
          </a:gradFill>
        </p:spPr>
        <p:txBody>
          <a:bodyPr wrap="none">
            <a:spAutoFit/>
          </a:bodyPr>
          <a:lstStyle/>
          <a:p>
            <a:pPr>
              <a:lnSpc>
                <a:spcPct val="150000"/>
              </a:lnSpc>
              <a:defRPr sz="900">
                <a:solidFill>
                  <a:srgbClr val="FFFFFF"/>
                </a:solidFill>
              </a:defRPr>
            </a:pPr>
            <a:r>
              <a:rPr b="1" dirty="0">
                <a:solidFill>
                  <a:schemeClr val="tx1"/>
                </a:solidFill>
                <a:latin typeface="Times New Roman" panose="02020603050405020304" charset="0"/>
                <a:cs typeface="Times New Roman" panose="02020603050405020304" charset="0"/>
              </a:rPr>
              <a:t>Final Year Project • Academic Year 2026       1</a:t>
            </a:r>
            <a:r>
              <a:rPr lang="en-US" b="1" dirty="0">
                <a:solidFill>
                  <a:schemeClr val="tx1"/>
                </a:solidFill>
                <a:latin typeface="Times New Roman" panose="02020603050405020304" charset="0"/>
                <a:cs typeface="Times New Roman" panose="02020603050405020304" charset="0"/>
              </a:rPr>
              <a:t>6</a:t>
            </a:r>
            <a:endParaRPr lang="en-US" b="1" dirty="0">
              <a:solidFill>
                <a:schemeClr val="tx1"/>
              </a:solidFill>
              <a:latin typeface="Times New Roman" panose="02020603050405020304" charset="0"/>
              <a:cs typeface="Times New Roman" panose="02020603050405020304" charset="0"/>
            </a:endParaRPr>
          </a:p>
        </p:txBody>
      </p:sp>
      <p:sp>
        <p:nvSpPr>
          <p:cNvPr id="6" name="Rounded Rectangle 5"/>
          <p:cNvSpPr/>
          <p:nvPr/>
        </p:nvSpPr>
        <p:spPr>
          <a:xfrm>
            <a:off x="2011680" y="1463040"/>
            <a:ext cx="8138160" cy="4206240"/>
          </a:xfrm>
          <a:prstGeom prst="roundRect">
            <a:avLst>
              <a:gd name="adj" fmla="val 8000"/>
            </a:avLst>
          </a:prstGeom>
          <a:solidFill>
            <a:schemeClr val="accent3">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50000"/>
              </a:lnSpc>
            </a:pPr>
            <a:endParaRPr>
              <a:latin typeface="Times New Roman" panose="02020603050405020304" charset="0"/>
              <a:cs typeface="Times New Roman" panose="02020603050405020304" charset="0"/>
            </a:endParaRPr>
          </a:p>
        </p:txBody>
      </p:sp>
      <p:sp>
        <p:nvSpPr>
          <p:cNvPr id="7" name="TextBox 6"/>
          <p:cNvSpPr txBox="1"/>
          <p:nvPr/>
        </p:nvSpPr>
        <p:spPr>
          <a:xfrm>
            <a:off x="2199640" y="3040380"/>
            <a:ext cx="8138160" cy="1162050"/>
          </a:xfrm>
          <a:prstGeom prst="rect">
            <a:avLst/>
          </a:prstGeom>
          <a:noFill/>
        </p:spPr>
        <p:txBody>
          <a:bodyPr wrap="square" lIns="45720" tIns="27432" rIns="45720" bIns="27432" anchor="t">
            <a:spAutoFit/>
          </a:bodyPr>
          <a:lstStyle/>
          <a:p>
            <a:pPr algn="ctr">
              <a:lnSpc>
                <a:spcPct val="150000"/>
              </a:lnSpc>
              <a:spcAft>
                <a:spcPts val="600"/>
              </a:spcAft>
            </a:pPr>
            <a:r>
              <a:rPr sz="4800" b="1" i="0">
                <a:solidFill>
                  <a:schemeClr val="tx1"/>
                </a:solidFill>
                <a:latin typeface="Times New Roman" panose="02020603050405020304" charset="0"/>
                <a:cs typeface="Times New Roman" panose="02020603050405020304" charset="0"/>
              </a:rPr>
              <a:t>Thank you</a:t>
            </a:r>
            <a:endParaRPr sz="4800" b="1" i="0">
              <a:solidFill>
                <a:schemeClr val="tx1"/>
              </a:solidFill>
              <a:latin typeface="Times New Roman" panose="02020603050405020304" charset="0"/>
              <a:cs typeface="Times New Roman" panose="02020603050405020304" charset="0"/>
            </a:endParaRPr>
          </a:p>
        </p:txBody>
      </p:sp>
      <p:sp>
        <p:nvSpPr>
          <p:cNvPr id="10" name="TextBox 9"/>
          <p:cNvSpPr txBox="1"/>
          <p:nvPr/>
        </p:nvSpPr>
        <p:spPr>
          <a:xfrm>
            <a:off x="2377440" y="4343400"/>
            <a:ext cx="7406640" cy="423545"/>
          </a:xfrm>
          <a:prstGeom prst="rect">
            <a:avLst/>
          </a:prstGeom>
          <a:noFill/>
        </p:spPr>
        <p:txBody>
          <a:bodyPr wrap="square" lIns="45720" tIns="27432" rIns="45720" bIns="27432" anchor="t">
            <a:spAutoFit/>
          </a:bodyPr>
          <a:lstStyle/>
          <a:p>
            <a:pPr algn="ctr">
              <a:lnSpc>
                <a:spcPct val="150000"/>
              </a:lnSpc>
              <a:spcAft>
                <a:spcPts val="600"/>
              </a:spcAft>
            </a:pPr>
            <a:r>
              <a:rPr sz="1600" b="0" i="0">
                <a:solidFill>
                  <a:srgbClr val="CFDAEA"/>
                </a:solidFill>
                <a:latin typeface="Times New Roman" panose="02020603050405020304" charset="0"/>
                <a:cs typeface="Times New Roman" panose="02020603050405020304" charset="0"/>
              </a:rPr>
              <a:t>zam-market-khaki.vercel.app · github.com/john-chola/ZamMarket</a:t>
            </a:r>
            <a:endParaRPr sz="1600" b="0" i="0">
              <a:solidFill>
                <a:srgbClr val="CFDAEA"/>
              </a:solidFill>
              <a:latin typeface="Times New Roman" panose="02020603050405020304" charset="0"/>
              <a:cs typeface="Times New Roman" panose="02020603050405020304" charset="0"/>
            </a:endParaRPr>
          </a:p>
        </p:txBody>
      </p:sp>
      <p:sp>
        <p:nvSpPr>
          <p:cNvPr id="11" name="TextBox 10"/>
          <p:cNvSpPr txBox="1"/>
          <p:nvPr/>
        </p:nvSpPr>
        <p:spPr>
          <a:xfrm>
            <a:off x="2199640" y="4202430"/>
            <a:ext cx="8138160" cy="793115"/>
          </a:xfrm>
          <a:prstGeom prst="rect">
            <a:avLst/>
          </a:prstGeom>
          <a:noFill/>
        </p:spPr>
        <p:txBody>
          <a:bodyPr wrap="square" lIns="45720" tIns="27432" rIns="45720" bIns="27432" anchor="t">
            <a:spAutoFit/>
          </a:bodyPr>
          <a:lstStyle/>
          <a:p>
            <a:pPr algn="ctr">
              <a:lnSpc>
                <a:spcPct val="150000"/>
              </a:lnSpc>
              <a:spcAft>
                <a:spcPts val="600"/>
              </a:spcAft>
            </a:pPr>
            <a:r>
              <a:rPr sz="3200" b="1" i="0">
                <a:solidFill>
                  <a:schemeClr val="tx1"/>
                </a:solidFill>
                <a:latin typeface="Times New Roman" panose="02020603050405020304" charset="0"/>
                <a:cs typeface="Times New Roman" panose="02020603050405020304" charset="0"/>
              </a:rPr>
              <a:t>Questions?</a:t>
            </a:r>
            <a:endParaRPr sz="3200" b="1" i="0">
              <a:solidFill>
                <a:schemeClr val="tx1"/>
              </a:solidFill>
              <a:latin typeface="Times New Roman" panose="02020603050405020304" charset="0"/>
              <a:cs typeface="Times New Roman" panose="0202060305040502030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8049</Words>
  <Application>WPS Presentation</Application>
  <PresentationFormat>Widescreen</PresentationFormat>
  <Paragraphs>420</Paragraphs>
  <Slides>16</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16</vt:i4>
      </vt:variant>
    </vt:vector>
  </HeadingPairs>
  <TitlesOfParts>
    <vt:vector size="26" baseType="lpstr">
      <vt:lpstr>Arial</vt:lpstr>
      <vt:lpstr>SimSun</vt:lpstr>
      <vt:lpstr>Wingdings</vt:lpstr>
      <vt:lpstr>Arial</vt:lpstr>
      <vt:lpstr>Times New Roman</vt:lpstr>
      <vt:lpstr>Calibri</vt:lpstr>
      <vt:lpstr>Microsoft YaHei</vt:lpstr>
      <vt:lpstr>Arial Unicode MS</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John Chola</cp:lastModifiedBy>
  <cp:revision>23</cp:revision>
  <dcterms:created xsi:type="dcterms:W3CDTF">2013-01-27T09:14:00Z</dcterms:created>
  <dcterms:modified xsi:type="dcterms:W3CDTF">2026-10-15T20:24:36Z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1033-12.1.0.29162</vt:lpwstr>
  </property>
  <property fmtid="{D5CDD505-2E9C-101B-9397-08002B2CF9AE}" pid="3" name="ICV">
    <vt:lpwstr>499C5DE6BD294A6FA5BF97FE90059203_12</vt:lpwstr>
  </property>
</Properties>
</file>