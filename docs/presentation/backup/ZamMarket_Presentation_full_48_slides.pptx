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3" r:id="rId38"/>
    <p:sldId id="295" r:id="rId40"/>
    <p:sldId id="296" r:id="rId41"/>
    <p:sldId id="297" r:id="rId42"/>
    <p:sldId id="298" r:id="rId43"/>
    <p:sldId id="299" r:id="rId44"/>
    <p:sldId id="300" r:id="rId45"/>
    <p:sldId id="301" r:id="rId46"/>
    <p:sldId id="302" r:id="rId47"/>
    <p:sldId id="303" r:id="rId48"/>
    <p:sldId id="307" r:id="rId54"/>
    <p:sldId id="308" r:id="rId55"/>
    <p:sldId id="306"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notesMaster" Target="notesMasters/notesMaster1.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8.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54" Type="http://schemas.openxmlformats.org/officeDocument/2006/relationships/slide" Target="slides/slide46.xml"/><Relationship Id="rId55"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name is John Chola, computer number 2021422054, and my supervisor is Mr. Martin Phiri. My project is ZamMarket: a mobile web app that helps people in Lusaka find charcoal sellers near them, and gives every seller a trust score that cannot be quietly edited.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an individual project, so I did all of the work myself, under Mr. Phiri's supervision. In numbers: four agile sprints plus a stabilisation period, eight modules, and 86 automated tests that all pass. It is live at zam-market-khaki.vercel.app. The app covers twenty-four Lusaka-area places.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follow the structure of the report, and finish with a live demonstration of the system.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Charcoal is the most common cooking fuel in urban Zambia: an IAPRI study found 44 percent of urban households cook mainly with charcoal alone, and another 38 percent mix it with electricity. Almost all of it is sold informally, in cash. Buyers find sellers by walking and asking. Phones are everywhere, but data is expensive and unreliable.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Sellers can only reach passers-by and have no way to prove they are reliable. Buyers cannot find nearby sellers or judge a stranger. WhatsApp and Facebook help with discovery but keep no record a buyer can check. Online marketplaces build trust through escrow payments, which informal cash traders do not use. So the problem is the missing combination: local discovery, verifiable trust, cash trading and poor connectivity.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aim in one sentence. 'Tamper-evident' is the key term: it means that if anyone changes a seller's history, the system can tell.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objectives. Note objective 2: my proposal also promised Nyanja and Bemba. During development I found that no browser offers speech recognition for those languages, so I narrowed it to English. I will come back to this under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scope on the left, out of scope on the right. The most important boundary: ZamMarket does not handle money. Buyer and seller still meet and pay cash; the app handles discovery, communication and trust.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technical foundations. A progressive web app behaves like an installed app and keeps working offline. The Web Speech API turns speech into text in the browser. And a hash chain links records by their hashes, so changing one breaks all the links after it. That is the idea behind blockchains, without the network.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reviewed four platforms. TreeMarket is closest in spirit: local, meet in person, but it has no trust mechanism. Kaymu had ratings and escrow, but escrow needs online payment, and Kaymu has since been absorbed into Jumia. I based this on public descriptions, not on testing the apps myself.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gap in one picture. Each platform covers part of the problem; none covers all four columns. ZamMarket covers all four: browsing, messages and even new listings with photos keep working offline and are sent when the connection returns.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chose agile over waterfall because I could not know everything up front. The best example is voice input: only by building a prototype did I discover that browsers cannot recognise Nyanja or Bemba. Each sprint produced a working increment that I tested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ran in four sprints, then a long stabilisation period. Sprint 3 was the heart of the project: chat, offline support and the trust chain. The stabilisation period is where the system matured: I rewrote the voice parser, fixed security issues and added automated tests.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language, JavaScript, across the whole system: React for the app, Node and Express for the API, Socket.io for real-time chat, MongoDB for data. For quality I used ESLint, Node's built-in test runner, Playwright for browser checks, and GitHub Actions to run all of it on every push.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Requirements came from observation, the platform review and my proposal. I did not run a formal survey, and I state that as a limitation. On ethics: I collect very little data, mask phone numbers, never store audio, and I note that charcoal trading is licensed in Zambia, which the app does not yet check.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user groups. Sellers want reach and reputation; buyers want to find someone nearby they can trust; administrators keep the marketplace honest. The constraints, cheap phones and expensive data, drove the decision to build a lightweight web app instead of a native app.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functional requirements; these are the key ones. Notice FR8: a rating is only accepted from someone who actually spoke to the seller, once per conversation. The non-functional requirement that matters most is integrity: any change to a trust event must be detectable.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 The phone runs the React app, which can cache data and queue messages offline. It talks to the Express API over REST and to the chat server over WebSockets. Only the server can write to the trust chain, which is stored in MongoDB.</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MongoDB collections. Two design decisions to point out: each trust block is its own document, with a unique index on seller and position so two simultaneous events cannot fork the chain; and the latest hash is also stored on the user, which lets us detect edits to the most recent block.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key screens, mobile-first. Browse has neighbourhood pills and filters. The voice panel shows what was heard, which the seller can correct, and the fields it extracted. Chat shows the 'collected your charcoal?' rating prompt. And the trust page shows the score and whether the chain is valid. These screenshots are from the real app running locally with sample data.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algorithm. Every event becomes a block whose hash covers the previous block's hash. When a profile is viewed, the server re-hashes everything and checks every link, and checks the last block against the hash stored on the seller. If anything was changed, the chain shows as broken. I chose a hash chain over a real blockchain because there is a single operator, so distributed consensus would add cost without benefit.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free tools. I tested mobile behaviour and voice input on an Android phone in Chrome, because that is what most sellers would use.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modules. Most are standard for a marketplace. The two highlighted ones are what make ZamMarket different: voice input, and the trust chain.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details I am proud of. One: a race condition. If two trust events arrived at the same moment, they could both claim the same position and fork the chain; a unique index plus a retry fixes that. Two: early on, every chain looked tampered, because MongoDB adds its own fields; I fixed that by re-hashing exactly what was originally hashed. Three: the voice parser understands spoken numbers.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honest challenges. The most interesting: I found a security hole myself during polishing. Anyone could register as an administrator by sending the word 'admin' to the API. Now sign-up only allows buyer or seller, and administrators are created by a script. Deployment failed twice; I traced it to four causes, fixed all four, and the system is now live.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levels of testing. The unit tests run automatically on every push to GitHub, so a change that breaks the trust chain or the voice parser is caught immediately. Usability testing is planned with the System Usability Scale.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selection of the automated results. All pass. B17 is the important one: editing the most recent block is caught by comparing it with the hash stored on the seller's account.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numbers. Verifying a thousand-block chain takes about three milliseconds, so checking every chain on every view is affordable. The voice parser went from four of six phrases to passing everything. The system is now live, so a Lighthouse audit of the hosted version is the next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upfront: the user study has not been run yet. I have designed it, with the System Usability Scale and a target score of 70, and it is my first recommendation. What I have checked is that every screen works at phone width and that errors are explained clearly.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objectives fully achieved, including offline support: listings created without a connection are saved with their photo and posted automatically on reconnection. Objective 5 is partly achieved until the usability study is done.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this was an individual project, every part of the work is mine, from analysis to testing and documentation. Open-source libraries such as React and Express are acknowledged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finding: you can give informal cash traders a verifiable reputation without online payment and without a real blockchain. Research questions 1 and 3 are answered largely yes; question 2 partly, because of the language limit.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kinds of contribution. Technically, the trust-chain pattern can be reused by any small platform. And a useful research result: browser speech recognition cannot yet handle Zambian languages, which future projects should plan for.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honestly. The biggest is that there has been no user study. The trust chain is tamper-evident, not tamper-proof: someone with full database access could rebuild a whole chain. Anchoring the latest hash outside the database would fix that, and it is in my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project in five lines.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achieved; the fifth is partly achieved, pending the user study.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recommendations, in priority order. The first is about evidence: test it with real users. The second costs a small top-up, because every SMS provider charges per message.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valuable future work is local-language voice input, which needs a speech model trained on Nyanja and Bemba. The design also generalises to other goods traded locally in cash.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short live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SCRIPT (about 4 minutes). Two minutes before: open the Render /api/health link to wake the server, and keep Render Logs open for registration codes. Have two browser windows open before you start: a buyer logged in on one, the seller on the other (or a phone). 1) As buyer: Browse, tap Kanyama, set a price range. 2) As seller: New Listing, Voice, say 'Hardwood charcoal, ten bags, ninety five kwacha each, Kanyama'; show the fields, tap Use This, post. 3) As buyer: open the listing, Message Seller; reply as seller. Turn on airplane mode, send a message and post a listing with a photo; show both waiting (My Listings shows 'Waiting to post'); turn data back on and show both delivered. 4) As buyer: Rate Seller, 5 stars; open the trust page and show the new block. 5) In MongoDB Atlas, edit one trustchains document (change a rating type); refresh the trust page: the score turns into a red 'Record has been altered' warning. 6) As admin: open the Integrity tab; the same seller is flagged and the tab shows a red badge. Undo the edit in Atlas, run the check again and show it clear. Then open the Verify tab and verify a seller; their score rises by 15, and the action appears in the Activity tab. If anything fails, fall back to the screenshots.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 am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Literature review.</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Methodology.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analysis and design.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and results.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22-Sep-26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22-Sep-26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22-Sep-26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22-Sep-26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1417320"/>
            <a:ext cx="10332720" cy="1371600"/>
          </a:xfrm>
          <a:prstGeom prst="rect">
            <a:avLst/>
          </a:prstGeom>
          <a:noFill/>
        </p:spPr>
        <p:txBody>
          <a:bodyPr wrap="none">
            <a:spAutoFit/>
          </a:bodyPr>
          <a:lstStyle/>
          <a:p>
            <a:pPr algn="ctr">
              <a:defRPr sz="4000" b="1">
                <a:solidFill>
                  <a:srgbClr val="FFFFFF"/>
                </a:solidFill>
              </a:defRPr>
            </a:pPr>
            <a:r>
              <a:t>ZamMarket</a:t>
            </a:r>
          </a:p>
        </p:txBody>
      </p:sp>
      <p:sp>
        <p:nvSpPr>
          <p:cNvPr id="3" name="TextBox 2"/>
          <p:cNvSpPr txBox="1"/>
          <p:nvPr/>
        </p:nvSpPr>
        <p:spPr>
          <a:xfrm>
            <a:off x="2926080" y="3611880"/>
            <a:ext cx="6309360" cy="1631216"/>
          </a:xfrm>
          <a:prstGeom prst="rect">
            <a:avLst/>
          </a:prstGeom>
          <a:noFill/>
        </p:spPr>
        <p:txBody>
          <a:bodyPr wrap="none">
            <a:spAutoFit/>
          </a:bodyPr>
          <a:lstStyle/>
          <a:p>
            <a:pPr algn="ctr">
              <a:defRPr sz="2000">
                <a:solidFill>
                  <a:srgbClr val="FFFFFF"/>
                </a:solidFill>
              </a:defRPr>
            </a:pPr>
            <a:r>
              <a:t>Final Year Project Presentation</a:t>
            </a:r>
            <a:endParaRPr lang="en-US" dirty="0"/>
          </a:p>
          <a:p>
            <a:pPr algn="ctr">
              <a:defRPr sz="2000">
                <a:solidFill>
                  <a:srgbClr val="FFFFFF"/>
                </a:solidFill>
              </a:defRPr>
            </a:pPr>
            <a:r>
              <a:t>John Chola · 2021422054</a:t>
            </a:r>
            <a:endParaRPr lang="en-US" dirty="0"/>
          </a:p>
          <a:p>
            <a:pPr algn="ctr">
              <a:defRPr sz="2000">
                <a:solidFill>
                  <a:srgbClr val="FFFFFF"/>
                </a:solidFill>
              </a:defRPr>
            </a:pPr>
            <a:r>
              <a:t>Supervisor: Mr. Martin Phiri</a:t>
            </a:r>
            <a:endParaRPr lang="en-US" dirty="0"/>
          </a:p>
          <a:p>
            <a:pPr algn="ctr">
              <a:defRPr sz="2000">
                <a:solidFill>
                  <a:srgbClr val="FFFFFF"/>
                </a:solidFill>
              </a:defRPr>
            </a:pPr>
            <a:r>
              <a:t>University of Zambia</a:t>
            </a:r>
            <a:endParaRPr lang="en-US" dirty="0"/>
          </a:p>
          <a:p>
            <a:pPr algn="ctr">
              <a:defRPr sz="2000">
                <a:solidFill>
                  <a:srgbClr val="FFFFFF"/>
                </a:solidFill>
              </a:defRPr>
            </a:pPr>
            <a:r>
              <a:t>School of Natural and Applied Sciences</a:t>
            </a:r>
            <a:endParaRPr lang="en-US" dirty="0"/>
          </a:p>
          <a:p>
            <a:pPr algn="ctr">
              <a:defRPr sz="2000">
                <a:solidFill>
                  <a:srgbClr val="FFFFFF"/>
                </a:solidFill>
              </a:defRPr>
            </a:pPr>
            <a:r>
              <a:t>Department of Computing and Informatics</a:t>
            </a:r>
            <a:endParaRPr lang="en-US" dirty="0"/>
          </a:p>
          <a:p>
            <a:pPr algn="ctr">
              <a:defRPr sz="2000">
                <a:solidFill>
                  <a:srgbClr val="FFFFFF"/>
                </a:solidFill>
              </a:defRPr>
            </a:pPr>
            <a:r>
              <a:t>2026</a:t>
            </a:r>
            <a:endParaRPr lang="en-US" dirty="0"/>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a:t>
            </a:r>
          </a:p>
        </p:txBody>
      </p:sp>
      <p:sp>
        <p:nvSpPr>
          <p:cNvPr id="6" name="Subtitle"/>
          <p:cNvSpPr txBox="1"/>
          <p:nvPr/>
        </p:nvSpPr>
        <p:spPr>
          <a:xfrm>
            <a:off x="1097280" y="2514600"/>
            <a:ext cx="9966960" cy="914400"/>
          </a:xfrm>
          <a:prstGeom prst="rect">
            <a:avLst/>
          </a:prstGeom>
          <a:noFill/>
        </p:spPr>
        <p:txBody>
          <a:bodyPr wrap="square" anchor="t" lIns="45720" rIns="45720" tIns="27432" bIns="27432">
            <a:spAutoFit/>
          </a:bodyPr>
          <a:lstStyle/>
          <a:p>
            <a:pPr algn="ctr">
              <a:spcAft>
                <a:spcPts val="600"/>
              </a:spcAft>
            </a:pPr>
            <a:r>
              <a:rPr sz="2200" b="0" i="0">
                <a:solidFill>
                  <a:srgbClr val="CFDAEA"/>
                </a:solidFill>
                <a:latin typeface="Calibri"/>
              </a:rPr>
              <a:t>A Progressive Web App for Local Charcoal Trading in Lusaka with a Tamper-Evident Seller Trust Score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Project Overview</a:t>
            </a:r>
          </a:p>
        </p:txBody>
      </p:sp>
      <p:graphicFrame>
        <p:nvGraphicFramePr>
          <p:cNvPr id="3" name="Table 2"/>
          <p:cNvGraphicFramePr>
            <a:graphicFrameLocks noGrp="1"/>
          </p:cNvGraphicFramePr>
          <p:nvPr/>
        </p:nvGraphicFramePr>
        <p:xfrm>
          <a:off x="731520" y="1234440"/>
          <a:ext cx="10698480" cy="1280160"/>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731520">
                <a:tc>
                  <a:txBody>
                    <a:bodyPr/>
                    <a:lstStyle/>
                    <a:p>
                      <a:pPr>
                        <a:defRPr sz="1400" b="1">
                          <a:solidFill>
                            <a:srgbClr val="FFFFFF"/>
                          </a:solidFill>
                        </a:defRPr>
                      </a:pPr>
                      <a:r>
                        <a:rPr sz="1500"/>
                        <a:t>Member</a:t>
                      </a:r>
                    </a:p>
                  </a:txBody>
                  <a:tcPr>
                    <a:solidFill>
                      <a:srgbClr val="192D4B"/>
                    </a:solidFill>
                  </a:tcPr>
                </a:tc>
                <a:tc>
                  <a:txBody>
                    <a:bodyPr/>
                    <a:lstStyle/>
                    <a:p>
                      <a:pPr>
                        <a:defRPr sz="1400" b="1">
                          <a:solidFill>
                            <a:srgbClr val="FFFFFF"/>
                          </a:solidFill>
                        </a:defRPr>
                      </a:pPr>
                      <a:r>
                        <a:rPr sz="1500"/>
                        <a:t>Computer No.</a:t>
                      </a:r>
                    </a:p>
                  </a:txBody>
                  <a:tcPr>
                    <a:solidFill>
                      <a:srgbClr val="192D4B"/>
                    </a:solidFill>
                  </a:tcPr>
                </a:tc>
                <a:tc>
                  <a:txBody>
                    <a:bodyPr/>
                    <a:lstStyle/>
                    <a:p>
                      <a:pPr>
                        <a:defRPr sz="1400" b="1">
                          <a:solidFill>
                            <a:srgbClr val="FFFFFF"/>
                          </a:solidFill>
                        </a:defRPr>
                      </a:pPr>
                      <a:r>
                        <a:rPr sz="1500"/>
                        <a:t>Primary Role / Responsibilities</a:t>
                      </a:r>
                    </a:p>
                  </a:txBody>
                  <a:tcPr>
                    <a:solidFill>
                      <a:srgbClr val="192D4B"/>
                    </a:solidFill>
                  </a:tcPr>
                </a:tc>
                <a:extLst>
                  <a:ext uri="{0D108BD9-81ED-4DB2-BD59-A6C34878D82A}">
                    <a16:rowId xmlns:a16="http://schemas.microsoft.com/office/drawing/2014/main" val="10000"/>
                  </a:ext>
                </a:extLst>
              </a:tr>
              <a:tr h="731520">
                <a:tc>
                  <a:txBody>
                    <a:bodyPr/>
                    <a:lstStyle/>
                    <a:p>
                      <a:pPr>
                        <a:defRPr sz="1300">
                          <a:solidFill>
                            <a:srgbClr val="232323"/>
                          </a:solidFill>
                        </a:defRPr>
                      </a:pPr>
                      <a:r>
                        <a:rPr sz="1600"/>
                        <a:t>John Chola</a:t>
                      </a:r>
                    </a:p>
                  </a:txBody>
                  <a:tcPr>
                    <a:solidFill>
                      <a:srgbClr val="F2F5F9"/>
                    </a:solidFill>
                  </a:tcPr>
                </a:tc>
                <a:tc>
                  <a:txBody>
                    <a:bodyPr/>
                    <a:lstStyle/>
                    <a:p>
                      <a:pPr>
                        <a:defRPr sz="1300">
                          <a:solidFill>
                            <a:srgbClr val="232323"/>
                          </a:solidFill>
                        </a:defRPr>
                      </a:pPr>
                      <a:r>
                        <a:rPr sz="1600"/>
                        <a:t>2021422054</a:t>
                      </a:r>
                    </a:p>
                  </a:txBody>
                  <a:tcPr>
                    <a:solidFill>
                      <a:srgbClr val="F2F5F9"/>
                    </a:solidFill>
                  </a:tcPr>
                </a:tc>
                <a:tc>
                  <a:txBody>
                    <a:bodyPr/>
                    <a:lstStyle/>
                    <a:p>
                      <a:pPr>
                        <a:defRPr sz="1300">
                          <a:solidFill>
                            <a:srgbClr val="232323"/>
                          </a:solidFill>
                        </a:defRPr>
                      </a:pPr>
                      <a:r>
                        <a:rPr sz="1600"/>
                        <a:t>Sole developer: requirements, literature review, design, full-stack implementation, testing and report</a:t>
                      </a:r>
                    </a:p>
                  </a:txBody>
                  <a:tcPr>
                    <a:solidFill>
                      <a:srgbClr val="F2F5F9"/>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777240" y="5577840"/>
            <a:ext cx="10515600" cy="365760"/>
          </a:xfrm>
          <a:prstGeom prst="rect">
            <a:avLst/>
          </a:prstGeom>
          <a:noFill/>
        </p:spPr>
        <p:txBody>
          <a:bodyPr wrap="none">
            <a:spAutoFit/>
          </a:bodyPr>
          <a:lstStyle/>
          <a:p>
            <a:pPr>
              <a:defRPr sz="1500" b="1">
                <a:solidFill>
                  <a:srgbClr val="192D4B"/>
                </a:solidFill>
              </a:defRPr>
            </a:pPr>
            <a:r>
              <a:t>Supervisor: Mr. Martin Phiri · Individual project</a:t>
            </a:r>
          </a:p>
        </p:txBody>
      </p:sp>
      <p:sp>
        <p:nvSpPr>
          <p:cNvPr id="5" name="Rectangle 4"/>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a:t>
            </a:r>
          </a:p>
        </p:txBody>
      </p:sp>
      <p:sp>
        <p:nvSpPr>
          <p:cNvPr id="7" name="Rounded Rectangle 6"/>
          <p:cNvSpPr/>
          <p:nvPr/>
        </p:nvSpPr>
        <p:spPr>
          <a:xfrm>
            <a:off x="731520" y="329184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47472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192D4B"/>
                </a:solidFill>
                <a:latin typeface="Calibri"/>
              </a:rPr>
              <a:t>4</a:t>
            </a:r>
          </a:p>
        </p:txBody>
      </p:sp>
      <p:sp>
        <p:nvSpPr>
          <p:cNvPr id="9" name="TextBox 8"/>
          <p:cNvSpPr txBox="1"/>
          <p:nvPr/>
        </p:nvSpPr>
        <p:spPr>
          <a:xfrm>
            <a:off x="868680" y="438912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agile sprints + a
stabilisation period</a:t>
            </a:r>
          </a:p>
        </p:txBody>
      </p:sp>
      <p:sp>
        <p:nvSpPr>
          <p:cNvPr id="10" name="Rounded Rectangle 9"/>
          <p:cNvSpPr/>
          <p:nvPr/>
        </p:nvSpPr>
        <p:spPr>
          <a:xfrm>
            <a:off x="3474720" y="329184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347472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192D4B"/>
                </a:solidFill>
                <a:latin typeface="Calibri"/>
              </a:rPr>
              <a:t>8</a:t>
            </a:r>
          </a:p>
        </p:txBody>
      </p:sp>
      <p:sp>
        <p:nvSpPr>
          <p:cNvPr id="12" name="TextBox 11"/>
          <p:cNvSpPr txBox="1"/>
          <p:nvPr/>
        </p:nvSpPr>
        <p:spPr>
          <a:xfrm>
            <a:off x="3611879" y="438912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system modules</a:t>
            </a:r>
          </a:p>
        </p:txBody>
      </p:sp>
      <p:sp>
        <p:nvSpPr>
          <p:cNvPr id="13" name="Rounded Rectangle 12"/>
          <p:cNvSpPr/>
          <p:nvPr/>
        </p:nvSpPr>
        <p:spPr>
          <a:xfrm>
            <a:off x="6217920" y="329184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347472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D85A30"/>
                </a:solidFill>
                <a:latin typeface="Calibri"/>
              </a:rPr>
              <a:t>86</a:t>
            </a:r>
          </a:p>
        </p:txBody>
      </p:sp>
      <p:sp>
        <p:nvSpPr>
          <p:cNvPr id="15" name="TextBox 14"/>
          <p:cNvSpPr txBox="1"/>
          <p:nvPr/>
        </p:nvSpPr>
        <p:spPr>
          <a:xfrm>
            <a:off x="6355080" y="438912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automated tests,
all passing</a:t>
            </a:r>
          </a:p>
        </p:txBody>
      </p:sp>
      <p:sp>
        <p:nvSpPr>
          <p:cNvPr id="16" name="Rounded Rectangle 15"/>
          <p:cNvSpPr/>
          <p:nvPr/>
        </p:nvSpPr>
        <p:spPr>
          <a:xfrm>
            <a:off x="8961120" y="329184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0" y="347472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192D4B"/>
                </a:solidFill>
                <a:latin typeface="Calibri"/>
              </a:rPr>
              <a:t>24</a:t>
            </a:r>
          </a:p>
        </p:txBody>
      </p:sp>
      <p:sp>
        <p:nvSpPr>
          <p:cNvPr id="18" name="TextBox 17"/>
          <p:cNvSpPr txBox="1"/>
          <p:nvPr/>
        </p:nvSpPr>
        <p:spPr>
          <a:xfrm>
            <a:off x="9098280" y="438912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Lusaka-area places
supported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Presentation Overview</a:t>
            </a:r>
          </a:p>
        </p:txBody>
      </p:sp>
      <p:sp>
        <p:nvSpPr>
          <p:cNvPr id="3" name="TextBox 2"/>
          <p:cNvSpPr txBox="1"/>
          <p:nvPr/>
        </p:nvSpPr>
        <p:spPr>
          <a:xfrm>
            <a:off x="822960" y="1325880"/>
            <a:ext cx="10607040" cy="4754880"/>
          </a:xfrm>
          <a:prstGeom prst="rect">
            <a:avLst/>
          </a:prstGeom>
          <a:noFill/>
        </p:spPr>
        <p:txBody>
          <a:bodyPr wrap="square">
            <a:spAutoFit/>
          </a:bodyPr>
          <a:lstStyle/>
          <a:p>
            <a:pPr>
              <a:spcAft>
                <a:spcPts val="1200"/>
              </a:spcAft>
              <a:defRPr sz="2100">
                <a:solidFill>
                  <a:srgbClr val="232323"/>
                </a:solidFill>
              </a:defRPr>
            </a:pPr>
            <a:r>
              <a:t>Introduction</a:t>
            </a:r>
          </a:p>
          <a:p>
            <a:pPr>
              <a:spcAft>
                <a:spcPts val="1200"/>
              </a:spcAft>
              <a:defRPr sz="2100">
                <a:solidFill>
                  <a:srgbClr val="232323"/>
                </a:solidFill>
              </a:defRPr>
            </a:pPr>
            <a:r>
              <a:t>Literature Review / Related Work</a:t>
            </a:r>
          </a:p>
          <a:p>
            <a:pPr>
              <a:spcAft>
                <a:spcPts val="1200"/>
              </a:spcAft>
              <a:defRPr sz="2100">
                <a:solidFill>
                  <a:srgbClr val="232323"/>
                </a:solidFill>
              </a:defRPr>
            </a:pPr>
            <a:r>
              <a:t>Methodology</a:t>
            </a:r>
          </a:p>
          <a:p>
            <a:pPr>
              <a:spcAft>
                <a:spcPts val="1200"/>
              </a:spcAft>
              <a:defRPr sz="2100">
                <a:solidFill>
                  <a:srgbClr val="232323"/>
                </a:solidFill>
              </a:defRPr>
            </a:pPr>
            <a:r>
              <a:t>System Analysis and Design</a:t>
            </a:r>
          </a:p>
          <a:p>
            <a:pPr>
              <a:spcAft>
                <a:spcPts val="1200"/>
              </a:spcAft>
              <a:defRPr sz="2100">
                <a:solidFill>
                  <a:srgbClr val="232323"/>
                </a:solidFill>
              </a:defRPr>
            </a:pPr>
            <a:r>
              <a:t>Implementation / Development</a:t>
            </a:r>
          </a:p>
          <a:p>
            <a:pPr>
              <a:spcAft>
                <a:spcPts val="1200"/>
              </a:spcAft>
              <a:defRPr sz="2100">
                <a:solidFill>
                  <a:srgbClr val="232323"/>
                </a:solidFill>
              </a:defRPr>
            </a:pPr>
            <a:r>
              <a:t>Testing, Results and Evaluation</a:t>
            </a:r>
          </a:p>
          <a:p>
            <a:pPr>
              <a:spcAft>
                <a:spcPts val="1200"/>
              </a:spcAft>
              <a:defRPr sz="2100">
                <a:solidFill>
                  <a:srgbClr val="232323"/>
                </a:solidFill>
              </a:defRPr>
            </a:pPr>
            <a:r>
              <a:t>Individual Contribution</a:t>
            </a:r>
          </a:p>
          <a:p>
            <a:pPr>
              <a:spcAft>
                <a:spcPts val="1200"/>
              </a:spcAft>
              <a:defRPr sz="2100">
                <a:solidFill>
                  <a:srgbClr val="232323"/>
                </a:solidFill>
              </a:defRPr>
            </a:pPr>
            <a:r>
              <a:t>Discussion</a:t>
            </a:r>
          </a:p>
          <a:p>
            <a:pPr>
              <a:spcAft>
                <a:spcPts val="1200"/>
              </a:spcAft>
              <a:defRPr sz="2100">
                <a:solidFill>
                  <a:srgbClr val="232323"/>
                </a:solidFill>
              </a:defRPr>
            </a:pPr>
            <a:r>
              <a:t>Conclusion, Recommendations and Future Work</a:t>
            </a:r>
          </a:p>
          <a:p>
            <a:pPr>
              <a:spcAft>
                <a:spcPts val="1200"/>
              </a:spcAft>
              <a:defRPr sz="2100">
                <a:solidFill>
                  <a:srgbClr val="232323"/>
                </a:solidFill>
              </a:defRPr>
            </a:pPr>
            <a:r>
              <a:t>System Demonstration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Background and Context</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a:t>
            </a:r>
          </a:p>
        </p:txBody>
      </p:sp>
      <p:sp>
        <p:nvSpPr>
          <p:cNvPr id="6" name="TextBox 5"/>
          <p:cNvSpPr txBox="1"/>
          <p:nvPr/>
        </p:nvSpPr>
        <p:spPr>
          <a:xfrm>
            <a:off x="731520" y="1325880"/>
            <a:ext cx="6583680" cy="4754880"/>
          </a:xfrm>
          <a:prstGeom prst="rect">
            <a:avLst/>
          </a:prstGeom>
          <a:noFill/>
        </p:spPr>
        <p:txBody>
          <a:bodyPr wrap="square" anchor="t" lIns="45720" rIns="45720" tIns="27432" bIns="27432">
            <a:spAutoFit/>
          </a:bodyPr>
          <a:lstStyle/>
          <a:p>
            <a:pPr algn="l">
              <a:spcAft>
                <a:spcPts val="1400"/>
              </a:spcAft>
            </a:pPr>
            <a:r>
              <a:rPr sz="1900" b="1" i="0">
                <a:solidFill>
                  <a:srgbClr val="192D4B"/>
                </a:solidFill>
                <a:latin typeface="Calibri"/>
              </a:rPr>
              <a:t>Charcoal is the main cooking fuel </a:t>
            </a:r>
            <a:r>
              <a:rPr sz="1900" b="0" i="0">
                <a:solidFill>
                  <a:srgbClr val="232323"/>
                </a:solidFill>
                <a:latin typeface="Calibri"/>
              </a:rPr>
              <a:t>for most urban Zambian households, even those with electricity.</a:t>
            </a:r>
          </a:p>
          <a:p>
            <a:pPr algn="l">
              <a:spcAft>
                <a:spcPts val="1400"/>
              </a:spcAft>
            </a:pPr>
            <a:r>
              <a:rPr sz="1900" b="1" i="0">
                <a:solidFill>
                  <a:srgbClr val="192D4B"/>
                </a:solidFill>
                <a:latin typeface="Calibri"/>
              </a:rPr>
              <a:t>It is sold informally: </a:t>
            </a:r>
            <a:r>
              <a:rPr sz="1900" b="0" i="0">
                <a:solidFill>
                  <a:srgbClr val="232323"/>
                </a:solidFill>
                <a:latin typeface="Calibri"/>
              </a:rPr>
              <a:t>roadside stalls, neighbourhood depots and bicycles, face to face and in cash.</a:t>
            </a:r>
          </a:p>
          <a:p>
            <a:pPr algn="l">
              <a:spcAft>
                <a:spcPts val="1400"/>
              </a:spcAft>
            </a:pPr>
            <a:r>
              <a:rPr sz="1900" b="1" i="0">
                <a:solidFill>
                  <a:srgbClr val="192D4B"/>
                </a:solidFill>
                <a:latin typeface="Calibri"/>
              </a:rPr>
              <a:t>Buyers find sellers </a:t>
            </a:r>
            <a:r>
              <a:rPr sz="1900" b="0" i="0">
                <a:solidFill>
                  <a:srgbClr val="232323"/>
                </a:solidFill>
                <a:latin typeface="Calibri"/>
              </a:rPr>
              <a:t>by walking around and asking neighbours.</a:t>
            </a:r>
          </a:p>
          <a:p>
            <a:pPr algn="l">
              <a:spcAft>
                <a:spcPts val="1400"/>
              </a:spcAft>
            </a:pPr>
            <a:r>
              <a:rPr sz="1900" b="1" i="0">
                <a:solidFill>
                  <a:srgbClr val="192D4B"/>
                </a:solidFill>
                <a:latin typeface="Calibri"/>
              </a:rPr>
              <a:t>Smartphones are common, </a:t>
            </a:r>
            <a:r>
              <a:rPr sz="1900" b="0" i="0">
                <a:solidFill>
                  <a:srgbClr val="232323"/>
                </a:solidFill>
                <a:latin typeface="Calibri"/>
              </a:rPr>
              <a:t>but mobile data is costly and connections drop.</a:t>
            </a:r>
          </a:p>
          <a:p>
            <a:pPr algn="l">
              <a:spcAft>
                <a:spcPts val="1400"/>
              </a:spcAft>
            </a:pPr>
            <a:r>
              <a:rPr sz="1900" b="1" i="0">
                <a:solidFill>
                  <a:srgbClr val="192D4B"/>
                </a:solidFill>
                <a:latin typeface="Calibri"/>
              </a:rPr>
              <a:t>Who benefits: </a:t>
            </a:r>
            <a:r>
              <a:rPr sz="1900" b="0" i="0">
                <a:solidFill>
                  <a:srgbClr val="232323"/>
                </a:solidFill>
                <a:latin typeface="Calibri"/>
              </a:rPr>
              <a:t>charcoal sellers, charcoal buyers, and the administrators who keep the market honest.</a:t>
            </a:r>
          </a:p>
        </p:txBody>
      </p:sp>
      <p:sp>
        <p:nvSpPr>
          <p:cNvPr id="7" name="Rounded Rectangle 6"/>
          <p:cNvSpPr/>
          <p:nvPr/>
        </p:nvSpPr>
        <p:spPr>
          <a:xfrm>
            <a:off x="7772400" y="1463040"/>
            <a:ext cx="3749039" cy="4206240"/>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1691640"/>
            <a:ext cx="3749039" cy="1188720"/>
          </a:xfrm>
          <a:prstGeom prst="rect">
            <a:avLst/>
          </a:prstGeom>
          <a:noFill/>
        </p:spPr>
        <p:txBody>
          <a:bodyPr wrap="square" anchor="t" lIns="45720" rIns="45720" tIns="27432" bIns="27432">
            <a:spAutoFit/>
          </a:bodyPr>
          <a:lstStyle/>
          <a:p>
            <a:pPr algn="ctr">
              <a:spcAft>
                <a:spcPts val="600"/>
              </a:spcAft>
            </a:pPr>
            <a:r>
              <a:rPr sz="6000" b="1" i="0">
                <a:solidFill>
                  <a:srgbClr val="FFFFFF"/>
                </a:solidFill>
                <a:latin typeface="Calibri"/>
              </a:rPr>
              <a:t>44%</a:t>
            </a:r>
          </a:p>
        </p:txBody>
      </p:sp>
      <p:sp>
        <p:nvSpPr>
          <p:cNvPr id="9" name="TextBox 8"/>
          <p:cNvSpPr txBox="1"/>
          <p:nvPr/>
        </p:nvSpPr>
        <p:spPr>
          <a:xfrm>
            <a:off x="8001000" y="2880360"/>
            <a:ext cx="3291840" cy="1280160"/>
          </a:xfrm>
          <a:prstGeom prst="rect">
            <a:avLst/>
          </a:prstGeom>
          <a:noFill/>
        </p:spPr>
        <p:txBody>
          <a:bodyPr wrap="square" anchor="t" lIns="45720" rIns="45720" tIns="27432" bIns="27432">
            <a:spAutoFit/>
          </a:bodyPr>
          <a:lstStyle/>
          <a:p>
            <a:pPr algn="ctr">
              <a:spcAft>
                <a:spcPts val="600"/>
              </a:spcAft>
            </a:pPr>
            <a:r>
              <a:rPr sz="1700" b="0" i="0">
                <a:solidFill>
                  <a:srgbClr val="FFFFFF"/>
                </a:solidFill>
                <a:latin typeface="Calibri"/>
              </a:rPr>
              <a:t>of urban households cook mainly with charcoal alone</a:t>
            </a:r>
          </a:p>
        </p:txBody>
      </p:sp>
      <p:sp>
        <p:nvSpPr>
          <p:cNvPr id="10" name="TextBox 9"/>
          <p:cNvSpPr txBox="1"/>
          <p:nvPr/>
        </p:nvSpPr>
        <p:spPr>
          <a:xfrm>
            <a:off x="8001000" y="3977639"/>
            <a:ext cx="3291840" cy="1097280"/>
          </a:xfrm>
          <a:prstGeom prst="rect">
            <a:avLst/>
          </a:prstGeom>
          <a:noFill/>
        </p:spPr>
        <p:txBody>
          <a:bodyPr wrap="square" anchor="t" lIns="45720" rIns="45720" tIns="27432" bIns="27432">
            <a:spAutoFit/>
          </a:bodyPr>
          <a:lstStyle/>
          <a:p>
            <a:pPr algn="ctr">
              <a:spcAft>
                <a:spcPts val="600"/>
              </a:spcAft>
            </a:pPr>
            <a:r>
              <a:rPr sz="1500" b="0" i="0">
                <a:solidFill>
                  <a:srgbClr val="CFDAEA"/>
                </a:solidFill>
                <a:latin typeface="Calibri"/>
              </a:rPr>
              <a:t>A further 38% combine charcoal and electricity</a:t>
            </a:r>
          </a:p>
        </p:txBody>
      </p:sp>
      <p:sp>
        <p:nvSpPr>
          <p:cNvPr id="11" name="TextBox 10"/>
          <p:cNvSpPr txBox="1"/>
          <p:nvPr/>
        </p:nvSpPr>
        <p:spPr>
          <a:xfrm>
            <a:off x="8001000" y="5029200"/>
            <a:ext cx="3291840" cy="457200"/>
          </a:xfrm>
          <a:prstGeom prst="rect">
            <a:avLst/>
          </a:prstGeom>
          <a:noFill/>
        </p:spPr>
        <p:txBody>
          <a:bodyPr wrap="square" anchor="t" lIns="45720" rIns="45720" tIns="27432" bIns="27432">
            <a:spAutoFit/>
          </a:bodyPr>
          <a:lstStyle/>
          <a:p>
            <a:pPr algn="ctr">
              <a:spcAft>
                <a:spcPts val="600"/>
              </a:spcAft>
            </a:pPr>
            <a:r>
              <a:rPr sz="1100" b="0" i="0">
                <a:solidFill>
                  <a:srgbClr val="CFDAEA"/>
                </a:solidFill>
                <a:latin typeface="Calibri"/>
              </a:rPr>
              <a:t>Tembo, Mulenga &amp; Sitko (2015), IAPRI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Problem Statement</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5</a:t>
            </a:r>
          </a:p>
        </p:txBody>
      </p:sp>
      <p:sp>
        <p:nvSpPr>
          <p:cNvPr id="6" name="Rounded Rectangle 5"/>
          <p:cNvSpPr/>
          <p:nvPr/>
        </p:nvSpPr>
        <p:spPr>
          <a:xfrm>
            <a:off x="731520" y="1371600"/>
            <a:ext cx="3383280" cy="31089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Sellers</a:t>
            </a:r>
          </a:p>
        </p:txBody>
      </p:sp>
      <p:sp>
        <p:nvSpPr>
          <p:cNvPr id="8" name="TextBox 7"/>
          <p:cNvSpPr txBox="1"/>
          <p:nvPr/>
        </p:nvSpPr>
        <p:spPr>
          <a:xfrm>
            <a:off x="914400" y="1965960"/>
            <a:ext cx="3017520" cy="23774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Reach only the people who walk past their stall</a:t>
            </a:r>
          </a:p>
          <a:p>
            <a:pPr algn="l">
              <a:spcAft>
                <a:spcPts val="500"/>
              </a:spcAft>
            </a:pPr>
            <a:r>
              <a:rPr sz="1600" b="0" i="0">
                <a:solidFill>
                  <a:srgbClr val="232323"/>
                </a:solidFill>
                <a:latin typeface="Calibri"/>
              </a:rPr>
              <a:t>Have no record of good conduct to show new buyers</a:t>
            </a:r>
          </a:p>
        </p:txBody>
      </p:sp>
      <p:sp>
        <p:nvSpPr>
          <p:cNvPr id="9" name="Rounded Rectangle 8"/>
          <p:cNvSpPr/>
          <p:nvPr/>
        </p:nvSpPr>
        <p:spPr>
          <a:xfrm>
            <a:off x="4389120" y="1371600"/>
            <a:ext cx="3383280" cy="31089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50876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Buyers</a:t>
            </a:r>
          </a:p>
        </p:txBody>
      </p:sp>
      <p:sp>
        <p:nvSpPr>
          <p:cNvPr id="11" name="TextBox 10"/>
          <p:cNvSpPr txBox="1"/>
          <p:nvPr/>
        </p:nvSpPr>
        <p:spPr>
          <a:xfrm>
            <a:off x="4572000" y="1965960"/>
            <a:ext cx="3017520" cy="23774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Cannot easily find a nearby seller or compare prices</a:t>
            </a:r>
          </a:p>
          <a:p>
            <a:pPr algn="l">
              <a:spcAft>
                <a:spcPts val="500"/>
              </a:spcAft>
            </a:pPr>
            <a:r>
              <a:rPr sz="1600" b="0" i="0">
                <a:solidFill>
                  <a:srgbClr val="232323"/>
                </a:solidFill>
                <a:latin typeface="Calibri"/>
              </a:rPr>
              <a:t>Cannot judge whether a stranger will deliver as promised</a:t>
            </a:r>
          </a:p>
        </p:txBody>
      </p:sp>
      <p:sp>
        <p:nvSpPr>
          <p:cNvPr id="12" name="Rounded Rectangle 11"/>
          <p:cNvSpPr/>
          <p:nvPr/>
        </p:nvSpPr>
        <p:spPr>
          <a:xfrm>
            <a:off x="8046720" y="1371600"/>
            <a:ext cx="3383280" cy="31089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50876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Existing tools</a:t>
            </a:r>
          </a:p>
        </p:txBody>
      </p:sp>
      <p:sp>
        <p:nvSpPr>
          <p:cNvPr id="14" name="TextBox 13"/>
          <p:cNvSpPr txBox="1"/>
          <p:nvPr/>
        </p:nvSpPr>
        <p:spPr>
          <a:xfrm>
            <a:off x="8229600" y="1965960"/>
            <a:ext cx="3017520" cy="23774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WhatsApp and Facebook: no verifiable seller record; posts can be edited</a:t>
            </a:r>
          </a:p>
          <a:p>
            <a:pPr algn="l">
              <a:spcAft>
                <a:spcPts val="500"/>
              </a:spcAft>
            </a:pPr>
            <a:r>
              <a:rPr sz="1600" b="0" i="0">
                <a:solidFill>
                  <a:srgbClr val="232323"/>
                </a:solidFill>
                <a:latin typeface="Calibri"/>
              </a:rPr>
              <a:t>E-commerce: trust depends on online payment and a steady connection</a:t>
            </a:r>
          </a:p>
        </p:txBody>
      </p:sp>
      <p:sp>
        <p:nvSpPr>
          <p:cNvPr id="15" name="Rounded Rectangle 14"/>
          <p:cNvSpPr/>
          <p:nvPr/>
        </p:nvSpPr>
        <p:spPr>
          <a:xfrm>
            <a:off x="731520" y="4800600"/>
            <a:ext cx="10698480" cy="114300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846320"/>
            <a:ext cx="10241280" cy="1051560"/>
          </a:xfrm>
          <a:prstGeom prst="rect">
            <a:avLst/>
          </a:prstGeom>
          <a:noFill/>
        </p:spPr>
        <p:txBody>
          <a:bodyPr wrap="square" anchor="ctr" lIns="45720" rIns="45720" tIns="27432" bIns="27432">
            <a:spAutoFit/>
          </a:bodyPr>
          <a:lstStyle/>
          <a:p>
            <a:pPr algn="l">
              <a:spcAft>
                <a:spcPts val="600"/>
              </a:spcAft>
            </a:pPr>
            <a:r>
              <a:rPr sz="1900" b="1" i="0">
                <a:solidFill>
                  <a:srgbClr val="D85A30"/>
                </a:solidFill>
                <a:latin typeface="Calibri"/>
              </a:rPr>
              <a:t>The problem: </a:t>
            </a:r>
            <a:r>
              <a:rPr sz="1900" b="0" i="0">
                <a:solidFill>
                  <a:srgbClr val="232323"/>
                </a:solidFill>
                <a:latin typeface="Calibri"/>
              </a:rPr>
              <a:t>no tool combines local discovery of sellers, a verifiable trust record, cash trading and poor connectivity.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Project Aim</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6</a:t>
            </a:r>
          </a:p>
        </p:txBody>
      </p:sp>
      <p:sp>
        <p:nvSpPr>
          <p:cNvPr id="6" name="Rounded Rectangle 5"/>
          <p:cNvSpPr/>
          <p:nvPr/>
        </p:nvSpPr>
        <p:spPr>
          <a:xfrm>
            <a:off x="1188720" y="1828800"/>
            <a:ext cx="9784080" cy="2743200"/>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2011680"/>
            <a:ext cx="8869680" cy="2377440"/>
          </a:xfrm>
          <a:prstGeom prst="rect">
            <a:avLst/>
          </a:prstGeom>
          <a:noFill/>
        </p:spPr>
        <p:txBody>
          <a:bodyPr wrap="square" anchor="ctr" lIns="45720" rIns="45720" tIns="27432" bIns="27432">
            <a:spAutoFit/>
          </a:bodyPr>
          <a:lstStyle/>
          <a:p>
            <a:pPr algn="ctr">
              <a:spcAft>
                <a:spcPts val="600"/>
              </a:spcAft>
            </a:pPr>
            <a:r>
              <a:rPr sz="2400" b="0" i="0">
                <a:solidFill>
                  <a:srgbClr val="FFFFFF"/>
                </a:solidFill>
                <a:latin typeface="Calibri"/>
              </a:rPr>
              <a:t>To design, develop and evaluate a mobile-first progressive web application that connects charcoal sellers and buyers within Lusaka neighbourhoods and gives each seller a tamper-evident trust score.</a:t>
            </a:r>
          </a:p>
        </p:txBody>
      </p:sp>
      <p:sp>
        <p:nvSpPr>
          <p:cNvPr id="8" name="TextBox 7"/>
          <p:cNvSpPr txBox="1"/>
          <p:nvPr/>
        </p:nvSpPr>
        <p:spPr>
          <a:xfrm>
            <a:off x="1188720" y="4937760"/>
            <a:ext cx="9784080" cy="548640"/>
          </a:xfrm>
          <a:prstGeom prst="rect">
            <a:avLst/>
          </a:prstGeom>
          <a:noFill/>
        </p:spPr>
        <p:txBody>
          <a:bodyPr wrap="square" anchor="t" lIns="45720" rIns="45720" tIns="27432" bIns="27432">
            <a:spAutoFit/>
          </a:bodyPr>
          <a:lstStyle/>
          <a:p>
            <a:pPr algn="ctr">
              <a:spcAft>
                <a:spcPts val="600"/>
              </a:spcAft>
            </a:pPr>
            <a:r>
              <a:rPr sz="1600" b="0" i="0">
                <a:solidFill>
                  <a:srgbClr val="5A6472"/>
                </a:solidFill>
                <a:latin typeface="Calibri"/>
              </a:rPr>
              <a:t>Tamper-evident: any change to a seller's recorded history can be detected.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Project Objectives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7</a:t>
            </a:r>
          </a:p>
        </p:txBody>
      </p:sp>
      <p:sp>
        <p:nvSpPr>
          <p:cNvPr id="6" name="Oval 5"/>
          <p:cNvSpPr/>
          <p:nvPr/>
        </p:nvSpPr>
        <p:spPr>
          <a:xfrm>
            <a:off x="822960" y="1371600"/>
            <a:ext cx="548640" cy="54864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600200" y="132588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Listing creation and neighbourhood-based discovery, with neighbourhood, price and quantity filters</a:t>
            </a:r>
          </a:p>
        </p:txBody>
      </p:sp>
      <p:sp>
        <p:nvSpPr>
          <p:cNvPr id="8" name="Oval 7"/>
          <p:cNvSpPr/>
          <p:nvPr/>
        </p:nvSpPr>
        <p:spPr>
          <a:xfrm>
            <a:off x="822960" y="2286000"/>
            <a:ext cx="548640" cy="54864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600200" y="224028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Voice-based listing creation in English with the Web Speech API, pre-filling the form for review</a:t>
            </a:r>
          </a:p>
        </p:txBody>
      </p:sp>
      <p:sp>
        <p:nvSpPr>
          <p:cNvPr id="10" name="Oval 9"/>
          <p:cNvSpPr/>
          <p:nvPr/>
        </p:nvSpPr>
        <p:spPr>
          <a:xfrm>
            <a:off x="822960" y="3200400"/>
            <a:ext cx="548640" cy="54864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600200" y="315468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A seller trust score backed by a SHA-256 hash chain, with ratings only from buyers who contacted the seller</a:t>
            </a:r>
          </a:p>
        </p:txBody>
      </p:sp>
      <p:sp>
        <p:nvSpPr>
          <p:cNvPr id="12" name="Oval 11"/>
          <p:cNvSpPr/>
          <p:nvPr/>
        </p:nvSpPr>
        <p:spPr>
          <a:xfrm>
            <a:off x="822960" y="4114800"/>
            <a:ext cx="548640" cy="54864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3" name="TextBox 12"/>
          <p:cNvSpPr txBox="1"/>
          <p:nvPr/>
        </p:nvSpPr>
        <p:spPr>
          <a:xfrm>
            <a:off x="1600200" y="406908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Real-time buyer–seller messaging and offline support: cached browsing and queued messages</a:t>
            </a:r>
          </a:p>
        </p:txBody>
      </p:sp>
      <p:sp>
        <p:nvSpPr>
          <p:cNvPr id="14" name="Oval 13"/>
          <p:cNvSpPr/>
          <p:nvPr/>
        </p:nvSpPr>
        <p:spPr>
          <a:xfrm>
            <a:off x="822960" y="5029200"/>
            <a:ext cx="548640" cy="54864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15" name="TextBox 14"/>
          <p:cNvSpPr txBox="1"/>
          <p:nvPr/>
        </p:nvSpPr>
        <p:spPr>
          <a:xfrm>
            <a:off x="1600200" y="498348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Evaluation through functional testing, tamper-detection testing and a usability assessment</a:t>
            </a:r>
          </a:p>
        </p:txBody>
      </p:sp>
      <p:sp>
        <p:nvSpPr>
          <p:cNvPr id="16" name="TextBox 15"/>
          <p:cNvSpPr txBox="1"/>
          <p:nvPr/>
        </p:nvSpPr>
        <p:spPr>
          <a:xfrm>
            <a:off x="1600200" y="5897880"/>
            <a:ext cx="9875520" cy="411480"/>
          </a:xfrm>
          <a:prstGeom prst="rect">
            <a:avLst/>
          </a:prstGeom>
          <a:noFill/>
        </p:spPr>
        <p:txBody>
          <a:bodyPr wrap="square" anchor="t" lIns="45720" rIns="45720" tIns="27432" bIns="27432">
            <a:spAutoFit/>
          </a:bodyPr>
          <a:lstStyle/>
          <a:p>
            <a:pPr algn="l">
              <a:spcAft>
                <a:spcPts val="600"/>
              </a:spcAft>
            </a:pPr>
            <a:r>
              <a:rPr sz="1300" b="0" i="0">
                <a:solidFill>
                  <a:srgbClr val="5A6472"/>
                </a:solidFill>
                <a:latin typeface="Calibri"/>
              </a:rPr>
              <a:t>Objective 2 originally included Nyanja and Bemba; narrowed to English during development.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Scope of the Project</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8</a:t>
            </a:r>
          </a:p>
        </p:txBody>
      </p:sp>
      <p:sp>
        <p:nvSpPr>
          <p:cNvPr id="6" name="Rounded Rectangle 5"/>
          <p:cNvSpPr/>
          <p:nvPr/>
        </p:nvSpPr>
        <p:spPr>
          <a:xfrm>
            <a:off x="731520" y="1325880"/>
            <a:ext cx="5212080" cy="4206240"/>
          </a:xfrm>
          <a:prstGeom prst="roundRect">
            <a:avLst>
              <a:gd name="adj" fmla="val 8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39"/>
            <a:ext cx="4846320" cy="457200"/>
          </a:xfrm>
          <a:prstGeom prst="rect">
            <a:avLst/>
          </a:prstGeom>
          <a:noFill/>
        </p:spPr>
        <p:txBody>
          <a:bodyPr wrap="square" anchor="t" lIns="45720" rIns="45720" tIns="27432" bIns="27432">
            <a:spAutoFit/>
          </a:bodyPr>
          <a:lstStyle/>
          <a:p>
            <a:pPr algn="l">
              <a:spcAft>
                <a:spcPts val="600"/>
              </a:spcAft>
            </a:pPr>
            <a:r>
              <a:rPr sz="1800" b="1" i="0">
                <a:solidFill>
                  <a:srgbClr val="2E7D4F"/>
                </a:solidFill>
                <a:latin typeface="Calibri"/>
              </a:rPr>
              <a:t>In scope</a:t>
            </a:r>
          </a:p>
        </p:txBody>
      </p:sp>
      <p:sp>
        <p:nvSpPr>
          <p:cNvPr id="8" name="TextBox 7"/>
          <p:cNvSpPr txBox="1"/>
          <p:nvPr/>
        </p:nvSpPr>
        <p:spPr>
          <a:xfrm>
            <a:off x="914400" y="1920240"/>
            <a:ext cx="4846320" cy="3474720"/>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Phone + OTP registration; buyer, seller, admin roles</a:t>
            </a:r>
          </a:p>
          <a:p>
            <a:pPr algn="l">
              <a:spcAft>
                <a:spcPts val="500"/>
              </a:spcAft>
            </a:pPr>
            <a:r>
              <a:rPr sz="1600" b="0" i="0">
                <a:solidFill>
                  <a:srgbClr val="232323"/>
                </a:solidFill>
                <a:latin typeface="Calibri"/>
              </a:rPr>
              <a:t>Charcoal listings with photos</a:t>
            </a:r>
          </a:p>
          <a:p>
            <a:pPr algn="l">
              <a:spcAft>
                <a:spcPts val="500"/>
              </a:spcAft>
            </a:pPr>
            <a:r>
              <a:rPr sz="1600" b="0" i="0">
                <a:solidFill>
                  <a:srgbClr val="232323"/>
                </a:solidFill>
                <a:latin typeface="Calibri"/>
              </a:rPr>
              <a:t>Filters: neighbourhood, price, quantity</a:t>
            </a:r>
          </a:p>
          <a:p>
            <a:pPr algn="l">
              <a:spcAft>
                <a:spcPts val="500"/>
              </a:spcAft>
            </a:pPr>
            <a:r>
              <a:rPr sz="1600" b="0" i="0">
                <a:solidFill>
                  <a:srgbClr val="232323"/>
                </a:solidFill>
                <a:latin typeface="Calibri"/>
              </a:rPr>
              <a:t>English voice listing</a:t>
            </a:r>
          </a:p>
          <a:p>
            <a:pPr algn="l">
              <a:spcAft>
                <a:spcPts val="500"/>
              </a:spcAft>
            </a:pPr>
            <a:r>
              <a:rPr sz="1600" b="0" i="0">
                <a:solidFill>
                  <a:srgbClr val="232323"/>
                </a:solidFill>
                <a:latin typeface="Calibri"/>
              </a:rPr>
              <a:t>Real-time chat with offline queue</a:t>
            </a:r>
          </a:p>
          <a:p>
            <a:pPr algn="l">
              <a:spcAft>
                <a:spcPts val="500"/>
              </a:spcAft>
            </a:pPr>
            <a:r>
              <a:rPr sz="1600" b="0" i="0">
                <a:solidFill>
                  <a:srgbClr val="232323"/>
                </a:solidFill>
                <a:latin typeface="Calibri"/>
              </a:rPr>
              <a:t>Hash-chain trust score and rating rules</a:t>
            </a:r>
          </a:p>
          <a:p>
            <a:pPr algn="l">
              <a:spcAft>
                <a:spcPts val="500"/>
              </a:spcAft>
            </a:pPr>
            <a:r>
              <a:rPr sz="1600" b="0" i="0">
                <a:solidFill>
                  <a:srgbClr val="232323"/>
                </a:solidFill>
                <a:latin typeface="Calibri"/>
              </a:rPr>
              <a:t>Administrator panel</a:t>
            </a:r>
          </a:p>
        </p:txBody>
      </p:sp>
      <p:sp>
        <p:nvSpPr>
          <p:cNvPr id="9" name="Rounded Rectangle 8"/>
          <p:cNvSpPr/>
          <p:nvPr/>
        </p:nvSpPr>
        <p:spPr>
          <a:xfrm>
            <a:off x="6263640" y="1325880"/>
            <a:ext cx="5212080" cy="420624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463039"/>
            <a:ext cx="4846320" cy="457200"/>
          </a:xfrm>
          <a:prstGeom prst="rect">
            <a:avLst/>
          </a:prstGeom>
          <a:noFill/>
        </p:spPr>
        <p:txBody>
          <a:bodyPr wrap="square" anchor="t" lIns="45720" rIns="45720" tIns="27432" bIns="27432">
            <a:spAutoFit/>
          </a:bodyPr>
          <a:lstStyle/>
          <a:p>
            <a:pPr algn="l">
              <a:spcAft>
                <a:spcPts val="600"/>
              </a:spcAft>
            </a:pPr>
            <a:r>
              <a:rPr sz="1800" b="1" i="0">
                <a:solidFill>
                  <a:srgbClr val="D85A30"/>
                </a:solidFill>
                <a:latin typeface="Calibri"/>
              </a:rPr>
              <a:t>Out of scope</a:t>
            </a:r>
          </a:p>
        </p:txBody>
      </p:sp>
      <p:sp>
        <p:nvSpPr>
          <p:cNvPr id="11" name="TextBox 10"/>
          <p:cNvSpPr txBox="1"/>
          <p:nvPr/>
        </p:nvSpPr>
        <p:spPr>
          <a:xfrm>
            <a:off x="6446520" y="1920240"/>
            <a:ext cx="4846320" cy="3474720"/>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Online payment, escrow or mobile money</a:t>
            </a:r>
          </a:p>
          <a:p>
            <a:pPr algn="l">
              <a:spcAft>
                <a:spcPts val="500"/>
              </a:spcAft>
            </a:pPr>
            <a:r>
              <a:rPr sz="1600" b="0" i="0">
                <a:solidFill>
                  <a:srgbClr val="232323"/>
                </a:solidFill>
                <a:latin typeface="Calibri"/>
              </a:rPr>
              <a:t>Delivery and logistics</a:t>
            </a:r>
          </a:p>
          <a:p>
            <a:pPr algn="l">
              <a:spcAft>
                <a:spcPts val="500"/>
              </a:spcAft>
            </a:pPr>
            <a:r>
              <a:rPr sz="1600" b="0" i="0">
                <a:solidFill>
                  <a:srgbClr val="232323"/>
                </a:solidFill>
                <a:latin typeface="Calibri"/>
              </a:rPr>
              <a:t>Nyanja / Bemba speech recognition</a:t>
            </a:r>
          </a:p>
          <a:p>
            <a:pPr algn="l">
              <a:spcAft>
                <a:spcPts val="500"/>
              </a:spcAft>
            </a:pPr>
            <a:r>
              <a:rPr sz="1600" b="0" i="0">
                <a:solidFill>
                  <a:srgbClr val="232323"/>
                </a:solidFill>
                <a:latin typeface="Calibri"/>
              </a:rPr>
              <a:t>Real SMS delivery of OTP codes</a:t>
            </a:r>
          </a:p>
          <a:p>
            <a:pPr algn="l">
              <a:spcAft>
                <a:spcPts val="500"/>
              </a:spcAft>
            </a:pPr>
            <a:r>
              <a:rPr sz="1600" b="0" i="0">
                <a:solidFill>
                  <a:srgbClr val="232323"/>
                </a:solidFill>
                <a:latin typeface="Calibri"/>
              </a:rPr>
              <a:t>Areas outside Lusaka; goods other than charcoal</a:t>
            </a:r>
          </a:p>
          <a:p>
            <a:pPr algn="l">
              <a:spcAft>
                <a:spcPts val="500"/>
              </a:spcAft>
            </a:pPr>
            <a:r>
              <a:rPr sz="1600" b="0" i="0">
                <a:solidFill>
                  <a:srgbClr val="232323"/>
                </a:solidFill>
                <a:latin typeface="Calibri"/>
              </a:rPr>
              <a:t>A public or distributed blockchain</a:t>
            </a:r>
          </a:p>
        </p:txBody>
      </p:sp>
      <p:sp>
        <p:nvSpPr>
          <p:cNvPr id="12" name="TextBox 11"/>
          <p:cNvSpPr txBox="1"/>
          <p:nvPr/>
        </p:nvSpPr>
        <p:spPr>
          <a:xfrm>
            <a:off x="731520" y="5760720"/>
            <a:ext cx="10698480" cy="457200"/>
          </a:xfrm>
          <a:prstGeom prst="rect">
            <a:avLst/>
          </a:prstGeom>
          <a:noFill/>
        </p:spPr>
        <p:txBody>
          <a:bodyPr wrap="square" anchor="t" lIns="45720" rIns="45720" tIns="27432" bIns="27432">
            <a:spAutoFit/>
          </a:bodyPr>
          <a:lstStyle/>
          <a:p>
            <a:pPr algn="l">
              <a:spcAft>
                <a:spcPts val="600"/>
              </a:spcAft>
            </a:pPr>
            <a:r>
              <a:rPr sz="1700" b="1" i="0">
                <a:solidFill>
                  <a:srgbClr val="192D4B"/>
                </a:solidFill>
                <a:latin typeface="Calibri"/>
              </a:rPr>
              <a:t>Boundary: </a:t>
            </a:r>
            <a:r>
              <a:rPr sz="1700" b="0" i="0">
                <a:solidFill>
                  <a:srgbClr val="232323"/>
                </a:solidFill>
                <a:latin typeface="Calibri"/>
              </a:rPr>
              <a:t>settlement stays in person and in cash, by design.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332720" cy="1280160"/>
          </a:xfrm>
          <a:prstGeom prst="rect">
            <a:avLst/>
          </a:prstGeom>
          <a:noFill/>
        </p:spPr>
        <p:txBody>
          <a:bodyPr wrap="none">
            <a:spAutoFit/>
          </a:bodyPr>
          <a:lstStyle/>
          <a:p>
            <a:pPr algn="ctr">
              <a:defRPr sz="4000" b="1">
                <a:solidFill>
                  <a:srgbClr val="FFFFFF"/>
                </a:solidFill>
              </a:defRPr>
            </a:pPr>
            <a:r>
              <a:t>Literature Review</a:t>
            </a:r>
          </a:p>
        </p:txBody>
      </p:sp>
      <p:sp>
        <p:nvSpPr>
          <p:cNvPr id="3" name="Rectangle 2"/>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Key Concepts and Theories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10</a:t>
            </a:r>
          </a:p>
        </p:txBody>
      </p:sp>
      <p:sp>
        <p:nvSpPr>
          <p:cNvPr id="6" name="Rounded Rectangle 5"/>
          <p:cNvSpPr/>
          <p:nvPr/>
        </p:nvSpPr>
        <p:spPr>
          <a:xfrm>
            <a:off x="731520" y="1325880"/>
            <a:ext cx="3383280" cy="35661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39"/>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Progressive Web App</a:t>
            </a:r>
          </a:p>
        </p:txBody>
      </p:sp>
      <p:sp>
        <p:nvSpPr>
          <p:cNvPr id="8" name="TextBox 7"/>
          <p:cNvSpPr txBox="1"/>
          <p:nvPr/>
        </p:nvSpPr>
        <p:spPr>
          <a:xfrm>
            <a:off x="914400" y="1920240"/>
            <a:ext cx="3017520" cy="28346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Service worker caches the app and data</a:t>
            </a:r>
          </a:p>
          <a:p>
            <a:pPr algn="l">
              <a:spcAft>
                <a:spcPts val="500"/>
              </a:spcAft>
            </a:pPr>
            <a:r>
              <a:rPr sz="1600" b="0" i="0">
                <a:solidFill>
                  <a:srgbClr val="232323"/>
                </a:solidFill>
                <a:latin typeface="Calibri"/>
              </a:rPr>
              <a:t>IndexedDB stores offline messages</a:t>
            </a:r>
          </a:p>
          <a:p>
            <a:pPr algn="l">
              <a:spcAft>
                <a:spcPts val="500"/>
              </a:spcAft>
            </a:pPr>
            <a:r>
              <a:rPr sz="1600" b="0" i="0">
                <a:solidFill>
                  <a:srgbClr val="232323"/>
                </a:solidFill>
                <a:latin typeface="Calibri"/>
              </a:rPr>
              <a:t>Installs from the browser, no app store</a:t>
            </a:r>
          </a:p>
        </p:txBody>
      </p:sp>
      <p:sp>
        <p:nvSpPr>
          <p:cNvPr id="9" name="TextBox 8"/>
          <p:cNvSpPr txBox="1"/>
          <p:nvPr/>
        </p:nvSpPr>
        <p:spPr>
          <a:xfrm>
            <a:off x="914400" y="4160520"/>
            <a:ext cx="3017520" cy="685800"/>
          </a:xfrm>
          <a:prstGeom prst="rect">
            <a:avLst/>
          </a:prstGeom>
          <a:noFill/>
        </p:spPr>
        <p:txBody>
          <a:bodyPr wrap="square" anchor="t" lIns="45720" rIns="45720" tIns="27432" bIns="27432">
            <a:spAutoFit/>
          </a:bodyPr>
          <a:lstStyle/>
          <a:p>
            <a:pPr algn="l">
              <a:spcAft>
                <a:spcPts val="600"/>
              </a:spcAft>
            </a:pPr>
            <a:r>
              <a:rPr sz="1400" b="1" i="0">
                <a:solidFill>
                  <a:srgbClr val="D85A30"/>
                </a:solidFill>
                <a:latin typeface="Calibri"/>
              </a:rPr>
              <a:t>Why: works on costly, unreliable data</a:t>
            </a:r>
          </a:p>
        </p:txBody>
      </p:sp>
      <p:sp>
        <p:nvSpPr>
          <p:cNvPr id="10" name="Rounded Rectangle 9"/>
          <p:cNvSpPr/>
          <p:nvPr/>
        </p:nvSpPr>
        <p:spPr>
          <a:xfrm>
            <a:off x="4389120" y="1325880"/>
            <a:ext cx="3383280" cy="35661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463039"/>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Web Speech API</a:t>
            </a:r>
          </a:p>
        </p:txBody>
      </p:sp>
      <p:sp>
        <p:nvSpPr>
          <p:cNvPr id="12" name="TextBox 11"/>
          <p:cNvSpPr txBox="1"/>
          <p:nvPr/>
        </p:nvSpPr>
        <p:spPr>
          <a:xfrm>
            <a:off x="4572000" y="1920240"/>
            <a:ext cx="3017520" cy="28346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Browser speech-to-text</a:t>
            </a:r>
          </a:p>
          <a:p>
            <a:pPr algn="l">
              <a:spcAft>
                <a:spcPts val="500"/>
              </a:spcAft>
            </a:pPr>
            <a:r>
              <a:rPr sz="1600" b="0" i="0">
                <a:solidFill>
                  <a:srgbClr val="232323"/>
                </a:solidFill>
                <a:latin typeface="Calibri"/>
              </a:rPr>
              <a:t>Languages set by each browser</a:t>
            </a:r>
          </a:p>
          <a:p>
            <a:pPr algn="l">
              <a:spcAft>
                <a:spcPts val="500"/>
              </a:spcAft>
            </a:pPr>
            <a:r>
              <a:rPr sz="1600" b="0" i="0">
                <a:solidFill>
                  <a:srgbClr val="232323"/>
                </a:solidFill>
                <a:latin typeface="Calibri"/>
              </a:rPr>
              <a:t>Chrome needs a connection</a:t>
            </a:r>
          </a:p>
        </p:txBody>
      </p:sp>
      <p:sp>
        <p:nvSpPr>
          <p:cNvPr id="13" name="TextBox 12"/>
          <p:cNvSpPr txBox="1"/>
          <p:nvPr/>
        </p:nvSpPr>
        <p:spPr>
          <a:xfrm>
            <a:off x="4572000" y="4160520"/>
            <a:ext cx="3017520" cy="685800"/>
          </a:xfrm>
          <a:prstGeom prst="rect">
            <a:avLst/>
          </a:prstGeom>
          <a:noFill/>
        </p:spPr>
        <p:txBody>
          <a:bodyPr wrap="square" anchor="t" lIns="45720" rIns="45720" tIns="27432" bIns="27432">
            <a:spAutoFit/>
          </a:bodyPr>
          <a:lstStyle/>
          <a:p>
            <a:pPr algn="l">
              <a:spcAft>
                <a:spcPts val="600"/>
              </a:spcAft>
            </a:pPr>
            <a:r>
              <a:rPr sz="1400" b="1" i="0">
                <a:solidFill>
                  <a:srgbClr val="D85A30"/>
                </a:solidFill>
                <a:latin typeface="Calibri"/>
              </a:rPr>
              <a:t>Why: sellers can speak a listing</a:t>
            </a:r>
          </a:p>
        </p:txBody>
      </p:sp>
      <p:sp>
        <p:nvSpPr>
          <p:cNvPr id="14" name="Rounded Rectangle 13"/>
          <p:cNvSpPr/>
          <p:nvPr/>
        </p:nvSpPr>
        <p:spPr>
          <a:xfrm>
            <a:off x="8046720" y="1325880"/>
            <a:ext cx="3383280" cy="35661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463039"/>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Hash chains</a:t>
            </a:r>
          </a:p>
        </p:txBody>
      </p:sp>
      <p:sp>
        <p:nvSpPr>
          <p:cNvPr id="16" name="TextBox 15"/>
          <p:cNvSpPr txBox="1"/>
          <p:nvPr/>
        </p:nvSpPr>
        <p:spPr>
          <a:xfrm>
            <a:off x="8229600" y="1920240"/>
            <a:ext cx="3017520" cy="28346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Each record stores the previous record's SHA-256 hash</a:t>
            </a:r>
          </a:p>
          <a:p>
            <a:pPr algn="l">
              <a:spcAft>
                <a:spcPts val="500"/>
              </a:spcAft>
            </a:pPr>
            <a:r>
              <a:rPr sz="1600" b="0" i="0">
                <a:solidFill>
                  <a:srgbClr val="232323"/>
                </a:solidFill>
                <a:latin typeface="Calibri"/>
              </a:rPr>
              <a:t>Changing one record breaks every later link</a:t>
            </a:r>
          </a:p>
          <a:p>
            <a:pPr algn="l">
              <a:spcAft>
                <a:spcPts val="500"/>
              </a:spcAft>
            </a:pPr>
            <a:r>
              <a:rPr sz="1600" b="0" i="0">
                <a:solidFill>
                  <a:srgbClr val="232323"/>
                </a:solidFill>
                <a:latin typeface="Calibri"/>
              </a:rPr>
              <a:t>Haber &amp; Stornetta (1991)</a:t>
            </a:r>
          </a:p>
        </p:txBody>
      </p:sp>
      <p:sp>
        <p:nvSpPr>
          <p:cNvPr id="17" name="TextBox 16"/>
          <p:cNvSpPr txBox="1"/>
          <p:nvPr/>
        </p:nvSpPr>
        <p:spPr>
          <a:xfrm>
            <a:off x="8229600" y="4160520"/>
            <a:ext cx="3017520" cy="685800"/>
          </a:xfrm>
          <a:prstGeom prst="rect">
            <a:avLst/>
          </a:prstGeom>
          <a:noFill/>
        </p:spPr>
        <p:txBody>
          <a:bodyPr wrap="square" anchor="t" lIns="45720" rIns="45720" tIns="27432" bIns="27432">
            <a:spAutoFit/>
          </a:bodyPr>
          <a:lstStyle/>
          <a:p>
            <a:pPr algn="l">
              <a:spcAft>
                <a:spcPts val="600"/>
              </a:spcAft>
            </a:pPr>
            <a:r>
              <a:rPr sz="1400" b="1" i="0">
                <a:solidFill>
                  <a:srgbClr val="D85A30"/>
                </a:solidFill>
                <a:latin typeface="Calibri"/>
              </a:rPr>
              <a:t>Why: tamper-evident reputation without a blockchain network</a:t>
            </a:r>
          </a:p>
        </p:txBody>
      </p:sp>
      <p:sp>
        <p:nvSpPr>
          <p:cNvPr id="18" name="TextBox 17"/>
          <p:cNvSpPr txBox="1"/>
          <p:nvPr/>
        </p:nvSpPr>
        <p:spPr>
          <a:xfrm>
            <a:off x="731520" y="5166360"/>
            <a:ext cx="10698480" cy="822960"/>
          </a:xfrm>
          <a:prstGeom prst="rect">
            <a:avLst/>
          </a:prstGeom>
          <a:noFill/>
        </p:spPr>
        <p:txBody>
          <a:bodyPr wrap="square" anchor="t" lIns="45720" rIns="45720" tIns="27432" bIns="27432">
            <a:spAutoFit/>
          </a:bodyPr>
          <a:lstStyle/>
          <a:p>
            <a:pPr algn="l">
              <a:spcAft>
                <a:spcPts val="600"/>
              </a:spcAft>
            </a:pPr>
            <a:r>
              <a:rPr sz="1600" b="0" i="0">
                <a:solidFill>
                  <a:srgbClr val="5A6472"/>
                </a:solidFill>
                <a:latin typeface="Calibri"/>
              </a:rPr>
              <a:t>Design guided by agile iteration (Beck et al., 2001), a layered architecture, and SOLID / GRASP principles (Martin, 2008; Larman, 2004).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Existing Systems / Related Work</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11</a:t>
            </a:r>
          </a:p>
        </p:txBody>
      </p:sp>
      <p:graphicFrame>
        <p:nvGraphicFramePr>
          <p:cNvPr id="6" name="Table 5"/>
          <p:cNvGraphicFramePr>
            <a:graphicFrameLocks noGrp="1"/>
          </p:cNvGraphicFramePr>
          <p:nvPr/>
        </p:nvGraphicFramePr>
        <p:xfrm>
          <a:off x="548640" y="1280160"/>
          <a:ext cx="11064240" cy="3886200"/>
        </p:xfrm>
        <a:graphic>
          <a:graphicData uri="http://schemas.openxmlformats.org/drawingml/2006/table">
            <a:tbl>
              <a:tblPr firstRow="1" bandRow="1">
                <a:tableStyleId>{5C22544A-7EE6-4342-B048-85BDC9FD1C3A}</a:tableStyleId>
              </a:tblPr>
              <a:tblGrid>
                <a:gridCol w="1920240"/>
                <a:gridCol w="3291840"/>
                <a:gridCol w="2468880"/>
                <a:gridCol w="3383280"/>
              </a:tblGrid>
              <a:tr h="777240">
                <a:tc>
                  <a:txBody>
                    <a:bodyPr wrap="square"/>
                    <a:lstStyle/>
                    <a:p>
                      <a:r>
                        <a:rPr sz="1400" b="1">
                          <a:solidFill>
                            <a:srgbClr val="FFFFFF"/>
                          </a:solidFill>
                          <a:latin typeface="Calibri"/>
                        </a:rPr>
                        <a:t>Platform</a:t>
                      </a:r>
                    </a:p>
                  </a:txBody>
                  <a:tcPr marL="73152" marR="73152" marT="36576" marB="36576" anchor="ctr">
                    <a:solidFill>
                      <a:srgbClr val="192D4B"/>
                    </a:solidFill>
                  </a:tcPr>
                </a:tc>
                <a:tc>
                  <a:txBody>
                    <a:bodyPr wrap="square"/>
                    <a:lstStyle/>
                    <a:p>
                      <a:r>
                        <a:rPr sz="1400" b="1">
                          <a:solidFill>
                            <a:srgbClr val="FFFFFF"/>
                          </a:solidFill>
                          <a:latin typeface="Calibri"/>
                        </a:rPr>
                        <a:t>What it is</a:t>
                      </a:r>
                    </a:p>
                  </a:txBody>
                  <a:tcPr marL="73152" marR="73152" marT="36576" marB="36576" anchor="ctr">
                    <a:solidFill>
                      <a:srgbClr val="192D4B"/>
                    </a:solidFill>
                  </a:tcPr>
                </a:tc>
                <a:tc>
                  <a:txBody>
                    <a:bodyPr wrap="square"/>
                    <a:lstStyle/>
                    <a:p>
                      <a:r>
                        <a:rPr sz="1400" b="1">
                          <a:solidFill>
                            <a:srgbClr val="FFFFFF"/>
                          </a:solidFill>
                          <a:latin typeface="Calibri"/>
                        </a:rPr>
                        <a:t>Strength</a:t>
                      </a:r>
                    </a:p>
                  </a:txBody>
                  <a:tcPr marL="73152" marR="73152" marT="36576" marB="36576" anchor="ctr">
                    <a:solidFill>
                      <a:srgbClr val="192D4B"/>
                    </a:solidFill>
                  </a:tcPr>
                </a:tc>
                <a:tc>
                  <a:txBody>
                    <a:bodyPr wrap="square"/>
                    <a:lstStyle/>
                    <a:p>
                      <a:r>
                        <a:rPr sz="1400" b="1">
                          <a:solidFill>
                            <a:srgbClr val="FFFFFF"/>
                          </a:solidFill>
                          <a:latin typeface="Calibri"/>
                        </a:rPr>
                        <a:t>Limitation for this problem</a:t>
                      </a:r>
                    </a:p>
                  </a:txBody>
                  <a:tcPr marL="73152" marR="73152" marT="36576" marB="36576" anchor="ctr">
                    <a:solidFill>
                      <a:srgbClr val="192D4B"/>
                    </a:solidFill>
                  </a:tcPr>
                </a:tc>
              </a:tr>
              <a:tr h="777240">
                <a:tc>
                  <a:txBody>
                    <a:bodyPr wrap="square"/>
                    <a:lstStyle/>
                    <a:p>
                      <a:r>
                        <a:rPr sz="1400" b="0">
                          <a:solidFill>
                            <a:srgbClr val="232323"/>
                          </a:solidFill>
                          <a:latin typeface="Calibri"/>
                        </a:rPr>
                        <a:t>B-ne</a:t>
                      </a:r>
                    </a:p>
                  </a:txBody>
                  <a:tcPr marL="73152" marR="73152" marT="36576" marB="36576" anchor="ctr">
                    <a:solidFill>
                      <a:srgbClr val="FFFFFF"/>
                    </a:solidFill>
                  </a:tcPr>
                </a:tc>
                <a:tc>
                  <a:txBody>
                    <a:bodyPr wrap="square"/>
                    <a:lstStyle/>
                    <a:p>
                      <a:r>
                        <a:rPr sz="1400" b="0">
                          <a:solidFill>
                            <a:srgbClr val="232323"/>
                          </a:solidFill>
                          <a:latin typeface="Calibri"/>
                        </a:rPr>
                        <a:t>Free Zambian classifieds (mobile and web)</a:t>
                      </a:r>
                    </a:p>
                  </a:txBody>
                  <a:tcPr marL="73152" marR="73152" marT="36576" marB="36576" anchor="ctr">
                    <a:solidFill>
                      <a:srgbClr val="FFFFFF"/>
                    </a:solidFill>
                  </a:tcPr>
                </a:tc>
                <a:tc>
                  <a:txBody>
                    <a:bodyPr wrap="square"/>
                    <a:lstStyle/>
                    <a:p>
                      <a:r>
                        <a:rPr sz="1400" b="0">
                          <a:solidFill>
                            <a:srgbClr val="232323"/>
                          </a:solidFill>
                          <a:latin typeface="Calibri"/>
                        </a:rPr>
                        <a:t>Free; wide audience</a:t>
                      </a:r>
                    </a:p>
                  </a:txBody>
                  <a:tcPr marL="73152" marR="73152" marT="36576" marB="36576" anchor="ctr">
                    <a:solidFill>
                      <a:srgbClr val="FFFFFF"/>
                    </a:solidFill>
                  </a:tcPr>
                </a:tc>
                <a:tc>
                  <a:txBody>
                    <a:bodyPr wrap="square"/>
                    <a:lstStyle/>
                    <a:p>
                      <a:r>
                        <a:rPr sz="1400" b="0">
                          <a:solidFill>
                            <a:srgbClr val="232323"/>
                          </a:solidFill>
                          <a:latin typeface="Calibri"/>
                        </a:rPr>
                        <a:t>No documented trust; current Zambian use unconfirmed</a:t>
                      </a:r>
                    </a:p>
                  </a:txBody>
                  <a:tcPr marL="73152" marR="73152" marT="36576" marB="36576" anchor="ctr">
                    <a:solidFill>
                      <a:srgbClr val="FFFFFF"/>
                    </a:solidFill>
                  </a:tcPr>
                </a:tc>
              </a:tr>
              <a:tr h="777240">
                <a:tc>
                  <a:txBody>
                    <a:bodyPr wrap="square"/>
                    <a:lstStyle/>
                    <a:p>
                      <a:r>
                        <a:rPr sz="1400" b="0">
                          <a:solidFill>
                            <a:srgbClr val="232323"/>
                          </a:solidFill>
                          <a:latin typeface="Calibri"/>
                        </a:rPr>
                        <a:t>Kaymu (now Jumia)</a:t>
                      </a:r>
                    </a:p>
                  </a:txBody>
                  <a:tcPr marL="73152" marR="73152" marT="36576" marB="36576" anchor="ctr">
                    <a:solidFill>
                      <a:srgbClr val="EEF2F7"/>
                    </a:solidFill>
                  </a:tcPr>
                </a:tc>
                <a:tc>
                  <a:txBody>
                    <a:bodyPr wrap="square"/>
                    <a:lstStyle/>
                    <a:p>
                      <a:r>
                        <a:rPr sz="1400" b="0">
                          <a:solidFill>
                            <a:srgbClr val="232323"/>
                          </a:solidFill>
                          <a:latin typeface="Calibri"/>
                        </a:rPr>
                        <a:t>C2C / B2C marketplace, 17 African countries</a:t>
                      </a:r>
                    </a:p>
                  </a:txBody>
                  <a:tcPr marL="73152" marR="73152" marT="36576" marB="36576" anchor="ctr">
                    <a:solidFill>
                      <a:srgbClr val="EEF2F7"/>
                    </a:solidFill>
                  </a:tcPr>
                </a:tc>
                <a:tc>
                  <a:txBody>
                    <a:bodyPr wrap="square"/>
                    <a:lstStyle/>
                    <a:p>
                      <a:r>
                        <a:rPr sz="1400" b="0">
                          <a:solidFill>
                            <a:srgbClr val="232323"/>
                          </a:solidFill>
                          <a:latin typeface="Calibri"/>
                        </a:rPr>
                        <a:t>Seller ratings; escrow (2016)</a:t>
                      </a:r>
                    </a:p>
                  </a:txBody>
                  <a:tcPr marL="73152" marR="73152" marT="36576" marB="36576" anchor="ctr">
                    <a:solidFill>
                      <a:srgbClr val="EEF2F7"/>
                    </a:solidFill>
                  </a:tcPr>
                </a:tc>
                <a:tc>
                  <a:txBody>
                    <a:bodyPr wrap="square"/>
                    <a:lstStyle/>
                    <a:p>
                      <a:r>
                        <a:rPr sz="1400" b="0">
                          <a:solidFill>
                            <a:srgbClr val="232323"/>
                          </a:solidFill>
                          <a:latin typeface="Calibri"/>
                        </a:rPr>
                        <a:t>Needs online payment; no longer standalone</a:t>
                      </a:r>
                    </a:p>
                  </a:txBody>
                  <a:tcPr marL="73152" marR="73152" marT="36576" marB="36576" anchor="ctr">
                    <a:solidFill>
                      <a:srgbClr val="EEF2F7"/>
                    </a:solidFill>
                  </a:tcPr>
                </a:tc>
              </a:tr>
              <a:tr h="777240">
                <a:tc>
                  <a:txBody>
                    <a:bodyPr wrap="square"/>
                    <a:lstStyle/>
                    <a:p>
                      <a:r>
                        <a:rPr sz="1400" b="0">
                          <a:solidFill>
                            <a:srgbClr val="232323"/>
                          </a:solidFill>
                          <a:latin typeface="Calibri"/>
                        </a:rPr>
                        <a:t>TreeMarket</a:t>
                      </a:r>
                    </a:p>
                  </a:txBody>
                  <a:tcPr marL="73152" marR="73152" marT="36576" marB="36576" anchor="ctr">
                    <a:solidFill>
                      <a:srgbClr val="FFFFFF"/>
                    </a:solidFill>
                  </a:tcPr>
                </a:tc>
                <a:tc>
                  <a:txBody>
                    <a:bodyPr wrap="square"/>
                    <a:lstStyle/>
                    <a:p>
                      <a:r>
                        <a:rPr sz="1400" b="0">
                          <a:solidFill>
                            <a:srgbClr val="232323"/>
                          </a:solidFill>
                          <a:latin typeface="Calibri"/>
                        </a:rPr>
                        <a:t>Zambian app, district-based, meet in person</a:t>
                      </a:r>
                    </a:p>
                  </a:txBody>
                  <a:tcPr marL="73152" marR="73152" marT="36576" marB="36576" anchor="ctr">
                    <a:solidFill>
                      <a:srgbClr val="FFFFFF"/>
                    </a:solidFill>
                  </a:tcPr>
                </a:tc>
                <a:tc>
                  <a:txBody>
                    <a:bodyPr wrap="square"/>
                    <a:lstStyle/>
                    <a:p>
                      <a:r>
                        <a:rPr sz="1400" b="0">
                          <a:solidFill>
                            <a:srgbClr val="232323"/>
                          </a:solidFill>
                          <a:latin typeface="Calibri"/>
                        </a:rPr>
                        <a:t>Local and face to face</a:t>
                      </a:r>
                    </a:p>
                  </a:txBody>
                  <a:tcPr marL="73152" marR="73152" marT="36576" marB="36576" anchor="ctr">
                    <a:solidFill>
                      <a:srgbClr val="FFFFFF"/>
                    </a:solidFill>
                  </a:tcPr>
                </a:tc>
                <a:tc>
                  <a:txBody>
                    <a:bodyPr wrap="square"/>
                    <a:lstStyle/>
                    <a:p>
                      <a:r>
                        <a:rPr sz="1400" b="0">
                          <a:solidFill>
                            <a:srgbClr val="232323"/>
                          </a:solidFill>
                          <a:latin typeface="Calibri"/>
                        </a:rPr>
                        <a:t>No documented trust or offline support</a:t>
                      </a:r>
                    </a:p>
                  </a:txBody>
                  <a:tcPr marL="73152" marR="73152" marT="36576" marB="36576" anchor="ctr">
                    <a:solidFill>
                      <a:srgbClr val="FFFFFF"/>
                    </a:solidFill>
                  </a:tcPr>
                </a:tc>
              </a:tr>
              <a:tr h="777240">
                <a:tc>
                  <a:txBody>
                    <a:bodyPr wrap="square"/>
                    <a:lstStyle/>
                    <a:p>
                      <a:r>
                        <a:rPr sz="1400" b="0">
                          <a:solidFill>
                            <a:srgbClr val="232323"/>
                          </a:solidFill>
                          <a:latin typeface="Calibri"/>
                        </a:rPr>
                        <a:t>Egatee</a:t>
                      </a:r>
                    </a:p>
                  </a:txBody>
                  <a:tcPr marL="73152" marR="73152" marT="36576" marB="36576" anchor="ctr">
                    <a:solidFill>
                      <a:srgbClr val="EEF2F7"/>
                    </a:solidFill>
                  </a:tcPr>
                </a:tc>
                <a:tc>
                  <a:txBody>
                    <a:bodyPr wrap="square"/>
                    <a:lstStyle/>
                    <a:p>
                      <a:r>
                        <a:rPr sz="1400" b="0">
                          <a:solidFill>
                            <a:srgbClr val="232323"/>
                          </a:solidFill>
                          <a:latin typeface="Calibri"/>
                        </a:rPr>
                        <a:t>B2B cross-border platform (2022)</a:t>
                      </a:r>
                    </a:p>
                  </a:txBody>
                  <a:tcPr marL="73152" marR="73152" marT="36576" marB="36576" anchor="ctr">
                    <a:solidFill>
                      <a:srgbClr val="EEF2F7"/>
                    </a:solidFill>
                  </a:tcPr>
                </a:tc>
                <a:tc>
                  <a:txBody>
                    <a:bodyPr wrap="square"/>
                    <a:lstStyle/>
                    <a:p>
                      <a:r>
                        <a:rPr sz="1400" b="0">
                          <a:solidFill>
                            <a:srgbClr val="232323"/>
                          </a:solidFill>
                          <a:latin typeface="Calibri"/>
                        </a:rPr>
                        <a:t>Logistics and payments</a:t>
                      </a:r>
                    </a:p>
                  </a:txBody>
                  <a:tcPr marL="73152" marR="73152" marT="36576" marB="36576" anchor="ctr">
                    <a:solidFill>
                      <a:srgbClr val="EEF2F7"/>
                    </a:solidFill>
                  </a:tcPr>
                </a:tc>
                <a:tc>
                  <a:txBody>
                    <a:bodyPr wrap="square"/>
                    <a:lstStyle/>
                    <a:p>
                      <a:r>
                        <a:rPr sz="1400" b="0">
                          <a:solidFill>
                            <a:srgbClr val="232323"/>
                          </a:solidFill>
                          <a:latin typeface="Calibri"/>
                        </a:rPr>
                        <a:t>Serves businesses, not individuals</a:t>
                      </a:r>
                    </a:p>
                  </a:txBody>
                  <a:tcPr marL="73152" marR="73152" marT="36576" marB="36576" anchor="ctr">
                    <a:solidFill>
                      <a:srgbClr val="EEF2F7"/>
                    </a:solidFill>
                  </a:tcPr>
                </a:tc>
              </a:tr>
            </a:tbl>
          </a:graphicData>
        </a:graphic>
      </p:graphicFrame>
      <p:sp>
        <p:nvSpPr>
          <p:cNvPr id="7" name="TextBox 6"/>
          <p:cNvSpPr txBox="1"/>
          <p:nvPr/>
        </p:nvSpPr>
        <p:spPr>
          <a:xfrm>
            <a:off x="548640" y="5349240"/>
            <a:ext cx="11064240" cy="731520"/>
          </a:xfrm>
          <a:prstGeom prst="rect">
            <a:avLst/>
          </a:prstGeom>
          <a:noFill/>
        </p:spPr>
        <p:txBody>
          <a:bodyPr wrap="square" anchor="t" lIns="45720" rIns="45720" tIns="27432" bIns="27432">
            <a:spAutoFit/>
          </a:bodyPr>
          <a:lstStyle/>
          <a:p>
            <a:pPr algn="l">
              <a:spcAft>
                <a:spcPts val="600"/>
              </a:spcAft>
            </a:pPr>
            <a:r>
              <a:rPr sz="1300" b="0" i="0">
                <a:solidFill>
                  <a:srgbClr val="5A6472"/>
                </a:solidFill>
                <a:latin typeface="Calibri"/>
              </a:rPr>
              <a:t>Sources: public descriptions, company profiles and app-store listings, not hands-on testing. Full comparison: Report Table 2.1.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Research / Knowledge Gap</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12</a:t>
            </a:r>
          </a:p>
        </p:txBody>
      </p:sp>
      <p:graphicFrame>
        <p:nvGraphicFramePr>
          <p:cNvPr id="6" name="Table 5"/>
          <p:cNvGraphicFramePr>
            <a:graphicFrameLocks noGrp="1"/>
          </p:cNvGraphicFramePr>
          <p:nvPr/>
        </p:nvGraphicFramePr>
        <p:xfrm>
          <a:off x="731520" y="1280160"/>
          <a:ext cx="10698480" cy="3291840"/>
        </p:xfrm>
        <a:graphic>
          <a:graphicData uri="http://schemas.openxmlformats.org/drawingml/2006/table">
            <a:tbl>
              <a:tblPr firstRow="1" bandRow="1">
                <a:tableStyleId>{5C22544A-7EE6-4342-B048-85BDC9FD1C3A}</a:tableStyleId>
              </a:tblPr>
              <a:tblGrid>
                <a:gridCol w="2834640"/>
                <a:gridCol w="1965960"/>
                <a:gridCol w="1965960"/>
                <a:gridCol w="1965960"/>
                <a:gridCol w="1965960"/>
              </a:tblGrid>
              <a:tr h="548640">
                <a:tc>
                  <a:txBody>
                    <a:bodyPr wrap="square"/>
                    <a:lstStyle/>
                    <a:p>
                      <a:r>
                        <a:rPr sz="1400" b="1">
                          <a:solidFill>
                            <a:srgbClr val="FFFFFF"/>
                          </a:solidFill>
                          <a:latin typeface="Calibri"/>
                        </a:rPr>
                        <a:t/>
                      </a:r>
                    </a:p>
                  </a:txBody>
                  <a:tcPr marL="73152" marR="73152" marT="36576" marB="36576" anchor="ctr">
                    <a:solidFill>
                      <a:srgbClr val="192D4B"/>
                    </a:solidFill>
                  </a:tcPr>
                </a:tc>
                <a:tc>
                  <a:txBody>
                    <a:bodyPr wrap="square"/>
                    <a:lstStyle/>
                    <a:p>
                      <a:r>
                        <a:rPr sz="1400" b="1">
                          <a:solidFill>
                            <a:srgbClr val="FFFFFF"/>
                          </a:solidFill>
                          <a:latin typeface="Calibri"/>
                        </a:rPr>
                        <a:t>Local discovery</a:t>
                      </a:r>
                    </a:p>
                  </a:txBody>
                  <a:tcPr marL="73152" marR="73152" marT="36576" marB="36576" anchor="ctr">
                    <a:solidFill>
                      <a:srgbClr val="192D4B"/>
                    </a:solidFill>
                  </a:tcPr>
                </a:tc>
                <a:tc>
                  <a:txBody>
                    <a:bodyPr wrap="square"/>
                    <a:lstStyle/>
                    <a:p>
                      <a:r>
                        <a:rPr sz="1400" b="1">
                          <a:solidFill>
                            <a:srgbClr val="FFFFFF"/>
                          </a:solidFill>
                          <a:latin typeface="Calibri"/>
                        </a:rPr>
                        <a:t>Verifiable trust</a:t>
                      </a:r>
                    </a:p>
                  </a:txBody>
                  <a:tcPr marL="73152" marR="73152" marT="36576" marB="36576" anchor="ctr">
                    <a:solidFill>
                      <a:srgbClr val="192D4B"/>
                    </a:solidFill>
                  </a:tcPr>
                </a:tc>
                <a:tc>
                  <a:txBody>
                    <a:bodyPr wrap="square"/>
                    <a:lstStyle/>
                    <a:p>
                      <a:r>
                        <a:rPr sz="1400" b="1">
                          <a:solidFill>
                            <a:srgbClr val="FFFFFF"/>
                          </a:solidFill>
                          <a:latin typeface="Calibri"/>
                        </a:rPr>
                        <a:t>Works with cash</a:t>
                      </a:r>
                    </a:p>
                  </a:txBody>
                  <a:tcPr marL="73152" marR="73152" marT="36576" marB="36576" anchor="ctr">
                    <a:solidFill>
                      <a:srgbClr val="192D4B"/>
                    </a:solidFill>
                  </a:tcPr>
                </a:tc>
                <a:tc>
                  <a:txBody>
                    <a:bodyPr wrap="square"/>
                    <a:lstStyle/>
                    <a:p>
                      <a:r>
                        <a:rPr sz="1400" b="1">
                          <a:solidFill>
                            <a:srgbClr val="FFFFFF"/>
                          </a:solidFill>
                          <a:latin typeface="Calibri"/>
                        </a:rPr>
                        <a:t>Works offline</a:t>
                      </a:r>
                    </a:p>
                  </a:txBody>
                  <a:tcPr marL="73152" marR="73152" marT="36576" marB="36576" anchor="ctr">
                    <a:solidFill>
                      <a:srgbClr val="192D4B"/>
                    </a:solidFill>
                  </a:tcPr>
                </a:tc>
              </a:tr>
              <a:tr h="548640">
                <a:tc>
                  <a:txBody>
                    <a:bodyPr wrap="square"/>
                    <a:lstStyle/>
                    <a:p>
                      <a:r>
                        <a:rPr sz="1800" b="0">
                          <a:solidFill>
                            <a:srgbClr val="232323"/>
                          </a:solidFill>
                          <a:latin typeface="Calibri"/>
                        </a:rPr>
                        <a:t>B-ne</a:t>
                      </a:r>
                    </a:p>
                  </a:txBody>
                  <a:tcPr marL="73152" marR="73152" marT="36576" marB="36576" anchor="ctr">
                    <a:solidFill>
                      <a:srgbClr val="FFFFFF"/>
                    </a:solidFill>
                  </a:tcPr>
                </a:tc>
                <a:tc>
                  <a:txBody>
                    <a:bodyPr wrap="square"/>
                    <a:lstStyle/>
                    <a:p>
                      <a:pPr algn="ctr"/>
                      <a:r>
                        <a:rPr sz="1800" b="0">
                          <a:solidFill>
                            <a:srgbClr val="5A6472"/>
                          </a:solidFill>
                          <a:latin typeface="Calibri"/>
                        </a:rPr>
                        <a:t>—</a:t>
                      </a:r>
                    </a:p>
                  </a:txBody>
                  <a:tcPr marL="73152" marR="73152" marT="36576" marB="36576" anchor="ctr">
                    <a:solidFill>
                      <a:srgbClr val="FFFFFF"/>
                    </a:solidFill>
                  </a:tcPr>
                </a:tc>
                <a:tc>
                  <a:txBody>
                    <a:bodyPr wrap="square"/>
                    <a:lstStyle/>
                    <a:p>
                      <a:pPr algn="ctr"/>
                      <a:r>
                        <a:rPr sz="1800" b="0">
                          <a:solidFill>
                            <a:srgbClr val="5A6472"/>
                          </a:solidFill>
                          <a:latin typeface="Calibri"/>
                        </a:rPr>
                        <a:t>—</a:t>
                      </a:r>
                    </a:p>
                  </a:txBody>
                  <a:tcPr marL="73152" marR="73152" marT="36576" marB="36576" anchor="ctr">
                    <a:solidFill>
                      <a:srgbClr val="FFFFFF"/>
                    </a:solidFill>
                  </a:tcPr>
                </a:tc>
                <a:tc>
                  <a:txBody>
                    <a:bodyPr wrap="square"/>
                    <a:lstStyle/>
                    <a:p>
                      <a:pPr algn="ctr"/>
                      <a:r>
                        <a:rPr sz="1800" b="0">
                          <a:solidFill>
                            <a:srgbClr val="5A6472"/>
                          </a:solidFill>
                          <a:latin typeface="Calibri"/>
                        </a:rPr>
                        <a:t>—</a:t>
                      </a:r>
                    </a:p>
                  </a:txBody>
                  <a:tcPr marL="73152" marR="73152" marT="36576" marB="36576" anchor="ctr">
                    <a:solidFill>
                      <a:srgbClr val="FFFFFF"/>
                    </a:solidFill>
                  </a:tcPr>
                </a:tc>
                <a:tc>
                  <a:txBody>
                    <a:bodyPr wrap="square"/>
                    <a:lstStyle/>
                    <a:p>
                      <a:pPr algn="ctr"/>
                      <a:r>
                        <a:rPr sz="1800" b="0">
                          <a:solidFill>
                            <a:srgbClr val="5A6472"/>
                          </a:solidFill>
                          <a:latin typeface="Calibri"/>
                        </a:rPr>
                        <a:t>—</a:t>
                      </a:r>
                    </a:p>
                  </a:txBody>
                  <a:tcPr marL="73152" marR="73152" marT="36576" marB="36576" anchor="ctr">
                    <a:solidFill>
                      <a:srgbClr val="FFFFFF"/>
                    </a:solidFill>
                  </a:tcPr>
                </a:tc>
              </a:tr>
              <a:tr h="548640">
                <a:tc>
                  <a:txBody>
                    <a:bodyPr wrap="square"/>
                    <a:lstStyle/>
                    <a:p>
                      <a:r>
                        <a:rPr sz="1800" b="0">
                          <a:solidFill>
                            <a:srgbClr val="232323"/>
                          </a:solidFill>
                          <a:latin typeface="Calibri"/>
                        </a:rPr>
                        <a:t>Kaymu (now Jumia)</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c>
                  <a:txBody>
                    <a:bodyPr wrap="square"/>
                    <a:lstStyle/>
                    <a:p>
                      <a:pPr algn="ctr"/>
                      <a:r>
                        <a:rPr sz="1800" b="1">
                          <a:solidFill>
                            <a:srgbClr val="2E7D4F"/>
                          </a:solidFill>
                          <a:latin typeface="Calibri"/>
                        </a:rPr>
                        <a:t>✓</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r>
              <a:tr h="548640">
                <a:tc>
                  <a:txBody>
                    <a:bodyPr wrap="square"/>
                    <a:lstStyle/>
                    <a:p>
                      <a:r>
                        <a:rPr sz="1800" b="0">
                          <a:solidFill>
                            <a:srgbClr val="232323"/>
                          </a:solidFill>
                          <a:latin typeface="Calibri"/>
                        </a:rPr>
                        <a:t>TreeMarket</a:t>
                      </a:r>
                    </a:p>
                  </a:txBody>
                  <a:tcPr marL="73152" marR="73152" marT="36576" marB="36576" anchor="ctr">
                    <a:solidFill>
                      <a:srgbClr val="FFFFFF"/>
                    </a:solidFill>
                  </a:tcPr>
                </a:tc>
                <a:tc>
                  <a:txBody>
                    <a:bodyPr wrap="square"/>
                    <a:lstStyle/>
                    <a:p>
                      <a:pPr algn="ctr"/>
                      <a:r>
                        <a:rPr sz="1800" b="1">
                          <a:solidFill>
                            <a:srgbClr val="2E7D4F"/>
                          </a:solidFill>
                          <a:latin typeface="Calibri"/>
                        </a:rPr>
                        <a:t>✓</a:t>
                      </a:r>
                    </a:p>
                  </a:txBody>
                  <a:tcPr marL="73152" marR="73152" marT="36576" marB="36576" anchor="ctr">
                    <a:solidFill>
                      <a:srgbClr val="FFFFFF"/>
                    </a:solidFill>
                  </a:tcPr>
                </a:tc>
                <a:tc>
                  <a:txBody>
                    <a:bodyPr wrap="square"/>
                    <a:lstStyle/>
                    <a:p>
                      <a:pPr algn="ctr"/>
                      <a:r>
                        <a:rPr sz="1800" b="0">
                          <a:solidFill>
                            <a:srgbClr val="5A6472"/>
                          </a:solidFill>
                          <a:latin typeface="Calibri"/>
                        </a:rPr>
                        <a:t>—</a:t>
                      </a:r>
                    </a:p>
                  </a:txBody>
                  <a:tcPr marL="73152" marR="73152" marT="36576" marB="36576" anchor="ctr">
                    <a:solidFill>
                      <a:srgbClr val="FFFFFF"/>
                    </a:solidFill>
                  </a:tcPr>
                </a:tc>
                <a:tc>
                  <a:txBody>
                    <a:bodyPr wrap="square"/>
                    <a:lstStyle/>
                    <a:p>
                      <a:pPr algn="ctr"/>
                      <a:r>
                        <a:rPr sz="1800" b="1">
                          <a:solidFill>
                            <a:srgbClr val="2E7D4F"/>
                          </a:solidFill>
                          <a:latin typeface="Calibri"/>
                        </a:rPr>
                        <a:t>✓</a:t>
                      </a:r>
                    </a:p>
                  </a:txBody>
                  <a:tcPr marL="73152" marR="73152" marT="36576" marB="36576" anchor="ctr">
                    <a:solidFill>
                      <a:srgbClr val="FFFFFF"/>
                    </a:solidFill>
                  </a:tcPr>
                </a:tc>
                <a:tc>
                  <a:txBody>
                    <a:bodyPr wrap="square"/>
                    <a:lstStyle/>
                    <a:p>
                      <a:pPr algn="ctr"/>
                      <a:r>
                        <a:rPr sz="1800" b="0">
                          <a:solidFill>
                            <a:srgbClr val="5A6472"/>
                          </a:solidFill>
                          <a:latin typeface="Calibri"/>
                        </a:rPr>
                        <a:t>—</a:t>
                      </a:r>
                    </a:p>
                  </a:txBody>
                  <a:tcPr marL="73152" marR="73152" marT="36576" marB="36576" anchor="ctr">
                    <a:solidFill>
                      <a:srgbClr val="FFFFFF"/>
                    </a:solidFill>
                  </a:tcPr>
                </a:tc>
              </a:tr>
              <a:tr h="548640">
                <a:tc>
                  <a:txBody>
                    <a:bodyPr wrap="square"/>
                    <a:lstStyle/>
                    <a:p>
                      <a:r>
                        <a:rPr sz="1800" b="0">
                          <a:solidFill>
                            <a:srgbClr val="232323"/>
                          </a:solidFill>
                          <a:latin typeface="Calibri"/>
                        </a:rPr>
                        <a:t>Egatee</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r>
              <a:tr h="548640">
                <a:tc>
                  <a:txBody>
                    <a:bodyPr wrap="square"/>
                    <a:lstStyle/>
                    <a:p>
                      <a:r>
                        <a:rPr sz="1800" b="1">
                          <a:solidFill>
                            <a:srgbClr val="D85A30"/>
                          </a:solidFill>
                          <a:latin typeface="Calibri"/>
                        </a:rPr>
                        <a:t>ZamMarket</a:t>
                      </a:r>
                    </a:p>
                  </a:txBody>
                  <a:tcPr marL="73152" marR="73152" marT="36576" marB="36576" anchor="ctr">
                    <a:solidFill>
                      <a:srgbClr val="FFFFFF"/>
                    </a:solidFill>
                  </a:tcPr>
                </a:tc>
                <a:tc>
                  <a:txBody>
                    <a:bodyPr wrap="square"/>
                    <a:lstStyle/>
                    <a:p>
                      <a:pPr algn="ctr"/>
                      <a:r>
                        <a:rPr sz="1800" b="1">
                          <a:solidFill>
                            <a:srgbClr val="2E7D4F"/>
                          </a:solidFill>
                          <a:latin typeface="Calibri"/>
                        </a:rPr>
                        <a:t>✓</a:t>
                      </a:r>
                    </a:p>
                  </a:txBody>
                  <a:tcPr marL="73152" marR="73152" marT="36576" marB="36576" anchor="ctr">
                    <a:solidFill>
                      <a:srgbClr val="FFFFFF"/>
                    </a:solidFill>
                  </a:tcPr>
                </a:tc>
                <a:tc>
                  <a:txBody>
                    <a:bodyPr wrap="square"/>
                    <a:lstStyle/>
                    <a:p>
                      <a:pPr algn="ctr"/>
                      <a:r>
                        <a:rPr sz="1800" b="1">
                          <a:solidFill>
                            <a:srgbClr val="2E7D4F"/>
                          </a:solidFill>
                          <a:latin typeface="Calibri"/>
                        </a:rPr>
                        <a:t>✓</a:t>
                      </a:r>
                    </a:p>
                  </a:txBody>
                  <a:tcPr marL="73152" marR="73152" marT="36576" marB="36576" anchor="ctr">
                    <a:solidFill>
                      <a:srgbClr val="FFFFFF"/>
                    </a:solidFill>
                  </a:tcPr>
                </a:tc>
                <a:tc>
                  <a:txBody>
                    <a:bodyPr wrap="square"/>
                    <a:lstStyle/>
                    <a:p>
                      <a:pPr algn="ctr"/>
                      <a:r>
                        <a:rPr sz="1800" b="1">
                          <a:solidFill>
                            <a:srgbClr val="2E7D4F"/>
                          </a:solidFill>
                          <a:latin typeface="Calibri"/>
                        </a:rPr>
                        <a:t>✓</a:t>
                      </a:r>
                    </a:p>
                  </a:txBody>
                  <a:tcPr marL="73152" marR="73152" marT="36576" marB="36576" anchor="ctr">
                    <a:solidFill>
                      <a:srgbClr val="FFFFFF"/>
                    </a:solidFill>
                  </a:tcPr>
                </a:tc>
                <a:tc>
                  <a:txBody>
                    <a:bodyPr wrap="square"/>
                    <a:lstStyle/>
                    <a:p>
                      <a:pPr algn="ctr"/>
                      <a:r>
                        <a:rPr sz="1800" b="1">
                          <a:solidFill>
                            <a:srgbClr val="2E7D4F"/>
                          </a:solidFill>
                          <a:latin typeface="Calibri"/>
                        </a:rPr>
                        <a:t>✓</a:t>
                      </a:r>
                    </a:p>
                  </a:txBody>
                  <a:tcPr marL="73152" marR="73152" marT="36576" marB="36576" anchor="ctr">
                    <a:solidFill>
                      <a:srgbClr val="FFFFFF"/>
                    </a:solidFill>
                  </a:tcPr>
                </a:tc>
              </a:tr>
            </a:tbl>
          </a:graphicData>
        </a:graphic>
      </p:graphicFrame>
      <p:sp>
        <p:nvSpPr>
          <p:cNvPr id="7" name="TextBox 6"/>
          <p:cNvSpPr txBox="1"/>
          <p:nvPr/>
        </p:nvSpPr>
        <p:spPr>
          <a:xfrm>
            <a:off x="731520" y="4754880"/>
            <a:ext cx="10698480" cy="365760"/>
          </a:xfrm>
          <a:prstGeom prst="rect">
            <a:avLst/>
          </a:prstGeom>
          <a:noFill/>
        </p:spPr>
        <p:txBody>
          <a:bodyPr wrap="square" anchor="t" lIns="45720" rIns="45720" tIns="27432" bIns="27432">
            <a:spAutoFit/>
          </a:bodyPr>
          <a:lstStyle/>
          <a:p>
            <a:pPr algn="l">
              <a:spcAft>
                <a:spcPts val="600"/>
              </a:spcAft>
            </a:pPr>
            <a:r>
              <a:rPr sz="1200" b="0" i="0">
                <a:solidFill>
                  <a:srgbClr val="5A6472"/>
                </a:solidFill>
                <a:latin typeface="Calibri"/>
              </a:rPr>
              <a:t>— = not documented in the sources reviewed</a:t>
            </a:r>
          </a:p>
        </p:txBody>
      </p:sp>
      <p:sp>
        <p:nvSpPr>
          <p:cNvPr id="8" name="Rounded Rectangle 7"/>
          <p:cNvSpPr/>
          <p:nvPr/>
        </p:nvSpPr>
        <p:spPr>
          <a:xfrm>
            <a:off x="731520" y="5166360"/>
            <a:ext cx="10698480" cy="86868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66360"/>
            <a:ext cx="10332720" cy="868680"/>
          </a:xfrm>
          <a:prstGeom prst="rect">
            <a:avLst/>
          </a:prstGeom>
          <a:noFill/>
        </p:spPr>
        <p:txBody>
          <a:bodyPr wrap="square" anchor="ctr" lIns="45720" rIns="45720" tIns="27432" bIns="27432">
            <a:spAutoFit/>
          </a:bodyPr>
          <a:lstStyle/>
          <a:p>
            <a:pPr algn="l">
              <a:spcAft>
                <a:spcPts val="600"/>
              </a:spcAft>
            </a:pPr>
            <a:r>
              <a:rPr sz="1900" b="1" i="0">
                <a:solidFill>
                  <a:srgbClr val="232323"/>
                </a:solidFill>
                <a:latin typeface="Calibri"/>
              </a:rPr>
              <a:t>No reviewed platform combines all four. ZamMarket was designed for that combination.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332720" cy="1280160"/>
          </a:xfrm>
          <a:prstGeom prst="rect">
            <a:avLst/>
          </a:prstGeom>
          <a:noFill/>
        </p:spPr>
        <p:txBody>
          <a:bodyPr wrap="none">
            <a:spAutoFit/>
          </a:bodyPr>
          <a:lstStyle/>
          <a:p>
            <a:pPr algn="ctr">
              <a:defRPr sz="4000" b="1">
                <a:solidFill>
                  <a:srgbClr val="FFFFFF"/>
                </a:solidFill>
              </a:defRPr>
            </a:pPr>
            <a:r>
              <a:t>Methodology</a:t>
            </a:r>
          </a:p>
        </p:txBody>
      </p:sp>
      <p:sp>
        <p:nvSpPr>
          <p:cNvPr id="3" name="Rectangle 2"/>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Research / Development Approach</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14</a:t>
            </a:r>
          </a:p>
        </p:txBody>
      </p:sp>
      <p:sp>
        <p:nvSpPr>
          <p:cNvPr id="6" name="Rounded Rectangle 5"/>
          <p:cNvSpPr/>
          <p:nvPr/>
        </p:nvSpPr>
        <p:spPr>
          <a:xfrm>
            <a:off x="731520" y="1371600"/>
            <a:ext cx="3657600" cy="4480560"/>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28800"/>
            <a:ext cx="3657600" cy="914400"/>
          </a:xfrm>
          <a:prstGeom prst="rect">
            <a:avLst/>
          </a:prstGeom>
          <a:noFill/>
        </p:spPr>
        <p:txBody>
          <a:bodyPr wrap="square" anchor="t" lIns="45720" rIns="45720" tIns="27432" bIns="27432">
            <a:spAutoFit/>
          </a:bodyPr>
          <a:lstStyle/>
          <a:p>
            <a:pPr algn="ctr">
              <a:spcAft>
                <a:spcPts val="600"/>
              </a:spcAft>
            </a:pPr>
            <a:r>
              <a:rPr sz="4000" b="1" i="0">
                <a:solidFill>
                  <a:srgbClr val="FFFFFF"/>
                </a:solidFill>
                <a:latin typeface="Calibri"/>
              </a:rPr>
              <a:t>Agile</a:t>
            </a:r>
          </a:p>
        </p:txBody>
      </p:sp>
      <p:sp>
        <p:nvSpPr>
          <p:cNvPr id="8" name="TextBox 7"/>
          <p:cNvSpPr txBox="1"/>
          <p:nvPr/>
        </p:nvSpPr>
        <p:spPr>
          <a:xfrm>
            <a:off x="1005840" y="2834640"/>
            <a:ext cx="3108960" cy="2560320"/>
          </a:xfrm>
          <a:prstGeom prst="rect">
            <a:avLst/>
          </a:prstGeom>
          <a:noFill/>
        </p:spPr>
        <p:txBody>
          <a:bodyPr wrap="square" anchor="t" lIns="45720" rIns="45720" tIns="27432" bIns="27432">
            <a:spAutoFit/>
          </a:bodyPr>
          <a:lstStyle/>
          <a:p>
            <a:pPr algn="ctr">
              <a:spcAft>
                <a:spcPts val="600"/>
              </a:spcAft>
            </a:pPr>
            <a:r>
              <a:rPr sz="1800" b="0" i="0">
                <a:solidFill>
                  <a:srgbClr val="FFFFFF"/>
                </a:solidFill>
                <a:latin typeface="Calibri"/>
              </a:rPr>
              <a:t>Short sprints, each ending in a working, tested increment</a:t>
            </a:r>
          </a:p>
        </p:txBody>
      </p:sp>
      <p:sp>
        <p:nvSpPr>
          <p:cNvPr id="9" name="TextBox 8"/>
          <p:cNvSpPr txBox="1"/>
          <p:nvPr/>
        </p:nvSpPr>
        <p:spPr>
          <a:xfrm>
            <a:off x="4754880" y="1371600"/>
            <a:ext cx="6675120" cy="4480560"/>
          </a:xfrm>
          <a:prstGeom prst="rect">
            <a:avLst/>
          </a:prstGeom>
          <a:noFill/>
        </p:spPr>
        <p:txBody>
          <a:bodyPr wrap="square" anchor="t" lIns="45720" rIns="45720" tIns="27432" bIns="27432">
            <a:spAutoFit/>
          </a:bodyPr>
          <a:lstStyle/>
          <a:p>
            <a:pPr algn="l">
              <a:spcAft>
                <a:spcPts val="1400"/>
              </a:spcAft>
            </a:pPr>
            <a:r>
              <a:rPr sz="1800" b="1" i="0">
                <a:solidFill>
                  <a:srgbClr val="192D4B"/>
                </a:solidFill>
                <a:latin typeface="Calibri"/>
              </a:rPr>
              <a:t>Why agile? </a:t>
            </a:r>
            <a:r>
              <a:rPr sz="1800" b="0" i="0">
                <a:solidFill>
                  <a:srgbClr val="232323"/>
                </a:solidFill>
                <a:latin typeface="Calibri"/>
              </a:rPr>
              <a:t>Some requirements could only be settled by building them. Whether Nyanja and Bemba voice input was feasible only became clear once a prototype ran in real browsers.</a:t>
            </a:r>
          </a:p>
          <a:p>
            <a:pPr algn="l">
              <a:spcAft>
                <a:spcPts val="1400"/>
              </a:spcAft>
            </a:pPr>
            <a:r>
              <a:rPr sz="1800" b="1" i="0">
                <a:solidFill>
                  <a:srgbClr val="192D4B"/>
                </a:solidFill>
                <a:latin typeface="Calibri"/>
              </a:rPr>
              <a:t>How it was organised: </a:t>
            </a:r>
            <a:r>
              <a:rPr sz="1800" b="0" i="0">
                <a:solidFill>
                  <a:srgbClr val="232323"/>
                </a:solidFill>
                <a:latin typeface="Calibri"/>
              </a:rPr>
              <a:t>four sprints from May 2026, then a stabilisation period (June to September) for fixes, security hardening and automated tests.</a:t>
            </a:r>
          </a:p>
          <a:p>
            <a:pPr algn="l">
              <a:spcAft>
                <a:spcPts val="1400"/>
              </a:spcAft>
            </a:pPr>
            <a:r>
              <a:rPr sz="1800" b="1" i="0">
                <a:solidFill>
                  <a:srgbClr val="192D4B"/>
                </a:solidFill>
                <a:latin typeface="Calibri"/>
              </a:rPr>
              <a:t>Each sprint: </a:t>
            </a:r>
            <a:r>
              <a:rPr sz="1800" b="0" i="0">
                <a:solidFill>
                  <a:srgbClr val="232323"/>
                </a:solidFill>
                <a:latin typeface="Calibri"/>
              </a:rPr>
              <a:t>plan user stories → build → test → review, with defects fixed in place.</a:t>
            </a:r>
          </a:p>
          <a:p>
            <a:pPr algn="l">
              <a:spcAft>
                <a:spcPts val="1400"/>
              </a:spcAft>
            </a:pPr>
            <a:r>
              <a:rPr sz="1800" b="1" i="0">
                <a:solidFill>
                  <a:srgbClr val="192D4B"/>
                </a:solidFill>
                <a:latin typeface="Calibri"/>
              </a:rPr>
              <a:t>Evidence: </a:t>
            </a:r>
            <a:r>
              <a:rPr sz="1800" b="0" i="0">
                <a:solidFill>
                  <a:srgbClr val="232323"/>
                </a:solidFill>
                <a:latin typeface="Calibri"/>
              </a:rPr>
              <a:t>the Git history on GitHub records every increment.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Project Workflow</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15</a:t>
            </a:r>
          </a:p>
        </p:txBody>
      </p:sp>
      <p:sp>
        <p:nvSpPr>
          <p:cNvPr id="6" name="Pentagon 5"/>
          <p:cNvSpPr/>
          <p:nvPr/>
        </p:nvSpPr>
        <p:spPr>
          <a:xfrm>
            <a:off x="502920" y="1554480"/>
            <a:ext cx="2331720" cy="914400"/>
          </a:xfrm>
          <a:prstGeom prst="homePlat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a:lstStyle/>
          <a:p>
            <a:pPr algn="ctr"/>
            <a:r>
              <a:rPr sz="1700" b="1">
                <a:solidFill>
                  <a:srgbClr val="FFFFFF"/>
                </a:solidFill>
                <a:latin typeface="Calibri"/>
              </a:rPr>
              <a:t>Sprint 1</a:t>
            </a:r>
          </a:p>
        </p:txBody>
      </p:sp>
      <p:sp>
        <p:nvSpPr>
          <p:cNvPr id="7" name="TextBox 6"/>
          <p:cNvSpPr txBox="1"/>
          <p:nvPr/>
        </p:nvSpPr>
        <p:spPr>
          <a:xfrm>
            <a:off x="640080" y="2697480"/>
            <a:ext cx="2057400" cy="1463040"/>
          </a:xfrm>
          <a:prstGeom prst="rect">
            <a:avLst/>
          </a:prstGeom>
          <a:noFill/>
        </p:spPr>
        <p:txBody>
          <a:bodyPr wrap="square" anchor="t" lIns="45720" rIns="45720" tIns="27432" bIns="27432">
            <a:spAutoFit/>
          </a:bodyPr>
          <a:lstStyle/>
          <a:p>
            <a:pPr algn="ctr">
              <a:spcAft>
                <a:spcPts val="600"/>
              </a:spcAft>
            </a:pPr>
            <a:r>
              <a:rPr sz="1500" b="0" i="0">
                <a:solidFill>
                  <a:srgbClr val="232323"/>
                </a:solidFill>
                <a:latin typeface="Calibri"/>
              </a:rPr>
              <a:t>Registration, OTP, login and roles</a:t>
            </a:r>
          </a:p>
        </p:txBody>
      </p:sp>
      <p:sp>
        <p:nvSpPr>
          <p:cNvPr id="8" name="Chevron 7"/>
          <p:cNvSpPr/>
          <p:nvPr/>
        </p:nvSpPr>
        <p:spPr>
          <a:xfrm>
            <a:off x="2770632" y="1554480"/>
            <a:ext cx="2331720" cy="914400"/>
          </a:xfrm>
          <a:prstGeom prst="chevron">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a:lstStyle/>
          <a:p>
            <a:pPr algn="ctr"/>
            <a:r>
              <a:rPr sz="1700" b="1">
                <a:solidFill>
                  <a:srgbClr val="FFFFFF"/>
                </a:solidFill>
                <a:latin typeface="Calibri"/>
              </a:rPr>
              <a:t>Sprint 2</a:t>
            </a:r>
          </a:p>
        </p:txBody>
      </p:sp>
      <p:sp>
        <p:nvSpPr>
          <p:cNvPr id="9" name="TextBox 8"/>
          <p:cNvSpPr txBox="1"/>
          <p:nvPr/>
        </p:nvSpPr>
        <p:spPr>
          <a:xfrm>
            <a:off x="2907792" y="2697480"/>
            <a:ext cx="2057400" cy="1463040"/>
          </a:xfrm>
          <a:prstGeom prst="rect">
            <a:avLst/>
          </a:prstGeom>
          <a:noFill/>
        </p:spPr>
        <p:txBody>
          <a:bodyPr wrap="square" anchor="t" lIns="45720" rIns="45720" tIns="27432" bIns="27432">
            <a:spAutoFit/>
          </a:bodyPr>
          <a:lstStyle/>
          <a:p>
            <a:pPr algn="ctr">
              <a:spcAft>
                <a:spcPts val="600"/>
              </a:spcAft>
            </a:pPr>
            <a:r>
              <a:rPr sz="1500" b="0" i="0">
                <a:solidFill>
                  <a:srgbClr val="232323"/>
                </a:solidFill>
                <a:latin typeface="Calibri"/>
              </a:rPr>
              <a:t>Listings, photos, browse and filters, voice input</a:t>
            </a:r>
          </a:p>
        </p:txBody>
      </p:sp>
      <p:sp>
        <p:nvSpPr>
          <p:cNvPr id="10" name="Chevron 9"/>
          <p:cNvSpPr/>
          <p:nvPr/>
        </p:nvSpPr>
        <p:spPr>
          <a:xfrm>
            <a:off x="5038344" y="1554480"/>
            <a:ext cx="2331720" cy="914400"/>
          </a:xfrm>
          <a:prstGeom prst="chevron">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a:lstStyle/>
          <a:p>
            <a:pPr algn="ctr"/>
            <a:r>
              <a:rPr sz="1700" b="1">
                <a:solidFill>
                  <a:srgbClr val="FFFFFF"/>
                </a:solidFill>
                <a:latin typeface="Calibri"/>
              </a:rPr>
              <a:t>Sprint 3</a:t>
            </a:r>
          </a:p>
        </p:txBody>
      </p:sp>
      <p:sp>
        <p:nvSpPr>
          <p:cNvPr id="11" name="TextBox 10"/>
          <p:cNvSpPr txBox="1"/>
          <p:nvPr/>
        </p:nvSpPr>
        <p:spPr>
          <a:xfrm>
            <a:off x="5175504" y="2697480"/>
            <a:ext cx="2057400" cy="1463040"/>
          </a:xfrm>
          <a:prstGeom prst="rect">
            <a:avLst/>
          </a:prstGeom>
          <a:noFill/>
        </p:spPr>
        <p:txBody>
          <a:bodyPr wrap="square" anchor="t" lIns="45720" rIns="45720" tIns="27432" bIns="27432">
            <a:spAutoFit/>
          </a:bodyPr>
          <a:lstStyle/>
          <a:p>
            <a:pPr algn="ctr">
              <a:spcAft>
                <a:spcPts val="600"/>
              </a:spcAft>
            </a:pPr>
            <a:r>
              <a:rPr sz="1500" b="0" i="0">
                <a:solidFill>
                  <a:srgbClr val="232323"/>
                </a:solidFill>
                <a:latin typeface="Calibri"/>
              </a:rPr>
              <a:t>Real-time chat, offline queue, hash-chain trust score</a:t>
            </a:r>
          </a:p>
        </p:txBody>
      </p:sp>
      <p:sp>
        <p:nvSpPr>
          <p:cNvPr id="12" name="Chevron 11"/>
          <p:cNvSpPr/>
          <p:nvPr/>
        </p:nvSpPr>
        <p:spPr>
          <a:xfrm>
            <a:off x="7306055" y="1554480"/>
            <a:ext cx="2331720" cy="914400"/>
          </a:xfrm>
          <a:prstGeom prst="chevron">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a:lstStyle/>
          <a:p>
            <a:pPr algn="ctr"/>
            <a:r>
              <a:rPr sz="1700" b="1">
                <a:solidFill>
                  <a:srgbClr val="FFFFFF"/>
                </a:solidFill>
                <a:latin typeface="Calibri"/>
              </a:rPr>
              <a:t>Sprint 4</a:t>
            </a:r>
          </a:p>
        </p:txBody>
      </p:sp>
      <p:sp>
        <p:nvSpPr>
          <p:cNvPr id="13" name="TextBox 12"/>
          <p:cNvSpPr txBox="1"/>
          <p:nvPr/>
        </p:nvSpPr>
        <p:spPr>
          <a:xfrm>
            <a:off x="7443215" y="2697480"/>
            <a:ext cx="2057400" cy="1463040"/>
          </a:xfrm>
          <a:prstGeom prst="rect">
            <a:avLst/>
          </a:prstGeom>
          <a:noFill/>
        </p:spPr>
        <p:txBody>
          <a:bodyPr wrap="square" anchor="t" lIns="45720" rIns="45720" tIns="27432" bIns="27432">
            <a:spAutoFit/>
          </a:bodyPr>
          <a:lstStyle/>
          <a:p>
            <a:pPr algn="ctr">
              <a:spcAft>
                <a:spcPts val="600"/>
              </a:spcAft>
            </a:pPr>
            <a:r>
              <a:rPr sz="1500" b="0" i="0">
                <a:solidFill>
                  <a:srgbClr val="232323"/>
                </a:solidFill>
                <a:latin typeface="Calibri"/>
              </a:rPr>
              <a:t>Admin panel, mobile-first styling</a:t>
            </a:r>
          </a:p>
        </p:txBody>
      </p:sp>
      <p:sp>
        <p:nvSpPr>
          <p:cNvPr id="14" name="Chevron 13"/>
          <p:cNvSpPr/>
          <p:nvPr/>
        </p:nvSpPr>
        <p:spPr>
          <a:xfrm>
            <a:off x="9573768" y="1554480"/>
            <a:ext cx="2331720" cy="914400"/>
          </a:xfrm>
          <a:prstGeom prst="chevron">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a:lstStyle/>
          <a:p>
            <a:pPr algn="ctr"/>
            <a:r>
              <a:rPr sz="1700" b="1">
                <a:solidFill>
                  <a:srgbClr val="FFFFFF"/>
                </a:solidFill>
                <a:latin typeface="Calibri"/>
              </a:rPr>
              <a:t>Stabilise</a:t>
            </a:r>
          </a:p>
        </p:txBody>
      </p:sp>
      <p:sp>
        <p:nvSpPr>
          <p:cNvPr id="15" name="TextBox 14"/>
          <p:cNvSpPr txBox="1"/>
          <p:nvPr/>
        </p:nvSpPr>
        <p:spPr>
          <a:xfrm>
            <a:off x="9710928" y="2697480"/>
            <a:ext cx="2057400" cy="1463040"/>
          </a:xfrm>
          <a:prstGeom prst="rect">
            <a:avLst/>
          </a:prstGeom>
          <a:noFill/>
        </p:spPr>
        <p:txBody>
          <a:bodyPr wrap="square" anchor="t" lIns="45720" rIns="45720" tIns="27432" bIns="27432">
            <a:spAutoFit/>
          </a:bodyPr>
          <a:lstStyle/>
          <a:p>
            <a:pPr algn="ctr">
              <a:spcAft>
                <a:spcPts val="600"/>
              </a:spcAft>
            </a:pPr>
            <a:r>
              <a:rPr sz="1500" b="0" i="0">
                <a:solidFill>
                  <a:srgbClr val="232323"/>
                </a:solidFill>
                <a:latin typeface="Calibri"/>
              </a:rPr>
              <a:t>Fixes, voice parser rewrite, security, tests and CI</a:t>
            </a:r>
          </a:p>
        </p:txBody>
      </p:sp>
      <p:sp>
        <p:nvSpPr>
          <p:cNvPr id="16" name="TextBox 15"/>
          <p:cNvSpPr txBox="1"/>
          <p:nvPr/>
        </p:nvSpPr>
        <p:spPr>
          <a:xfrm>
            <a:off x="502920" y="3840480"/>
            <a:ext cx="11247120" cy="365760"/>
          </a:xfrm>
          <a:prstGeom prst="rect">
            <a:avLst/>
          </a:prstGeom>
          <a:noFill/>
        </p:spPr>
        <p:txBody>
          <a:bodyPr wrap="square" anchor="t" lIns="45720" rIns="45720" tIns="27432" bIns="27432">
            <a:spAutoFit/>
          </a:bodyPr>
          <a:lstStyle/>
          <a:p>
            <a:pPr algn="ctr">
              <a:spcAft>
                <a:spcPts val="600"/>
              </a:spcAft>
            </a:pPr>
            <a:r>
              <a:rPr sz="1400" b="0" i="0">
                <a:solidFill>
                  <a:srgbClr val="5A6472"/>
                </a:solidFill>
                <a:latin typeface="Calibri"/>
              </a:rPr>
              <a:t>May 2026  →  June to September 2026</a:t>
            </a:r>
          </a:p>
        </p:txBody>
      </p:sp>
      <p:sp>
        <p:nvSpPr>
          <p:cNvPr id="17" name="Rounded Rectangle 16"/>
          <p:cNvSpPr/>
          <p:nvPr/>
        </p:nvSpPr>
        <p:spPr>
          <a:xfrm>
            <a:off x="731520" y="4434840"/>
            <a:ext cx="10698480" cy="14630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526280"/>
            <a:ext cx="10241280" cy="1280160"/>
          </a:xfrm>
          <a:prstGeom prst="rect">
            <a:avLst/>
          </a:prstGeom>
          <a:noFill/>
        </p:spPr>
        <p:txBody>
          <a:bodyPr wrap="square" anchor="t" lIns="45720" rIns="45720" tIns="27432" bIns="27432">
            <a:spAutoFit/>
          </a:bodyPr>
          <a:lstStyle/>
          <a:p>
            <a:pPr algn="l">
              <a:spcAft>
                <a:spcPts val="800"/>
              </a:spcAft>
            </a:pPr>
            <a:r>
              <a:rPr sz="1700" b="1" i="0">
                <a:solidFill>
                  <a:srgbClr val="192D4B"/>
                </a:solidFill>
                <a:latin typeface="Calibri"/>
              </a:rPr>
              <a:t>Inside every sprint: </a:t>
            </a:r>
            <a:r>
              <a:rPr sz="1700" b="0" i="0">
                <a:solidFill>
                  <a:srgbClr val="232323"/>
                </a:solidFill>
                <a:latin typeface="Calibri"/>
              </a:rPr>
              <a:t>requirements as user stories  →  design  →  implementation  →  testing  →  review</a:t>
            </a:r>
          </a:p>
          <a:p>
            <a:pPr algn="l">
              <a:spcAft>
                <a:spcPts val="800"/>
              </a:spcAft>
            </a:pPr>
            <a:r>
              <a:rPr sz="1700" b="1" i="0">
                <a:solidFill>
                  <a:srgbClr val="192D4B"/>
                </a:solidFill>
                <a:latin typeface="Calibri"/>
              </a:rPr>
              <a:t>Report and evaluation </a:t>
            </a:r>
            <a:r>
              <a:rPr sz="1700" b="0" i="0">
                <a:solidFill>
                  <a:srgbClr val="232323"/>
                </a:solidFill>
                <a:latin typeface="Calibri"/>
              </a:rPr>
              <a:t>ran alongside, using the same Git history and test results.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Tools and Technologies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16</a:t>
            </a:r>
          </a:p>
        </p:txBody>
      </p:sp>
      <p:sp>
        <p:nvSpPr>
          <p:cNvPr id="6" name="Rounded Rectangle 5"/>
          <p:cNvSpPr/>
          <p:nvPr/>
        </p:nvSpPr>
        <p:spPr>
          <a:xfrm>
            <a:off x="731520" y="1371600"/>
            <a:ext cx="3383280" cy="1874519"/>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Frontend</a:t>
            </a:r>
          </a:p>
        </p:txBody>
      </p:sp>
      <p:sp>
        <p:nvSpPr>
          <p:cNvPr id="8" name="TextBox 7"/>
          <p:cNvSpPr txBox="1"/>
          <p:nvPr/>
        </p:nvSpPr>
        <p:spPr>
          <a:xfrm>
            <a:off x="914400" y="1965960"/>
            <a:ext cx="3017520" cy="114299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React 19, Redux Toolkit, React Router 7, Vite</a:t>
            </a:r>
          </a:p>
        </p:txBody>
      </p:sp>
      <p:sp>
        <p:nvSpPr>
          <p:cNvPr id="9" name="Rounded Rectangle 8"/>
          <p:cNvSpPr/>
          <p:nvPr/>
        </p:nvSpPr>
        <p:spPr>
          <a:xfrm>
            <a:off x="4389120" y="1371600"/>
            <a:ext cx="3383280" cy="1874519"/>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50876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Offline / PWA</a:t>
            </a:r>
          </a:p>
        </p:txBody>
      </p:sp>
      <p:sp>
        <p:nvSpPr>
          <p:cNvPr id="11" name="TextBox 10"/>
          <p:cNvSpPr txBox="1"/>
          <p:nvPr/>
        </p:nvSpPr>
        <p:spPr>
          <a:xfrm>
            <a:off x="4572000" y="1965960"/>
            <a:ext cx="3017520" cy="114299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Service worker, IndexedDB, web app manifest</a:t>
            </a:r>
          </a:p>
        </p:txBody>
      </p:sp>
      <p:sp>
        <p:nvSpPr>
          <p:cNvPr id="12" name="Rounded Rectangle 11"/>
          <p:cNvSpPr/>
          <p:nvPr/>
        </p:nvSpPr>
        <p:spPr>
          <a:xfrm>
            <a:off x="8046720" y="1371600"/>
            <a:ext cx="3383280" cy="1874519"/>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50876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Backend</a:t>
            </a:r>
          </a:p>
        </p:txBody>
      </p:sp>
      <p:sp>
        <p:nvSpPr>
          <p:cNvPr id="14" name="TextBox 13"/>
          <p:cNvSpPr txBox="1"/>
          <p:nvPr/>
        </p:nvSpPr>
        <p:spPr>
          <a:xfrm>
            <a:off x="8229600" y="1965960"/>
            <a:ext cx="3017520" cy="114299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Node.js, Express 4, Socket.io for chat</a:t>
            </a:r>
          </a:p>
        </p:txBody>
      </p:sp>
      <p:sp>
        <p:nvSpPr>
          <p:cNvPr id="15" name="Rounded Rectangle 14"/>
          <p:cNvSpPr/>
          <p:nvPr/>
        </p:nvSpPr>
        <p:spPr>
          <a:xfrm>
            <a:off x="731520" y="3520440"/>
            <a:ext cx="3383280" cy="1874519"/>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65760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Data</a:t>
            </a:r>
          </a:p>
        </p:txBody>
      </p:sp>
      <p:sp>
        <p:nvSpPr>
          <p:cNvPr id="17" name="TextBox 16"/>
          <p:cNvSpPr txBox="1"/>
          <p:nvPr/>
        </p:nvSpPr>
        <p:spPr>
          <a:xfrm>
            <a:off x="914400" y="4114800"/>
            <a:ext cx="3017520" cy="114299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MongoDB Atlas, Mongoose, Cloudinary for photos</a:t>
            </a:r>
          </a:p>
        </p:txBody>
      </p:sp>
      <p:sp>
        <p:nvSpPr>
          <p:cNvPr id="18" name="Rounded Rectangle 17"/>
          <p:cNvSpPr/>
          <p:nvPr/>
        </p:nvSpPr>
        <p:spPr>
          <a:xfrm>
            <a:off x="4389120" y="3520440"/>
            <a:ext cx="3383280" cy="1874519"/>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365760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Security</a:t>
            </a:r>
          </a:p>
        </p:txBody>
      </p:sp>
      <p:sp>
        <p:nvSpPr>
          <p:cNvPr id="20" name="TextBox 19"/>
          <p:cNvSpPr txBox="1"/>
          <p:nvPr/>
        </p:nvSpPr>
        <p:spPr>
          <a:xfrm>
            <a:off x="4572000" y="4114800"/>
            <a:ext cx="3017520" cy="114299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JWT, bcrypt (12 rounds), rate limiting, SHA-256</a:t>
            </a:r>
          </a:p>
        </p:txBody>
      </p:sp>
      <p:sp>
        <p:nvSpPr>
          <p:cNvPr id="21" name="Rounded Rectangle 20"/>
          <p:cNvSpPr/>
          <p:nvPr/>
        </p:nvSpPr>
        <p:spPr>
          <a:xfrm>
            <a:off x="8046720" y="3520440"/>
            <a:ext cx="3383280" cy="1874519"/>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365760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Quality</a:t>
            </a:r>
          </a:p>
        </p:txBody>
      </p:sp>
      <p:sp>
        <p:nvSpPr>
          <p:cNvPr id="23" name="TextBox 22"/>
          <p:cNvSpPr txBox="1"/>
          <p:nvPr/>
        </p:nvSpPr>
        <p:spPr>
          <a:xfrm>
            <a:off x="8229600" y="4114800"/>
            <a:ext cx="3017520" cy="114299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Git, GitHub Actions, ESLint, node:test, Playwright</a:t>
            </a:r>
          </a:p>
        </p:txBody>
      </p:sp>
      <p:sp>
        <p:nvSpPr>
          <p:cNvPr id="24" name="TextBox 23"/>
          <p:cNvSpPr txBox="1"/>
          <p:nvPr/>
        </p:nvSpPr>
        <p:spPr>
          <a:xfrm>
            <a:off x="731520" y="5760720"/>
            <a:ext cx="10698480" cy="457200"/>
          </a:xfrm>
          <a:prstGeom prst="rect">
            <a:avLst/>
          </a:prstGeom>
          <a:noFill/>
        </p:spPr>
        <p:txBody>
          <a:bodyPr wrap="square" anchor="t" lIns="45720" rIns="45720" tIns="27432" bIns="27432">
            <a:spAutoFit/>
          </a:bodyPr>
          <a:lstStyle/>
          <a:p>
            <a:pPr algn="l">
              <a:spcAft>
                <a:spcPts val="600"/>
              </a:spcAft>
            </a:pPr>
            <a:r>
              <a:rPr sz="1600" b="1" i="0">
                <a:solidFill>
                  <a:srgbClr val="192D4B"/>
                </a:solidFill>
                <a:latin typeface="Calibri"/>
              </a:rPr>
              <a:t>Language: </a:t>
            </a:r>
            <a:r>
              <a:rPr sz="1600" b="0" i="0">
                <a:solidFill>
                  <a:srgbClr val="232323"/>
                </a:solidFill>
                <a:latin typeface="Calibri"/>
              </a:rPr>
              <a:t>JavaScript throughout  ·  </a:t>
            </a:r>
            <a:r>
              <a:rPr sz="1600" b="1" i="0">
                <a:solidFill>
                  <a:srgbClr val="192D4B"/>
                </a:solidFill>
                <a:latin typeface="Calibri"/>
              </a:rPr>
              <a:t>Hosting: </a:t>
            </a:r>
            <a:r>
              <a:rPr sz="1600" b="0" i="0">
                <a:solidFill>
                  <a:srgbClr val="232323"/>
                </a:solidFill>
                <a:latin typeface="Calibri"/>
              </a:rPr>
              <a:t>Vercel (frontend) and Render (backend)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Data Collection / Requirements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17</a:t>
            </a:r>
          </a:p>
        </p:txBody>
      </p:sp>
      <p:sp>
        <p:nvSpPr>
          <p:cNvPr id="6" name="Rounded Rectangle 5"/>
          <p:cNvSpPr/>
          <p:nvPr/>
        </p:nvSpPr>
        <p:spPr>
          <a:xfrm>
            <a:off x="731520" y="1325880"/>
            <a:ext cx="5212080" cy="35661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39"/>
            <a:ext cx="48463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Where requirements came from</a:t>
            </a:r>
          </a:p>
        </p:txBody>
      </p:sp>
      <p:sp>
        <p:nvSpPr>
          <p:cNvPr id="8" name="TextBox 7"/>
          <p:cNvSpPr txBox="1"/>
          <p:nvPr/>
        </p:nvSpPr>
        <p:spPr>
          <a:xfrm>
            <a:off x="914400" y="1920240"/>
            <a:ext cx="4846320" cy="28346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Observation of informal charcoal trading in Lusaka</a:t>
            </a:r>
          </a:p>
          <a:p>
            <a:pPr algn="l">
              <a:spcAft>
                <a:spcPts val="500"/>
              </a:spcAft>
            </a:pPr>
            <a:r>
              <a:rPr sz="1600" b="0" i="0">
                <a:solidFill>
                  <a:srgbClr val="232323"/>
                </a:solidFill>
                <a:latin typeface="Calibri"/>
              </a:rPr>
              <a:t>Review of four existing platforms (Chapter 2)</a:t>
            </a:r>
          </a:p>
          <a:p>
            <a:pPr algn="l">
              <a:spcAft>
                <a:spcPts val="500"/>
              </a:spcAft>
            </a:pPr>
            <a:r>
              <a:rPr sz="1600" b="0" i="0">
                <a:solidFill>
                  <a:srgbClr val="232323"/>
                </a:solidFill>
                <a:latin typeface="Calibri"/>
              </a:rPr>
              <a:t>The project proposal approved by the supervisor</a:t>
            </a:r>
          </a:p>
          <a:p>
            <a:pPr algn="l">
              <a:spcAft>
                <a:spcPts val="500"/>
              </a:spcAft>
            </a:pPr>
            <a:r>
              <a:rPr sz="1600" b="0" i="0">
                <a:solidFill>
                  <a:srgbClr val="232323"/>
                </a:solidFill>
                <a:latin typeface="Calibri"/>
              </a:rPr>
              <a:t>Recorded as user stories, prioritised each sprint</a:t>
            </a:r>
          </a:p>
          <a:p>
            <a:pPr algn="l">
              <a:spcAft>
                <a:spcPts val="500"/>
              </a:spcAft>
            </a:pPr>
            <a:r>
              <a:rPr sz="1600" b="0" i="0">
                <a:solidFill>
                  <a:srgbClr val="232323"/>
                </a:solidFill>
                <a:latin typeface="Calibri"/>
              </a:rPr>
              <a:t>No formal survey was done: a stated limitation</a:t>
            </a:r>
          </a:p>
        </p:txBody>
      </p:sp>
      <p:sp>
        <p:nvSpPr>
          <p:cNvPr id="9" name="Rounded Rectangle 8"/>
          <p:cNvSpPr/>
          <p:nvPr/>
        </p:nvSpPr>
        <p:spPr>
          <a:xfrm>
            <a:off x="6263640" y="1325880"/>
            <a:ext cx="5212080" cy="356616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463039"/>
            <a:ext cx="4846320" cy="457200"/>
          </a:xfrm>
          <a:prstGeom prst="rect">
            <a:avLst/>
          </a:prstGeom>
          <a:noFill/>
        </p:spPr>
        <p:txBody>
          <a:bodyPr wrap="square" anchor="t" lIns="45720" rIns="45720" tIns="27432" bIns="27432">
            <a:spAutoFit/>
          </a:bodyPr>
          <a:lstStyle/>
          <a:p>
            <a:pPr algn="l">
              <a:spcAft>
                <a:spcPts val="600"/>
              </a:spcAft>
            </a:pPr>
            <a:r>
              <a:rPr sz="1800" b="1" i="0">
                <a:solidFill>
                  <a:srgbClr val="D85A30"/>
                </a:solidFill>
                <a:latin typeface="Calibri"/>
              </a:rPr>
              <a:t>Ethical and legal considerations</a:t>
            </a:r>
          </a:p>
        </p:txBody>
      </p:sp>
      <p:sp>
        <p:nvSpPr>
          <p:cNvPr id="11" name="TextBox 10"/>
          <p:cNvSpPr txBox="1"/>
          <p:nvPr/>
        </p:nvSpPr>
        <p:spPr>
          <a:xfrm>
            <a:off x="6446520" y="1920240"/>
            <a:ext cx="4846320" cy="28346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Minimal data: phone, name, neighbourhood, role</a:t>
            </a:r>
          </a:p>
          <a:p>
            <a:pPr algn="l">
              <a:spcAft>
                <a:spcPts val="500"/>
              </a:spcAft>
            </a:pPr>
            <a:r>
              <a:rPr sz="1600" b="0" i="0">
                <a:solidFill>
                  <a:srgbClr val="232323"/>
                </a:solidFill>
                <a:latin typeface="Calibri"/>
              </a:rPr>
              <a:t>Phone numbers masked on public profiles</a:t>
            </a:r>
          </a:p>
          <a:p>
            <a:pPr algn="l">
              <a:spcAft>
                <a:spcPts val="500"/>
              </a:spcAft>
            </a:pPr>
            <a:r>
              <a:rPr sz="1600" b="0" i="0">
                <a:solidFill>
                  <a:srgbClr val="232323"/>
                </a:solidFill>
                <a:latin typeface="Calibri"/>
              </a:rPr>
              <a:t>Passwords stored only as bcrypt hashes</a:t>
            </a:r>
          </a:p>
          <a:p>
            <a:pPr algn="l">
              <a:spcAft>
                <a:spcPts val="500"/>
              </a:spcAft>
            </a:pPr>
            <a:r>
              <a:rPr sz="1600" b="0" i="0">
                <a:solidFill>
                  <a:srgbClr val="232323"/>
                </a:solidFill>
                <a:latin typeface="Calibri"/>
              </a:rPr>
              <a:t>Voice: only the chosen text is stored, never audio</a:t>
            </a:r>
          </a:p>
          <a:p>
            <a:pPr algn="l">
              <a:spcAft>
                <a:spcPts val="500"/>
              </a:spcAft>
            </a:pPr>
            <a:r>
              <a:rPr sz="1600" b="0" i="0">
                <a:solidFill>
                  <a:srgbClr val="232323"/>
                </a:solidFill>
                <a:latin typeface="Calibri"/>
              </a:rPr>
              <a:t>Future user study: informed consent, anonymised</a:t>
            </a:r>
          </a:p>
          <a:p>
            <a:pPr algn="l">
              <a:spcAft>
                <a:spcPts val="500"/>
              </a:spcAft>
            </a:pPr>
            <a:r>
              <a:rPr sz="1600" b="0" i="0">
                <a:solidFill>
                  <a:srgbClr val="232323"/>
                </a:solidFill>
                <a:latin typeface="Calibri"/>
              </a:rPr>
              <a:t>Charcoal licensing not verified: recommended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332720" cy="1280160"/>
          </a:xfrm>
          <a:prstGeom prst="rect">
            <a:avLst/>
          </a:prstGeom>
          <a:noFill/>
        </p:spPr>
        <p:txBody>
          <a:bodyPr wrap="none">
            <a:spAutoFit/>
          </a:bodyPr>
          <a:lstStyle/>
          <a:p>
            <a:pPr algn="ctr">
              <a:defRPr sz="4000" b="1">
                <a:solidFill>
                  <a:srgbClr val="FFFFFF"/>
                </a:solidFill>
              </a:defRPr>
            </a:pPr>
            <a:r>
              <a:t>System Analysis and Design</a:t>
            </a:r>
          </a:p>
        </p:txBody>
      </p:sp>
      <p:sp>
        <p:nvSpPr>
          <p:cNvPr id="3" name="Rectangle 2"/>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Stakeholders and Users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19</a:t>
            </a:r>
          </a:p>
        </p:txBody>
      </p:sp>
      <p:sp>
        <p:nvSpPr>
          <p:cNvPr id="6" name="Rounded Rectangle 5"/>
          <p:cNvSpPr/>
          <p:nvPr/>
        </p:nvSpPr>
        <p:spPr>
          <a:xfrm>
            <a:off x="731520" y="1371600"/>
            <a:ext cx="3383280" cy="4389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057400" y="1600200"/>
            <a:ext cx="731520" cy="7315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S</a:t>
            </a:r>
          </a:p>
        </p:txBody>
      </p:sp>
      <p:sp>
        <p:nvSpPr>
          <p:cNvPr id="8" name="TextBox 7"/>
          <p:cNvSpPr txBox="1"/>
          <p:nvPr/>
        </p:nvSpPr>
        <p:spPr>
          <a:xfrm>
            <a:off x="914400" y="2468880"/>
            <a:ext cx="3017520" cy="457200"/>
          </a:xfrm>
          <a:prstGeom prst="rect">
            <a:avLst/>
          </a:prstGeom>
          <a:noFill/>
        </p:spPr>
        <p:txBody>
          <a:bodyPr wrap="square" anchor="t" lIns="45720" rIns="45720" tIns="27432" bIns="27432">
            <a:spAutoFit/>
          </a:bodyPr>
          <a:lstStyle/>
          <a:p>
            <a:pPr algn="ctr">
              <a:spcAft>
                <a:spcPts val="600"/>
              </a:spcAft>
            </a:pPr>
            <a:r>
              <a:rPr sz="2000" b="1" i="0">
                <a:solidFill>
                  <a:srgbClr val="192D4B"/>
                </a:solidFill>
                <a:latin typeface="Calibri"/>
              </a:rPr>
              <a:t>Seller</a:t>
            </a:r>
          </a:p>
        </p:txBody>
      </p:sp>
      <p:sp>
        <p:nvSpPr>
          <p:cNvPr id="9" name="TextBox 8"/>
          <p:cNvSpPr txBox="1"/>
          <p:nvPr/>
        </p:nvSpPr>
        <p:spPr>
          <a:xfrm>
            <a:off x="960120" y="3017520"/>
            <a:ext cx="2926080" cy="1371600"/>
          </a:xfrm>
          <a:prstGeom prst="rect">
            <a:avLst/>
          </a:prstGeom>
          <a:noFill/>
        </p:spPr>
        <p:txBody>
          <a:bodyPr wrap="square" anchor="t" lIns="45720" rIns="45720" tIns="27432" bIns="27432">
            <a:spAutoFit/>
          </a:bodyPr>
          <a:lstStyle/>
          <a:p>
            <a:pPr algn="l">
              <a:spcAft>
                <a:spcPts val="600"/>
              </a:spcAft>
            </a:pPr>
            <a:r>
              <a:rPr sz="1600" b="1" i="0">
                <a:solidFill>
                  <a:srgbClr val="192D4B"/>
                </a:solidFill>
                <a:latin typeface="Calibri"/>
              </a:rPr>
              <a:t>Needs: </a:t>
            </a:r>
            <a:r>
              <a:rPr sz="1600" b="0" i="0">
                <a:solidFill>
                  <a:srgbClr val="232323"/>
                </a:solidFill>
                <a:latin typeface="Calibri"/>
              </a:rPr>
              <a:t>Reach nearby buyers; build a reputation; list quickly</a:t>
            </a:r>
          </a:p>
        </p:txBody>
      </p:sp>
      <p:sp>
        <p:nvSpPr>
          <p:cNvPr id="10" name="TextBox 9"/>
          <p:cNvSpPr txBox="1"/>
          <p:nvPr/>
        </p:nvSpPr>
        <p:spPr>
          <a:xfrm>
            <a:off x="960120" y="4297680"/>
            <a:ext cx="2926080" cy="1371600"/>
          </a:xfrm>
          <a:prstGeom prst="rect">
            <a:avLst/>
          </a:prstGeom>
          <a:noFill/>
        </p:spPr>
        <p:txBody>
          <a:bodyPr wrap="square" anchor="t" lIns="45720" rIns="45720" tIns="27432" bIns="27432">
            <a:spAutoFit/>
          </a:bodyPr>
          <a:lstStyle/>
          <a:p>
            <a:pPr algn="l">
              <a:spcAft>
                <a:spcPts val="600"/>
              </a:spcAft>
            </a:pPr>
            <a:r>
              <a:rPr sz="1600" b="1" i="0">
                <a:solidFill>
                  <a:srgbClr val="D85A30"/>
                </a:solidFill>
                <a:latin typeface="Calibri"/>
              </a:rPr>
              <a:t>Constraints: </a:t>
            </a:r>
            <a:r>
              <a:rPr sz="1600" b="0" i="0">
                <a:solidFill>
                  <a:srgbClr val="232323"/>
                </a:solidFill>
                <a:latin typeface="Calibri"/>
              </a:rPr>
              <a:t>Low-end Android phones, costly data; some find typing hard</a:t>
            </a:r>
          </a:p>
        </p:txBody>
      </p:sp>
      <p:sp>
        <p:nvSpPr>
          <p:cNvPr id="11" name="Rounded Rectangle 10"/>
          <p:cNvSpPr/>
          <p:nvPr/>
        </p:nvSpPr>
        <p:spPr>
          <a:xfrm>
            <a:off x="4389120" y="1371600"/>
            <a:ext cx="3383280" cy="4389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715000" y="1600200"/>
            <a:ext cx="731520" cy="7315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B</a:t>
            </a:r>
          </a:p>
        </p:txBody>
      </p:sp>
      <p:sp>
        <p:nvSpPr>
          <p:cNvPr id="13" name="TextBox 12"/>
          <p:cNvSpPr txBox="1"/>
          <p:nvPr/>
        </p:nvSpPr>
        <p:spPr>
          <a:xfrm>
            <a:off x="4572000" y="2468880"/>
            <a:ext cx="3017520" cy="457200"/>
          </a:xfrm>
          <a:prstGeom prst="rect">
            <a:avLst/>
          </a:prstGeom>
          <a:noFill/>
        </p:spPr>
        <p:txBody>
          <a:bodyPr wrap="square" anchor="t" lIns="45720" rIns="45720" tIns="27432" bIns="27432">
            <a:spAutoFit/>
          </a:bodyPr>
          <a:lstStyle/>
          <a:p>
            <a:pPr algn="ctr">
              <a:spcAft>
                <a:spcPts val="600"/>
              </a:spcAft>
            </a:pPr>
            <a:r>
              <a:rPr sz="2000" b="1" i="0">
                <a:solidFill>
                  <a:srgbClr val="192D4B"/>
                </a:solidFill>
                <a:latin typeface="Calibri"/>
              </a:rPr>
              <a:t>Buyer</a:t>
            </a:r>
          </a:p>
        </p:txBody>
      </p:sp>
      <p:sp>
        <p:nvSpPr>
          <p:cNvPr id="14" name="TextBox 13"/>
          <p:cNvSpPr txBox="1"/>
          <p:nvPr/>
        </p:nvSpPr>
        <p:spPr>
          <a:xfrm>
            <a:off x="4617720" y="3017520"/>
            <a:ext cx="2926080" cy="1371600"/>
          </a:xfrm>
          <a:prstGeom prst="rect">
            <a:avLst/>
          </a:prstGeom>
          <a:noFill/>
        </p:spPr>
        <p:txBody>
          <a:bodyPr wrap="square" anchor="t" lIns="45720" rIns="45720" tIns="27432" bIns="27432">
            <a:spAutoFit/>
          </a:bodyPr>
          <a:lstStyle/>
          <a:p>
            <a:pPr algn="l">
              <a:spcAft>
                <a:spcPts val="600"/>
              </a:spcAft>
            </a:pPr>
            <a:r>
              <a:rPr sz="1600" b="1" i="0">
                <a:solidFill>
                  <a:srgbClr val="192D4B"/>
                </a:solidFill>
                <a:latin typeface="Calibri"/>
              </a:rPr>
              <a:t>Needs: </a:t>
            </a:r>
            <a:r>
              <a:rPr sz="1600" b="0" i="0">
                <a:solidFill>
                  <a:srgbClr val="232323"/>
                </a:solidFill>
                <a:latin typeface="Calibri"/>
              </a:rPr>
              <a:t>Find a nearby seller at a fair price; judge trust before meeting</a:t>
            </a:r>
          </a:p>
        </p:txBody>
      </p:sp>
      <p:sp>
        <p:nvSpPr>
          <p:cNvPr id="15" name="TextBox 14"/>
          <p:cNvSpPr txBox="1"/>
          <p:nvPr/>
        </p:nvSpPr>
        <p:spPr>
          <a:xfrm>
            <a:off x="4617720" y="4297680"/>
            <a:ext cx="2926080" cy="1371600"/>
          </a:xfrm>
          <a:prstGeom prst="rect">
            <a:avLst/>
          </a:prstGeom>
          <a:noFill/>
        </p:spPr>
        <p:txBody>
          <a:bodyPr wrap="square" anchor="t" lIns="45720" rIns="45720" tIns="27432" bIns="27432">
            <a:spAutoFit/>
          </a:bodyPr>
          <a:lstStyle/>
          <a:p>
            <a:pPr algn="l">
              <a:spcAft>
                <a:spcPts val="600"/>
              </a:spcAft>
            </a:pPr>
            <a:r>
              <a:rPr sz="1600" b="1" i="0">
                <a:solidFill>
                  <a:srgbClr val="D85A30"/>
                </a:solidFill>
                <a:latin typeface="Calibri"/>
              </a:rPr>
              <a:t>Constraints: </a:t>
            </a:r>
            <a:r>
              <a:rPr sz="1600" b="0" i="0">
                <a:solidFill>
                  <a:srgbClr val="232323"/>
                </a:solidFill>
                <a:latin typeface="Calibri"/>
              </a:rPr>
              <a:t>Intermittent connection; pays in cash</a:t>
            </a:r>
          </a:p>
        </p:txBody>
      </p:sp>
      <p:sp>
        <p:nvSpPr>
          <p:cNvPr id="16" name="Rounded Rectangle 15"/>
          <p:cNvSpPr/>
          <p:nvPr/>
        </p:nvSpPr>
        <p:spPr>
          <a:xfrm>
            <a:off x="8046720" y="1371600"/>
            <a:ext cx="3383280" cy="438912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372600" y="1600200"/>
            <a:ext cx="731520" cy="7315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A</a:t>
            </a:r>
          </a:p>
        </p:txBody>
      </p:sp>
      <p:sp>
        <p:nvSpPr>
          <p:cNvPr id="18" name="TextBox 17"/>
          <p:cNvSpPr txBox="1"/>
          <p:nvPr/>
        </p:nvSpPr>
        <p:spPr>
          <a:xfrm>
            <a:off x="8229600" y="2468880"/>
            <a:ext cx="3017520" cy="457200"/>
          </a:xfrm>
          <a:prstGeom prst="rect">
            <a:avLst/>
          </a:prstGeom>
          <a:noFill/>
        </p:spPr>
        <p:txBody>
          <a:bodyPr wrap="square" anchor="t" lIns="45720" rIns="45720" tIns="27432" bIns="27432">
            <a:spAutoFit/>
          </a:bodyPr>
          <a:lstStyle/>
          <a:p>
            <a:pPr algn="ctr">
              <a:spcAft>
                <a:spcPts val="600"/>
              </a:spcAft>
            </a:pPr>
            <a:r>
              <a:rPr sz="2000" b="1" i="0">
                <a:solidFill>
                  <a:srgbClr val="192D4B"/>
                </a:solidFill>
                <a:latin typeface="Calibri"/>
              </a:rPr>
              <a:t>Administrator</a:t>
            </a:r>
          </a:p>
        </p:txBody>
      </p:sp>
      <p:sp>
        <p:nvSpPr>
          <p:cNvPr id="19" name="TextBox 18"/>
          <p:cNvSpPr txBox="1"/>
          <p:nvPr/>
        </p:nvSpPr>
        <p:spPr>
          <a:xfrm>
            <a:off x="8275320" y="3017520"/>
            <a:ext cx="2926080" cy="1371600"/>
          </a:xfrm>
          <a:prstGeom prst="rect">
            <a:avLst/>
          </a:prstGeom>
          <a:noFill/>
        </p:spPr>
        <p:txBody>
          <a:bodyPr wrap="square" anchor="t" lIns="45720" rIns="45720" tIns="27432" bIns="27432">
            <a:spAutoFit/>
          </a:bodyPr>
          <a:lstStyle/>
          <a:p>
            <a:pPr algn="l">
              <a:spcAft>
                <a:spcPts val="600"/>
              </a:spcAft>
            </a:pPr>
            <a:r>
              <a:rPr sz="1600" b="1" i="0">
                <a:solidFill>
                  <a:srgbClr val="192D4B"/>
                </a:solidFill>
                <a:latin typeface="Calibri"/>
              </a:rPr>
              <a:t>Needs: </a:t>
            </a:r>
            <a:r>
              <a:rPr sz="1600" b="0" i="0">
                <a:solidFill>
                  <a:srgbClr val="232323"/>
                </a:solidFill>
                <a:latin typeface="Calibri"/>
              </a:rPr>
              <a:t>Keep listings genuine; verify sellers; remove abuse</a:t>
            </a:r>
          </a:p>
        </p:txBody>
      </p:sp>
      <p:sp>
        <p:nvSpPr>
          <p:cNvPr id="20" name="TextBox 19"/>
          <p:cNvSpPr txBox="1"/>
          <p:nvPr/>
        </p:nvSpPr>
        <p:spPr>
          <a:xfrm>
            <a:off x="8275320" y="4297680"/>
            <a:ext cx="2926080" cy="1371600"/>
          </a:xfrm>
          <a:prstGeom prst="rect">
            <a:avLst/>
          </a:prstGeom>
          <a:noFill/>
        </p:spPr>
        <p:txBody>
          <a:bodyPr wrap="square" anchor="t" lIns="45720" rIns="45720" tIns="27432" bIns="27432">
            <a:spAutoFit/>
          </a:bodyPr>
          <a:lstStyle/>
          <a:p>
            <a:pPr algn="l">
              <a:spcAft>
                <a:spcPts val="600"/>
              </a:spcAft>
            </a:pPr>
            <a:r>
              <a:rPr sz="1600" b="1" i="0">
                <a:solidFill>
                  <a:srgbClr val="D85A30"/>
                </a:solidFill>
                <a:latin typeface="Calibri"/>
              </a:rPr>
              <a:t>Constraints: </a:t>
            </a:r>
            <a:r>
              <a:rPr sz="1600" b="0" i="0">
                <a:solidFill>
                  <a:srgbClr val="232323"/>
                </a:solidFill>
                <a:latin typeface="Calibri"/>
              </a:rPr>
              <a:t>Needs an overview without database access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Functional and Non-Functional Requirements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20</a:t>
            </a:r>
          </a:p>
        </p:txBody>
      </p:sp>
      <p:sp>
        <p:nvSpPr>
          <p:cNvPr id="6" name="Rounded Rectangle 5"/>
          <p:cNvSpPr/>
          <p:nvPr/>
        </p:nvSpPr>
        <p:spPr>
          <a:xfrm>
            <a:off x="731520" y="1325880"/>
            <a:ext cx="5852160" cy="38404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39"/>
            <a:ext cx="548640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Functional (12 in total, key ones)</a:t>
            </a:r>
          </a:p>
        </p:txBody>
      </p:sp>
      <p:sp>
        <p:nvSpPr>
          <p:cNvPr id="8" name="TextBox 7"/>
          <p:cNvSpPr txBox="1"/>
          <p:nvPr/>
        </p:nvSpPr>
        <p:spPr>
          <a:xfrm>
            <a:off x="914400" y="1920240"/>
            <a:ext cx="5486400" cy="3108960"/>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FR1  Register with a Zambian number + OTP</a:t>
            </a:r>
          </a:p>
          <a:p>
            <a:pPr algn="l">
              <a:spcAft>
                <a:spcPts val="500"/>
              </a:spcAft>
            </a:pPr>
            <a:r>
              <a:rPr sz="1600" b="0" i="0">
                <a:solidFill>
                  <a:srgbClr val="232323"/>
                </a:solidFill>
                <a:latin typeface="Calibri"/>
              </a:rPr>
              <a:t>FR4  Browse by neighbourhood, price, quantity</a:t>
            </a:r>
          </a:p>
          <a:p>
            <a:pPr algn="l">
              <a:spcAft>
                <a:spcPts val="500"/>
              </a:spcAft>
            </a:pPr>
            <a:r>
              <a:rPr sz="1600" b="0" i="0">
                <a:solidFill>
                  <a:srgbClr val="232323"/>
                </a:solidFill>
                <a:latin typeface="Calibri"/>
              </a:rPr>
              <a:t>FR5  Dictate a listing in English</a:t>
            </a:r>
          </a:p>
          <a:p>
            <a:pPr algn="l">
              <a:spcAft>
                <a:spcPts val="500"/>
              </a:spcAft>
            </a:pPr>
            <a:r>
              <a:rPr sz="1600" b="0" i="0">
                <a:solidFill>
                  <a:srgbClr val="232323"/>
                </a:solidFill>
                <a:latin typeface="Calibri"/>
              </a:rPr>
              <a:t>FR6  Every listing, rating and verification is chained</a:t>
            </a:r>
          </a:p>
          <a:p>
            <a:pPr algn="l">
              <a:spcAft>
                <a:spcPts val="500"/>
              </a:spcAft>
            </a:pPr>
            <a:r>
              <a:rPr sz="1600" b="0" i="0">
                <a:solidFill>
                  <a:srgbClr val="232323"/>
                </a:solidFill>
                <a:latin typeface="Calibri"/>
              </a:rPr>
              <a:t>FR8  Rate only after a conversation, once per conversation</a:t>
            </a:r>
          </a:p>
          <a:p>
            <a:pPr algn="l">
              <a:spcAft>
                <a:spcPts val="500"/>
              </a:spcAft>
            </a:pPr>
            <a:r>
              <a:rPr sz="1600" b="0" i="0">
                <a:solidFill>
                  <a:srgbClr val="232323"/>
                </a:solidFill>
                <a:latin typeface="Calibri"/>
              </a:rPr>
              <a:t>FR10  Offline messages sent on reconnect</a:t>
            </a:r>
          </a:p>
          <a:p>
            <a:pPr algn="l">
              <a:spcAft>
                <a:spcPts val="500"/>
              </a:spcAft>
            </a:pPr>
            <a:r>
              <a:rPr sz="1600" b="0" i="0">
                <a:solidFill>
                  <a:srgbClr val="232323"/>
                </a:solidFill>
                <a:latin typeface="Calibri"/>
              </a:rPr>
              <a:t>FR12  Admin: verify once, integrity check, logged moderation</a:t>
            </a:r>
          </a:p>
        </p:txBody>
      </p:sp>
      <p:sp>
        <p:nvSpPr>
          <p:cNvPr id="9" name="Rounded Rectangle 8"/>
          <p:cNvSpPr/>
          <p:nvPr/>
        </p:nvSpPr>
        <p:spPr>
          <a:xfrm>
            <a:off x="6858000" y="1325880"/>
            <a:ext cx="4617720" cy="384048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0" y="1463039"/>
            <a:ext cx="4251959" cy="457200"/>
          </a:xfrm>
          <a:prstGeom prst="rect">
            <a:avLst/>
          </a:prstGeom>
          <a:noFill/>
        </p:spPr>
        <p:txBody>
          <a:bodyPr wrap="square" anchor="t" lIns="45720" rIns="45720" tIns="27432" bIns="27432">
            <a:spAutoFit/>
          </a:bodyPr>
          <a:lstStyle/>
          <a:p>
            <a:pPr algn="l">
              <a:spcAft>
                <a:spcPts val="600"/>
              </a:spcAft>
            </a:pPr>
            <a:r>
              <a:rPr sz="1800" b="1" i="0">
                <a:solidFill>
                  <a:srgbClr val="D85A30"/>
                </a:solidFill>
                <a:latin typeface="Calibri"/>
              </a:rPr>
              <a:t>Non-functional (8)</a:t>
            </a:r>
          </a:p>
        </p:txBody>
      </p:sp>
      <p:sp>
        <p:nvSpPr>
          <p:cNvPr id="11" name="TextBox 10"/>
          <p:cNvSpPr txBox="1"/>
          <p:nvPr/>
        </p:nvSpPr>
        <p:spPr>
          <a:xfrm>
            <a:off x="7040880" y="1920240"/>
            <a:ext cx="4251959" cy="3108960"/>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Usability: SUS score ≥ 70</a:t>
            </a:r>
          </a:p>
          <a:p>
            <a:pPr algn="l">
              <a:spcAft>
                <a:spcPts val="500"/>
              </a:spcAft>
            </a:pPr>
            <a:r>
              <a:rPr sz="1600" b="0" i="0">
                <a:solidFill>
                  <a:srgbClr val="232323"/>
                </a:solidFill>
                <a:latin typeface="Calibri"/>
              </a:rPr>
              <a:t>Performance: Lighthouse ≥ 70 (mobile)</a:t>
            </a:r>
          </a:p>
          <a:p>
            <a:pPr algn="l">
              <a:spcAft>
                <a:spcPts val="500"/>
              </a:spcAft>
            </a:pPr>
            <a:r>
              <a:rPr sz="1600" b="0" i="0">
                <a:solidFill>
                  <a:srgbClr val="232323"/>
                </a:solidFill>
                <a:latin typeface="Calibri"/>
              </a:rPr>
              <a:t>Security: bcrypt, JWT, rate limits</a:t>
            </a:r>
          </a:p>
          <a:p>
            <a:pPr algn="l">
              <a:spcAft>
                <a:spcPts val="500"/>
              </a:spcAft>
            </a:pPr>
            <a:r>
              <a:rPr sz="1600" b="0" i="0">
                <a:solidFill>
                  <a:srgbClr val="232323"/>
                </a:solidFill>
                <a:latin typeface="Calibri"/>
              </a:rPr>
              <a:t>Integrity: any change to a trust event is detectable</a:t>
            </a:r>
          </a:p>
          <a:p>
            <a:pPr algn="l">
              <a:spcAft>
                <a:spcPts val="500"/>
              </a:spcAft>
            </a:pPr>
            <a:r>
              <a:rPr sz="1600" b="0" i="0">
                <a:solidFill>
                  <a:srgbClr val="232323"/>
                </a:solidFill>
                <a:latin typeface="Calibri"/>
              </a:rPr>
              <a:t>Availability: reading works offline</a:t>
            </a:r>
          </a:p>
          <a:p>
            <a:pPr algn="l">
              <a:spcAft>
                <a:spcPts val="500"/>
              </a:spcAft>
            </a:pPr>
            <a:r>
              <a:rPr sz="1600" b="0" i="0">
                <a:solidFill>
                  <a:srgbClr val="232323"/>
                </a:solidFill>
                <a:latin typeface="Calibri"/>
              </a:rPr>
              <a:t>Privacy: phone numbers masked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System Architecture</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21</a:t>
            </a:r>
          </a:p>
        </p:txBody>
      </p:sp>
      <p:pic>
        <p:nvPicPr>
          <p:cNvPr id="6" name="Picture 5" descr="mcp-Claude_Docs-blob-1791666873468-bodkyw.png"/>
          <p:cNvPicPr>
            <a:picLocks noChangeAspect="1"/>
          </p:cNvPicPr>
          <p:nvPr/>
        </p:nvPicPr>
        <p:blipFill>
          <a:blip r:embed="rId2"/>
          <a:stretch>
            <a:fillRect/>
          </a:stretch>
        </p:blipFill>
        <p:spPr>
          <a:xfrm>
            <a:off x="548640" y="1188720"/>
            <a:ext cx="7080124" cy="4983480"/>
          </a:xfrm>
          <a:prstGeom prst="rect">
            <a:avLst/>
          </a:prstGeom>
        </p:spPr>
      </p:pic>
      <p:sp>
        <p:nvSpPr>
          <p:cNvPr id="7" name="TextBox 6"/>
          <p:cNvSpPr txBox="1"/>
          <p:nvPr/>
        </p:nvSpPr>
        <p:spPr>
          <a:xfrm>
            <a:off x="7863840" y="1371600"/>
            <a:ext cx="3749039" cy="4572000"/>
          </a:xfrm>
          <a:prstGeom prst="rect">
            <a:avLst/>
          </a:prstGeom>
          <a:noFill/>
        </p:spPr>
        <p:txBody>
          <a:bodyPr wrap="square" anchor="t" lIns="45720" rIns="45720" tIns="27432" bIns="27432">
            <a:spAutoFit/>
          </a:bodyPr>
          <a:lstStyle/>
          <a:p>
            <a:pPr algn="l">
              <a:spcAft>
                <a:spcPts val="1400"/>
              </a:spcAft>
            </a:pPr>
            <a:r>
              <a:rPr sz="1600" b="1" i="0">
                <a:solidFill>
                  <a:srgbClr val="192D4B"/>
                </a:solidFill>
                <a:latin typeface="Calibri"/>
              </a:rPr>
              <a:t>Presentation: </a:t>
            </a:r>
            <a:r>
              <a:rPr sz="1600" b="0" i="0">
                <a:solidFill>
                  <a:srgbClr val="232323"/>
                </a:solidFill>
                <a:latin typeface="Calibri"/>
              </a:rPr>
              <a:t>React PWA on the phone, with offline cache and message queue.</a:t>
            </a:r>
          </a:p>
          <a:p>
            <a:pPr algn="l">
              <a:spcAft>
                <a:spcPts val="1400"/>
              </a:spcAft>
            </a:pPr>
            <a:r>
              <a:rPr sz="1600" b="1" i="0">
                <a:solidFill>
                  <a:srgbClr val="192D4B"/>
                </a:solidFill>
                <a:latin typeface="Calibri"/>
              </a:rPr>
              <a:t>Application: </a:t>
            </a:r>
            <a:r>
              <a:rPr sz="1600" b="0" i="0">
                <a:solidFill>
                  <a:srgbClr val="232323"/>
                </a:solidFill>
                <a:latin typeface="Calibri"/>
              </a:rPr>
              <a:t>Express REST API and Socket.io server. Only the server writes trust blocks.</a:t>
            </a:r>
          </a:p>
          <a:p>
            <a:pPr algn="l">
              <a:spcAft>
                <a:spcPts val="1400"/>
              </a:spcAft>
            </a:pPr>
            <a:r>
              <a:rPr sz="1600" b="1" i="0">
                <a:solidFill>
                  <a:srgbClr val="192D4B"/>
                </a:solidFill>
                <a:latin typeface="Calibri"/>
              </a:rPr>
              <a:t>Data: </a:t>
            </a:r>
            <a:r>
              <a:rPr sz="1600" b="0" i="0">
                <a:solidFill>
                  <a:srgbClr val="232323"/>
                </a:solidFill>
                <a:latin typeface="Calibri"/>
              </a:rPr>
              <a:t>MongoDB Atlas (seven collections) and Cloudinary for photos.</a:t>
            </a:r>
          </a:p>
          <a:p>
            <a:pPr algn="l">
              <a:spcAft>
                <a:spcPts val="1400"/>
              </a:spcAft>
            </a:pPr>
            <a:r>
              <a:rPr sz="1600" b="1" i="0">
                <a:solidFill>
                  <a:srgbClr val="D85A30"/>
                </a:solidFill>
                <a:latin typeface="Calibri"/>
              </a:rPr>
              <a:t>Highlighted: </a:t>
            </a:r>
            <a:r>
              <a:rPr sz="1600" b="0" i="0">
                <a:solidFill>
                  <a:srgbClr val="232323"/>
                </a:solidFill>
                <a:latin typeface="Calibri"/>
              </a:rPr>
              <a:t>the trust module and TrustChain collection.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Database / Data Design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22</a:t>
            </a:r>
          </a:p>
        </p:txBody>
      </p:sp>
      <p:graphicFrame>
        <p:nvGraphicFramePr>
          <p:cNvPr id="6" name="Table 5"/>
          <p:cNvGraphicFramePr>
            <a:graphicFrameLocks noGrp="1"/>
          </p:cNvGraphicFramePr>
          <p:nvPr/>
        </p:nvGraphicFramePr>
        <p:xfrm>
          <a:off x="548640" y="1234440"/>
          <a:ext cx="11064240" cy="4096512"/>
        </p:xfrm>
        <a:graphic>
          <a:graphicData uri="http://schemas.openxmlformats.org/drawingml/2006/table">
            <a:tbl>
              <a:tblPr firstRow="1" bandRow="1">
                <a:tableStyleId>{5C22544A-7EE6-4342-B048-85BDC9FD1C3A}</a:tableStyleId>
              </a:tblPr>
              <a:tblGrid>
                <a:gridCol w="1828800"/>
                <a:gridCol w="5120640"/>
                <a:gridCol w="4114800"/>
              </a:tblGrid>
              <a:tr h="512064">
                <a:tc>
                  <a:txBody>
                    <a:bodyPr wrap="square"/>
                    <a:lstStyle/>
                    <a:p>
                      <a:r>
                        <a:rPr sz="1400" b="1">
                          <a:solidFill>
                            <a:srgbClr val="FFFFFF"/>
                          </a:solidFill>
                          <a:latin typeface="Calibri"/>
                        </a:rPr>
                        <a:t>Collection</a:t>
                      </a:r>
                    </a:p>
                  </a:txBody>
                  <a:tcPr marL="73152" marR="73152" marT="36576" marB="36576" anchor="ctr">
                    <a:solidFill>
                      <a:srgbClr val="192D4B"/>
                    </a:solidFill>
                  </a:tcPr>
                </a:tc>
                <a:tc>
                  <a:txBody>
                    <a:bodyPr wrap="square"/>
                    <a:lstStyle/>
                    <a:p>
                      <a:r>
                        <a:rPr sz="1400" b="1">
                          <a:solidFill>
                            <a:srgbClr val="FFFFFF"/>
                          </a:solidFill>
                          <a:latin typeface="Calibri"/>
                        </a:rPr>
                        <a:t>Key fields</a:t>
                      </a:r>
                    </a:p>
                  </a:txBody>
                  <a:tcPr marL="73152" marR="73152" marT="36576" marB="36576" anchor="ctr">
                    <a:solidFill>
                      <a:srgbClr val="192D4B"/>
                    </a:solidFill>
                  </a:tcPr>
                </a:tc>
                <a:tc>
                  <a:txBody>
                    <a:bodyPr wrap="square"/>
                    <a:lstStyle/>
                    <a:p>
                      <a:r>
                        <a:rPr sz="1400" b="1">
                          <a:solidFill>
                            <a:srgbClr val="FFFFFF"/>
                          </a:solidFill>
                          <a:latin typeface="Calibri"/>
                        </a:rPr>
                        <a:t>Design decision</a:t>
                      </a:r>
                    </a:p>
                  </a:txBody>
                  <a:tcPr marL="73152" marR="73152" marT="36576" marB="36576" anchor="ctr">
                    <a:solidFill>
                      <a:srgbClr val="192D4B"/>
                    </a:solidFill>
                  </a:tcPr>
                </a:tc>
              </a:tr>
              <a:tr h="512064">
                <a:tc>
                  <a:txBody>
                    <a:bodyPr wrap="square"/>
                    <a:lstStyle/>
                    <a:p>
                      <a:r>
                        <a:rPr sz="1400" b="0">
                          <a:solidFill>
                            <a:srgbClr val="232323"/>
                          </a:solidFill>
                          <a:latin typeface="Calibri"/>
                        </a:rPr>
                        <a:t>User</a:t>
                      </a:r>
                    </a:p>
                  </a:txBody>
                  <a:tcPr marL="73152" marR="73152" marT="36576" marB="36576" anchor="ctr">
                    <a:solidFill>
                      <a:srgbClr val="FFFFFF"/>
                    </a:solidFill>
                  </a:tcPr>
                </a:tc>
                <a:tc>
                  <a:txBody>
                    <a:bodyPr wrap="square"/>
                    <a:lstStyle/>
                    <a:p>
                      <a:r>
                        <a:rPr sz="1400" b="0">
                          <a:solidFill>
                            <a:srgbClr val="232323"/>
                          </a:solidFill>
                          <a:latin typeface="Calibri"/>
                        </a:rPr>
                        <a:t>phone (unique), role, neighbourhood, trustScore {score, chainHash}</a:t>
                      </a:r>
                    </a:p>
                  </a:txBody>
                  <a:tcPr marL="73152" marR="73152" marT="36576" marB="36576" anchor="ctr">
                    <a:solidFill>
                      <a:srgbClr val="FFFFFF"/>
                    </a:solidFill>
                  </a:tcPr>
                </a:tc>
                <a:tc>
                  <a:txBody>
                    <a:bodyPr wrap="square"/>
                    <a:lstStyle/>
                    <a:p>
                      <a:r>
                        <a:rPr sz="1400" b="0">
                          <a:solidFill>
                            <a:srgbClr val="232323"/>
                          </a:solidFill>
                          <a:latin typeface="Calibri"/>
                        </a:rPr>
                        <a:t>Head hash of the chain stored here</a:t>
                      </a:r>
                    </a:p>
                  </a:txBody>
                  <a:tcPr marL="73152" marR="73152" marT="36576" marB="36576" anchor="ctr">
                    <a:solidFill>
                      <a:srgbClr val="FFFFFF"/>
                    </a:solidFill>
                  </a:tcPr>
                </a:tc>
              </a:tr>
              <a:tr h="512064">
                <a:tc>
                  <a:txBody>
                    <a:bodyPr wrap="square"/>
                    <a:lstStyle/>
                    <a:p>
                      <a:r>
                        <a:rPr sz="1400" b="0">
                          <a:solidFill>
                            <a:srgbClr val="232323"/>
                          </a:solidFill>
                          <a:latin typeface="Calibri"/>
                        </a:rPr>
                        <a:t>Listing</a:t>
                      </a:r>
                    </a:p>
                  </a:txBody>
                  <a:tcPr marL="73152" marR="73152" marT="36576" marB="36576" anchor="ctr">
                    <a:solidFill>
                      <a:srgbClr val="EEF2F7"/>
                    </a:solidFill>
                  </a:tcPr>
                </a:tc>
                <a:tc>
                  <a:txBody>
                    <a:bodyPr wrap="square"/>
                    <a:lstStyle/>
                    <a:p>
                      <a:r>
                        <a:rPr sz="1400" b="0">
                          <a:solidFill>
                            <a:srgbClr val="232323"/>
                          </a:solidFill>
                          <a:latin typeface="Calibri"/>
                        </a:rPr>
                        <a:t>seller, price, unit, quantity, neighbourhood, image, status</a:t>
                      </a:r>
                    </a:p>
                  </a:txBody>
                  <a:tcPr marL="73152" marR="73152" marT="36576" marB="36576" anchor="ctr">
                    <a:solidFill>
                      <a:srgbClr val="EEF2F7"/>
                    </a:solidFill>
                  </a:tcPr>
                </a:tc>
                <a:tc>
                  <a:txBody>
                    <a:bodyPr wrap="square"/>
                    <a:lstStyle/>
                    <a:p>
                      <a:r>
                        <a:rPr sz="1400" b="0">
                          <a:solidFill>
                            <a:srgbClr val="232323"/>
                          </a:solidFill>
                          <a:latin typeface="Calibri"/>
                        </a:rPr>
                        <a:t>Index on (neighbourhood, status, date)</a:t>
                      </a:r>
                    </a:p>
                  </a:txBody>
                  <a:tcPr marL="73152" marR="73152" marT="36576" marB="36576" anchor="ctr">
                    <a:solidFill>
                      <a:srgbClr val="EEF2F7"/>
                    </a:solidFill>
                  </a:tcPr>
                </a:tc>
              </a:tr>
              <a:tr h="512064">
                <a:tc>
                  <a:txBody>
                    <a:bodyPr wrap="square"/>
                    <a:lstStyle/>
                    <a:p>
                      <a:r>
                        <a:rPr sz="1400" b="0">
                          <a:solidFill>
                            <a:srgbClr val="232323"/>
                          </a:solidFill>
                          <a:latin typeface="Calibri"/>
                        </a:rPr>
                        <a:t>Conversation</a:t>
                      </a:r>
                    </a:p>
                  </a:txBody>
                  <a:tcPr marL="73152" marR="73152" marT="36576" marB="36576" anchor="ctr">
                    <a:solidFill>
                      <a:srgbClr val="FFFFFF"/>
                    </a:solidFill>
                  </a:tcPr>
                </a:tc>
                <a:tc>
                  <a:txBody>
                    <a:bodyPr wrap="square"/>
                    <a:lstStyle/>
                    <a:p>
                      <a:r>
                        <a:rPr sz="1400" b="0">
                          <a:solidFill>
                            <a:srgbClr val="232323"/>
                          </a:solidFill>
                          <a:latin typeface="Calibri"/>
                        </a:rPr>
                        <a:t>listing, buyer, seller, lastMessage, unread counts</a:t>
                      </a:r>
                    </a:p>
                  </a:txBody>
                  <a:tcPr marL="73152" marR="73152" marT="36576" marB="36576" anchor="ctr">
                    <a:solidFill>
                      <a:srgbClr val="FFFFFF"/>
                    </a:solidFill>
                  </a:tcPr>
                </a:tc>
                <a:tc>
                  <a:txBody>
                    <a:bodyPr wrap="square"/>
                    <a:lstStyle/>
                    <a:p>
                      <a:r>
                        <a:rPr sz="1400" b="0">
                          <a:solidFill>
                            <a:srgbClr val="232323"/>
                          </a:solidFill>
                          <a:latin typeface="Calibri"/>
                        </a:rPr>
                        <a:t>One per buyer per listing (unique)</a:t>
                      </a:r>
                    </a:p>
                  </a:txBody>
                  <a:tcPr marL="73152" marR="73152" marT="36576" marB="36576" anchor="ctr">
                    <a:solidFill>
                      <a:srgbClr val="FFFFFF"/>
                    </a:solidFill>
                  </a:tcPr>
                </a:tc>
              </a:tr>
              <a:tr h="512064">
                <a:tc>
                  <a:txBody>
                    <a:bodyPr wrap="square"/>
                    <a:lstStyle/>
                    <a:p>
                      <a:r>
                        <a:rPr sz="1400" b="0">
                          <a:solidFill>
                            <a:srgbClr val="232323"/>
                          </a:solidFill>
                          <a:latin typeface="Calibri"/>
                        </a:rPr>
                        <a:t>Message</a:t>
                      </a:r>
                    </a:p>
                  </a:txBody>
                  <a:tcPr marL="73152" marR="73152" marT="36576" marB="36576" anchor="ctr">
                    <a:solidFill>
                      <a:srgbClr val="EEF2F7"/>
                    </a:solidFill>
                  </a:tcPr>
                </a:tc>
                <a:tc>
                  <a:txBody>
                    <a:bodyPr wrap="square"/>
                    <a:lstStyle/>
                    <a:p>
                      <a:r>
                        <a:rPr sz="1400" b="0">
                          <a:solidFill>
                            <a:srgbClr val="232323"/>
                          </a:solidFill>
                          <a:latin typeface="Calibri"/>
                        </a:rPr>
                        <a:t>conversation, sender, text, readAt</a:t>
                      </a:r>
                    </a:p>
                  </a:txBody>
                  <a:tcPr marL="73152" marR="73152" marT="36576" marB="36576" anchor="ctr">
                    <a:solidFill>
                      <a:srgbClr val="EEF2F7"/>
                    </a:solidFill>
                  </a:tcPr>
                </a:tc>
                <a:tc>
                  <a:txBody>
                    <a:bodyPr wrap="square"/>
                    <a:lstStyle/>
                    <a:p>
                      <a:r>
                        <a:rPr sz="1400" b="0">
                          <a:solidFill>
                            <a:srgbClr val="232323"/>
                          </a:solidFill>
                          <a:latin typeface="Calibri"/>
                        </a:rPr>
                        <a:t>Index on (conversation, date)</a:t>
                      </a:r>
                    </a:p>
                  </a:txBody>
                  <a:tcPr marL="73152" marR="73152" marT="36576" marB="36576" anchor="ctr">
                    <a:solidFill>
                      <a:srgbClr val="EEF2F7"/>
                    </a:solidFill>
                  </a:tcPr>
                </a:tc>
              </a:tr>
              <a:tr h="512064">
                <a:tc>
                  <a:txBody>
                    <a:bodyPr wrap="square"/>
                    <a:lstStyle/>
                    <a:p>
                      <a:r>
                        <a:rPr sz="1400" b="0">
                          <a:solidFill>
                            <a:srgbClr val="232323"/>
                          </a:solidFill>
                          <a:latin typeface="Calibri"/>
                        </a:rPr>
                        <a:t>TrustChain</a:t>
                      </a:r>
                    </a:p>
                  </a:txBody>
                  <a:tcPr marL="73152" marR="73152" marT="36576" marB="36576" anchor="ctr">
                    <a:solidFill>
                      <a:srgbClr val="FFFFFF"/>
                    </a:solidFill>
                  </a:tcPr>
                </a:tc>
                <a:tc>
                  <a:txBody>
                    <a:bodyPr wrap="square"/>
                    <a:lstStyle/>
                    <a:p>
                      <a:r>
                        <a:rPr sz="1400" b="0">
                          <a:solidFill>
                            <a:srgbClr val="232323"/>
                          </a:solidFill>
                          <a:latin typeface="Calibri"/>
                        </a:rPr>
                        <a:t>seller, blockIndex, timestamp, event, previousHash, hash</a:t>
                      </a:r>
                    </a:p>
                  </a:txBody>
                  <a:tcPr marL="73152" marR="73152" marT="36576" marB="36576" anchor="ctr">
                    <a:solidFill>
                      <a:srgbClr val="FFFFFF"/>
                    </a:solidFill>
                  </a:tcPr>
                </a:tc>
                <a:tc>
                  <a:txBody>
                    <a:bodyPr wrap="square"/>
                    <a:lstStyle/>
                    <a:p>
                      <a:r>
                        <a:rPr sz="1400" b="0">
                          <a:solidFill>
                            <a:srgbClr val="232323"/>
                          </a:solidFill>
                          <a:latin typeface="Calibri"/>
                        </a:rPr>
                        <a:t>Unique (seller, blockIndex): no forks</a:t>
                      </a:r>
                    </a:p>
                  </a:txBody>
                  <a:tcPr marL="73152" marR="73152" marT="36576" marB="36576" anchor="ctr">
                    <a:solidFill>
                      <a:srgbClr val="FFFFFF"/>
                    </a:solidFill>
                  </a:tcPr>
                </a:tc>
              </a:tr>
              <a:tr h="512064">
                <a:tc>
                  <a:txBody>
                    <a:bodyPr wrap="square"/>
                    <a:lstStyle/>
                    <a:p>
                      <a:r>
                        <a:rPr sz="1400" b="0">
                          <a:solidFill>
                            <a:srgbClr val="232323"/>
                          </a:solidFill>
                          <a:latin typeface="Calibri"/>
                        </a:rPr>
                        <a:t>OTP</a:t>
                      </a:r>
                    </a:p>
                  </a:txBody>
                  <a:tcPr marL="73152" marR="73152" marT="36576" marB="36576" anchor="ctr">
                    <a:solidFill>
                      <a:srgbClr val="EEF2F7"/>
                    </a:solidFill>
                  </a:tcPr>
                </a:tc>
                <a:tc>
                  <a:txBody>
                    <a:bodyPr wrap="square"/>
                    <a:lstStyle/>
                    <a:p>
                      <a:r>
                        <a:rPr sz="1400" b="0">
                          <a:solidFill>
                            <a:srgbClr val="232323"/>
                          </a:solidFill>
                          <a:latin typeface="Calibri"/>
                        </a:rPr>
                        <a:t>phone, code, attempts, expiresAt</a:t>
                      </a:r>
                    </a:p>
                  </a:txBody>
                  <a:tcPr marL="73152" marR="73152" marT="36576" marB="36576" anchor="ctr">
                    <a:solidFill>
                      <a:srgbClr val="EEF2F7"/>
                    </a:solidFill>
                  </a:tcPr>
                </a:tc>
                <a:tc>
                  <a:txBody>
                    <a:bodyPr wrap="square"/>
                    <a:lstStyle/>
                    <a:p>
                      <a:r>
                        <a:rPr sz="1400" b="0">
                          <a:solidFill>
                            <a:srgbClr val="232323"/>
                          </a:solidFill>
                          <a:latin typeface="Calibri"/>
                        </a:rPr>
                        <a:t>Auto-deleted after 10 minutes (TTL)</a:t>
                      </a:r>
                    </a:p>
                  </a:txBody>
                  <a:tcPr marL="73152" marR="73152" marT="36576" marB="36576" anchor="ctr">
                    <a:solidFill>
                      <a:srgbClr val="EEF2F7"/>
                    </a:solidFill>
                  </a:tcPr>
                </a:tc>
              </a:tr>
              <a:tr h="512064">
                <a:tc>
                  <a:txBody>
                    <a:bodyPr wrap="square"/>
                    <a:lstStyle/>
                    <a:p>
                      <a:r>
                        <a:rPr sz="1400" b="0">
                          <a:solidFill>
                            <a:srgbClr val="232323"/>
                          </a:solidFill>
                          <a:latin typeface="Calibri"/>
                        </a:rPr>
                        <a:t>AdminLog</a:t>
                      </a:r>
                    </a:p>
                  </a:txBody>
                  <a:tcPr marL="73152" marR="73152" marT="36576" marB="36576" anchor="ctr">
                    <a:solidFill>
                      <a:srgbClr val="FFFFFF"/>
                    </a:solidFill>
                  </a:tcPr>
                </a:tc>
                <a:tc>
                  <a:txBody>
                    <a:bodyPr wrap="square"/>
                    <a:lstStyle/>
                    <a:p>
                      <a:r>
                        <a:rPr sz="1400" b="0">
                          <a:solidFill>
                            <a:srgbClr val="232323"/>
                          </a:solidFill>
                          <a:latin typeface="Calibri"/>
                        </a:rPr>
                        <a:t>admin, action, target, reason, time</a:t>
                      </a:r>
                    </a:p>
                  </a:txBody>
                  <a:tcPr marL="73152" marR="73152" marT="36576" marB="36576" anchor="ctr">
                    <a:solidFill>
                      <a:srgbClr val="FFFFFF"/>
                    </a:solidFill>
                  </a:tcPr>
                </a:tc>
                <a:tc>
                  <a:txBody>
                    <a:bodyPr wrap="square"/>
                    <a:lstStyle/>
                    <a:p>
                      <a:r>
                        <a:rPr sz="1400" b="0">
                          <a:solidFill>
                            <a:srgbClr val="232323"/>
                          </a:solidFill>
                          <a:latin typeface="Calibri"/>
                        </a:rPr>
                        <a:t>Every admin action is accountable</a:t>
                      </a:r>
                    </a:p>
                  </a:txBody>
                  <a:tcPr marL="73152" marR="73152" marT="36576" marB="36576" anchor="ctr">
                    <a:solidFill>
                      <a:srgbClr val="FFFFFF"/>
                    </a:solidFill>
                  </a:tcPr>
                </a:tc>
              </a:tr>
            </a:tbl>
          </a:graphicData>
        </a:graphic>
      </p:graphicFrame>
      <p:sp>
        <p:nvSpPr>
          <p:cNvPr id="7" name="TextBox 6"/>
          <p:cNvSpPr txBox="1"/>
          <p:nvPr/>
        </p:nvSpPr>
        <p:spPr>
          <a:xfrm>
            <a:off x="548640" y="5532120"/>
            <a:ext cx="11064240" cy="640080"/>
          </a:xfrm>
          <a:prstGeom prst="rect">
            <a:avLst/>
          </a:prstGeom>
          <a:noFill/>
        </p:spPr>
        <p:txBody>
          <a:bodyPr wrap="square" anchor="t" lIns="45720" rIns="45720" tIns="27432" bIns="27432">
            <a:spAutoFit/>
          </a:bodyPr>
          <a:lstStyle/>
          <a:p>
            <a:pPr algn="l">
              <a:spcAft>
                <a:spcPts val="600"/>
              </a:spcAft>
            </a:pPr>
            <a:r>
              <a:rPr sz="1600" b="0" i="0">
                <a:solidFill>
                  <a:srgbClr val="5A6472"/>
                </a:solidFill>
                <a:latin typeface="Calibri"/>
              </a:rPr>
              <a:t>One seller has many listings and many trust blocks; a conversation links one buyer, one seller and one listing.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Interface / Interaction Design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23</a:t>
            </a:r>
          </a:p>
        </p:txBody>
      </p:sp>
      <p:pic>
        <p:nvPicPr>
          <p:cNvPr id="6" name="Picture 5" descr="browse.png"/>
          <p:cNvPicPr>
            <a:picLocks noChangeAspect="1"/>
          </p:cNvPicPr>
          <p:nvPr/>
        </p:nvPicPr>
        <p:blipFill>
          <a:blip r:embed="rId2"/>
          <a:stretch>
            <a:fillRect/>
          </a:stretch>
        </p:blipFill>
        <p:spPr>
          <a:xfrm>
            <a:off x="914400" y="1188720"/>
            <a:ext cx="2049274" cy="4434840"/>
          </a:xfrm>
          <a:prstGeom prst="rect">
            <a:avLst/>
          </a:prstGeom>
          <a:ln w="12700">
            <a:solidFill>
              <a:srgbClr val="D5DCE6"/>
            </a:solidFill>
          </a:ln>
        </p:spPr>
      </p:pic>
      <p:sp>
        <p:nvSpPr>
          <p:cNvPr id="7" name="TextBox 6"/>
          <p:cNvSpPr txBox="1"/>
          <p:nvPr/>
        </p:nvSpPr>
        <p:spPr>
          <a:xfrm>
            <a:off x="731520" y="5715000"/>
            <a:ext cx="2423160" cy="411480"/>
          </a:xfrm>
          <a:prstGeom prst="rect">
            <a:avLst/>
          </a:prstGeom>
          <a:noFill/>
        </p:spPr>
        <p:txBody>
          <a:bodyPr wrap="square" anchor="t" lIns="45720" rIns="45720" tIns="27432" bIns="27432">
            <a:spAutoFit/>
          </a:bodyPr>
          <a:lstStyle/>
          <a:p>
            <a:pPr algn="ctr">
              <a:spcAft>
                <a:spcPts val="600"/>
              </a:spcAft>
            </a:pPr>
            <a:r>
              <a:rPr sz="1400" b="1" i="0">
                <a:solidFill>
                  <a:srgbClr val="192D4B"/>
                </a:solidFill>
                <a:latin typeface="Calibri"/>
              </a:rPr>
              <a:t>Browse with filters</a:t>
            </a:r>
          </a:p>
        </p:txBody>
      </p:sp>
      <p:pic>
        <p:nvPicPr>
          <p:cNvPr id="8" name="Picture 7" descr="voice.png"/>
          <p:cNvPicPr>
            <a:picLocks noChangeAspect="1"/>
          </p:cNvPicPr>
          <p:nvPr/>
        </p:nvPicPr>
        <p:blipFill>
          <a:blip r:embed="rId3"/>
          <a:stretch>
            <a:fillRect/>
          </a:stretch>
        </p:blipFill>
        <p:spPr>
          <a:xfrm>
            <a:off x="3566160" y="1188720"/>
            <a:ext cx="2049274" cy="4434840"/>
          </a:xfrm>
          <a:prstGeom prst="rect">
            <a:avLst/>
          </a:prstGeom>
          <a:ln w="12700">
            <a:solidFill>
              <a:srgbClr val="D5DCE6"/>
            </a:solidFill>
          </a:ln>
        </p:spPr>
      </p:pic>
      <p:sp>
        <p:nvSpPr>
          <p:cNvPr id="9" name="TextBox 8"/>
          <p:cNvSpPr txBox="1"/>
          <p:nvPr/>
        </p:nvSpPr>
        <p:spPr>
          <a:xfrm>
            <a:off x="3383279" y="5715000"/>
            <a:ext cx="2423160" cy="411480"/>
          </a:xfrm>
          <a:prstGeom prst="rect">
            <a:avLst/>
          </a:prstGeom>
          <a:noFill/>
        </p:spPr>
        <p:txBody>
          <a:bodyPr wrap="square" anchor="t" lIns="45720" rIns="45720" tIns="27432" bIns="27432">
            <a:spAutoFit/>
          </a:bodyPr>
          <a:lstStyle/>
          <a:p>
            <a:pPr algn="ctr">
              <a:spcAft>
                <a:spcPts val="600"/>
              </a:spcAft>
            </a:pPr>
            <a:r>
              <a:rPr sz="1400" b="1" i="0">
                <a:solidFill>
                  <a:srgbClr val="192D4B"/>
                </a:solidFill>
                <a:latin typeface="Calibri"/>
              </a:rPr>
              <a:t>Voice listing</a:t>
            </a:r>
          </a:p>
        </p:txBody>
      </p:sp>
      <p:pic>
        <p:nvPicPr>
          <p:cNvPr id="10" name="Picture 9" descr="chat.png"/>
          <p:cNvPicPr>
            <a:picLocks noChangeAspect="1"/>
          </p:cNvPicPr>
          <p:nvPr/>
        </p:nvPicPr>
        <p:blipFill>
          <a:blip r:embed="rId4"/>
          <a:stretch>
            <a:fillRect/>
          </a:stretch>
        </p:blipFill>
        <p:spPr>
          <a:xfrm>
            <a:off x="6217920" y="1188720"/>
            <a:ext cx="2049274" cy="4434840"/>
          </a:xfrm>
          <a:prstGeom prst="rect">
            <a:avLst/>
          </a:prstGeom>
          <a:ln w="12700">
            <a:solidFill>
              <a:srgbClr val="D5DCE6"/>
            </a:solidFill>
          </a:ln>
        </p:spPr>
      </p:pic>
      <p:sp>
        <p:nvSpPr>
          <p:cNvPr id="11" name="TextBox 10"/>
          <p:cNvSpPr txBox="1"/>
          <p:nvPr/>
        </p:nvSpPr>
        <p:spPr>
          <a:xfrm>
            <a:off x="6035040" y="5715000"/>
            <a:ext cx="2423160" cy="411480"/>
          </a:xfrm>
          <a:prstGeom prst="rect">
            <a:avLst/>
          </a:prstGeom>
          <a:noFill/>
        </p:spPr>
        <p:txBody>
          <a:bodyPr wrap="square" anchor="t" lIns="45720" rIns="45720" tIns="27432" bIns="27432">
            <a:spAutoFit/>
          </a:bodyPr>
          <a:lstStyle/>
          <a:p>
            <a:pPr algn="ctr">
              <a:spcAft>
                <a:spcPts val="600"/>
              </a:spcAft>
            </a:pPr>
            <a:r>
              <a:rPr sz="1400" b="1" i="0">
                <a:solidFill>
                  <a:srgbClr val="192D4B"/>
                </a:solidFill>
                <a:latin typeface="Calibri"/>
              </a:rPr>
              <a:t>Chat + rating prompt</a:t>
            </a:r>
          </a:p>
        </p:txBody>
      </p:sp>
      <p:pic>
        <p:nvPicPr>
          <p:cNvPr id="12" name="Picture 11" descr="trust.png"/>
          <p:cNvPicPr>
            <a:picLocks noChangeAspect="1"/>
          </p:cNvPicPr>
          <p:nvPr/>
        </p:nvPicPr>
        <p:blipFill>
          <a:blip r:embed="rId5"/>
          <a:stretch>
            <a:fillRect/>
          </a:stretch>
        </p:blipFill>
        <p:spPr>
          <a:xfrm>
            <a:off x="8869680" y="1188720"/>
            <a:ext cx="2049274" cy="4434840"/>
          </a:xfrm>
          <a:prstGeom prst="rect">
            <a:avLst/>
          </a:prstGeom>
          <a:ln w="12700">
            <a:solidFill>
              <a:srgbClr val="D5DCE6"/>
            </a:solidFill>
          </a:ln>
        </p:spPr>
      </p:pic>
      <p:sp>
        <p:nvSpPr>
          <p:cNvPr id="13" name="TextBox 12"/>
          <p:cNvSpPr txBox="1"/>
          <p:nvPr/>
        </p:nvSpPr>
        <p:spPr>
          <a:xfrm>
            <a:off x="8686800" y="5715000"/>
            <a:ext cx="2423160" cy="411480"/>
          </a:xfrm>
          <a:prstGeom prst="rect">
            <a:avLst/>
          </a:prstGeom>
          <a:noFill/>
        </p:spPr>
        <p:txBody>
          <a:bodyPr wrap="square" anchor="t" lIns="45720" rIns="45720" tIns="27432" bIns="27432">
            <a:spAutoFit/>
          </a:bodyPr>
          <a:lstStyle/>
          <a:p>
            <a:pPr algn="ctr">
              <a:spcAft>
                <a:spcPts val="600"/>
              </a:spcAft>
            </a:pPr>
            <a:r>
              <a:rPr sz="1400" b="1" i="0">
                <a:solidFill>
                  <a:srgbClr val="192D4B"/>
                </a:solidFill>
                <a:latin typeface="Calibri"/>
              </a:rPr>
              <a:t>Trust score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Algorithms / Models / Technical Design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24</a:t>
            </a:r>
          </a:p>
        </p:txBody>
      </p:sp>
      <p:pic>
        <p:nvPicPr>
          <p:cNvPr id="6" name="Picture 5" descr="mcp-Claude_Docs-blob-1791666898869-jk3klf.png"/>
          <p:cNvPicPr>
            <a:picLocks noChangeAspect="1"/>
          </p:cNvPicPr>
          <p:nvPr/>
        </p:nvPicPr>
        <p:blipFill>
          <a:blip r:embed="rId2"/>
          <a:stretch>
            <a:fillRect/>
          </a:stretch>
        </p:blipFill>
        <p:spPr>
          <a:xfrm>
            <a:off x="502920" y="1188720"/>
            <a:ext cx="6949440" cy="3867694"/>
          </a:xfrm>
          <a:prstGeom prst="rect">
            <a:avLst/>
          </a:prstGeom>
        </p:spPr>
      </p:pic>
      <p:sp>
        <p:nvSpPr>
          <p:cNvPr id="7" name="TextBox 6"/>
          <p:cNvSpPr txBox="1"/>
          <p:nvPr/>
        </p:nvSpPr>
        <p:spPr>
          <a:xfrm>
            <a:off x="7726679" y="1234440"/>
            <a:ext cx="3931920" cy="4937760"/>
          </a:xfrm>
          <a:prstGeom prst="rect">
            <a:avLst/>
          </a:prstGeom>
          <a:noFill/>
        </p:spPr>
        <p:txBody>
          <a:bodyPr wrap="square" anchor="t" lIns="45720" rIns="45720" tIns="27432" bIns="27432">
            <a:spAutoFit/>
          </a:bodyPr>
          <a:lstStyle/>
          <a:p>
            <a:pPr algn="l">
              <a:spcAft>
                <a:spcPts val="1200"/>
              </a:spcAft>
            </a:pPr>
            <a:r>
              <a:rPr sz="1600" b="1" i="0">
                <a:solidFill>
                  <a:srgbClr val="192D4B"/>
                </a:solidFill>
                <a:latin typeface="Calibri"/>
              </a:rPr>
              <a:t>Block hash: </a:t>
            </a:r>
            <a:r>
              <a:rPr sz="1600" b="0" i="0">
                <a:solidFill>
                  <a:srgbClr val="232323"/>
                </a:solidFill>
                <a:latin typeface="Calibri"/>
              </a:rPr>
              <a:t>SHA-256 of time, event and previous hash.</a:t>
            </a:r>
          </a:p>
          <a:p>
            <a:pPr algn="l">
              <a:spcAft>
                <a:spcPts val="1200"/>
              </a:spcAft>
            </a:pPr>
            <a:r>
              <a:rPr sz="1600" b="1" i="0">
                <a:solidFill>
                  <a:srgbClr val="192D4B"/>
                </a:solidFill>
                <a:latin typeface="Calibri"/>
              </a:rPr>
              <a:t>Verify: </a:t>
            </a:r>
            <a:r>
              <a:rPr sz="1600" b="0" i="0">
                <a:solidFill>
                  <a:srgbClr val="232323"/>
                </a:solidFill>
                <a:latin typeface="Calibri"/>
              </a:rPr>
              <a:t>re-hash every block, check every link, compare the last hash with the one stored on the seller.</a:t>
            </a:r>
          </a:p>
          <a:p>
            <a:pPr algn="l">
              <a:spcAft>
                <a:spcPts val="1200"/>
              </a:spcAft>
            </a:pPr>
            <a:r>
              <a:rPr sz="1600" b="1" i="0">
                <a:solidFill>
                  <a:srgbClr val="192D4B"/>
                </a:solidFill>
                <a:latin typeface="Calibri"/>
              </a:rPr>
              <a:t>Score: </a:t>
            </a:r>
            <a:r>
              <a:rPr sz="1600" b="0" i="0">
                <a:solidFill>
                  <a:srgbClr val="232323"/>
                </a:solidFill>
                <a:latin typeface="Calibri"/>
              </a:rPr>
              <a:t>50 + event weights, kept between 0 and 100. Verified +15, 5★ +8, listing +2, 1★ −5.</a:t>
            </a:r>
          </a:p>
          <a:p>
            <a:pPr algn="l">
              <a:spcAft>
                <a:spcPts val="1200"/>
              </a:spcAft>
            </a:pPr>
            <a:r>
              <a:rPr sz="1600" b="1" i="0">
                <a:solidFill>
                  <a:srgbClr val="192D4B"/>
                </a:solidFill>
                <a:latin typeface="Calibri"/>
              </a:rPr>
              <a:t>Voice parser: </a:t>
            </a:r>
            <a:r>
              <a:rPr sz="1600" b="0" i="0">
                <a:solidFill>
                  <a:srgbClr val="232323"/>
                </a:solidFill>
                <a:latin typeface="Calibri"/>
              </a:rPr>
              <a:t>number words to digits, then price, quantity, unit and area by pattern.</a:t>
            </a:r>
          </a:p>
        </p:txBody>
      </p:sp>
      <p:sp>
        <p:nvSpPr>
          <p:cNvPr id="8" name="TextBox 7"/>
          <p:cNvSpPr txBox="1"/>
          <p:nvPr/>
        </p:nvSpPr>
        <p:spPr>
          <a:xfrm>
            <a:off x="502920" y="5257800"/>
            <a:ext cx="6949440" cy="822960"/>
          </a:xfrm>
          <a:prstGeom prst="rect">
            <a:avLst/>
          </a:prstGeom>
          <a:noFill/>
        </p:spPr>
        <p:txBody>
          <a:bodyPr wrap="square" anchor="t" lIns="45720" rIns="45720" tIns="27432" bIns="27432">
            <a:spAutoFit/>
          </a:bodyPr>
          <a:lstStyle/>
          <a:p>
            <a:pPr algn="l">
              <a:spcAft>
                <a:spcPts val="600"/>
              </a:spcAft>
            </a:pPr>
            <a:r>
              <a:rPr sz="1500" b="1" i="0">
                <a:solidFill>
                  <a:srgbClr val="192D4B"/>
                </a:solidFill>
                <a:latin typeface="Calibri"/>
              </a:rPr>
              <a:t>Why not a real blockchain? </a:t>
            </a:r>
            <a:r>
              <a:rPr sz="1500" b="0" i="0">
                <a:solidFill>
                  <a:srgbClr val="232323"/>
                </a:solidFill>
                <a:latin typeface="Calibri"/>
              </a:rPr>
              <a:t>One operator, no need for consensus; a hash chain gives tamper evidence at no cost.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332720" cy="1280160"/>
          </a:xfrm>
          <a:prstGeom prst="rect">
            <a:avLst/>
          </a:prstGeom>
          <a:noFill/>
        </p:spPr>
        <p:txBody>
          <a:bodyPr wrap="none">
            <a:spAutoFit/>
          </a:bodyPr>
          <a:lstStyle/>
          <a:p>
            <a:pPr algn="ctr">
              <a:defRPr sz="4000" b="1">
                <a:solidFill>
                  <a:srgbClr val="FFFFFF"/>
                </a:solidFill>
              </a:defRPr>
            </a:pPr>
            <a:r>
              <a:t>Implementation</a:t>
            </a:r>
          </a:p>
        </p:txBody>
      </p:sp>
      <p:sp>
        <p:nvSpPr>
          <p:cNvPr id="3" name="Rectangle 2"/>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Development Environment</a:t>
            </a:r>
          </a:p>
        </p:txBody>
      </p:sp>
      <p:sp>
        <p:nvSpPr>
          <p:cNvPr id="3" name="TextBox 2"/>
          <p:cNvSpPr txBox="1"/>
          <p:nvPr/>
        </p:nvSpPr>
        <p:spPr>
          <a:xfrm>
            <a:off x="822960" y="1325880"/>
            <a:ext cx="10607040" cy="4754880"/>
          </a:xfrm>
          <a:prstGeom prst="rect">
            <a:avLst/>
          </a:prstGeom>
          <a:noFill/>
        </p:spPr>
        <p:txBody>
          <a:bodyPr wrap="square">
            <a:spAutoFit/>
          </a:bodyPr>
          <a:lstStyle/>
          <a:p>
            <a:pPr>
              <a:spcAft>
                <a:spcPts val="1200"/>
              </a:spcAft>
              <a:defRPr sz="2100">
                <a:solidFill>
                  <a:srgbClr val="232323"/>
                </a:solidFill>
              </a:defRPr>
            </a:pPr>
            <a:r>
              <a:rPr b="1">
                <a:solidFill>
                  <a:srgbClr val="192D4B"/>
                </a:solidFill>
              </a:rPr>
              <a:t>Hardware: </a:t>
            </a:r>
            <a:r>
              <a:t>laptop for development; Android phone with Chrome for mobile and voice testing</a:t>
            </a:r>
          </a:p>
          <a:p>
            <a:pPr>
              <a:spcAft>
                <a:spcPts val="1200"/>
              </a:spcAft>
              <a:defRPr sz="2100">
                <a:solidFill>
                  <a:srgbClr val="232323"/>
                </a:solidFill>
              </a:defRPr>
            </a:pPr>
            <a:r>
              <a:rPr b="1">
                <a:solidFill>
                  <a:srgbClr val="192D4B"/>
                </a:solidFill>
              </a:rPr>
              <a:t>Programming language: </a:t>
            </a:r>
            <a:r>
              <a:t>JavaScript (Node.js 18+ and React JSX)</a:t>
            </a:r>
          </a:p>
          <a:p>
            <a:pPr>
              <a:spcAft>
                <a:spcPts val="1200"/>
              </a:spcAft>
              <a:defRPr sz="2100">
                <a:solidFill>
                  <a:srgbClr val="232323"/>
                </a:solidFill>
              </a:defRPr>
            </a:pPr>
            <a:r>
              <a:rPr b="1">
                <a:solidFill>
                  <a:srgbClr val="192D4B"/>
                </a:solidFill>
              </a:rPr>
              <a:t>Frameworks: </a:t>
            </a:r>
            <a:r>
              <a:t>React 19, Redux Toolkit, Express 4, Socket.io</a:t>
            </a:r>
          </a:p>
          <a:p>
            <a:pPr>
              <a:spcAft>
                <a:spcPts val="1200"/>
              </a:spcAft>
              <a:defRPr sz="2100">
                <a:solidFill>
                  <a:srgbClr val="232323"/>
                </a:solidFill>
              </a:defRPr>
            </a:pPr>
            <a:r>
              <a:rPr b="1">
                <a:solidFill>
                  <a:srgbClr val="192D4B"/>
                </a:solidFill>
              </a:rPr>
              <a:t>Database: </a:t>
            </a:r>
            <a:r>
              <a:t>MongoDB Atlas (free tier) via Mongoose</a:t>
            </a:r>
          </a:p>
          <a:p>
            <a:pPr>
              <a:spcAft>
                <a:spcPts val="1200"/>
              </a:spcAft>
              <a:defRPr sz="2100">
                <a:solidFill>
                  <a:srgbClr val="232323"/>
                </a:solidFill>
              </a:defRPr>
            </a:pPr>
            <a:r>
              <a:rPr b="1">
                <a:solidFill>
                  <a:srgbClr val="192D4B"/>
                </a:solidFill>
              </a:rPr>
              <a:t>Development tools: </a:t>
            </a:r>
            <a:r>
              <a:t>VS Code, Chrome DevTools, Nodemon, ESLint</a:t>
            </a:r>
          </a:p>
          <a:p>
            <a:pPr>
              <a:spcAft>
                <a:spcPts val="1200"/>
              </a:spcAft>
              <a:defRPr sz="2100">
                <a:solidFill>
                  <a:srgbClr val="232323"/>
                </a:solidFill>
              </a:defRPr>
            </a:pPr>
            <a:r>
              <a:rPr b="1">
                <a:solidFill>
                  <a:srgbClr val="192D4B"/>
                </a:solidFill>
              </a:rPr>
              <a:t>Version control / deployment: </a:t>
            </a:r>
            <a:r>
              <a:t>Git and GitHub, GitHub Actions, Vercel and Render</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System Components / Modules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27</a:t>
            </a:r>
          </a:p>
        </p:txBody>
      </p:sp>
      <p:sp>
        <p:nvSpPr>
          <p:cNvPr id="6" name="Rounded Rectangle 5"/>
          <p:cNvSpPr/>
          <p:nvPr/>
        </p:nvSpPr>
        <p:spPr>
          <a:xfrm>
            <a:off x="731520" y="1371600"/>
            <a:ext cx="2514600" cy="20574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2148840" cy="457200"/>
          </a:xfrm>
          <a:prstGeom prst="rect">
            <a:avLst/>
          </a:prstGeom>
          <a:noFill/>
        </p:spPr>
        <p:txBody>
          <a:bodyPr wrap="square" anchor="t" lIns="45720" rIns="45720" tIns="27432" bIns="27432">
            <a:spAutoFit/>
          </a:bodyPr>
          <a:lstStyle/>
          <a:p>
            <a:pPr algn="l">
              <a:spcAft>
                <a:spcPts val="600"/>
              </a:spcAft>
            </a:pPr>
            <a:r>
              <a:rPr sz="1700" b="1" i="0">
                <a:solidFill>
                  <a:srgbClr val="192D4B"/>
                </a:solidFill>
                <a:latin typeface="Calibri"/>
              </a:rPr>
              <a:t>Authentication</a:t>
            </a:r>
          </a:p>
        </p:txBody>
      </p:sp>
      <p:sp>
        <p:nvSpPr>
          <p:cNvPr id="8" name="TextBox 7"/>
          <p:cNvSpPr txBox="1"/>
          <p:nvPr/>
        </p:nvSpPr>
        <p:spPr>
          <a:xfrm>
            <a:off x="914400" y="1965960"/>
            <a:ext cx="2148840" cy="1325880"/>
          </a:xfrm>
          <a:prstGeom prst="rect">
            <a:avLst/>
          </a:prstGeom>
          <a:noFill/>
        </p:spPr>
        <p:txBody>
          <a:bodyPr wrap="square" anchor="t" lIns="45720" rIns="45720" tIns="27432" bIns="27432">
            <a:spAutoFit/>
          </a:bodyPr>
          <a:lstStyle/>
          <a:p>
            <a:pPr algn="l">
              <a:spcAft>
                <a:spcPts val="500"/>
              </a:spcAft>
            </a:pPr>
            <a:r>
              <a:rPr sz="1500" b="0" i="0">
                <a:solidFill>
                  <a:srgbClr val="232323"/>
                </a:solidFill>
                <a:latin typeface="Calibri"/>
              </a:rPr>
              <a:t>OTP sign-up, JWT login, roles; admin by script</a:t>
            </a:r>
          </a:p>
        </p:txBody>
      </p:sp>
      <p:sp>
        <p:nvSpPr>
          <p:cNvPr id="9" name="Rounded Rectangle 8"/>
          <p:cNvSpPr/>
          <p:nvPr/>
        </p:nvSpPr>
        <p:spPr>
          <a:xfrm>
            <a:off x="3447288" y="1371600"/>
            <a:ext cx="2514600" cy="20574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0168" y="1508760"/>
            <a:ext cx="2148840" cy="457200"/>
          </a:xfrm>
          <a:prstGeom prst="rect">
            <a:avLst/>
          </a:prstGeom>
          <a:noFill/>
        </p:spPr>
        <p:txBody>
          <a:bodyPr wrap="square" anchor="t" lIns="45720" rIns="45720" tIns="27432" bIns="27432">
            <a:spAutoFit/>
          </a:bodyPr>
          <a:lstStyle/>
          <a:p>
            <a:pPr algn="l">
              <a:spcAft>
                <a:spcPts val="600"/>
              </a:spcAft>
            </a:pPr>
            <a:r>
              <a:rPr sz="1700" b="1" i="0">
                <a:solidFill>
                  <a:srgbClr val="192D4B"/>
                </a:solidFill>
                <a:latin typeface="Calibri"/>
              </a:rPr>
              <a:t>Listings</a:t>
            </a:r>
          </a:p>
        </p:txBody>
      </p:sp>
      <p:sp>
        <p:nvSpPr>
          <p:cNvPr id="11" name="TextBox 10"/>
          <p:cNvSpPr txBox="1"/>
          <p:nvPr/>
        </p:nvSpPr>
        <p:spPr>
          <a:xfrm>
            <a:off x="3630168" y="1965960"/>
            <a:ext cx="2148840" cy="1325880"/>
          </a:xfrm>
          <a:prstGeom prst="rect">
            <a:avLst/>
          </a:prstGeom>
          <a:noFill/>
        </p:spPr>
        <p:txBody>
          <a:bodyPr wrap="square" anchor="t" lIns="45720" rIns="45720" tIns="27432" bIns="27432">
            <a:spAutoFit/>
          </a:bodyPr>
          <a:lstStyle/>
          <a:p>
            <a:pPr algn="l">
              <a:spcAft>
                <a:spcPts val="500"/>
              </a:spcAft>
            </a:pPr>
            <a:r>
              <a:rPr sz="1500" b="0" i="0">
                <a:solidFill>
                  <a:srgbClr val="232323"/>
                </a:solidFill>
                <a:latin typeface="Calibri"/>
              </a:rPr>
              <a:t>Create, edit, pause, sell; photo upload</a:t>
            </a:r>
          </a:p>
        </p:txBody>
      </p:sp>
      <p:sp>
        <p:nvSpPr>
          <p:cNvPr id="12" name="Rounded Rectangle 11"/>
          <p:cNvSpPr/>
          <p:nvPr/>
        </p:nvSpPr>
        <p:spPr>
          <a:xfrm>
            <a:off x="6163056" y="1371600"/>
            <a:ext cx="2514600" cy="20574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5936" y="1508760"/>
            <a:ext cx="2148840" cy="457200"/>
          </a:xfrm>
          <a:prstGeom prst="rect">
            <a:avLst/>
          </a:prstGeom>
          <a:noFill/>
        </p:spPr>
        <p:txBody>
          <a:bodyPr wrap="square" anchor="t" lIns="45720" rIns="45720" tIns="27432" bIns="27432">
            <a:spAutoFit/>
          </a:bodyPr>
          <a:lstStyle/>
          <a:p>
            <a:pPr algn="l">
              <a:spcAft>
                <a:spcPts val="600"/>
              </a:spcAft>
            </a:pPr>
            <a:r>
              <a:rPr sz="1700" b="1" i="0">
                <a:solidFill>
                  <a:srgbClr val="192D4B"/>
                </a:solidFill>
                <a:latin typeface="Calibri"/>
              </a:rPr>
              <a:t>Browse</a:t>
            </a:r>
          </a:p>
        </p:txBody>
      </p:sp>
      <p:sp>
        <p:nvSpPr>
          <p:cNvPr id="14" name="TextBox 13"/>
          <p:cNvSpPr txBox="1"/>
          <p:nvPr/>
        </p:nvSpPr>
        <p:spPr>
          <a:xfrm>
            <a:off x="6345936" y="1965960"/>
            <a:ext cx="2148840" cy="1325880"/>
          </a:xfrm>
          <a:prstGeom prst="rect">
            <a:avLst/>
          </a:prstGeom>
          <a:noFill/>
        </p:spPr>
        <p:txBody>
          <a:bodyPr wrap="square" anchor="t" lIns="45720" rIns="45720" tIns="27432" bIns="27432">
            <a:spAutoFit/>
          </a:bodyPr>
          <a:lstStyle/>
          <a:p>
            <a:pPr algn="l">
              <a:spcAft>
                <a:spcPts val="500"/>
              </a:spcAft>
            </a:pPr>
            <a:r>
              <a:rPr sz="1500" b="0" i="0">
                <a:solidFill>
                  <a:srgbClr val="232323"/>
                </a:solidFill>
                <a:latin typeface="Calibri"/>
              </a:rPr>
              <a:t>Neighbourhood, keyword, price, quantity</a:t>
            </a:r>
          </a:p>
        </p:txBody>
      </p:sp>
      <p:sp>
        <p:nvSpPr>
          <p:cNvPr id="15" name="Rounded Rectangle 14"/>
          <p:cNvSpPr/>
          <p:nvPr/>
        </p:nvSpPr>
        <p:spPr>
          <a:xfrm>
            <a:off x="8878824" y="1371600"/>
            <a:ext cx="2514600" cy="205740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61704" y="1508760"/>
            <a:ext cx="2148840" cy="457200"/>
          </a:xfrm>
          <a:prstGeom prst="rect">
            <a:avLst/>
          </a:prstGeom>
          <a:noFill/>
        </p:spPr>
        <p:txBody>
          <a:bodyPr wrap="square" anchor="t" lIns="45720" rIns="45720" tIns="27432" bIns="27432">
            <a:spAutoFit/>
          </a:bodyPr>
          <a:lstStyle/>
          <a:p>
            <a:pPr algn="l">
              <a:spcAft>
                <a:spcPts val="600"/>
              </a:spcAft>
            </a:pPr>
            <a:r>
              <a:rPr sz="1700" b="1" i="0">
                <a:solidFill>
                  <a:srgbClr val="D85A30"/>
                </a:solidFill>
                <a:latin typeface="Calibri"/>
              </a:rPr>
              <a:t>Voice input</a:t>
            </a:r>
          </a:p>
        </p:txBody>
      </p:sp>
      <p:sp>
        <p:nvSpPr>
          <p:cNvPr id="17" name="TextBox 16"/>
          <p:cNvSpPr txBox="1"/>
          <p:nvPr/>
        </p:nvSpPr>
        <p:spPr>
          <a:xfrm>
            <a:off x="9061704" y="1965960"/>
            <a:ext cx="2148840" cy="1325880"/>
          </a:xfrm>
          <a:prstGeom prst="rect">
            <a:avLst/>
          </a:prstGeom>
          <a:noFill/>
        </p:spPr>
        <p:txBody>
          <a:bodyPr wrap="square" anchor="t" lIns="45720" rIns="45720" tIns="27432" bIns="27432">
            <a:spAutoFit/>
          </a:bodyPr>
          <a:lstStyle/>
          <a:p>
            <a:pPr algn="l">
              <a:spcAft>
                <a:spcPts val="500"/>
              </a:spcAft>
            </a:pPr>
            <a:r>
              <a:rPr sz="1500" b="0" i="0">
                <a:solidFill>
                  <a:srgbClr val="232323"/>
                </a:solidFill>
                <a:latin typeface="Calibri"/>
              </a:rPr>
              <a:t>Speech to text, parsed into the form</a:t>
            </a:r>
          </a:p>
        </p:txBody>
      </p:sp>
      <p:sp>
        <p:nvSpPr>
          <p:cNvPr id="18" name="Rounded Rectangle 17"/>
          <p:cNvSpPr/>
          <p:nvPr/>
        </p:nvSpPr>
        <p:spPr>
          <a:xfrm>
            <a:off x="731520" y="3703320"/>
            <a:ext cx="2514600" cy="20574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840480"/>
            <a:ext cx="2148840" cy="457200"/>
          </a:xfrm>
          <a:prstGeom prst="rect">
            <a:avLst/>
          </a:prstGeom>
          <a:noFill/>
        </p:spPr>
        <p:txBody>
          <a:bodyPr wrap="square" anchor="t" lIns="45720" rIns="45720" tIns="27432" bIns="27432">
            <a:spAutoFit/>
          </a:bodyPr>
          <a:lstStyle/>
          <a:p>
            <a:pPr algn="l">
              <a:spcAft>
                <a:spcPts val="600"/>
              </a:spcAft>
            </a:pPr>
            <a:r>
              <a:rPr sz="1700" b="1" i="0">
                <a:solidFill>
                  <a:srgbClr val="192D4B"/>
                </a:solidFill>
                <a:latin typeface="Calibri"/>
              </a:rPr>
              <a:t>Chat</a:t>
            </a:r>
          </a:p>
        </p:txBody>
      </p:sp>
      <p:sp>
        <p:nvSpPr>
          <p:cNvPr id="20" name="TextBox 19"/>
          <p:cNvSpPr txBox="1"/>
          <p:nvPr/>
        </p:nvSpPr>
        <p:spPr>
          <a:xfrm>
            <a:off x="914400" y="4297680"/>
            <a:ext cx="2148840" cy="1325880"/>
          </a:xfrm>
          <a:prstGeom prst="rect">
            <a:avLst/>
          </a:prstGeom>
          <a:noFill/>
        </p:spPr>
        <p:txBody>
          <a:bodyPr wrap="square" anchor="t" lIns="45720" rIns="45720" tIns="27432" bIns="27432">
            <a:spAutoFit/>
          </a:bodyPr>
          <a:lstStyle/>
          <a:p>
            <a:pPr algn="l">
              <a:spcAft>
                <a:spcPts val="500"/>
              </a:spcAft>
            </a:pPr>
            <a:r>
              <a:rPr sz="1500" b="0" i="0">
                <a:solidFill>
                  <a:srgbClr val="232323"/>
                </a:solidFill>
                <a:latin typeface="Calibri"/>
              </a:rPr>
              <a:t>Socket.io rooms, typing, unread counts</a:t>
            </a:r>
          </a:p>
        </p:txBody>
      </p:sp>
      <p:sp>
        <p:nvSpPr>
          <p:cNvPr id="21" name="Rounded Rectangle 20"/>
          <p:cNvSpPr/>
          <p:nvPr/>
        </p:nvSpPr>
        <p:spPr>
          <a:xfrm>
            <a:off x="3447288" y="3703320"/>
            <a:ext cx="2514600" cy="20574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30168" y="3840480"/>
            <a:ext cx="2148840" cy="457200"/>
          </a:xfrm>
          <a:prstGeom prst="rect">
            <a:avLst/>
          </a:prstGeom>
          <a:noFill/>
        </p:spPr>
        <p:txBody>
          <a:bodyPr wrap="square" anchor="t" lIns="45720" rIns="45720" tIns="27432" bIns="27432">
            <a:spAutoFit/>
          </a:bodyPr>
          <a:lstStyle/>
          <a:p>
            <a:pPr algn="l">
              <a:spcAft>
                <a:spcPts val="600"/>
              </a:spcAft>
            </a:pPr>
            <a:r>
              <a:rPr sz="1700" b="1" i="0">
                <a:solidFill>
                  <a:srgbClr val="192D4B"/>
                </a:solidFill>
                <a:latin typeface="Calibri"/>
              </a:rPr>
              <a:t>Offline</a:t>
            </a:r>
          </a:p>
        </p:txBody>
      </p:sp>
      <p:sp>
        <p:nvSpPr>
          <p:cNvPr id="23" name="TextBox 22"/>
          <p:cNvSpPr txBox="1"/>
          <p:nvPr/>
        </p:nvSpPr>
        <p:spPr>
          <a:xfrm>
            <a:off x="3630168" y="4297680"/>
            <a:ext cx="2148840" cy="1325880"/>
          </a:xfrm>
          <a:prstGeom prst="rect">
            <a:avLst/>
          </a:prstGeom>
          <a:noFill/>
        </p:spPr>
        <p:txBody>
          <a:bodyPr wrap="square" anchor="t" lIns="45720" rIns="45720" tIns="27432" bIns="27432">
            <a:spAutoFit/>
          </a:bodyPr>
          <a:lstStyle/>
          <a:p>
            <a:pPr algn="l">
              <a:spcAft>
                <a:spcPts val="500"/>
              </a:spcAft>
            </a:pPr>
            <a:r>
              <a:rPr sz="1500" b="0" i="0">
                <a:solidFill>
                  <a:srgbClr val="232323"/>
                </a:solidFill>
                <a:latin typeface="Calibri"/>
              </a:rPr>
              <a:t>Service worker cache, IndexedDB queue</a:t>
            </a:r>
          </a:p>
        </p:txBody>
      </p:sp>
      <p:sp>
        <p:nvSpPr>
          <p:cNvPr id="24" name="Rounded Rectangle 23"/>
          <p:cNvSpPr/>
          <p:nvPr/>
        </p:nvSpPr>
        <p:spPr>
          <a:xfrm>
            <a:off x="6163056" y="3703320"/>
            <a:ext cx="2514600" cy="205740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45936" y="3840480"/>
            <a:ext cx="2148840" cy="457200"/>
          </a:xfrm>
          <a:prstGeom prst="rect">
            <a:avLst/>
          </a:prstGeom>
          <a:noFill/>
        </p:spPr>
        <p:txBody>
          <a:bodyPr wrap="square" anchor="t" lIns="45720" rIns="45720" tIns="27432" bIns="27432">
            <a:spAutoFit/>
          </a:bodyPr>
          <a:lstStyle/>
          <a:p>
            <a:pPr algn="l">
              <a:spcAft>
                <a:spcPts val="600"/>
              </a:spcAft>
            </a:pPr>
            <a:r>
              <a:rPr sz="1700" b="1" i="0">
                <a:solidFill>
                  <a:srgbClr val="D85A30"/>
                </a:solidFill>
                <a:latin typeface="Calibri"/>
              </a:rPr>
              <a:t>Trust</a:t>
            </a:r>
          </a:p>
        </p:txBody>
      </p:sp>
      <p:sp>
        <p:nvSpPr>
          <p:cNvPr id="26" name="TextBox 25"/>
          <p:cNvSpPr txBox="1"/>
          <p:nvPr/>
        </p:nvSpPr>
        <p:spPr>
          <a:xfrm>
            <a:off x="6345936" y="4297680"/>
            <a:ext cx="2148840" cy="1325880"/>
          </a:xfrm>
          <a:prstGeom prst="rect">
            <a:avLst/>
          </a:prstGeom>
          <a:noFill/>
        </p:spPr>
        <p:txBody>
          <a:bodyPr wrap="square" anchor="t" lIns="45720" rIns="45720" tIns="27432" bIns="27432">
            <a:spAutoFit/>
          </a:bodyPr>
          <a:lstStyle/>
          <a:p>
            <a:pPr algn="l">
              <a:spcAft>
                <a:spcPts val="500"/>
              </a:spcAft>
            </a:pPr>
            <a:r>
              <a:rPr sz="1500" b="0" i="0">
                <a:solidFill>
                  <a:srgbClr val="232323"/>
                </a:solidFill>
                <a:latin typeface="Calibri"/>
              </a:rPr>
              <a:t>Hash chain, score, rating rules</a:t>
            </a:r>
          </a:p>
        </p:txBody>
      </p:sp>
      <p:sp>
        <p:nvSpPr>
          <p:cNvPr id="27" name="Rounded Rectangle 26"/>
          <p:cNvSpPr/>
          <p:nvPr/>
        </p:nvSpPr>
        <p:spPr>
          <a:xfrm>
            <a:off x="8878824" y="3703320"/>
            <a:ext cx="2514600" cy="20574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61704" y="3840480"/>
            <a:ext cx="2148840" cy="457200"/>
          </a:xfrm>
          <a:prstGeom prst="rect">
            <a:avLst/>
          </a:prstGeom>
          <a:noFill/>
        </p:spPr>
        <p:txBody>
          <a:bodyPr wrap="square" anchor="t" lIns="45720" rIns="45720" tIns="27432" bIns="27432">
            <a:spAutoFit/>
          </a:bodyPr>
          <a:lstStyle/>
          <a:p>
            <a:pPr algn="l">
              <a:spcAft>
                <a:spcPts val="600"/>
              </a:spcAft>
            </a:pPr>
            <a:r>
              <a:rPr sz="1700" b="1" i="0">
                <a:solidFill>
                  <a:srgbClr val="192D4B"/>
                </a:solidFill>
                <a:latin typeface="Calibri"/>
              </a:rPr>
              <a:t>Administration</a:t>
            </a:r>
          </a:p>
        </p:txBody>
      </p:sp>
      <p:sp>
        <p:nvSpPr>
          <p:cNvPr id="29" name="TextBox 28"/>
          <p:cNvSpPr txBox="1"/>
          <p:nvPr/>
        </p:nvSpPr>
        <p:spPr>
          <a:xfrm>
            <a:off x="9061704" y="4297680"/>
            <a:ext cx="2148840" cy="1325880"/>
          </a:xfrm>
          <a:prstGeom prst="rect">
            <a:avLst/>
          </a:prstGeom>
          <a:noFill/>
        </p:spPr>
        <p:txBody>
          <a:bodyPr wrap="square" anchor="t" lIns="45720" rIns="45720" tIns="27432" bIns="27432">
            <a:spAutoFit/>
          </a:bodyPr>
          <a:lstStyle/>
          <a:p>
            <a:pPr algn="l">
              <a:spcAft>
                <a:spcPts val="500"/>
              </a:spcAft>
            </a:pPr>
            <a:r>
              <a:rPr sz="1500" b="0" i="0">
                <a:solidFill>
                  <a:srgbClr val="232323"/>
                </a:solidFill>
                <a:latin typeface="Calibri"/>
              </a:rPr>
              <a:t>Verify queue, integrity check, logged moderation</a:t>
            </a:r>
          </a:p>
        </p:txBody>
      </p:sp>
      <p:sp>
        <p:nvSpPr>
          <p:cNvPr id="30" name="TextBox 29"/>
          <p:cNvSpPr txBox="1"/>
          <p:nvPr/>
        </p:nvSpPr>
        <p:spPr>
          <a:xfrm>
            <a:off x="731520" y="6035040"/>
            <a:ext cx="10698480" cy="365760"/>
          </a:xfrm>
          <a:prstGeom prst="rect">
            <a:avLst/>
          </a:prstGeom>
          <a:noFill/>
        </p:spPr>
        <p:txBody>
          <a:bodyPr wrap="square" anchor="t" lIns="45720" rIns="45720" tIns="27432" bIns="27432">
            <a:spAutoFit/>
          </a:bodyPr>
          <a:lstStyle/>
          <a:p>
            <a:pPr algn="l">
              <a:spcAft>
                <a:spcPts val="600"/>
              </a:spcAft>
            </a:pPr>
            <a:r>
              <a:rPr sz="1300" b="0" i="0">
                <a:solidFill>
                  <a:srgbClr val="5A6472"/>
                </a:solidFill>
                <a:latin typeface="Calibri"/>
              </a:rPr>
              <a:t>Highlighted: the two distinctive modules.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Key Implementation Details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28</a:t>
            </a:r>
          </a:p>
        </p:txBody>
      </p:sp>
      <p:sp>
        <p:nvSpPr>
          <p:cNvPr id="6" name="Rounded Rectangle 5"/>
          <p:cNvSpPr/>
          <p:nvPr/>
        </p:nvSpPr>
        <p:spPr>
          <a:xfrm>
            <a:off x="731520" y="1325880"/>
            <a:ext cx="10698480" cy="804672"/>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25880"/>
            <a:ext cx="2743200" cy="804672"/>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Appending a block</a:t>
            </a:r>
          </a:p>
        </p:txBody>
      </p:sp>
      <p:sp>
        <p:nvSpPr>
          <p:cNvPr id="8" name="TextBox 7"/>
          <p:cNvSpPr txBox="1"/>
          <p:nvPr/>
        </p:nvSpPr>
        <p:spPr>
          <a:xfrm>
            <a:off x="3657600" y="1325880"/>
            <a:ext cx="7589520" cy="804672"/>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Read the last block, link to its hash, save. A unique index rejects a clash; the write is retried.</a:t>
            </a:r>
          </a:p>
        </p:txBody>
      </p:sp>
      <p:sp>
        <p:nvSpPr>
          <p:cNvPr id="9" name="Rounded Rectangle 8"/>
          <p:cNvSpPr/>
          <p:nvPr/>
        </p:nvSpPr>
        <p:spPr>
          <a:xfrm>
            <a:off x="731520" y="2267712"/>
            <a:ext cx="10698480" cy="804672"/>
          </a:xfrm>
          <a:prstGeom prst="roundRect">
            <a:avLst>
              <a:gd name="adj" fmla="val 8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67712"/>
            <a:ext cx="2743200" cy="804672"/>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Verifying a chain</a:t>
            </a:r>
          </a:p>
        </p:txBody>
      </p:sp>
      <p:sp>
        <p:nvSpPr>
          <p:cNvPr id="11" name="TextBox 10"/>
          <p:cNvSpPr txBox="1"/>
          <p:nvPr/>
        </p:nvSpPr>
        <p:spPr>
          <a:xfrm>
            <a:off x="3657600" y="2267712"/>
            <a:ext cx="7589520" cy="804672"/>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Rebuild exactly what was hashed, so database fields (_id, __v) never cause false alarms.</a:t>
            </a:r>
          </a:p>
        </p:txBody>
      </p:sp>
      <p:sp>
        <p:nvSpPr>
          <p:cNvPr id="12" name="Rounded Rectangle 11"/>
          <p:cNvSpPr/>
          <p:nvPr/>
        </p:nvSpPr>
        <p:spPr>
          <a:xfrm>
            <a:off x="731520" y="3209544"/>
            <a:ext cx="10698480" cy="804672"/>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209544"/>
            <a:ext cx="2743200" cy="804672"/>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Voice parsing</a:t>
            </a:r>
          </a:p>
        </p:txBody>
      </p:sp>
      <p:sp>
        <p:nvSpPr>
          <p:cNvPr id="14" name="TextBox 13"/>
          <p:cNvSpPr txBox="1"/>
          <p:nvPr/>
        </p:nvSpPr>
        <p:spPr>
          <a:xfrm>
            <a:off x="3657600" y="3209544"/>
            <a:ext cx="7589520" cy="804672"/>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"ninety five kwacha" → K95. The best of three recognition guesses is used; the seller can correct it.</a:t>
            </a:r>
          </a:p>
        </p:txBody>
      </p:sp>
      <p:sp>
        <p:nvSpPr>
          <p:cNvPr id="15" name="Rounded Rectangle 14"/>
          <p:cNvSpPr/>
          <p:nvPr/>
        </p:nvSpPr>
        <p:spPr>
          <a:xfrm>
            <a:off x="731520" y="4151376"/>
            <a:ext cx="10698480" cy="804672"/>
          </a:xfrm>
          <a:prstGeom prst="roundRect">
            <a:avLst>
              <a:gd name="adj" fmla="val 8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151376"/>
            <a:ext cx="2743200" cy="804672"/>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Offline replay</a:t>
            </a:r>
          </a:p>
        </p:txBody>
      </p:sp>
      <p:sp>
        <p:nvSpPr>
          <p:cNvPr id="17" name="TextBox 16"/>
          <p:cNvSpPr txBox="1"/>
          <p:nvPr/>
        </p:nvSpPr>
        <p:spPr>
          <a:xfrm>
            <a:off x="3657600" y="4151376"/>
            <a:ext cx="7589520" cy="804672"/>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Queued messages are sent in order when the connection returns, each removed only once confirmed.</a:t>
            </a:r>
          </a:p>
        </p:txBody>
      </p:sp>
      <p:sp>
        <p:nvSpPr>
          <p:cNvPr id="18" name="Rounded Rectangle 17"/>
          <p:cNvSpPr/>
          <p:nvPr/>
        </p:nvSpPr>
        <p:spPr>
          <a:xfrm>
            <a:off x="731520" y="5093208"/>
            <a:ext cx="10698480" cy="804672"/>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093208"/>
            <a:ext cx="2743200" cy="804672"/>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Security</a:t>
            </a:r>
          </a:p>
        </p:txBody>
      </p:sp>
      <p:sp>
        <p:nvSpPr>
          <p:cNvPr id="20" name="TextBox 19"/>
          <p:cNvSpPr txBox="1"/>
          <p:nvPr/>
        </p:nvSpPr>
        <p:spPr>
          <a:xfrm>
            <a:off x="3657600" y="5093208"/>
            <a:ext cx="7589520" cy="804672"/>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bcrypt, JWT, rate limits on login, OTP and sign-up; search text escaped; admins only by script.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Challenges and Solutions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29</a:t>
            </a:r>
          </a:p>
        </p:txBody>
      </p:sp>
      <p:graphicFrame>
        <p:nvGraphicFramePr>
          <p:cNvPr id="6" name="Table 5"/>
          <p:cNvGraphicFramePr>
            <a:graphicFrameLocks noGrp="1"/>
          </p:cNvGraphicFramePr>
          <p:nvPr/>
        </p:nvGraphicFramePr>
        <p:xfrm>
          <a:off x="548640" y="1280160"/>
          <a:ext cx="11064240" cy="4535424"/>
        </p:xfrm>
        <a:graphic>
          <a:graphicData uri="http://schemas.openxmlformats.org/drawingml/2006/table">
            <a:tbl>
              <a:tblPr firstRow="1" bandRow="1">
                <a:tableStyleId>{5C22544A-7EE6-4342-B048-85BDC9FD1C3A}</a:tableStyleId>
              </a:tblPr>
              <a:tblGrid>
                <a:gridCol w="5669280"/>
                <a:gridCol w="5394960"/>
              </a:tblGrid>
              <a:tr h="566928">
                <a:tc>
                  <a:txBody>
                    <a:bodyPr wrap="square"/>
                    <a:lstStyle/>
                    <a:p>
                      <a:r>
                        <a:rPr sz="1400" b="1">
                          <a:solidFill>
                            <a:srgbClr val="FFFFFF"/>
                          </a:solidFill>
                          <a:latin typeface="Calibri"/>
                        </a:rPr>
                        <a:t>Challenge</a:t>
                      </a:r>
                    </a:p>
                  </a:txBody>
                  <a:tcPr marL="73152" marR="73152" marT="36576" marB="36576" anchor="ctr">
                    <a:solidFill>
                      <a:srgbClr val="192D4B"/>
                    </a:solidFill>
                  </a:tcPr>
                </a:tc>
                <a:tc>
                  <a:txBody>
                    <a:bodyPr wrap="square"/>
                    <a:lstStyle/>
                    <a:p>
                      <a:r>
                        <a:rPr sz="1400" b="1">
                          <a:solidFill>
                            <a:srgbClr val="FFFFFF"/>
                          </a:solidFill>
                          <a:latin typeface="Calibri"/>
                        </a:rPr>
                        <a:t>Solution</a:t>
                      </a:r>
                    </a:p>
                  </a:txBody>
                  <a:tcPr marL="73152" marR="73152" marT="36576" marB="36576" anchor="ctr">
                    <a:solidFill>
                      <a:srgbClr val="192D4B"/>
                    </a:solidFill>
                  </a:tcPr>
                </a:tc>
              </a:tr>
              <a:tr h="566928">
                <a:tc>
                  <a:txBody>
                    <a:bodyPr wrap="square"/>
                    <a:lstStyle/>
                    <a:p>
                      <a:r>
                        <a:rPr sz="1500" b="0">
                          <a:solidFill>
                            <a:srgbClr val="232323"/>
                          </a:solidFill>
                          <a:latin typeface="Calibri"/>
                        </a:rPr>
                        <a:t>Every chain showed as tampered, though none was</a:t>
                      </a:r>
                    </a:p>
                  </a:txBody>
                  <a:tcPr marL="73152" marR="73152" marT="36576" marB="36576" anchor="ctr">
                    <a:solidFill>
                      <a:srgbClr val="FFFFFF"/>
                    </a:solidFill>
                  </a:tcPr>
                </a:tc>
                <a:tc>
                  <a:txBody>
                    <a:bodyPr wrap="square"/>
                    <a:lstStyle/>
                    <a:p>
                      <a:r>
                        <a:rPr sz="1500" b="0">
                          <a:solidFill>
                            <a:srgbClr val="232323"/>
                          </a:solidFill>
                          <a:latin typeface="Calibri"/>
                        </a:rPr>
                        <a:t>Re-hash only the original fields</a:t>
                      </a:r>
                    </a:p>
                  </a:txBody>
                  <a:tcPr marL="73152" marR="73152" marT="36576" marB="36576" anchor="ctr">
                    <a:solidFill>
                      <a:srgbClr val="FFFFFF"/>
                    </a:solidFill>
                  </a:tcPr>
                </a:tc>
              </a:tr>
              <a:tr h="566928">
                <a:tc>
                  <a:txBody>
                    <a:bodyPr wrap="square"/>
                    <a:lstStyle/>
                    <a:p>
                      <a:r>
                        <a:rPr sz="1500" b="0">
                          <a:solidFill>
                            <a:srgbClr val="232323"/>
                          </a:solidFill>
                          <a:latin typeface="Calibri"/>
                        </a:rPr>
                        <a:t>An edited last block could not be detected</a:t>
                      </a:r>
                    </a:p>
                  </a:txBody>
                  <a:tcPr marL="73152" marR="73152" marT="36576" marB="36576" anchor="ctr">
                    <a:solidFill>
                      <a:srgbClr val="EEF2F7"/>
                    </a:solidFill>
                  </a:tcPr>
                </a:tc>
                <a:tc>
                  <a:txBody>
                    <a:bodyPr wrap="square"/>
                    <a:lstStyle/>
                    <a:p>
                      <a:r>
                        <a:rPr sz="1500" b="0">
                          <a:solidFill>
                            <a:srgbClr val="232323"/>
                          </a:solidFill>
                          <a:latin typeface="Calibri"/>
                        </a:rPr>
                        <a:t>Check it against the hash stored on the seller</a:t>
                      </a:r>
                    </a:p>
                  </a:txBody>
                  <a:tcPr marL="73152" marR="73152" marT="36576" marB="36576" anchor="ctr">
                    <a:solidFill>
                      <a:srgbClr val="EEF2F7"/>
                    </a:solidFill>
                  </a:tcPr>
                </a:tc>
              </a:tr>
              <a:tr h="566928">
                <a:tc>
                  <a:txBody>
                    <a:bodyPr wrap="square"/>
                    <a:lstStyle/>
                    <a:p>
                      <a:r>
                        <a:rPr sz="1500" b="0">
                          <a:solidFill>
                            <a:srgbClr val="232323"/>
                          </a:solidFill>
                          <a:latin typeface="Calibri"/>
                        </a:rPr>
                        <a:t>Anyone could sign up as an administrator</a:t>
                      </a:r>
                    </a:p>
                  </a:txBody>
                  <a:tcPr marL="73152" marR="73152" marT="36576" marB="36576" anchor="ctr">
                    <a:solidFill>
                      <a:srgbClr val="FFFFFF"/>
                    </a:solidFill>
                  </a:tcPr>
                </a:tc>
                <a:tc>
                  <a:txBody>
                    <a:bodyPr wrap="square"/>
                    <a:lstStyle/>
                    <a:p>
                      <a:r>
                        <a:rPr sz="1500" b="0">
                          <a:solidFill>
                            <a:srgbClr val="232323"/>
                          </a:solidFill>
                          <a:latin typeface="Calibri"/>
                        </a:rPr>
                        <a:t>Sign-up limited to buyer and seller; admin created by a script</a:t>
                      </a:r>
                    </a:p>
                  </a:txBody>
                  <a:tcPr marL="73152" marR="73152" marT="36576" marB="36576" anchor="ctr">
                    <a:solidFill>
                      <a:srgbClr val="FFFFFF"/>
                    </a:solidFill>
                  </a:tcPr>
                </a:tc>
              </a:tr>
              <a:tr h="566928">
                <a:tc>
                  <a:txBody>
                    <a:bodyPr wrap="square"/>
                    <a:lstStyle/>
                    <a:p>
                      <a:r>
                        <a:rPr sz="1500" b="0">
                          <a:solidFill>
                            <a:srgbClr val="232323"/>
                          </a:solidFill>
                          <a:latin typeface="Calibri"/>
                        </a:rPr>
                        <a:t>An admin could verify twice (+15 again) or demote another admin</a:t>
                      </a:r>
                    </a:p>
                  </a:txBody>
                  <a:tcPr marL="73152" marR="73152" marT="36576" marB="36576" anchor="ctr">
                    <a:solidFill>
                      <a:srgbClr val="EEF2F7"/>
                    </a:solidFill>
                  </a:tcPr>
                </a:tc>
                <a:tc>
                  <a:txBody>
                    <a:bodyPr wrap="square"/>
                    <a:lstStyle/>
                    <a:p>
                      <a:r>
                        <a:rPr sz="1500" b="0">
                          <a:solidFill>
                            <a:srgbClr val="232323"/>
                          </a:solidFill>
                          <a:latin typeface="Calibri"/>
                        </a:rPr>
                        <a:t>Verify once only; admins protected; every action logged with a reason</a:t>
                      </a:r>
                    </a:p>
                  </a:txBody>
                  <a:tcPr marL="73152" marR="73152" marT="36576" marB="36576" anchor="ctr">
                    <a:solidFill>
                      <a:srgbClr val="EEF2F7"/>
                    </a:solidFill>
                  </a:tcPr>
                </a:tc>
              </a:tr>
              <a:tr h="566928">
                <a:tc>
                  <a:txBody>
                    <a:bodyPr wrap="square"/>
                    <a:lstStyle/>
                    <a:p>
                      <a:r>
                        <a:rPr sz="1500" b="0">
                          <a:solidFill>
                            <a:srgbClr val="232323"/>
                          </a:solidFill>
                          <a:latin typeface="Calibri"/>
                        </a:rPr>
                        <a:t>Browsers cannot recognise Nyanja or Bemba</a:t>
                      </a:r>
                    </a:p>
                  </a:txBody>
                  <a:tcPr marL="73152" marR="73152" marT="36576" marB="36576" anchor="ctr">
                    <a:solidFill>
                      <a:srgbClr val="FFFFFF"/>
                    </a:solidFill>
                  </a:tcPr>
                </a:tc>
                <a:tc>
                  <a:txBody>
                    <a:bodyPr wrap="square"/>
                    <a:lstStyle/>
                    <a:p>
                      <a:r>
                        <a:rPr sz="1500" b="0">
                          <a:solidFill>
                            <a:srgbClr val="232323"/>
                          </a:solidFill>
                          <a:latin typeface="Calibri"/>
                        </a:rPr>
                        <a:t>Scope narrowed to English, stated openly</a:t>
                      </a:r>
                    </a:p>
                  </a:txBody>
                  <a:tcPr marL="73152" marR="73152" marT="36576" marB="36576" anchor="ctr">
                    <a:solidFill>
                      <a:srgbClr val="FFFFFF"/>
                    </a:solidFill>
                  </a:tcPr>
                </a:tc>
              </a:tr>
              <a:tr h="566928">
                <a:tc>
                  <a:txBody>
                    <a:bodyPr wrap="square"/>
                    <a:lstStyle/>
                    <a:p>
                      <a:r>
                        <a:rPr sz="1500" b="0">
                          <a:solidFill>
                            <a:srgbClr val="232323"/>
                          </a:solidFill>
                          <a:latin typeface="Calibri"/>
                        </a:rPr>
                        <a:t>Voice parser missed "ninety five" and "at 100"</a:t>
                      </a:r>
                    </a:p>
                  </a:txBody>
                  <a:tcPr marL="73152" marR="73152" marT="36576" marB="36576" anchor="ctr">
                    <a:solidFill>
                      <a:srgbClr val="EEF2F7"/>
                    </a:solidFill>
                  </a:tcPr>
                </a:tc>
                <a:tc>
                  <a:txBody>
                    <a:bodyPr wrap="square"/>
                    <a:lstStyle/>
                    <a:p>
                      <a:r>
                        <a:rPr sz="1500" b="0">
                          <a:solidFill>
                            <a:srgbClr val="232323"/>
                          </a:solidFill>
                          <a:latin typeface="Calibri"/>
                        </a:rPr>
                        <a:t>Rewritten as a separate, tested module</a:t>
                      </a:r>
                    </a:p>
                  </a:txBody>
                  <a:tcPr marL="73152" marR="73152" marT="36576" marB="36576" anchor="ctr">
                    <a:solidFill>
                      <a:srgbClr val="EEF2F7"/>
                    </a:solidFill>
                  </a:tcPr>
                </a:tc>
              </a:tr>
              <a:tr h="566928">
                <a:tc>
                  <a:txBody>
                    <a:bodyPr wrap="square"/>
                    <a:lstStyle/>
                    <a:p>
                      <a:r>
                        <a:rPr sz="1500" b="0">
                          <a:solidFill>
                            <a:srgbClr val="232323"/>
                          </a:solidFill>
                          <a:latin typeface="Calibri"/>
                        </a:rPr>
                        <a:t>Deployment failed (July and September 2026)</a:t>
                      </a:r>
                    </a:p>
                  </a:txBody>
                  <a:tcPr marL="73152" marR="73152" marT="36576" marB="36576" anchor="ctr">
                    <a:solidFill>
                      <a:srgbClr val="FFFFFF"/>
                    </a:solidFill>
                  </a:tcPr>
                </a:tc>
                <a:tc>
                  <a:txBody>
                    <a:bodyPr wrap="square"/>
                    <a:lstStyle/>
                    <a:p>
                      <a:r>
                        <a:rPr sz="1500" b="0">
                          <a:solidFill>
                            <a:srgbClr val="232323"/>
                          </a:solidFill>
                          <a:latin typeface="Calibri"/>
                        </a:rPr>
                        <a:t>Found and fixed four causes; live since 12 October 2026</a:t>
                      </a:r>
                    </a:p>
                  </a:txBody>
                  <a:tcPr marL="73152" marR="73152" marT="36576" marB="36576"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332720" cy="1280160"/>
          </a:xfrm>
          <a:prstGeom prst="rect">
            <a:avLst/>
          </a:prstGeom>
          <a:noFill/>
        </p:spPr>
        <p:txBody>
          <a:bodyPr wrap="none">
            <a:spAutoFit/>
          </a:bodyPr>
          <a:lstStyle/>
          <a:p>
            <a:pPr algn="ctr">
              <a:defRPr sz="4000" b="1">
                <a:solidFill>
                  <a:srgbClr val="FFFFFF"/>
                </a:solidFill>
              </a:defRPr>
            </a:pPr>
            <a:r>
              <a:t>Testing and Results</a:t>
            </a:r>
          </a:p>
        </p:txBody>
      </p:sp>
      <p:sp>
        <p:nvSpPr>
          <p:cNvPr id="3" name="Rectangle 2"/>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Testing Strategy</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31</a:t>
            </a:r>
          </a:p>
        </p:txBody>
      </p:sp>
      <p:sp>
        <p:nvSpPr>
          <p:cNvPr id="6" name="Rounded Rectangle 5"/>
          <p:cNvSpPr/>
          <p:nvPr/>
        </p:nvSpPr>
        <p:spPr>
          <a:xfrm>
            <a:off x="640080" y="1417320"/>
            <a:ext cx="2057400" cy="3063240"/>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53312" y="1645920"/>
            <a:ext cx="640080" cy="64008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8" name="TextBox 7"/>
          <p:cNvSpPr txBox="1"/>
          <p:nvPr/>
        </p:nvSpPr>
        <p:spPr>
          <a:xfrm>
            <a:off x="731519" y="2468880"/>
            <a:ext cx="1874519" cy="457200"/>
          </a:xfrm>
          <a:prstGeom prst="rect">
            <a:avLst/>
          </a:prstGeom>
          <a:noFill/>
        </p:spPr>
        <p:txBody>
          <a:bodyPr wrap="square" anchor="t" lIns="45720" rIns="45720" tIns="27432" bIns="27432">
            <a:spAutoFit/>
          </a:bodyPr>
          <a:lstStyle/>
          <a:p>
            <a:pPr algn="ctr">
              <a:spcAft>
                <a:spcPts val="600"/>
              </a:spcAft>
            </a:pPr>
            <a:r>
              <a:rPr sz="1900" b="1" i="0">
                <a:solidFill>
                  <a:srgbClr val="FFFFFF"/>
                </a:solidFill>
                <a:latin typeface="Calibri"/>
              </a:rPr>
              <a:t>Unit</a:t>
            </a:r>
          </a:p>
        </p:txBody>
      </p:sp>
      <p:sp>
        <p:nvSpPr>
          <p:cNvPr id="9" name="TextBox 8"/>
          <p:cNvSpPr txBox="1"/>
          <p:nvPr/>
        </p:nvSpPr>
        <p:spPr>
          <a:xfrm>
            <a:off x="777240" y="3017520"/>
            <a:ext cx="1783080" cy="1920240"/>
          </a:xfrm>
          <a:prstGeom prst="rect">
            <a:avLst/>
          </a:prstGeom>
          <a:noFill/>
        </p:spPr>
        <p:txBody>
          <a:bodyPr wrap="square" anchor="t" lIns="45720" rIns="45720" tIns="27432" bIns="27432">
            <a:spAutoFit/>
          </a:bodyPr>
          <a:lstStyle/>
          <a:p>
            <a:pPr algn="ctr">
              <a:spcAft>
                <a:spcPts val="600"/>
              </a:spcAft>
            </a:pPr>
            <a:r>
              <a:rPr sz="1500" b="0" i="0">
                <a:solidFill>
                  <a:srgbClr val="FFFFFF"/>
                </a:solidFill>
                <a:latin typeface="Calibri"/>
              </a:rPr>
              <a:t>86 automated tests, run on every push by GitHub Actions</a:t>
            </a:r>
          </a:p>
        </p:txBody>
      </p:sp>
      <p:sp>
        <p:nvSpPr>
          <p:cNvPr id="10" name="Rounded Rectangle 9"/>
          <p:cNvSpPr/>
          <p:nvPr/>
        </p:nvSpPr>
        <p:spPr>
          <a:xfrm>
            <a:off x="2852928" y="1417320"/>
            <a:ext cx="2057400" cy="3063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566160" y="1645920"/>
            <a:ext cx="640080" cy="64008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2" name="TextBox 11"/>
          <p:cNvSpPr txBox="1"/>
          <p:nvPr/>
        </p:nvSpPr>
        <p:spPr>
          <a:xfrm>
            <a:off x="2944368" y="2468880"/>
            <a:ext cx="1874519" cy="457200"/>
          </a:xfrm>
          <a:prstGeom prst="rect">
            <a:avLst/>
          </a:prstGeom>
          <a:noFill/>
        </p:spPr>
        <p:txBody>
          <a:bodyPr wrap="square" anchor="t" lIns="45720" rIns="45720" tIns="27432" bIns="27432">
            <a:spAutoFit/>
          </a:bodyPr>
          <a:lstStyle/>
          <a:p>
            <a:pPr algn="ctr">
              <a:spcAft>
                <a:spcPts val="600"/>
              </a:spcAft>
            </a:pPr>
            <a:r>
              <a:rPr sz="1900" b="1" i="0">
                <a:solidFill>
                  <a:srgbClr val="192D4B"/>
                </a:solidFill>
                <a:latin typeface="Calibri"/>
              </a:rPr>
              <a:t>Browser</a:t>
            </a:r>
          </a:p>
        </p:txBody>
      </p:sp>
      <p:sp>
        <p:nvSpPr>
          <p:cNvPr id="13" name="TextBox 12"/>
          <p:cNvSpPr txBox="1"/>
          <p:nvPr/>
        </p:nvSpPr>
        <p:spPr>
          <a:xfrm>
            <a:off x="2990088" y="3017520"/>
            <a:ext cx="1783080" cy="1920240"/>
          </a:xfrm>
          <a:prstGeom prst="rect">
            <a:avLst/>
          </a:prstGeom>
          <a:noFill/>
        </p:spPr>
        <p:txBody>
          <a:bodyPr wrap="square" anchor="t" lIns="45720" rIns="45720" tIns="27432" bIns="27432">
            <a:spAutoFit/>
          </a:bodyPr>
          <a:lstStyle/>
          <a:p>
            <a:pPr algn="ctr">
              <a:spcAft>
                <a:spcPts val="600"/>
              </a:spcAft>
            </a:pPr>
            <a:r>
              <a:rPr sz="1500" b="0" i="0">
                <a:solidFill>
                  <a:srgbClr val="232323"/>
                </a:solidFill>
                <a:latin typeface="Calibri"/>
              </a:rPr>
              <a:t>Playwright drives the real app: voice panel, main pages</a:t>
            </a:r>
          </a:p>
        </p:txBody>
      </p:sp>
      <p:sp>
        <p:nvSpPr>
          <p:cNvPr id="14" name="Rounded Rectangle 13"/>
          <p:cNvSpPr/>
          <p:nvPr/>
        </p:nvSpPr>
        <p:spPr>
          <a:xfrm>
            <a:off x="5065776" y="1417320"/>
            <a:ext cx="2057400" cy="3063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79008" y="1645920"/>
            <a:ext cx="640080" cy="64008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6" name="TextBox 15"/>
          <p:cNvSpPr txBox="1"/>
          <p:nvPr/>
        </p:nvSpPr>
        <p:spPr>
          <a:xfrm>
            <a:off x="5157216" y="2468880"/>
            <a:ext cx="1874519" cy="457200"/>
          </a:xfrm>
          <a:prstGeom prst="rect">
            <a:avLst/>
          </a:prstGeom>
          <a:noFill/>
        </p:spPr>
        <p:txBody>
          <a:bodyPr wrap="square" anchor="t" lIns="45720" rIns="45720" tIns="27432" bIns="27432">
            <a:spAutoFit/>
          </a:bodyPr>
          <a:lstStyle/>
          <a:p>
            <a:pPr algn="ctr">
              <a:spcAft>
                <a:spcPts val="600"/>
              </a:spcAft>
            </a:pPr>
            <a:r>
              <a:rPr sz="1900" b="1" i="0">
                <a:solidFill>
                  <a:srgbClr val="192D4B"/>
                </a:solidFill>
                <a:latin typeface="Calibri"/>
              </a:rPr>
              <a:t>System</a:t>
            </a:r>
          </a:p>
        </p:txBody>
      </p:sp>
      <p:sp>
        <p:nvSpPr>
          <p:cNvPr id="17" name="TextBox 16"/>
          <p:cNvSpPr txBox="1"/>
          <p:nvPr/>
        </p:nvSpPr>
        <p:spPr>
          <a:xfrm>
            <a:off x="5202936" y="3017520"/>
            <a:ext cx="1783080" cy="1920240"/>
          </a:xfrm>
          <a:prstGeom prst="rect">
            <a:avLst/>
          </a:prstGeom>
          <a:noFill/>
        </p:spPr>
        <p:txBody>
          <a:bodyPr wrap="square" anchor="t" lIns="45720" rIns="45720" tIns="27432" bIns="27432">
            <a:spAutoFit/>
          </a:bodyPr>
          <a:lstStyle/>
          <a:p>
            <a:pPr algn="ctr">
              <a:spcAft>
                <a:spcPts val="600"/>
              </a:spcAft>
            </a:pPr>
            <a:r>
              <a:rPr sz="1500" b="0" i="0">
                <a:solidFill>
                  <a:srgbClr val="232323"/>
                </a:solidFill>
                <a:latin typeface="Calibri"/>
              </a:rPr>
              <a:t>17 test cases through the UI on Chrome and Android</a:t>
            </a:r>
          </a:p>
        </p:txBody>
      </p:sp>
      <p:sp>
        <p:nvSpPr>
          <p:cNvPr id="18" name="Rounded Rectangle 17"/>
          <p:cNvSpPr/>
          <p:nvPr/>
        </p:nvSpPr>
        <p:spPr>
          <a:xfrm>
            <a:off x="7278624" y="1417320"/>
            <a:ext cx="2057400" cy="3063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991856" y="1645920"/>
            <a:ext cx="640080" cy="64008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20" name="TextBox 19"/>
          <p:cNvSpPr txBox="1"/>
          <p:nvPr/>
        </p:nvSpPr>
        <p:spPr>
          <a:xfrm>
            <a:off x="7370064" y="2468880"/>
            <a:ext cx="1874519" cy="457200"/>
          </a:xfrm>
          <a:prstGeom prst="rect">
            <a:avLst/>
          </a:prstGeom>
          <a:noFill/>
        </p:spPr>
        <p:txBody>
          <a:bodyPr wrap="square" anchor="t" lIns="45720" rIns="45720" tIns="27432" bIns="27432">
            <a:spAutoFit/>
          </a:bodyPr>
          <a:lstStyle/>
          <a:p>
            <a:pPr algn="ctr">
              <a:spcAft>
                <a:spcPts val="600"/>
              </a:spcAft>
            </a:pPr>
            <a:r>
              <a:rPr sz="1900" b="1" i="0">
                <a:solidFill>
                  <a:srgbClr val="192D4B"/>
                </a:solidFill>
                <a:latin typeface="Calibri"/>
              </a:rPr>
              <a:t>Security</a:t>
            </a:r>
          </a:p>
        </p:txBody>
      </p:sp>
      <p:sp>
        <p:nvSpPr>
          <p:cNvPr id="21" name="TextBox 20"/>
          <p:cNvSpPr txBox="1"/>
          <p:nvPr/>
        </p:nvSpPr>
        <p:spPr>
          <a:xfrm>
            <a:off x="7415783" y="3017520"/>
            <a:ext cx="1783080" cy="1920240"/>
          </a:xfrm>
          <a:prstGeom prst="rect">
            <a:avLst/>
          </a:prstGeom>
          <a:noFill/>
        </p:spPr>
        <p:txBody>
          <a:bodyPr wrap="square" anchor="t" lIns="45720" rIns="45720" tIns="27432" bIns="27432">
            <a:spAutoFit/>
          </a:bodyPr>
          <a:lstStyle/>
          <a:p>
            <a:pPr algn="ctr">
              <a:spcAft>
                <a:spcPts val="600"/>
              </a:spcAft>
            </a:pPr>
            <a:r>
              <a:rPr sz="1500" b="0" i="0">
                <a:solidFill>
                  <a:srgbClr val="232323"/>
                </a:solidFill>
                <a:latin typeface="Calibri"/>
              </a:rPr>
              <a:t>Role checks, rate limits, rating rules, tamper tests</a:t>
            </a:r>
          </a:p>
        </p:txBody>
      </p:sp>
      <p:sp>
        <p:nvSpPr>
          <p:cNvPr id="22" name="Rounded Rectangle 21"/>
          <p:cNvSpPr/>
          <p:nvPr/>
        </p:nvSpPr>
        <p:spPr>
          <a:xfrm>
            <a:off x="9491472" y="1417320"/>
            <a:ext cx="2057400" cy="3063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04703" y="1645920"/>
            <a:ext cx="640080" cy="64008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5</a:t>
            </a:r>
          </a:p>
        </p:txBody>
      </p:sp>
      <p:sp>
        <p:nvSpPr>
          <p:cNvPr id="24" name="TextBox 23"/>
          <p:cNvSpPr txBox="1"/>
          <p:nvPr/>
        </p:nvSpPr>
        <p:spPr>
          <a:xfrm>
            <a:off x="9582911" y="2468880"/>
            <a:ext cx="1874519" cy="457200"/>
          </a:xfrm>
          <a:prstGeom prst="rect">
            <a:avLst/>
          </a:prstGeom>
          <a:noFill/>
        </p:spPr>
        <p:txBody>
          <a:bodyPr wrap="square" anchor="t" lIns="45720" rIns="45720" tIns="27432" bIns="27432">
            <a:spAutoFit/>
          </a:bodyPr>
          <a:lstStyle/>
          <a:p>
            <a:pPr algn="ctr">
              <a:spcAft>
                <a:spcPts val="600"/>
              </a:spcAft>
            </a:pPr>
            <a:r>
              <a:rPr sz="1900" b="1" i="0">
                <a:solidFill>
                  <a:srgbClr val="192D4B"/>
                </a:solidFill>
                <a:latin typeface="Calibri"/>
              </a:rPr>
              <a:t>Usability</a:t>
            </a:r>
          </a:p>
        </p:txBody>
      </p:sp>
      <p:sp>
        <p:nvSpPr>
          <p:cNvPr id="25" name="TextBox 24"/>
          <p:cNvSpPr txBox="1"/>
          <p:nvPr/>
        </p:nvSpPr>
        <p:spPr>
          <a:xfrm>
            <a:off x="9628632" y="3017520"/>
            <a:ext cx="1783080" cy="1920240"/>
          </a:xfrm>
          <a:prstGeom prst="rect">
            <a:avLst/>
          </a:prstGeom>
          <a:noFill/>
        </p:spPr>
        <p:txBody>
          <a:bodyPr wrap="square" anchor="t" lIns="45720" rIns="45720" tIns="27432" bIns="27432">
            <a:spAutoFit/>
          </a:bodyPr>
          <a:lstStyle/>
          <a:p>
            <a:pPr algn="ctr">
              <a:spcAft>
                <a:spcPts val="600"/>
              </a:spcAft>
            </a:pPr>
            <a:r>
              <a:rPr sz="1500" b="0" i="0">
                <a:solidFill>
                  <a:srgbClr val="232323"/>
                </a:solidFill>
                <a:latin typeface="Calibri"/>
              </a:rPr>
              <a:t>System Usability Scale (target ≥ 70) and Lighthouse</a:t>
            </a:r>
          </a:p>
        </p:txBody>
      </p:sp>
      <p:sp>
        <p:nvSpPr>
          <p:cNvPr id="26" name="TextBox 25"/>
          <p:cNvSpPr txBox="1"/>
          <p:nvPr/>
        </p:nvSpPr>
        <p:spPr>
          <a:xfrm>
            <a:off x="640080" y="4754880"/>
            <a:ext cx="10972800" cy="548640"/>
          </a:xfrm>
          <a:prstGeom prst="rect">
            <a:avLst/>
          </a:prstGeom>
          <a:noFill/>
        </p:spPr>
        <p:txBody>
          <a:bodyPr wrap="square" anchor="t" lIns="45720" rIns="45720" tIns="27432" bIns="27432">
            <a:spAutoFit/>
          </a:bodyPr>
          <a:lstStyle/>
          <a:p>
            <a:pPr algn="l">
              <a:spcAft>
                <a:spcPts val="600"/>
              </a:spcAft>
            </a:pPr>
            <a:r>
              <a:rPr sz="1600" b="1" i="0">
                <a:solidFill>
                  <a:srgbClr val="192D4B"/>
                </a:solidFill>
                <a:latin typeface="Calibri"/>
              </a:rPr>
              <a:t>Tools: </a:t>
            </a:r>
            <a:r>
              <a:rPr sz="1600" b="0" i="0">
                <a:solidFill>
                  <a:srgbClr val="232323"/>
                </a:solidFill>
                <a:latin typeface="Calibri"/>
              </a:rPr>
              <a:t>node:test, Playwright with Chromium, GitHub Actions, Chrome DevTools, ESLint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Test Results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32</a:t>
            </a:r>
          </a:p>
        </p:txBody>
      </p:sp>
      <p:graphicFrame>
        <p:nvGraphicFramePr>
          <p:cNvPr id="6" name="Table 5"/>
          <p:cNvGraphicFramePr>
            <a:graphicFrameLocks noGrp="1"/>
          </p:cNvGraphicFramePr>
          <p:nvPr/>
        </p:nvGraphicFramePr>
        <p:xfrm>
          <a:off x="548640" y="1234440"/>
          <a:ext cx="11064240" cy="4279392"/>
        </p:xfrm>
        <a:graphic>
          <a:graphicData uri="http://schemas.openxmlformats.org/drawingml/2006/table">
            <a:tbl>
              <a:tblPr firstRow="1" bandRow="1">
                <a:tableStyleId>{5C22544A-7EE6-4342-B048-85BDC9FD1C3A}</a:tableStyleId>
              </a:tblPr>
              <a:tblGrid>
                <a:gridCol w="1005840"/>
                <a:gridCol w="4572000"/>
                <a:gridCol w="4023360"/>
                <a:gridCol w="1463040"/>
              </a:tblGrid>
              <a:tr h="475488">
                <a:tc>
                  <a:txBody>
                    <a:bodyPr wrap="square"/>
                    <a:lstStyle/>
                    <a:p>
                      <a:r>
                        <a:rPr sz="1400" b="1">
                          <a:solidFill>
                            <a:srgbClr val="FFFFFF"/>
                          </a:solidFill>
                          <a:latin typeface="Calibri"/>
                        </a:rPr>
                        <a:t>ID</a:t>
                      </a:r>
                    </a:p>
                  </a:txBody>
                  <a:tcPr marL="73152" marR="73152" marT="36576" marB="36576" anchor="ctr">
                    <a:solidFill>
                      <a:srgbClr val="192D4B"/>
                    </a:solidFill>
                  </a:tcPr>
                </a:tc>
                <a:tc>
                  <a:txBody>
                    <a:bodyPr wrap="square"/>
                    <a:lstStyle/>
                    <a:p>
                      <a:r>
                        <a:rPr sz="1400" b="1">
                          <a:solidFill>
                            <a:srgbClr val="FFFFFF"/>
                          </a:solidFill>
                          <a:latin typeface="Calibri"/>
                        </a:rPr>
                        <a:t>Test case</a:t>
                      </a:r>
                    </a:p>
                  </a:txBody>
                  <a:tcPr marL="73152" marR="73152" marT="36576" marB="36576" anchor="ctr">
                    <a:solidFill>
                      <a:srgbClr val="192D4B"/>
                    </a:solidFill>
                  </a:tcPr>
                </a:tc>
                <a:tc>
                  <a:txBody>
                    <a:bodyPr wrap="square"/>
                    <a:lstStyle/>
                    <a:p>
                      <a:r>
                        <a:rPr sz="1400" b="1">
                          <a:solidFill>
                            <a:srgbClr val="FFFFFF"/>
                          </a:solidFill>
                          <a:latin typeface="Calibri"/>
                        </a:rPr>
                        <a:t>Expected</a:t>
                      </a:r>
                    </a:p>
                  </a:txBody>
                  <a:tcPr marL="73152" marR="73152" marT="36576" marB="36576" anchor="ctr">
                    <a:solidFill>
                      <a:srgbClr val="192D4B"/>
                    </a:solidFill>
                  </a:tcPr>
                </a:tc>
                <a:tc>
                  <a:txBody>
                    <a:bodyPr wrap="square"/>
                    <a:lstStyle/>
                    <a:p>
                      <a:r>
                        <a:rPr sz="1400" b="1">
                          <a:solidFill>
                            <a:srgbClr val="FFFFFF"/>
                          </a:solidFill>
                          <a:latin typeface="Calibri"/>
                        </a:rPr>
                        <a:t>Result</a:t>
                      </a:r>
                    </a:p>
                  </a:txBody>
                  <a:tcPr marL="73152" marR="73152" marT="36576" marB="36576" anchor="ctr">
                    <a:solidFill>
                      <a:srgbClr val="192D4B"/>
                    </a:solidFill>
                  </a:tcPr>
                </a:tc>
              </a:tr>
              <a:tr h="475488">
                <a:tc>
                  <a:txBody>
                    <a:bodyPr wrap="square"/>
                    <a:lstStyle/>
                    <a:p>
                      <a:r>
                        <a:rPr sz="1500" b="0">
                          <a:solidFill>
                            <a:srgbClr val="232323"/>
                          </a:solidFill>
                          <a:latin typeface="Calibri"/>
                        </a:rPr>
                        <a:t>B06</a:t>
                      </a:r>
                    </a:p>
                  </a:txBody>
                  <a:tcPr marL="73152" marR="73152" marT="36576" marB="36576" anchor="ctr">
                    <a:solidFill>
                      <a:srgbClr val="FFFFFF"/>
                    </a:solidFill>
                  </a:tcPr>
                </a:tc>
                <a:tc>
                  <a:txBody>
                    <a:bodyPr wrap="square"/>
                    <a:lstStyle/>
                    <a:p>
                      <a:r>
                        <a:rPr sz="1500" b="0">
                          <a:solidFill>
                            <a:srgbClr val="232323"/>
                          </a:solidFill>
                          <a:latin typeface="Calibri"/>
                        </a:rPr>
                        <a:t>Sign up with role "admin"</a:t>
                      </a:r>
                    </a:p>
                  </a:txBody>
                  <a:tcPr marL="73152" marR="73152" marT="36576" marB="36576" anchor="ctr">
                    <a:solidFill>
                      <a:srgbClr val="FFFFFF"/>
                    </a:solidFill>
                  </a:tcPr>
                </a:tc>
                <a:tc>
                  <a:txBody>
                    <a:bodyPr wrap="square"/>
                    <a:lstStyle/>
                    <a:p>
                      <a:r>
                        <a:rPr sz="1500" b="0">
                          <a:solidFill>
                            <a:srgbClr val="232323"/>
                          </a:solidFill>
                          <a:latin typeface="Calibri"/>
                        </a:rPr>
                        <a:t>Rejected (400)</a:t>
                      </a:r>
                    </a:p>
                  </a:txBody>
                  <a:tcPr marL="73152" marR="73152" marT="36576" marB="36576" anchor="ctr">
                    <a:solidFill>
                      <a:srgbClr val="FFFFFF"/>
                    </a:solidFill>
                  </a:tcPr>
                </a:tc>
                <a:tc>
                  <a:txBody>
                    <a:bodyPr wrap="square"/>
                    <a:lstStyle/>
                    <a:p>
                      <a:r>
                        <a:rPr sz="1500" b="1">
                          <a:solidFill>
                            <a:srgbClr val="2E7D4F"/>
                          </a:solidFill>
                          <a:latin typeface="Calibri"/>
                        </a:rPr>
                        <a:t>PASS</a:t>
                      </a:r>
                    </a:p>
                  </a:txBody>
                  <a:tcPr marL="73152" marR="73152" marT="36576" marB="36576" anchor="ctr">
                    <a:solidFill>
                      <a:srgbClr val="FFFFFF"/>
                    </a:solidFill>
                  </a:tcPr>
                </a:tc>
              </a:tr>
              <a:tr h="475488">
                <a:tc>
                  <a:txBody>
                    <a:bodyPr wrap="square"/>
                    <a:lstStyle/>
                    <a:p>
                      <a:r>
                        <a:rPr sz="1500" b="0">
                          <a:solidFill>
                            <a:srgbClr val="232323"/>
                          </a:solidFill>
                          <a:latin typeface="Calibri"/>
                        </a:rPr>
                        <a:t>B11</a:t>
                      </a:r>
                    </a:p>
                  </a:txBody>
                  <a:tcPr marL="73152" marR="73152" marT="36576" marB="36576" anchor="ctr">
                    <a:solidFill>
                      <a:srgbClr val="EEF2F7"/>
                    </a:solidFill>
                  </a:tcPr>
                </a:tc>
                <a:tc>
                  <a:txBody>
                    <a:bodyPr wrap="square"/>
                    <a:lstStyle/>
                    <a:p>
                      <a:r>
                        <a:rPr sz="1500" b="0">
                          <a:solidFill>
                            <a:srgbClr val="232323"/>
                          </a:solidFill>
                          <a:latin typeface="Calibri"/>
                        </a:rPr>
                        <a:t>Rate a seller without a conversation</a:t>
                      </a:r>
                    </a:p>
                  </a:txBody>
                  <a:tcPr marL="73152" marR="73152" marT="36576" marB="36576" anchor="ctr">
                    <a:solidFill>
                      <a:srgbClr val="EEF2F7"/>
                    </a:solidFill>
                  </a:tcPr>
                </a:tc>
                <a:tc>
                  <a:txBody>
                    <a:bodyPr wrap="square"/>
                    <a:lstStyle/>
                    <a:p>
                      <a:r>
                        <a:rPr sz="1500" b="0">
                          <a:solidFill>
                            <a:srgbClr val="232323"/>
                          </a:solidFill>
                          <a:latin typeface="Calibri"/>
                        </a:rPr>
                        <a:t>Rejected (403)</a:t>
                      </a:r>
                    </a:p>
                  </a:txBody>
                  <a:tcPr marL="73152" marR="73152" marT="36576" marB="36576" anchor="ctr">
                    <a:solidFill>
                      <a:srgbClr val="EEF2F7"/>
                    </a:solidFill>
                  </a:tcPr>
                </a:tc>
                <a:tc>
                  <a:txBody>
                    <a:bodyPr wrap="square"/>
                    <a:lstStyle/>
                    <a:p>
                      <a:r>
                        <a:rPr sz="1500" b="1">
                          <a:solidFill>
                            <a:srgbClr val="2E7D4F"/>
                          </a:solidFill>
                          <a:latin typeface="Calibri"/>
                        </a:rPr>
                        <a:t>PASS</a:t>
                      </a:r>
                    </a:p>
                  </a:txBody>
                  <a:tcPr marL="73152" marR="73152" marT="36576" marB="36576" anchor="ctr">
                    <a:solidFill>
                      <a:srgbClr val="EEF2F7"/>
                    </a:solidFill>
                  </a:tcPr>
                </a:tc>
              </a:tr>
              <a:tr h="475488">
                <a:tc>
                  <a:txBody>
                    <a:bodyPr wrap="square"/>
                    <a:lstStyle/>
                    <a:p>
                      <a:r>
                        <a:rPr sz="1500" b="0">
                          <a:solidFill>
                            <a:srgbClr val="232323"/>
                          </a:solidFill>
                          <a:latin typeface="Calibri"/>
                        </a:rPr>
                        <a:t>B12</a:t>
                      </a:r>
                    </a:p>
                  </a:txBody>
                  <a:tcPr marL="73152" marR="73152" marT="36576" marB="36576" anchor="ctr">
                    <a:solidFill>
                      <a:srgbClr val="FFFFFF"/>
                    </a:solidFill>
                  </a:tcPr>
                </a:tc>
                <a:tc>
                  <a:txBody>
                    <a:bodyPr wrap="square"/>
                    <a:lstStyle/>
                    <a:p>
                      <a:r>
                        <a:rPr sz="1500" b="0">
                          <a:solidFill>
                            <a:srgbClr val="232323"/>
                          </a:solidFill>
                          <a:latin typeface="Calibri"/>
                        </a:rPr>
                        <a:t>Rate the same conversation twice</a:t>
                      </a:r>
                    </a:p>
                  </a:txBody>
                  <a:tcPr marL="73152" marR="73152" marT="36576" marB="36576" anchor="ctr">
                    <a:solidFill>
                      <a:srgbClr val="FFFFFF"/>
                    </a:solidFill>
                  </a:tcPr>
                </a:tc>
                <a:tc>
                  <a:txBody>
                    <a:bodyPr wrap="square"/>
                    <a:lstStyle/>
                    <a:p>
                      <a:r>
                        <a:rPr sz="1500" b="0">
                          <a:solidFill>
                            <a:srgbClr val="232323"/>
                          </a:solidFill>
                          <a:latin typeface="Calibri"/>
                        </a:rPr>
                        <a:t>Rejected (409)</a:t>
                      </a:r>
                    </a:p>
                  </a:txBody>
                  <a:tcPr marL="73152" marR="73152" marT="36576" marB="36576" anchor="ctr">
                    <a:solidFill>
                      <a:srgbClr val="FFFFFF"/>
                    </a:solidFill>
                  </a:tcPr>
                </a:tc>
                <a:tc>
                  <a:txBody>
                    <a:bodyPr wrap="square"/>
                    <a:lstStyle/>
                    <a:p>
                      <a:r>
                        <a:rPr sz="1500" b="1">
                          <a:solidFill>
                            <a:srgbClr val="2E7D4F"/>
                          </a:solidFill>
                          <a:latin typeface="Calibri"/>
                        </a:rPr>
                        <a:t>PASS</a:t>
                      </a:r>
                    </a:p>
                  </a:txBody>
                  <a:tcPr marL="73152" marR="73152" marT="36576" marB="36576" anchor="ctr">
                    <a:solidFill>
                      <a:srgbClr val="FFFFFF"/>
                    </a:solidFill>
                  </a:tcPr>
                </a:tc>
              </a:tr>
              <a:tr h="475488">
                <a:tc>
                  <a:txBody>
                    <a:bodyPr wrap="square"/>
                    <a:lstStyle/>
                    <a:p>
                      <a:r>
                        <a:rPr sz="1500" b="0">
                          <a:solidFill>
                            <a:srgbClr val="232323"/>
                          </a:solidFill>
                          <a:latin typeface="Calibri"/>
                        </a:rPr>
                        <a:t>B16</a:t>
                      </a:r>
                    </a:p>
                  </a:txBody>
                  <a:tcPr marL="73152" marR="73152" marT="36576" marB="36576" anchor="ctr">
                    <a:solidFill>
                      <a:srgbClr val="EEF2F7"/>
                    </a:solidFill>
                  </a:tcPr>
                </a:tc>
                <a:tc>
                  <a:txBody>
                    <a:bodyPr wrap="square"/>
                    <a:lstStyle/>
                    <a:p>
                      <a:r>
                        <a:rPr sz="1500" b="0">
                          <a:solidFill>
                            <a:srgbClr val="232323"/>
                          </a:solidFill>
                          <a:latin typeface="Calibri"/>
                        </a:rPr>
                        <a:t>Edit, delete or reorder a block</a:t>
                      </a:r>
                    </a:p>
                  </a:txBody>
                  <a:tcPr marL="73152" marR="73152" marT="36576" marB="36576" anchor="ctr">
                    <a:solidFill>
                      <a:srgbClr val="EEF2F7"/>
                    </a:solidFill>
                  </a:tcPr>
                </a:tc>
                <a:tc>
                  <a:txBody>
                    <a:bodyPr wrap="square"/>
                    <a:lstStyle/>
                    <a:p>
                      <a:r>
                        <a:rPr sz="1500" b="0">
                          <a:solidFill>
                            <a:srgbClr val="232323"/>
                          </a:solidFill>
                          <a:latin typeface="Calibri"/>
                        </a:rPr>
                        <a:t>Chain invalid</a:t>
                      </a:r>
                    </a:p>
                  </a:txBody>
                  <a:tcPr marL="73152" marR="73152" marT="36576" marB="36576" anchor="ctr">
                    <a:solidFill>
                      <a:srgbClr val="EEF2F7"/>
                    </a:solidFill>
                  </a:tcPr>
                </a:tc>
                <a:tc>
                  <a:txBody>
                    <a:bodyPr wrap="square"/>
                    <a:lstStyle/>
                    <a:p>
                      <a:r>
                        <a:rPr sz="1500" b="1">
                          <a:solidFill>
                            <a:srgbClr val="2E7D4F"/>
                          </a:solidFill>
                          <a:latin typeface="Calibri"/>
                        </a:rPr>
                        <a:t>PASS</a:t>
                      </a:r>
                    </a:p>
                  </a:txBody>
                  <a:tcPr marL="73152" marR="73152" marT="36576" marB="36576" anchor="ctr">
                    <a:solidFill>
                      <a:srgbClr val="EEF2F7"/>
                    </a:solidFill>
                  </a:tcPr>
                </a:tc>
              </a:tr>
              <a:tr h="475488">
                <a:tc>
                  <a:txBody>
                    <a:bodyPr wrap="square"/>
                    <a:lstStyle/>
                    <a:p>
                      <a:r>
                        <a:rPr sz="1500" b="0">
                          <a:solidFill>
                            <a:srgbClr val="232323"/>
                          </a:solidFill>
                          <a:latin typeface="Calibri"/>
                        </a:rPr>
                        <a:t>B17</a:t>
                      </a:r>
                    </a:p>
                  </a:txBody>
                  <a:tcPr marL="73152" marR="73152" marT="36576" marB="36576" anchor="ctr">
                    <a:solidFill>
                      <a:srgbClr val="FFFFFF"/>
                    </a:solidFill>
                  </a:tcPr>
                </a:tc>
                <a:tc>
                  <a:txBody>
                    <a:bodyPr wrap="square"/>
                    <a:lstStyle/>
                    <a:p>
                      <a:r>
                        <a:rPr sz="1500" b="0">
                          <a:solidFill>
                            <a:srgbClr val="232323"/>
                          </a:solidFill>
                          <a:latin typeface="Calibri"/>
                        </a:rPr>
                        <a:t>Edit the most recent block</a:t>
                      </a:r>
                    </a:p>
                  </a:txBody>
                  <a:tcPr marL="73152" marR="73152" marT="36576" marB="36576" anchor="ctr">
                    <a:solidFill>
                      <a:srgbClr val="FFFFFF"/>
                    </a:solidFill>
                  </a:tcPr>
                </a:tc>
                <a:tc>
                  <a:txBody>
                    <a:bodyPr wrap="square"/>
                    <a:lstStyle/>
                    <a:p>
                      <a:r>
                        <a:rPr sz="1500" b="0">
                          <a:solidFill>
                            <a:srgbClr val="232323"/>
                          </a:solidFill>
                          <a:latin typeface="Calibri"/>
                        </a:rPr>
                        <a:t>Caught by stored head hash</a:t>
                      </a:r>
                    </a:p>
                  </a:txBody>
                  <a:tcPr marL="73152" marR="73152" marT="36576" marB="36576" anchor="ctr">
                    <a:solidFill>
                      <a:srgbClr val="FFFFFF"/>
                    </a:solidFill>
                  </a:tcPr>
                </a:tc>
                <a:tc>
                  <a:txBody>
                    <a:bodyPr wrap="square"/>
                    <a:lstStyle/>
                    <a:p>
                      <a:r>
                        <a:rPr sz="1500" b="1">
                          <a:solidFill>
                            <a:srgbClr val="2E7D4F"/>
                          </a:solidFill>
                          <a:latin typeface="Calibri"/>
                        </a:rPr>
                        <a:t>PASS</a:t>
                      </a:r>
                    </a:p>
                  </a:txBody>
                  <a:tcPr marL="73152" marR="73152" marT="36576" marB="36576" anchor="ctr">
                    <a:solidFill>
                      <a:srgbClr val="FFFFFF"/>
                    </a:solidFill>
                  </a:tcPr>
                </a:tc>
              </a:tr>
              <a:tr h="475488">
                <a:tc>
                  <a:txBody>
                    <a:bodyPr wrap="square"/>
                    <a:lstStyle/>
                    <a:p>
                      <a:r>
                        <a:rPr sz="1500" b="0">
                          <a:solidFill>
                            <a:srgbClr val="232323"/>
                          </a:solidFill>
                          <a:latin typeface="Calibri"/>
                        </a:rPr>
                        <a:t>B08</a:t>
                      </a:r>
                    </a:p>
                  </a:txBody>
                  <a:tcPr marL="73152" marR="73152" marT="36576" marB="36576" anchor="ctr">
                    <a:solidFill>
                      <a:srgbClr val="EEF2F7"/>
                    </a:solidFill>
                  </a:tcPr>
                </a:tc>
                <a:tc>
                  <a:txBody>
                    <a:bodyPr wrap="square"/>
                    <a:lstStyle/>
                    <a:p>
                      <a:r>
                        <a:rPr sz="1500" b="0">
                          <a:solidFill>
                            <a:srgbClr val="232323"/>
                          </a:solidFill>
                          <a:latin typeface="Calibri"/>
                        </a:rPr>
                        <a:t>Two trust events at the same moment</a:t>
                      </a:r>
                    </a:p>
                  </a:txBody>
                  <a:tcPr marL="73152" marR="73152" marT="36576" marB="36576" anchor="ctr">
                    <a:solidFill>
                      <a:srgbClr val="EEF2F7"/>
                    </a:solidFill>
                  </a:tcPr>
                </a:tc>
                <a:tc>
                  <a:txBody>
                    <a:bodyPr wrap="square"/>
                    <a:lstStyle/>
                    <a:p>
                      <a:r>
                        <a:rPr sz="1500" b="0">
                          <a:solidFill>
                            <a:srgbClr val="232323"/>
                          </a:solidFill>
                          <a:latin typeface="Calibri"/>
                        </a:rPr>
                        <a:t>Second retried, no fork</a:t>
                      </a:r>
                    </a:p>
                  </a:txBody>
                  <a:tcPr marL="73152" marR="73152" marT="36576" marB="36576" anchor="ctr">
                    <a:solidFill>
                      <a:srgbClr val="EEF2F7"/>
                    </a:solidFill>
                  </a:tcPr>
                </a:tc>
                <a:tc>
                  <a:txBody>
                    <a:bodyPr wrap="square"/>
                    <a:lstStyle/>
                    <a:p>
                      <a:r>
                        <a:rPr sz="1500" b="1">
                          <a:solidFill>
                            <a:srgbClr val="2E7D4F"/>
                          </a:solidFill>
                          <a:latin typeface="Calibri"/>
                        </a:rPr>
                        <a:t>PASS</a:t>
                      </a:r>
                    </a:p>
                  </a:txBody>
                  <a:tcPr marL="73152" marR="73152" marT="36576" marB="36576" anchor="ctr">
                    <a:solidFill>
                      <a:srgbClr val="EEF2F7"/>
                    </a:solidFill>
                  </a:tcPr>
                </a:tc>
              </a:tr>
              <a:tr h="475488">
                <a:tc>
                  <a:txBody>
                    <a:bodyPr wrap="square"/>
                    <a:lstStyle/>
                    <a:p>
                      <a:r>
                        <a:rPr sz="1500" b="0">
                          <a:solidFill>
                            <a:srgbClr val="232323"/>
                          </a:solidFill>
                          <a:latin typeface="Calibri"/>
                        </a:rPr>
                        <a:t>V05</a:t>
                      </a:r>
                    </a:p>
                  </a:txBody>
                  <a:tcPr marL="73152" marR="73152" marT="36576" marB="36576" anchor="ctr">
                    <a:solidFill>
                      <a:srgbClr val="FFFFFF"/>
                    </a:solidFill>
                  </a:tcPr>
                </a:tc>
                <a:tc>
                  <a:txBody>
                    <a:bodyPr wrap="square"/>
                    <a:lstStyle/>
                    <a:p>
                      <a:r>
                        <a:rPr sz="1500" b="0">
                          <a:solidFill>
                            <a:srgbClr val="232323"/>
                          </a:solidFill>
                          <a:latin typeface="Calibri"/>
                        </a:rPr>
                        <a:t>"ninety five kwacha ten bags"</a:t>
                      </a:r>
                    </a:p>
                  </a:txBody>
                  <a:tcPr marL="73152" marR="73152" marT="36576" marB="36576" anchor="ctr">
                    <a:solidFill>
                      <a:srgbClr val="FFFFFF"/>
                    </a:solidFill>
                  </a:tcPr>
                </a:tc>
                <a:tc>
                  <a:txBody>
                    <a:bodyPr wrap="square"/>
                    <a:lstStyle/>
                    <a:p>
                      <a:r>
                        <a:rPr sz="1500" b="0">
                          <a:solidFill>
                            <a:srgbClr val="232323"/>
                          </a:solidFill>
                          <a:latin typeface="Calibri"/>
                        </a:rPr>
                        <a:t>K95, 10 bags</a:t>
                      </a:r>
                    </a:p>
                  </a:txBody>
                  <a:tcPr marL="73152" marR="73152" marT="36576" marB="36576" anchor="ctr">
                    <a:solidFill>
                      <a:srgbClr val="FFFFFF"/>
                    </a:solidFill>
                  </a:tcPr>
                </a:tc>
                <a:tc>
                  <a:txBody>
                    <a:bodyPr wrap="square"/>
                    <a:lstStyle/>
                    <a:p>
                      <a:r>
                        <a:rPr sz="1500" b="1">
                          <a:solidFill>
                            <a:srgbClr val="2E7D4F"/>
                          </a:solidFill>
                          <a:latin typeface="Calibri"/>
                        </a:rPr>
                        <a:t>PASS</a:t>
                      </a:r>
                    </a:p>
                  </a:txBody>
                  <a:tcPr marL="73152" marR="73152" marT="36576" marB="36576" anchor="ctr">
                    <a:solidFill>
                      <a:srgbClr val="FFFFFF"/>
                    </a:solidFill>
                  </a:tcPr>
                </a:tc>
              </a:tr>
              <a:tr h="475488">
                <a:tc>
                  <a:txBody>
                    <a:bodyPr wrap="square"/>
                    <a:lstStyle/>
                    <a:p>
                      <a:r>
                        <a:rPr sz="1500" b="0">
                          <a:solidFill>
                            <a:srgbClr val="232323"/>
                          </a:solidFill>
                          <a:latin typeface="Calibri"/>
                        </a:rPr>
                        <a:t>V10</a:t>
                      </a:r>
                    </a:p>
                  </a:txBody>
                  <a:tcPr marL="73152" marR="73152" marT="36576" marB="36576" anchor="ctr">
                    <a:solidFill>
                      <a:srgbClr val="EEF2F7"/>
                    </a:solidFill>
                  </a:tcPr>
                </a:tc>
                <a:tc>
                  <a:txBody>
                    <a:bodyPr wrap="square"/>
                    <a:lstStyle/>
                    <a:p>
                      <a:r>
                        <a:rPr sz="1500" b="0">
                          <a:solidFill>
                            <a:srgbClr val="232323"/>
                          </a:solidFill>
                          <a:latin typeface="Calibri"/>
                        </a:rPr>
                        <a:t>"25kg bags, 6 bags, K200 each"</a:t>
                      </a:r>
                    </a:p>
                  </a:txBody>
                  <a:tcPr marL="73152" marR="73152" marT="36576" marB="36576" anchor="ctr">
                    <a:solidFill>
                      <a:srgbClr val="EEF2F7"/>
                    </a:solidFill>
                  </a:tcPr>
                </a:tc>
                <a:tc>
                  <a:txBody>
                    <a:bodyPr wrap="square"/>
                    <a:lstStyle/>
                    <a:p>
                      <a:r>
                        <a:rPr sz="1500" b="0">
                          <a:solidFill>
                            <a:srgbClr val="232323"/>
                          </a:solidFill>
                          <a:latin typeface="Calibri"/>
                        </a:rPr>
                        <a:t>K200, 6 (25kg is the size)</a:t>
                      </a:r>
                    </a:p>
                  </a:txBody>
                  <a:tcPr marL="73152" marR="73152" marT="36576" marB="36576" anchor="ctr">
                    <a:solidFill>
                      <a:srgbClr val="EEF2F7"/>
                    </a:solidFill>
                  </a:tcPr>
                </a:tc>
                <a:tc>
                  <a:txBody>
                    <a:bodyPr wrap="square"/>
                    <a:lstStyle/>
                    <a:p>
                      <a:r>
                        <a:rPr sz="1500" b="1">
                          <a:solidFill>
                            <a:srgbClr val="2E7D4F"/>
                          </a:solidFill>
                          <a:latin typeface="Calibri"/>
                        </a:rPr>
                        <a:t>PASS</a:t>
                      </a:r>
                    </a:p>
                  </a:txBody>
                  <a:tcPr marL="73152" marR="73152" marT="36576" marB="36576" anchor="ctr">
                    <a:solidFill>
                      <a:srgbClr val="EEF2F7"/>
                    </a:solidFill>
                  </a:tcPr>
                </a:tc>
              </a:tr>
            </a:tbl>
          </a:graphicData>
        </a:graphic>
      </p:graphicFrame>
      <p:sp>
        <p:nvSpPr>
          <p:cNvPr id="7" name="TextBox 6"/>
          <p:cNvSpPr txBox="1"/>
          <p:nvPr/>
        </p:nvSpPr>
        <p:spPr>
          <a:xfrm>
            <a:off x="548640" y="5669280"/>
            <a:ext cx="11064240" cy="457200"/>
          </a:xfrm>
          <a:prstGeom prst="rect">
            <a:avLst/>
          </a:prstGeom>
          <a:noFill/>
        </p:spPr>
        <p:txBody>
          <a:bodyPr wrap="square" anchor="t" lIns="45720" rIns="45720" tIns="27432" bIns="27432">
            <a:spAutoFit/>
          </a:bodyPr>
          <a:lstStyle/>
          <a:p>
            <a:pPr algn="l">
              <a:spcAft>
                <a:spcPts val="600"/>
              </a:spcAft>
            </a:pPr>
            <a:r>
              <a:rPr sz="1500" b="0" i="0">
                <a:solidFill>
                  <a:srgbClr val="5A6472"/>
                </a:solidFill>
                <a:latin typeface="Calibri"/>
              </a:rPr>
              <a:t>All 73 backend and 13 voice-parser tests pass; the live system passed its phone tests. Full tables: Report Tables 6.1 to 6.3.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Performance / Experimental Results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33</a:t>
            </a:r>
          </a:p>
        </p:txBody>
      </p:sp>
      <p:sp>
        <p:nvSpPr>
          <p:cNvPr id="6" name="Rounded Rectangle 5"/>
          <p:cNvSpPr/>
          <p:nvPr/>
        </p:nvSpPr>
        <p:spPr>
          <a:xfrm>
            <a:off x="731520" y="155448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3736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2E7D4F"/>
                </a:solidFill>
                <a:latin typeface="Calibri"/>
              </a:rPr>
              <a:t>73/73</a:t>
            </a:r>
          </a:p>
        </p:txBody>
      </p:sp>
      <p:sp>
        <p:nvSpPr>
          <p:cNvPr id="8" name="TextBox 7"/>
          <p:cNvSpPr txBox="1"/>
          <p:nvPr/>
        </p:nvSpPr>
        <p:spPr>
          <a:xfrm>
            <a:off x="868680" y="265176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backend tests pass</a:t>
            </a:r>
          </a:p>
        </p:txBody>
      </p:sp>
      <p:sp>
        <p:nvSpPr>
          <p:cNvPr id="9" name="Rounded Rectangle 8"/>
          <p:cNvSpPr/>
          <p:nvPr/>
        </p:nvSpPr>
        <p:spPr>
          <a:xfrm>
            <a:off x="3474720" y="155448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173736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2E7D4F"/>
                </a:solidFill>
                <a:latin typeface="Calibri"/>
              </a:rPr>
              <a:t>13/13</a:t>
            </a:r>
          </a:p>
        </p:txBody>
      </p:sp>
      <p:sp>
        <p:nvSpPr>
          <p:cNvPr id="11" name="TextBox 10"/>
          <p:cNvSpPr txBox="1"/>
          <p:nvPr/>
        </p:nvSpPr>
        <p:spPr>
          <a:xfrm>
            <a:off x="3611879" y="265176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voice-parser tests pass</a:t>
            </a:r>
          </a:p>
        </p:txBody>
      </p:sp>
      <p:sp>
        <p:nvSpPr>
          <p:cNvPr id="12" name="Rounded Rectangle 11"/>
          <p:cNvSpPr/>
          <p:nvPr/>
        </p:nvSpPr>
        <p:spPr>
          <a:xfrm>
            <a:off x="6217920" y="155448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73736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192D4B"/>
                </a:solidFill>
                <a:latin typeface="Calibri"/>
              </a:rPr>
              <a:t>~3 ms</a:t>
            </a:r>
          </a:p>
        </p:txBody>
      </p:sp>
      <p:sp>
        <p:nvSpPr>
          <p:cNvPr id="14" name="TextBox 13"/>
          <p:cNvSpPr txBox="1"/>
          <p:nvPr/>
        </p:nvSpPr>
        <p:spPr>
          <a:xfrm>
            <a:off x="6355080" y="265176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to verify a 1,000-block chain</a:t>
            </a:r>
          </a:p>
        </p:txBody>
      </p:sp>
      <p:sp>
        <p:nvSpPr>
          <p:cNvPr id="15" name="Rounded Rectangle 14"/>
          <p:cNvSpPr/>
          <p:nvPr/>
        </p:nvSpPr>
        <p:spPr>
          <a:xfrm>
            <a:off x="8961120" y="155448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0" y="173736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192D4B"/>
                </a:solidFill>
                <a:latin typeface="Calibri"/>
              </a:rPr>
              <a:t>0</a:t>
            </a:r>
          </a:p>
        </p:txBody>
      </p:sp>
      <p:sp>
        <p:nvSpPr>
          <p:cNvPr id="17" name="TextBox 16"/>
          <p:cNvSpPr txBox="1"/>
          <p:nvPr/>
        </p:nvSpPr>
        <p:spPr>
          <a:xfrm>
            <a:off x="9098280" y="265176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lint errors (from 23)</a:t>
            </a:r>
          </a:p>
        </p:txBody>
      </p:sp>
      <p:sp>
        <p:nvSpPr>
          <p:cNvPr id="18" name="Rounded Rectangle 17"/>
          <p:cNvSpPr/>
          <p:nvPr/>
        </p:nvSpPr>
        <p:spPr>
          <a:xfrm>
            <a:off x="731520" y="3840480"/>
            <a:ext cx="10698480" cy="17373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31920"/>
            <a:ext cx="10241280" cy="1554480"/>
          </a:xfrm>
          <a:prstGeom prst="rect">
            <a:avLst/>
          </a:prstGeom>
          <a:noFill/>
        </p:spPr>
        <p:txBody>
          <a:bodyPr wrap="square" anchor="t" lIns="45720" rIns="45720" tIns="27432" bIns="27432">
            <a:spAutoFit/>
          </a:bodyPr>
          <a:lstStyle/>
          <a:p>
            <a:pPr algn="l">
              <a:spcAft>
                <a:spcPts val="1000"/>
              </a:spcAft>
            </a:pPr>
            <a:r>
              <a:rPr sz="1700" b="1" i="0">
                <a:solidFill>
                  <a:srgbClr val="192D4B"/>
                </a:solidFill>
                <a:latin typeface="Calibri"/>
              </a:rPr>
              <a:t>What this means: </a:t>
            </a:r>
            <a:r>
              <a:rPr sz="1700" b="0" i="0">
                <a:solidFill>
                  <a:srgbClr val="232323"/>
                </a:solidFill>
                <a:latin typeface="Calibri"/>
              </a:rPr>
              <a:t>verifying a whole chain on every profile view adds no noticeable delay. A seller would need a thousand listings and ratings to reach 1,000 blocks.</a:t>
            </a:r>
          </a:p>
          <a:p>
            <a:pPr algn="l">
              <a:spcAft>
                <a:spcPts val="1000"/>
              </a:spcAft>
            </a:pPr>
            <a:r>
              <a:rPr sz="1700" b="1" i="0">
                <a:solidFill>
                  <a:srgbClr val="192D4B"/>
                </a:solidFill>
                <a:latin typeface="Calibri"/>
              </a:rPr>
              <a:t>Voice parser: </a:t>
            </a:r>
            <a:r>
              <a:rPr sz="1700" b="0" i="0">
                <a:solidFill>
                  <a:srgbClr val="232323"/>
                </a:solidFill>
                <a:latin typeface="Calibri"/>
              </a:rPr>
              <a:t>passed 4 of 6 test phrases before the rewrite; all cases pass now.</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User Evaluation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34</a:t>
            </a:r>
          </a:p>
        </p:txBody>
      </p:sp>
      <p:sp>
        <p:nvSpPr>
          <p:cNvPr id="6" name="Rounded Rectangle 5"/>
          <p:cNvSpPr/>
          <p:nvPr/>
        </p:nvSpPr>
        <p:spPr>
          <a:xfrm>
            <a:off x="731520" y="1325880"/>
            <a:ext cx="2194560" cy="347472"/>
          </a:xfrm>
          <a:prstGeom prst="roundRect">
            <a:avLst>
              <a:gd name="adj" fmla="val 5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25880"/>
            <a:ext cx="2194560" cy="347472"/>
          </a:xfrm>
          <a:prstGeom prst="rect">
            <a:avLst/>
          </a:prstGeom>
          <a:noFill/>
        </p:spPr>
        <p:txBody>
          <a:bodyPr wrap="square" anchor="ctr" lIns="45720" rIns="45720" tIns="27432" bIns="27432">
            <a:spAutoFit/>
          </a:bodyPr>
          <a:lstStyle/>
          <a:p>
            <a:pPr algn="ctr">
              <a:spcAft>
                <a:spcPts val="0"/>
              </a:spcAft>
            </a:pPr>
            <a:r>
              <a:rPr sz="1300" b="1" i="0">
                <a:solidFill>
                  <a:srgbClr val="5A6472"/>
                </a:solidFill>
                <a:latin typeface="Calibri"/>
              </a:rPr>
              <a:t>Planned, not yet run</a:t>
            </a:r>
          </a:p>
        </p:txBody>
      </p:sp>
      <p:sp>
        <p:nvSpPr>
          <p:cNvPr id="8" name="Rounded Rectangle 7"/>
          <p:cNvSpPr/>
          <p:nvPr/>
        </p:nvSpPr>
        <p:spPr>
          <a:xfrm>
            <a:off x="731520" y="1874519"/>
            <a:ext cx="5212080" cy="31089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011679"/>
            <a:ext cx="48463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Planned study</a:t>
            </a:r>
          </a:p>
        </p:txBody>
      </p:sp>
      <p:sp>
        <p:nvSpPr>
          <p:cNvPr id="10" name="TextBox 9"/>
          <p:cNvSpPr txBox="1"/>
          <p:nvPr/>
        </p:nvSpPr>
        <p:spPr>
          <a:xfrm>
            <a:off x="914400" y="2468879"/>
            <a:ext cx="4846320" cy="23774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At least 5 sellers and 5 buyers in one or two neighbourhoods</a:t>
            </a:r>
          </a:p>
          <a:p>
            <a:pPr algn="l">
              <a:spcAft>
                <a:spcPts val="500"/>
              </a:spcAft>
            </a:pPr>
            <a:r>
              <a:rPr sz="1600" b="0" i="0">
                <a:solidFill>
                  <a:srgbClr val="232323"/>
                </a:solidFill>
                <a:latin typeface="Calibri"/>
              </a:rPr>
              <a:t>Tasks: find a seller, post by voice, message, rate</a:t>
            </a:r>
          </a:p>
          <a:p>
            <a:pPr algn="l">
              <a:spcAft>
                <a:spcPts val="500"/>
              </a:spcAft>
            </a:pPr>
            <a:r>
              <a:rPr sz="1600" b="0" i="0">
                <a:solidFill>
                  <a:srgbClr val="232323"/>
                </a:solidFill>
                <a:latin typeface="Calibri"/>
              </a:rPr>
              <a:t>System Usability Scale: 10 items, score 0 to 100</a:t>
            </a:r>
          </a:p>
          <a:p>
            <a:pPr algn="l">
              <a:spcAft>
                <a:spcPts val="500"/>
              </a:spcAft>
            </a:pPr>
            <a:r>
              <a:rPr sz="1600" b="0" i="0">
                <a:solidFill>
                  <a:srgbClr val="232323"/>
                </a:solidFill>
                <a:latin typeface="Calibri"/>
              </a:rPr>
              <a:t>Target: mean score of at least 70</a:t>
            </a:r>
          </a:p>
        </p:txBody>
      </p:sp>
      <p:sp>
        <p:nvSpPr>
          <p:cNvPr id="11" name="Rounded Rectangle 10"/>
          <p:cNvSpPr/>
          <p:nvPr/>
        </p:nvSpPr>
        <p:spPr>
          <a:xfrm>
            <a:off x="6263640" y="1874519"/>
            <a:ext cx="5212080" cy="3108960"/>
          </a:xfrm>
          <a:prstGeom prst="roundRect">
            <a:avLst>
              <a:gd name="adj" fmla="val 8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011679"/>
            <a:ext cx="4846320" cy="457200"/>
          </a:xfrm>
          <a:prstGeom prst="rect">
            <a:avLst/>
          </a:prstGeom>
          <a:noFill/>
        </p:spPr>
        <p:txBody>
          <a:bodyPr wrap="square" anchor="t" lIns="45720" rIns="45720" tIns="27432" bIns="27432">
            <a:spAutoFit/>
          </a:bodyPr>
          <a:lstStyle/>
          <a:p>
            <a:pPr algn="l">
              <a:spcAft>
                <a:spcPts val="600"/>
              </a:spcAft>
            </a:pPr>
            <a:r>
              <a:rPr sz="1800" b="1" i="0">
                <a:solidFill>
                  <a:srgbClr val="2E7D4F"/>
                </a:solidFill>
                <a:latin typeface="Calibri"/>
              </a:rPr>
              <a:t>What has been checked so far</a:t>
            </a:r>
          </a:p>
        </p:txBody>
      </p:sp>
      <p:sp>
        <p:nvSpPr>
          <p:cNvPr id="13" name="TextBox 12"/>
          <p:cNvSpPr txBox="1"/>
          <p:nvPr/>
        </p:nvSpPr>
        <p:spPr>
          <a:xfrm>
            <a:off x="6446520" y="2468879"/>
            <a:ext cx="4846320" cy="23774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Every screen works at phone width (390 px)</a:t>
            </a:r>
          </a:p>
          <a:p>
            <a:pPr algn="l">
              <a:spcAft>
                <a:spcPts val="500"/>
              </a:spcAft>
            </a:pPr>
            <a:r>
              <a:rPr sz="1600" b="0" i="0">
                <a:solidFill>
                  <a:srgbClr val="232323"/>
                </a:solidFill>
                <a:latin typeface="Calibri"/>
              </a:rPr>
              <a:t>Live system tested end to end on an Android phone</a:t>
            </a:r>
          </a:p>
          <a:p>
            <a:pPr algn="l">
              <a:spcAft>
                <a:spcPts val="500"/>
              </a:spcAft>
            </a:pPr>
            <a:r>
              <a:rPr sz="1600" b="0" i="0">
                <a:solidFill>
                  <a:srgbClr val="232323"/>
                </a:solidFill>
                <a:latin typeface="Calibri"/>
              </a:rPr>
              <a:t>Errors shown clearly: microphone denied, offline, missing fields</a:t>
            </a:r>
          </a:p>
          <a:p>
            <a:pPr algn="l">
              <a:spcAft>
                <a:spcPts val="500"/>
              </a:spcAft>
            </a:pPr>
            <a:r>
              <a:rPr sz="1600" b="0" i="0">
                <a:solidFill>
                  <a:srgbClr val="232323"/>
                </a:solidFill>
                <a:latin typeface="Calibri"/>
              </a:rPr>
              <a:t>Seller must confirm every field before posting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Objective-by-Objective Evaluation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35</a:t>
            </a:r>
          </a:p>
        </p:txBody>
      </p:sp>
      <p:sp>
        <p:nvSpPr>
          <p:cNvPr id="6" name="Rounded Rectangle 5"/>
          <p:cNvSpPr/>
          <p:nvPr/>
        </p:nvSpPr>
        <p:spPr>
          <a:xfrm>
            <a:off x="731520" y="1325880"/>
            <a:ext cx="10698480" cy="777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25880"/>
            <a:ext cx="3657600" cy="777240"/>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1. Discovery and filters</a:t>
            </a:r>
          </a:p>
        </p:txBody>
      </p:sp>
      <p:sp>
        <p:nvSpPr>
          <p:cNvPr id="8" name="TextBox 7"/>
          <p:cNvSpPr txBox="1"/>
          <p:nvPr/>
        </p:nvSpPr>
        <p:spPr>
          <a:xfrm>
            <a:off x="4572000" y="1325880"/>
            <a:ext cx="4206240" cy="777240"/>
          </a:xfrm>
          <a:prstGeom prst="rect">
            <a:avLst/>
          </a:prstGeom>
          <a:noFill/>
        </p:spPr>
        <p:txBody>
          <a:bodyPr wrap="square" anchor="ctr" lIns="45720" rIns="45720" tIns="27432" bIns="27432">
            <a:spAutoFit/>
          </a:bodyPr>
          <a:lstStyle/>
          <a:p>
            <a:pPr algn="l">
              <a:spcAft>
                <a:spcPts val="600"/>
              </a:spcAft>
            </a:pPr>
            <a:r>
              <a:rPr sz="1500" b="0" i="0">
                <a:solidFill>
                  <a:srgbClr val="232323"/>
                </a:solidFill>
                <a:latin typeface="Calibri"/>
              </a:rPr>
              <a:t>Implemented; pages checked in the browser</a:t>
            </a:r>
          </a:p>
        </p:txBody>
      </p:sp>
      <p:sp>
        <p:nvSpPr>
          <p:cNvPr id="9" name="Rounded Rectangle 8"/>
          <p:cNvSpPr/>
          <p:nvPr/>
        </p:nvSpPr>
        <p:spPr>
          <a:xfrm>
            <a:off x="8961120" y="1536192"/>
            <a:ext cx="228600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0" y="1536192"/>
            <a:ext cx="228600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a:t>
            </a:r>
          </a:p>
        </p:txBody>
      </p:sp>
      <p:sp>
        <p:nvSpPr>
          <p:cNvPr id="11" name="Rounded Rectangle 10"/>
          <p:cNvSpPr/>
          <p:nvPr/>
        </p:nvSpPr>
        <p:spPr>
          <a:xfrm>
            <a:off x="731520" y="2240280"/>
            <a:ext cx="10698480" cy="777240"/>
          </a:xfrm>
          <a:prstGeom prst="roundRect">
            <a:avLst>
              <a:gd name="adj" fmla="val 8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240280"/>
            <a:ext cx="3657600" cy="777240"/>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2. English voice listing</a:t>
            </a:r>
          </a:p>
        </p:txBody>
      </p:sp>
      <p:sp>
        <p:nvSpPr>
          <p:cNvPr id="13" name="TextBox 12"/>
          <p:cNvSpPr txBox="1"/>
          <p:nvPr/>
        </p:nvSpPr>
        <p:spPr>
          <a:xfrm>
            <a:off x="4572000" y="2240280"/>
            <a:ext cx="4206240" cy="777240"/>
          </a:xfrm>
          <a:prstGeom prst="rect">
            <a:avLst/>
          </a:prstGeom>
          <a:noFill/>
        </p:spPr>
        <p:txBody>
          <a:bodyPr wrap="square" anchor="ctr" lIns="45720" rIns="45720" tIns="27432" bIns="27432">
            <a:spAutoFit/>
          </a:bodyPr>
          <a:lstStyle/>
          <a:p>
            <a:pPr algn="l">
              <a:spcAft>
                <a:spcPts val="600"/>
              </a:spcAft>
            </a:pPr>
            <a:r>
              <a:rPr sz="1500" b="0" i="0">
                <a:solidFill>
                  <a:srgbClr val="232323"/>
                </a:solidFill>
                <a:latin typeface="Calibri"/>
              </a:rPr>
              <a:t>13/13 parser tests; dictation tested on a phone</a:t>
            </a:r>
          </a:p>
        </p:txBody>
      </p:sp>
      <p:sp>
        <p:nvSpPr>
          <p:cNvPr id="14" name="Rounded Rectangle 13"/>
          <p:cNvSpPr/>
          <p:nvPr/>
        </p:nvSpPr>
        <p:spPr>
          <a:xfrm>
            <a:off x="8961120" y="2450592"/>
            <a:ext cx="228600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0" y="2450592"/>
            <a:ext cx="228600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 (English)</a:t>
            </a:r>
          </a:p>
        </p:txBody>
      </p:sp>
      <p:sp>
        <p:nvSpPr>
          <p:cNvPr id="16" name="Rounded Rectangle 15"/>
          <p:cNvSpPr/>
          <p:nvPr/>
        </p:nvSpPr>
        <p:spPr>
          <a:xfrm>
            <a:off x="731520" y="3154680"/>
            <a:ext cx="10698480" cy="777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154680"/>
            <a:ext cx="3657600" cy="777240"/>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3. Tamper-evident trust score</a:t>
            </a:r>
          </a:p>
        </p:txBody>
      </p:sp>
      <p:sp>
        <p:nvSpPr>
          <p:cNvPr id="18" name="TextBox 17"/>
          <p:cNvSpPr txBox="1"/>
          <p:nvPr/>
        </p:nvSpPr>
        <p:spPr>
          <a:xfrm>
            <a:off x="4572000" y="3154680"/>
            <a:ext cx="4206240" cy="777240"/>
          </a:xfrm>
          <a:prstGeom prst="rect">
            <a:avLst/>
          </a:prstGeom>
          <a:noFill/>
        </p:spPr>
        <p:txBody>
          <a:bodyPr wrap="square" anchor="ctr" lIns="45720" rIns="45720" tIns="27432" bIns="27432">
            <a:spAutoFit/>
          </a:bodyPr>
          <a:lstStyle/>
          <a:p>
            <a:pPr algn="l">
              <a:spcAft>
                <a:spcPts val="600"/>
              </a:spcAft>
            </a:pPr>
            <a:r>
              <a:rPr sz="1500" b="0" i="0">
                <a:solidFill>
                  <a:srgbClr val="232323"/>
                </a:solidFill>
                <a:latin typeface="Calibri"/>
              </a:rPr>
              <a:t>73/73 tests incl. most recent block</a:t>
            </a:r>
          </a:p>
        </p:txBody>
      </p:sp>
      <p:sp>
        <p:nvSpPr>
          <p:cNvPr id="19" name="Rounded Rectangle 18"/>
          <p:cNvSpPr/>
          <p:nvPr/>
        </p:nvSpPr>
        <p:spPr>
          <a:xfrm>
            <a:off x="8961120" y="3364992"/>
            <a:ext cx="228600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0" y="3364992"/>
            <a:ext cx="228600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a:t>
            </a:r>
          </a:p>
        </p:txBody>
      </p:sp>
      <p:sp>
        <p:nvSpPr>
          <p:cNvPr id="21" name="Rounded Rectangle 20"/>
          <p:cNvSpPr/>
          <p:nvPr/>
        </p:nvSpPr>
        <p:spPr>
          <a:xfrm>
            <a:off x="731520" y="4069080"/>
            <a:ext cx="10698480" cy="777240"/>
          </a:xfrm>
          <a:prstGeom prst="roundRect">
            <a:avLst>
              <a:gd name="adj" fmla="val 8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069080"/>
            <a:ext cx="3657600" cy="777240"/>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4. Messaging and offline</a:t>
            </a:r>
          </a:p>
        </p:txBody>
      </p:sp>
      <p:sp>
        <p:nvSpPr>
          <p:cNvPr id="23" name="TextBox 22"/>
          <p:cNvSpPr txBox="1"/>
          <p:nvPr/>
        </p:nvSpPr>
        <p:spPr>
          <a:xfrm>
            <a:off x="4572000" y="4069080"/>
            <a:ext cx="4206240" cy="777240"/>
          </a:xfrm>
          <a:prstGeom prst="rect">
            <a:avLst/>
          </a:prstGeom>
          <a:noFill/>
        </p:spPr>
        <p:txBody>
          <a:bodyPr wrap="square" anchor="ctr" lIns="45720" rIns="45720" tIns="27432" bIns="27432">
            <a:spAutoFit/>
          </a:bodyPr>
          <a:lstStyle/>
          <a:p>
            <a:pPr algn="l">
              <a:spcAft>
                <a:spcPts val="600"/>
              </a:spcAft>
            </a:pPr>
            <a:r>
              <a:rPr sz="1500" b="0" i="0">
                <a:solidFill>
                  <a:srgbClr val="232323"/>
                </a:solidFill>
                <a:latin typeface="Calibri"/>
              </a:rPr>
              <a:t>Chat, offline queue, offline listing drafts</a:t>
            </a:r>
          </a:p>
        </p:txBody>
      </p:sp>
      <p:sp>
        <p:nvSpPr>
          <p:cNvPr id="24" name="Rounded Rectangle 23"/>
          <p:cNvSpPr/>
          <p:nvPr/>
        </p:nvSpPr>
        <p:spPr>
          <a:xfrm>
            <a:off x="8961120" y="4279392"/>
            <a:ext cx="228600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0" y="4279392"/>
            <a:ext cx="228600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a:t>
            </a:r>
          </a:p>
        </p:txBody>
      </p:sp>
      <p:sp>
        <p:nvSpPr>
          <p:cNvPr id="26" name="Rounded Rectangle 25"/>
          <p:cNvSpPr/>
          <p:nvPr/>
        </p:nvSpPr>
        <p:spPr>
          <a:xfrm>
            <a:off x="731520" y="4983480"/>
            <a:ext cx="10698480" cy="777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983480"/>
            <a:ext cx="3657600" cy="777240"/>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5. Evaluation</a:t>
            </a:r>
          </a:p>
        </p:txBody>
      </p:sp>
      <p:sp>
        <p:nvSpPr>
          <p:cNvPr id="28" name="TextBox 27"/>
          <p:cNvSpPr txBox="1"/>
          <p:nvPr/>
        </p:nvSpPr>
        <p:spPr>
          <a:xfrm>
            <a:off x="4572000" y="4983480"/>
            <a:ext cx="4206240" cy="777240"/>
          </a:xfrm>
          <a:prstGeom prst="rect">
            <a:avLst/>
          </a:prstGeom>
          <a:noFill/>
        </p:spPr>
        <p:txBody>
          <a:bodyPr wrap="square" anchor="ctr" lIns="45720" rIns="45720" tIns="27432" bIns="27432">
            <a:spAutoFit/>
          </a:bodyPr>
          <a:lstStyle/>
          <a:p>
            <a:pPr algn="l">
              <a:spcAft>
                <a:spcPts val="600"/>
              </a:spcAft>
            </a:pPr>
            <a:r>
              <a:rPr sz="1500" b="0" i="0">
                <a:solidFill>
                  <a:srgbClr val="232323"/>
                </a:solidFill>
                <a:latin typeface="Calibri"/>
              </a:rPr>
              <a:t>Tests in CI; live system tested; SUS pending</a:t>
            </a:r>
          </a:p>
        </p:txBody>
      </p:sp>
      <p:sp>
        <p:nvSpPr>
          <p:cNvPr id="29" name="Rounded Rectangle 28"/>
          <p:cNvSpPr/>
          <p:nvPr/>
        </p:nvSpPr>
        <p:spPr>
          <a:xfrm>
            <a:off x="8961120" y="5193792"/>
            <a:ext cx="2286000" cy="347472"/>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0" y="5193792"/>
            <a:ext cx="2286000" cy="347472"/>
          </a:xfrm>
          <a:prstGeom prst="rect">
            <a:avLst/>
          </a:prstGeom>
          <a:noFill/>
        </p:spPr>
        <p:txBody>
          <a:bodyPr wrap="square" anchor="ctr" lIns="45720" rIns="45720" tIns="27432" bIns="27432">
            <a:spAutoFit/>
          </a:bodyPr>
          <a:lstStyle/>
          <a:p>
            <a:pPr algn="ctr">
              <a:spcAft>
                <a:spcPts val="0"/>
              </a:spcAft>
            </a:pPr>
            <a:r>
              <a:rPr sz="1300" b="1" i="0">
                <a:solidFill>
                  <a:srgbClr val="B26B00"/>
                </a:solidFill>
                <a:latin typeface="Calibri"/>
              </a:rPr>
              <a:t>Partly achieved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Individual Contribution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36</a:t>
            </a:r>
          </a:p>
        </p:txBody>
      </p:sp>
      <p:sp>
        <p:nvSpPr>
          <p:cNvPr id="6" name="Oval 5"/>
          <p:cNvSpPr/>
          <p:nvPr/>
        </p:nvSpPr>
        <p:spPr>
          <a:xfrm>
            <a:off x="822960" y="1399032"/>
            <a:ext cx="548640" cy="54864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7" name="TextBox 6"/>
          <p:cNvSpPr txBox="1"/>
          <p:nvPr/>
        </p:nvSpPr>
        <p:spPr>
          <a:xfrm>
            <a:off x="1600200" y="1325880"/>
            <a:ext cx="2743200" cy="731520"/>
          </a:xfrm>
          <a:prstGeom prst="rect">
            <a:avLst/>
          </a:prstGeom>
          <a:noFill/>
        </p:spPr>
        <p:txBody>
          <a:bodyPr wrap="square" anchor="ctr" lIns="45720" rIns="45720" tIns="27432" bIns="27432">
            <a:spAutoFit/>
          </a:bodyPr>
          <a:lstStyle/>
          <a:p>
            <a:pPr algn="l">
              <a:spcAft>
                <a:spcPts val="600"/>
              </a:spcAft>
            </a:pPr>
            <a:r>
              <a:rPr sz="1900" b="1" i="0">
                <a:solidFill>
                  <a:srgbClr val="192D4B"/>
                </a:solidFill>
                <a:latin typeface="Calibri"/>
              </a:rPr>
              <a:t>Analysis</a:t>
            </a:r>
          </a:p>
        </p:txBody>
      </p:sp>
      <p:sp>
        <p:nvSpPr>
          <p:cNvPr id="8" name="TextBox 7"/>
          <p:cNvSpPr txBox="1"/>
          <p:nvPr/>
        </p:nvSpPr>
        <p:spPr>
          <a:xfrm>
            <a:off x="4206240" y="1325880"/>
            <a:ext cx="722376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Problem analysis, platform review, requirements</a:t>
            </a:r>
          </a:p>
        </p:txBody>
      </p:sp>
      <p:sp>
        <p:nvSpPr>
          <p:cNvPr id="9" name="Oval 8"/>
          <p:cNvSpPr/>
          <p:nvPr/>
        </p:nvSpPr>
        <p:spPr>
          <a:xfrm>
            <a:off x="822960" y="2267712"/>
            <a:ext cx="548640" cy="54864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10" name="TextBox 9"/>
          <p:cNvSpPr txBox="1"/>
          <p:nvPr/>
        </p:nvSpPr>
        <p:spPr>
          <a:xfrm>
            <a:off x="1600200" y="2194560"/>
            <a:ext cx="2743200" cy="731520"/>
          </a:xfrm>
          <a:prstGeom prst="rect">
            <a:avLst/>
          </a:prstGeom>
          <a:noFill/>
        </p:spPr>
        <p:txBody>
          <a:bodyPr wrap="square" anchor="ctr" lIns="45720" rIns="45720" tIns="27432" bIns="27432">
            <a:spAutoFit/>
          </a:bodyPr>
          <a:lstStyle/>
          <a:p>
            <a:pPr algn="l">
              <a:spcAft>
                <a:spcPts val="600"/>
              </a:spcAft>
            </a:pPr>
            <a:r>
              <a:rPr sz="1900" b="1" i="0">
                <a:solidFill>
                  <a:srgbClr val="192D4B"/>
                </a:solidFill>
                <a:latin typeface="Calibri"/>
              </a:rPr>
              <a:t>Design</a:t>
            </a:r>
          </a:p>
        </p:txBody>
      </p:sp>
      <p:sp>
        <p:nvSpPr>
          <p:cNvPr id="11" name="TextBox 10"/>
          <p:cNvSpPr txBox="1"/>
          <p:nvPr/>
        </p:nvSpPr>
        <p:spPr>
          <a:xfrm>
            <a:off x="4206240" y="2194560"/>
            <a:ext cx="722376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Architecture, data model, trust-chain algorithm, UI</a:t>
            </a:r>
          </a:p>
        </p:txBody>
      </p:sp>
      <p:sp>
        <p:nvSpPr>
          <p:cNvPr id="12" name="Oval 11"/>
          <p:cNvSpPr/>
          <p:nvPr/>
        </p:nvSpPr>
        <p:spPr>
          <a:xfrm>
            <a:off x="822960" y="3136391"/>
            <a:ext cx="548640" cy="54864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13" name="TextBox 12"/>
          <p:cNvSpPr txBox="1"/>
          <p:nvPr/>
        </p:nvSpPr>
        <p:spPr>
          <a:xfrm>
            <a:off x="1600200" y="3063239"/>
            <a:ext cx="2743200" cy="731520"/>
          </a:xfrm>
          <a:prstGeom prst="rect">
            <a:avLst/>
          </a:prstGeom>
          <a:noFill/>
        </p:spPr>
        <p:txBody>
          <a:bodyPr wrap="square" anchor="ctr" lIns="45720" rIns="45720" tIns="27432" bIns="27432">
            <a:spAutoFit/>
          </a:bodyPr>
          <a:lstStyle/>
          <a:p>
            <a:pPr algn="l">
              <a:spcAft>
                <a:spcPts val="600"/>
              </a:spcAft>
            </a:pPr>
            <a:r>
              <a:rPr sz="1900" b="1" i="0">
                <a:solidFill>
                  <a:srgbClr val="192D4B"/>
                </a:solidFill>
                <a:latin typeface="Calibri"/>
              </a:rPr>
              <a:t>Implementation</a:t>
            </a:r>
          </a:p>
        </p:txBody>
      </p:sp>
      <p:sp>
        <p:nvSpPr>
          <p:cNvPr id="14" name="TextBox 13"/>
          <p:cNvSpPr txBox="1"/>
          <p:nvPr/>
        </p:nvSpPr>
        <p:spPr>
          <a:xfrm>
            <a:off x="4206240" y="3063239"/>
            <a:ext cx="722376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Frontend, backend, chat, offline, voice parser, trust</a:t>
            </a:r>
          </a:p>
        </p:txBody>
      </p:sp>
      <p:sp>
        <p:nvSpPr>
          <p:cNvPr id="15" name="Oval 14"/>
          <p:cNvSpPr/>
          <p:nvPr/>
        </p:nvSpPr>
        <p:spPr>
          <a:xfrm>
            <a:off x="822960" y="4005072"/>
            <a:ext cx="548640" cy="54864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16" name="TextBox 15"/>
          <p:cNvSpPr txBox="1"/>
          <p:nvPr/>
        </p:nvSpPr>
        <p:spPr>
          <a:xfrm>
            <a:off x="1600200" y="3931920"/>
            <a:ext cx="2743200" cy="731520"/>
          </a:xfrm>
          <a:prstGeom prst="rect">
            <a:avLst/>
          </a:prstGeom>
          <a:noFill/>
        </p:spPr>
        <p:txBody>
          <a:bodyPr wrap="square" anchor="ctr" lIns="45720" rIns="45720" tIns="27432" bIns="27432">
            <a:spAutoFit/>
          </a:bodyPr>
          <a:lstStyle/>
          <a:p>
            <a:pPr algn="l">
              <a:spcAft>
                <a:spcPts val="600"/>
              </a:spcAft>
            </a:pPr>
            <a:r>
              <a:rPr sz="1900" b="1" i="0">
                <a:solidFill>
                  <a:srgbClr val="192D4B"/>
                </a:solidFill>
                <a:latin typeface="Calibri"/>
              </a:rPr>
              <a:t>Testing</a:t>
            </a:r>
          </a:p>
        </p:txBody>
      </p:sp>
      <p:sp>
        <p:nvSpPr>
          <p:cNvPr id="17" name="TextBox 16"/>
          <p:cNvSpPr txBox="1"/>
          <p:nvPr/>
        </p:nvSpPr>
        <p:spPr>
          <a:xfrm>
            <a:off x="4206240" y="3931920"/>
            <a:ext cx="722376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86 automated tests, CI, browser and live phone tests</a:t>
            </a:r>
          </a:p>
        </p:txBody>
      </p:sp>
      <p:sp>
        <p:nvSpPr>
          <p:cNvPr id="18" name="Oval 17"/>
          <p:cNvSpPr/>
          <p:nvPr/>
        </p:nvSpPr>
        <p:spPr>
          <a:xfrm>
            <a:off x="822960" y="4873752"/>
            <a:ext cx="548640" cy="54864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19" name="TextBox 18"/>
          <p:cNvSpPr txBox="1"/>
          <p:nvPr/>
        </p:nvSpPr>
        <p:spPr>
          <a:xfrm>
            <a:off x="1600200" y="4800600"/>
            <a:ext cx="2743200" cy="731520"/>
          </a:xfrm>
          <a:prstGeom prst="rect">
            <a:avLst/>
          </a:prstGeom>
          <a:noFill/>
        </p:spPr>
        <p:txBody>
          <a:bodyPr wrap="square" anchor="ctr" lIns="45720" rIns="45720" tIns="27432" bIns="27432">
            <a:spAutoFit/>
          </a:bodyPr>
          <a:lstStyle/>
          <a:p>
            <a:pPr algn="l">
              <a:spcAft>
                <a:spcPts val="600"/>
              </a:spcAft>
            </a:pPr>
            <a:r>
              <a:rPr sz="1900" b="1" i="0">
                <a:solidFill>
                  <a:srgbClr val="192D4B"/>
                </a:solidFill>
                <a:latin typeface="Calibri"/>
              </a:rPr>
              <a:t>Documentation</a:t>
            </a:r>
          </a:p>
        </p:txBody>
      </p:sp>
      <p:sp>
        <p:nvSpPr>
          <p:cNvPr id="20" name="TextBox 19"/>
          <p:cNvSpPr txBox="1"/>
          <p:nvPr/>
        </p:nvSpPr>
        <p:spPr>
          <a:xfrm>
            <a:off x="4206240" y="4800600"/>
            <a:ext cx="722376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Report, README, deployment checklist, this presentation</a:t>
            </a:r>
          </a:p>
        </p:txBody>
      </p:sp>
      <p:sp>
        <p:nvSpPr>
          <p:cNvPr id="21" name="Rounded Rectangle 20"/>
          <p:cNvSpPr/>
          <p:nvPr/>
        </p:nvSpPr>
        <p:spPr>
          <a:xfrm>
            <a:off x="731520" y="5760720"/>
            <a:ext cx="10698480" cy="5486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760720"/>
            <a:ext cx="10332720" cy="548640"/>
          </a:xfrm>
          <a:prstGeom prst="rect">
            <a:avLst/>
          </a:prstGeom>
          <a:noFill/>
        </p:spPr>
        <p:txBody>
          <a:bodyPr wrap="square" anchor="ctr" lIns="45720" rIns="45720" tIns="27432" bIns="27432">
            <a:spAutoFit/>
          </a:bodyPr>
          <a:lstStyle/>
          <a:p>
            <a:pPr algn="l">
              <a:spcAft>
                <a:spcPts val="600"/>
              </a:spcAft>
            </a:pPr>
            <a:r>
              <a:rPr sz="1500" b="0" i="0">
                <a:solidFill>
                  <a:srgbClr val="232323"/>
                </a:solidFill>
                <a:latin typeface="Calibri"/>
              </a:rPr>
              <a:t>Individual project: all work by John Chola, supervised by Mr. Martin Phiri. Open-source libraries are acknowledged in the report.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332720" cy="1280160"/>
          </a:xfrm>
          <a:prstGeom prst="rect">
            <a:avLst/>
          </a:prstGeom>
          <a:noFill/>
        </p:spPr>
        <p:txBody>
          <a:bodyPr wrap="none">
            <a:spAutoFit/>
          </a:bodyPr>
          <a:lstStyle/>
          <a:p>
            <a:pPr algn="ctr">
              <a:defRPr sz="4000" b="1">
                <a:solidFill>
                  <a:srgbClr val="FFFFFF"/>
                </a:solidFill>
              </a:defRPr>
            </a:pPr>
            <a:r>
              <a:t>Discussion</a:t>
            </a:r>
          </a:p>
        </p:txBody>
      </p:sp>
      <p:sp>
        <p:nvSpPr>
          <p:cNvPr id="3" name="Rectangle 2"/>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Discussion of Findings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38</a:t>
            </a:r>
          </a:p>
        </p:txBody>
      </p:sp>
      <p:sp>
        <p:nvSpPr>
          <p:cNvPr id="6" name="Rounded Rectangle 5"/>
          <p:cNvSpPr/>
          <p:nvPr/>
        </p:nvSpPr>
        <p:spPr>
          <a:xfrm>
            <a:off x="731520" y="1325880"/>
            <a:ext cx="5257800" cy="21488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274320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Trust</a:t>
            </a:r>
          </a:p>
        </p:txBody>
      </p:sp>
      <p:sp>
        <p:nvSpPr>
          <p:cNvPr id="8" name="Rounded Rectangle 7"/>
          <p:cNvSpPr/>
          <p:nvPr/>
        </p:nvSpPr>
        <p:spPr>
          <a:xfrm>
            <a:off x="4023360" y="1527048"/>
            <a:ext cx="173736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0" y="1527048"/>
            <a:ext cx="173736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RQ1: Yes</a:t>
            </a:r>
          </a:p>
        </p:txBody>
      </p:sp>
      <p:sp>
        <p:nvSpPr>
          <p:cNvPr id="10" name="TextBox 9"/>
          <p:cNvSpPr txBox="1"/>
          <p:nvPr/>
        </p:nvSpPr>
        <p:spPr>
          <a:xfrm>
            <a:off x="960120" y="2103120"/>
            <a:ext cx="4800600" cy="1280160"/>
          </a:xfrm>
          <a:prstGeom prst="rect">
            <a:avLst/>
          </a:prstGeom>
          <a:noFill/>
        </p:spPr>
        <p:txBody>
          <a:bodyPr wrap="square" anchor="t" lIns="45720" rIns="45720" tIns="27432" bIns="27432">
            <a:spAutoFit/>
          </a:bodyPr>
          <a:lstStyle/>
          <a:p>
            <a:pPr algn="l">
              <a:spcAft>
                <a:spcPts val="600"/>
              </a:spcAft>
            </a:pPr>
            <a:r>
              <a:rPr sz="1600" b="0" i="0">
                <a:solidFill>
                  <a:srgbClr val="232323"/>
                </a:solidFill>
                <a:latin typeface="Calibri"/>
              </a:rPr>
              <a:t>A hash chain on an ordinary database detects any edited, deleted or reordered event, cheaply.</a:t>
            </a:r>
          </a:p>
        </p:txBody>
      </p:sp>
      <p:sp>
        <p:nvSpPr>
          <p:cNvPr id="11" name="Rounded Rectangle 10"/>
          <p:cNvSpPr/>
          <p:nvPr/>
        </p:nvSpPr>
        <p:spPr>
          <a:xfrm>
            <a:off x="6172200" y="1325880"/>
            <a:ext cx="5257800" cy="21488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508760"/>
            <a:ext cx="274320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Discovery</a:t>
            </a:r>
          </a:p>
        </p:txBody>
      </p:sp>
      <p:sp>
        <p:nvSpPr>
          <p:cNvPr id="13" name="Rounded Rectangle 12"/>
          <p:cNvSpPr/>
          <p:nvPr/>
        </p:nvSpPr>
        <p:spPr>
          <a:xfrm>
            <a:off x="9464040" y="1527048"/>
            <a:ext cx="173736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64040" y="1527048"/>
            <a:ext cx="173736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a:t>
            </a:r>
          </a:p>
        </p:txBody>
      </p:sp>
      <p:sp>
        <p:nvSpPr>
          <p:cNvPr id="15" name="TextBox 14"/>
          <p:cNvSpPr txBox="1"/>
          <p:nvPr/>
        </p:nvSpPr>
        <p:spPr>
          <a:xfrm>
            <a:off x="6400800" y="2103120"/>
            <a:ext cx="4800600" cy="1280160"/>
          </a:xfrm>
          <a:prstGeom prst="rect">
            <a:avLst/>
          </a:prstGeom>
          <a:noFill/>
        </p:spPr>
        <p:txBody>
          <a:bodyPr wrap="square" anchor="t" lIns="45720" rIns="45720" tIns="27432" bIns="27432">
            <a:spAutoFit/>
          </a:bodyPr>
          <a:lstStyle/>
          <a:p>
            <a:pPr algn="l">
              <a:spcAft>
                <a:spcPts val="600"/>
              </a:spcAft>
            </a:pPr>
            <a:r>
              <a:rPr sz="1600" b="0" i="0">
                <a:solidFill>
                  <a:srgbClr val="232323"/>
                </a:solidFill>
                <a:latin typeface="Calibri"/>
              </a:rPr>
              <a:t>Neighbourhood filters match how residents describe location, with no GPS needed.</a:t>
            </a:r>
          </a:p>
        </p:txBody>
      </p:sp>
      <p:sp>
        <p:nvSpPr>
          <p:cNvPr id="16" name="Rounded Rectangle 15"/>
          <p:cNvSpPr/>
          <p:nvPr/>
        </p:nvSpPr>
        <p:spPr>
          <a:xfrm>
            <a:off x="731520" y="3703320"/>
            <a:ext cx="5257800" cy="21488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886200"/>
            <a:ext cx="274320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Voice</a:t>
            </a:r>
          </a:p>
        </p:txBody>
      </p:sp>
      <p:sp>
        <p:nvSpPr>
          <p:cNvPr id="18" name="Rounded Rectangle 17"/>
          <p:cNvSpPr/>
          <p:nvPr/>
        </p:nvSpPr>
        <p:spPr>
          <a:xfrm>
            <a:off x="4023360" y="3904487"/>
            <a:ext cx="1737360" cy="347472"/>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23360" y="3904487"/>
            <a:ext cx="1737360" cy="347472"/>
          </a:xfrm>
          <a:prstGeom prst="rect">
            <a:avLst/>
          </a:prstGeom>
          <a:noFill/>
        </p:spPr>
        <p:txBody>
          <a:bodyPr wrap="square" anchor="ctr" lIns="45720" rIns="45720" tIns="27432" bIns="27432">
            <a:spAutoFit/>
          </a:bodyPr>
          <a:lstStyle/>
          <a:p>
            <a:pPr algn="ctr">
              <a:spcAft>
                <a:spcPts val="0"/>
              </a:spcAft>
            </a:pPr>
            <a:r>
              <a:rPr sz="1300" b="1" i="0">
                <a:solidFill>
                  <a:srgbClr val="B26B00"/>
                </a:solidFill>
                <a:latin typeface="Calibri"/>
              </a:rPr>
              <a:t>RQ2: Partly</a:t>
            </a:r>
          </a:p>
        </p:txBody>
      </p:sp>
      <p:sp>
        <p:nvSpPr>
          <p:cNvPr id="20" name="TextBox 19"/>
          <p:cNvSpPr txBox="1"/>
          <p:nvPr/>
        </p:nvSpPr>
        <p:spPr>
          <a:xfrm>
            <a:off x="960120" y="4480559"/>
            <a:ext cx="4800600" cy="1280160"/>
          </a:xfrm>
          <a:prstGeom prst="rect">
            <a:avLst/>
          </a:prstGeom>
          <a:noFill/>
        </p:spPr>
        <p:txBody>
          <a:bodyPr wrap="square" anchor="t" lIns="45720" rIns="45720" tIns="27432" bIns="27432">
            <a:spAutoFit/>
          </a:bodyPr>
          <a:lstStyle/>
          <a:p>
            <a:pPr algn="l">
              <a:spcAft>
                <a:spcPts val="600"/>
              </a:spcAft>
            </a:pPr>
            <a:r>
              <a:rPr sz="1600" b="0" i="0">
                <a:solidFill>
                  <a:srgbClr val="232323"/>
                </a:solidFill>
                <a:latin typeface="Calibri"/>
              </a:rPr>
              <a:t>Works for English sentences, but Nyanja and Bemba speakers are not served.</a:t>
            </a:r>
          </a:p>
        </p:txBody>
      </p:sp>
      <p:sp>
        <p:nvSpPr>
          <p:cNvPr id="21" name="Rounded Rectangle 20"/>
          <p:cNvSpPr/>
          <p:nvPr/>
        </p:nvSpPr>
        <p:spPr>
          <a:xfrm>
            <a:off x="6172200" y="3703320"/>
            <a:ext cx="5257800" cy="21488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886200"/>
            <a:ext cx="274320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Connectivity</a:t>
            </a:r>
          </a:p>
        </p:txBody>
      </p:sp>
      <p:sp>
        <p:nvSpPr>
          <p:cNvPr id="23" name="Rounded Rectangle 22"/>
          <p:cNvSpPr/>
          <p:nvPr/>
        </p:nvSpPr>
        <p:spPr>
          <a:xfrm>
            <a:off x="9464040" y="3904487"/>
            <a:ext cx="173736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64040" y="3904487"/>
            <a:ext cx="173736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RQ3: Largely</a:t>
            </a:r>
          </a:p>
        </p:txBody>
      </p:sp>
      <p:sp>
        <p:nvSpPr>
          <p:cNvPr id="25" name="TextBox 24"/>
          <p:cNvSpPr txBox="1"/>
          <p:nvPr/>
        </p:nvSpPr>
        <p:spPr>
          <a:xfrm>
            <a:off x="6400800" y="4480559"/>
            <a:ext cx="4800600" cy="1280160"/>
          </a:xfrm>
          <a:prstGeom prst="rect">
            <a:avLst/>
          </a:prstGeom>
          <a:noFill/>
        </p:spPr>
        <p:txBody>
          <a:bodyPr wrap="square" anchor="t" lIns="45720" rIns="45720" tIns="27432" bIns="27432">
            <a:spAutoFit/>
          </a:bodyPr>
          <a:lstStyle/>
          <a:p>
            <a:pPr algn="l">
              <a:spcAft>
                <a:spcPts val="600"/>
              </a:spcAft>
            </a:pPr>
            <a:r>
              <a:rPr sz="1600" b="0" i="0">
                <a:solidFill>
                  <a:srgbClr val="232323"/>
                </a:solidFill>
                <a:latin typeface="Calibri"/>
              </a:rPr>
              <a:t>Reading, messaging and new listings survive drops; ratings need a connection.</a:t>
            </a:r>
          </a:p>
        </p:txBody>
      </p:sp>
      <p:sp>
        <p:nvSpPr>
          <p:cNvPr id="26" name="TextBox 25"/>
          <p:cNvSpPr txBox="1"/>
          <p:nvPr/>
        </p:nvSpPr>
        <p:spPr>
          <a:xfrm>
            <a:off x="731520" y="6080760"/>
            <a:ext cx="10698480" cy="365760"/>
          </a:xfrm>
          <a:prstGeom prst="rect">
            <a:avLst/>
          </a:prstGeom>
          <a:noFill/>
        </p:spPr>
        <p:txBody>
          <a:bodyPr wrap="square" anchor="t" lIns="45720" rIns="45720" tIns="27432" bIns="27432">
            <a:spAutoFit/>
          </a:bodyPr>
          <a:lstStyle/>
          <a:p>
            <a:pPr algn="l">
              <a:spcAft>
                <a:spcPts val="600"/>
              </a:spcAft>
            </a:pPr>
            <a:r>
              <a:rPr sz="1500" b="1" i="0">
                <a:solidFill>
                  <a:srgbClr val="D85A30"/>
                </a:solidFill>
                <a:latin typeface="Calibri"/>
              </a:rPr>
              <a:t>Most important finding: verifiable trust is possible without online payment.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Project Contributions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39</a:t>
            </a:r>
          </a:p>
        </p:txBody>
      </p:sp>
      <p:sp>
        <p:nvSpPr>
          <p:cNvPr id="6" name="Rounded Rectangle 5"/>
          <p:cNvSpPr/>
          <p:nvPr/>
        </p:nvSpPr>
        <p:spPr>
          <a:xfrm>
            <a:off x="731520" y="1371600"/>
            <a:ext cx="5257800" cy="201168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892040" cy="457200"/>
          </a:xfrm>
          <a:prstGeom prst="rect">
            <a:avLst/>
          </a:prstGeom>
          <a:noFill/>
        </p:spPr>
        <p:txBody>
          <a:bodyPr wrap="square" anchor="t" lIns="45720" rIns="45720" tIns="27432" bIns="27432">
            <a:spAutoFit/>
          </a:bodyPr>
          <a:lstStyle/>
          <a:p>
            <a:pPr algn="l">
              <a:spcAft>
                <a:spcPts val="600"/>
              </a:spcAft>
            </a:pPr>
            <a:r>
              <a:rPr sz="2000" b="1" i="0">
                <a:solidFill>
                  <a:srgbClr val="D85A30"/>
                </a:solidFill>
                <a:latin typeface="Calibri"/>
              </a:rPr>
              <a:t>Technical</a:t>
            </a:r>
          </a:p>
        </p:txBody>
      </p:sp>
      <p:sp>
        <p:nvSpPr>
          <p:cNvPr id="8" name="TextBox 7"/>
          <p:cNvSpPr txBox="1"/>
          <p:nvPr/>
        </p:nvSpPr>
        <p:spPr>
          <a:xfrm>
            <a:off x="914400" y="1965960"/>
            <a:ext cx="4892040" cy="1280160"/>
          </a:xfrm>
          <a:prstGeom prst="rect">
            <a:avLst/>
          </a:prstGeom>
          <a:noFill/>
        </p:spPr>
        <p:txBody>
          <a:bodyPr wrap="square" anchor="t" lIns="45720" rIns="45720" tIns="27432" bIns="27432">
            <a:spAutoFit/>
          </a:bodyPr>
          <a:lstStyle/>
          <a:p>
            <a:pPr algn="l">
              <a:spcAft>
                <a:spcPts val="500"/>
              </a:spcAft>
            </a:pPr>
            <a:r>
              <a:rPr sz="1700" b="0" i="0">
                <a:solidFill>
                  <a:srgbClr val="232323"/>
                </a:solidFill>
                <a:latin typeface="Calibri"/>
              </a:rPr>
              <a:t>A reusable pattern for tamper-evident reputation on a normal database, with head-hash checking.</a:t>
            </a:r>
          </a:p>
        </p:txBody>
      </p:sp>
      <p:sp>
        <p:nvSpPr>
          <p:cNvPr id="9" name="Rounded Rectangle 8"/>
          <p:cNvSpPr/>
          <p:nvPr/>
        </p:nvSpPr>
        <p:spPr>
          <a:xfrm>
            <a:off x="6172200" y="1371600"/>
            <a:ext cx="5257800" cy="20116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508760"/>
            <a:ext cx="489204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Practical</a:t>
            </a:r>
          </a:p>
        </p:txBody>
      </p:sp>
      <p:sp>
        <p:nvSpPr>
          <p:cNvPr id="11" name="TextBox 10"/>
          <p:cNvSpPr txBox="1"/>
          <p:nvPr/>
        </p:nvSpPr>
        <p:spPr>
          <a:xfrm>
            <a:off x="6355080" y="1965960"/>
            <a:ext cx="4892040" cy="1280160"/>
          </a:xfrm>
          <a:prstGeom prst="rect">
            <a:avLst/>
          </a:prstGeom>
          <a:noFill/>
        </p:spPr>
        <p:txBody>
          <a:bodyPr wrap="square" anchor="t" lIns="45720" rIns="45720" tIns="27432" bIns="27432">
            <a:spAutoFit/>
          </a:bodyPr>
          <a:lstStyle/>
          <a:p>
            <a:pPr algn="l">
              <a:spcAft>
                <a:spcPts val="500"/>
              </a:spcAft>
            </a:pPr>
            <a:r>
              <a:rPr sz="1700" b="0" i="0">
                <a:solidFill>
                  <a:srgbClr val="232323"/>
                </a:solidFill>
                <a:latin typeface="Calibri"/>
              </a:rPr>
              <a:t>A working, installable marketplace for a large, under-served informal trade.</a:t>
            </a:r>
          </a:p>
        </p:txBody>
      </p:sp>
      <p:sp>
        <p:nvSpPr>
          <p:cNvPr id="12" name="Rounded Rectangle 11"/>
          <p:cNvSpPr/>
          <p:nvPr/>
        </p:nvSpPr>
        <p:spPr>
          <a:xfrm>
            <a:off x="731520" y="3657600"/>
            <a:ext cx="5257800" cy="20116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794760"/>
            <a:ext cx="489204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Research</a:t>
            </a:r>
          </a:p>
        </p:txBody>
      </p:sp>
      <p:sp>
        <p:nvSpPr>
          <p:cNvPr id="14" name="TextBox 13"/>
          <p:cNvSpPr txBox="1"/>
          <p:nvPr/>
        </p:nvSpPr>
        <p:spPr>
          <a:xfrm>
            <a:off x="914400" y="4251960"/>
            <a:ext cx="4892040" cy="1280160"/>
          </a:xfrm>
          <a:prstGeom prst="rect">
            <a:avLst/>
          </a:prstGeom>
          <a:noFill/>
        </p:spPr>
        <p:txBody>
          <a:bodyPr wrap="square" anchor="t" lIns="45720" rIns="45720" tIns="27432" bIns="27432">
            <a:spAutoFit/>
          </a:bodyPr>
          <a:lstStyle/>
          <a:p>
            <a:pPr algn="l">
              <a:spcAft>
                <a:spcPts val="500"/>
              </a:spcAft>
            </a:pPr>
            <a:r>
              <a:rPr sz="1700" b="0" i="0">
                <a:solidFill>
                  <a:srgbClr val="232323"/>
                </a:solidFill>
                <a:latin typeface="Calibri"/>
              </a:rPr>
              <a:t>Evidence that browser speech recognition cannot yet serve Zambian languages.</a:t>
            </a:r>
          </a:p>
        </p:txBody>
      </p:sp>
      <p:sp>
        <p:nvSpPr>
          <p:cNvPr id="15" name="Rounded Rectangle 14"/>
          <p:cNvSpPr/>
          <p:nvPr/>
        </p:nvSpPr>
        <p:spPr>
          <a:xfrm>
            <a:off x="6172200" y="3657600"/>
            <a:ext cx="5257800" cy="20116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3794760"/>
            <a:ext cx="489204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Societal</a:t>
            </a:r>
          </a:p>
        </p:txBody>
      </p:sp>
      <p:sp>
        <p:nvSpPr>
          <p:cNvPr id="17" name="TextBox 16"/>
          <p:cNvSpPr txBox="1"/>
          <p:nvPr/>
        </p:nvSpPr>
        <p:spPr>
          <a:xfrm>
            <a:off x="6355080" y="4251960"/>
            <a:ext cx="4892040" cy="1280160"/>
          </a:xfrm>
          <a:prstGeom prst="rect">
            <a:avLst/>
          </a:prstGeom>
          <a:noFill/>
        </p:spPr>
        <p:txBody>
          <a:bodyPr wrap="square" anchor="t" lIns="45720" rIns="45720" tIns="27432" bIns="27432">
            <a:spAutoFit/>
          </a:bodyPr>
          <a:lstStyle/>
          <a:p>
            <a:pPr algn="l">
              <a:spcAft>
                <a:spcPts val="500"/>
              </a:spcAft>
            </a:pPr>
            <a:r>
              <a:rPr sz="1700" b="0" i="0">
                <a:solidFill>
                  <a:srgbClr val="232323"/>
                </a:solidFill>
                <a:latin typeface="Calibri"/>
              </a:rPr>
              <a:t>Helps small sellers build a reputation that travels with them.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Limitations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40</a:t>
            </a:r>
          </a:p>
        </p:txBody>
      </p:sp>
      <p:sp>
        <p:nvSpPr>
          <p:cNvPr id="6" name="TextBox 5"/>
          <p:cNvSpPr txBox="1"/>
          <p:nvPr/>
        </p:nvSpPr>
        <p:spPr>
          <a:xfrm>
            <a:off x="731520" y="1325880"/>
            <a:ext cx="10698480" cy="4206240"/>
          </a:xfrm>
          <a:prstGeom prst="rect">
            <a:avLst/>
          </a:prstGeom>
          <a:noFill/>
        </p:spPr>
        <p:txBody>
          <a:bodyPr wrap="square" anchor="t" lIns="45720" rIns="45720" tIns="27432" bIns="27432">
            <a:spAutoFit/>
          </a:bodyPr>
          <a:lstStyle/>
          <a:p>
            <a:pPr algn="l">
              <a:spcAft>
                <a:spcPts val="1400"/>
              </a:spcAft>
            </a:pPr>
            <a:r>
              <a:rPr sz="1900" b="0" i="0">
                <a:solidFill>
                  <a:srgbClr val="232323"/>
                </a:solidFill>
                <a:latin typeface="Calibri"/>
              </a:rPr>
              <a:t/>
            </a:r>
            <a:r>
              <a:rPr sz="1900" b="1" i="0">
                <a:solidFill>
                  <a:srgbClr val="192D4B"/>
                </a:solidFill>
                <a:latin typeface="Calibri"/>
              </a:rPr>
              <a:t>No user study yet: </a:t>
            </a:r>
            <a:r>
              <a:rPr sz="1900" b="0" i="0">
                <a:solidFill>
                  <a:srgbClr val="232323"/>
                </a:solidFill>
                <a:latin typeface="Calibri"/>
              </a:rPr>
              <a:t>usability and real-world benefit are not yet measured</a:t>
            </a:r>
          </a:p>
          <a:p>
            <a:pPr algn="l">
              <a:spcAft>
                <a:spcPts val="1400"/>
              </a:spcAft>
            </a:pPr>
            <a:r>
              <a:rPr sz="1900" b="0" i="0">
                <a:solidFill>
                  <a:srgbClr val="232323"/>
                </a:solidFill>
                <a:latin typeface="Calibri"/>
              </a:rPr>
              <a:t/>
            </a:r>
            <a:r>
              <a:rPr sz="1900" b="1" i="0">
                <a:solidFill>
                  <a:srgbClr val="192D4B"/>
                </a:solidFill>
                <a:latin typeface="Calibri"/>
              </a:rPr>
              <a:t>English-only voice: </a:t>
            </a:r>
            <a:r>
              <a:rPr sz="1900" b="0" i="0">
                <a:solidFill>
                  <a:srgbClr val="232323"/>
                </a:solidFill>
                <a:latin typeface="Calibri"/>
              </a:rPr>
              <a:t>excludes some sellers who would gain most</a:t>
            </a:r>
          </a:p>
          <a:p>
            <a:pPr algn="l">
              <a:spcAft>
                <a:spcPts val="1400"/>
              </a:spcAft>
            </a:pPr>
            <a:r>
              <a:rPr sz="1900" b="0" i="0">
                <a:solidFill>
                  <a:srgbClr val="232323"/>
                </a:solidFill>
                <a:latin typeface="Calibri"/>
              </a:rPr>
              <a:t/>
            </a:r>
            <a:r>
              <a:rPr sz="1900" b="1" i="0">
                <a:solidFill>
                  <a:srgbClr val="192D4B"/>
                </a:solidFill>
                <a:latin typeface="Calibri"/>
              </a:rPr>
              <a:t>Tamper-evident, not tamper-proof: </a:t>
            </a:r>
            <a:r>
              <a:rPr sz="1900" b="0" i="0">
                <a:solidFill>
                  <a:srgbClr val="232323"/>
                </a:solidFill>
                <a:latin typeface="Calibri"/>
              </a:rPr>
              <a:t>someone with full database access could rewrite a whole chain</a:t>
            </a:r>
          </a:p>
          <a:p>
            <a:pPr algn="l">
              <a:spcAft>
                <a:spcPts val="1400"/>
              </a:spcAft>
            </a:pPr>
            <a:r>
              <a:rPr sz="1900" b="0" i="0">
                <a:solidFill>
                  <a:srgbClr val="232323"/>
                </a:solidFill>
                <a:latin typeface="Calibri"/>
              </a:rPr>
              <a:t/>
            </a:r>
            <a:r>
              <a:rPr sz="1900" b="1" i="0">
                <a:solidFill>
                  <a:srgbClr val="192D4B"/>
                </a:solidFill>
                <a:latin typeface="Calibri"/>
              </a:rPr>
              <a:t>Rating gate: </a:t>
            </a:r>
            <a:r>
              <a:rPr sz="1900" b="0" i="0">
                <a:solidFill>
                  <a:srgbClr val="232323"/>
                </a:solidFill>
                <a:latin typeface="Calibri"/>
              </a:rPr>
              <a:t>checks that a conversation happened, not that a sale did</a:t>
            </a:r>
          </a:p>
          <a:p>
            <a:pPr algn="l">
              <a:spcAft>
                <a:spcPts val="1400"/>
              </a:spcAft>
            </a:pPr>
            <a:r>
              <a:rPr sz="1900" b="0" i="0">
                <a:solidFill>
                  <a:srgbClr val="232323"/>
                </a:solidFill>
                <a:latin typeface="Calibri"/>
              </a:rPr>
              <a:t/>
            </a:r>
            <a:r>
              <a:rPr sz="1900" b="1" i="0">
                <a:solidFill>
                  <a:srgbClr val="192D4B"/>
                </a:solidFill>
                <a:latin typeface="Calibri"/>
              </a:rPr>
              <a:t>No paid SMS: </a:t>
            </a:r>
            <a:r>
              <a:rPr sz="1900" b="0" i="0">
                <a:solidFill>
                  <a:srgbClr val="232323"/>
                </a:solidFill>
                <a:latin typeface="Calibri"/>
              </a:rPr>
              <a:t>registration codes go to the server log; real SMS is built in and is one setting away</a:t>
            </a:r>
          </a:p>
        </p:txBody>
      </p:sp>
      <p:sp>
        <p:nvSpPr>
          <p:cNvPr id="7" name="Rounded Rectangle 6"/>
          <p:cNvSpPr/>
          <p:nvPr/>
        </p:nvSpPr>
        <p:spPr>
          <a:xfrm>
            <a:off x="731520" y="4343400"/>
            <a:ext cx="10698480" cy="82296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343400"/>
            <a:ext cx="10332720" cy="822960"/>
          </a:xfrm>
          <a:prstGeom prst="rect">
            <a:avLst/>
          </a:prstGeom>
          <a:noFill/>
        </p:spPr>
        <p:txBody>
          <a:bodyPr wrap="square" anchor="ctr" lIns="45720" rIns="45720" tIns="27432" bIns="27432">
            <a:spAutoFit/>
          </a:bodyPr>
          <a:lstStyle/>
          <a:p>
            <a:pPr algn="l">
              <a:spcAft>
                <a:spcPts val="600"/>
              </a:spcAft>
            </a:pPr>
            <a:r>
              <a:rPr sz="1700" b="1" i="0">
                <a:solidFill>
                  <a:srgbClr val="232323"/>
                </a:solidFill>
                <a:latin typeface="Calibri"/>
              </a:rPr>
              <a:t>Implication: the results show technical feasibility, not yet adoption or real-world benefit.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332720" cy="1280160"/>
          </a:xfrm>
          <a:prstGeom prst="rect">
            <a:avLst/>
          </a:prstGeom>
          <a:noFill/>
        </p:spPr>
        <p:txBody>
          <a:bodyPr wrap="none">
            <a:spAutoFit/>
          </a:bodyPr>
          <a:lstStyle/>
          <a:p>
            <a:pPr algn="ctr">
              <a:defRPr sz="4000" b="1">
                <a:solidFill>
                  <a:srgbClr val="FFFFFF"/>
                </a:solidFill>
              </a:defRPr>
            </a:pPr>
            <a:r>
              <a:t>Conclusion</a:t>
            </a:r>
          </a:p>
        </p:txBody>
      </p:sp>
      <p:sp>
        <p:nvSpPr>
          <p:cNvPr id="3" name="Rectangle 2"/>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Project Summary</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42</a:t>
            </a:r>
          </a:p>
        </p:txBody>
      </p:sp>
      <p:sp>
        <p:nvSpPr>
          <p:cNvPr id="6" name="Rounded Rectangle 5"/>
          <p:cNvSpPr/>
          <p:nvPr/>
        </p:nvSpPr>
        <p:spPr>
          <a:xfrm>
            <a:off x="731520" y="1325880"/>
            <a:ext cx="2377440" cy="749808"/>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25880"/>
            <a:ext cx="2377440" cy="749808"/>
          </a:xfrm>
          <a:prstGeom prst="rect">
            <a:avLst/>
          </a:prstGeom>
          <a:noFill/>
        </p:spPr>
        <p:txBody>
          <a:bodyPr wrap="square" anchor="ctr" lIns="45720" rIns="45720" tIns="27432" bIns="27432">
            <a:spAutoFit/>
          </a:bodyPr>
          <a:lstStyle/>
          <a:p>
            <a:pPr algn="ctr">
              <a:spcAft>
                <a:spcPts val="600"/>
              </a:spcAft>
            </a:pPr>
            <a:r>
              <a:rPr sz="1800" b="1" i="0">
                <a:solidFill>
                  <a:srgbClr val="FFFFFF"/>
                </a:solidFill>
                <a:latin typeface="Calibri"/>
              </a:rPr>
              <a:t>Problem</a:t>
            </a:r>
          </a:p>
        </p:txBody>
      </p:sp>
      <p:sp>
        <p:nvSpPr>
          <p:cNvPr id="8" name="TextBox 7"/>
          <p:cNvSpPr txBox="1"/>
          <p:nvPr/>
        </p:nvSpPr>
        <p:spPr>
          <a:xfrm>
            <a:off x="3291840" y="1325880"/>
            <a:ext cx="8138160" cy="749808"/>
          </a:xfrm>
          <a:prstGeom prst="rect">
            <a:avLst/>
          </a:prstGeom>
          <a:noFill/>
        </p:spPr>
        <p:txBody>
          <a:bodyPr wrap="square" anchor="ctr" lIns="45720" rIns="45720" tIns="27432" bIns="27432">
            <a:spAutoFit/>
          </a:bodyPr>
          <a:lstStyle/>
          <a:p>
            <a:pPr algn="l">
              <a:spcAft>
                <a:spcPts val="600"/>
              </a:spcAft>
            </a:pPr>
            <a:r>
              <a:rPr sz="1800" b="0" i="0">
                <a:solidFill>
                  <a:srgbClr val="232323"/>
                </a:solidFill>
                <a:latin typeface="Calibri"/>
              </a:rPr>
              <a:t>Charcoal buyers cannot find or trust nearby sellers</a:t>
            </a:r>
          </a:p>
        </p:txBody>
      </p:sp>
      <p:sp>
        <p:nvSpPr>
          <p:cNvPr id="9" name="Rounded Rectangle 8"/>
          <p:cNvSpPr/>
          <p:nvPr/>
        </p:nvSpPr>
        <p:spPr>
          <a:xfrm>
            <a:off x="731520" y="2240280"/>
            <a:ext cx="2377440" cy="749808"/>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240280"/>
            <a:ext cx="2377440" cy="749808"/>
          </a:xfrm>
          <a:prstGeom prst="rect">
            <a:avLst/>
          </a:prstGeom>
          <a:noFill/>
        </p:spPr>
        <p:txBody>
          <a:bodyPr wrap="square" anchor="ctr" lIns="45720" rIns="45720" tIns="27432" bIns="27432">
            <a:spAutoFit/>
          </a:bodyPr>
          <a:lstStyle/>
          <a:p>
            <a:pPr algn="ctr">
              <a:spcAft>
                <a:spcPts val="600"/>
              </a:spcAft>
            </a:pPr>
            <a:r>
              <a:rPr sz="1800" b="1" i="0">
                <a:solidFill>
                  <a:srgbClr val="FFFFFF"/>
                </a:solidFill>
                <a:latin typeface="Calibri"/>
              </a:rPr>
              <a:t>Approach</a:t>
            </a:r>
          </a:p>
        </p:txBody>
      </p:sp>
      <p:sp>
        <p:nvSpPr>
          <p:cNvPr id="11" name="TextBox 10"/>
          <p:cNvSpPr txBox="1"/>
          <p:nvPr/>
        </p:nvSpPr>
        <p:spPr>
          <a:xfrm>
            <a:off x="3291840" y="2240280"/>
            <a:ext cx="8138160" cy="749808"/>
          </a:xfrm>
          <a:prstGeom prst="rect">
            <a:avLst/>
          </a:prstGeom>
          <a:noFill/>
        </p:spPr>
        <p:txBody>
          <a:bodyPr wrap="square" anchor="ctr" lIns="45720" rIns="45720" tIns="27432" bIns="27432">
            <a:spAutoFit/>
          </a:bodyPr>
          <a:lstStyle/>
          <a:p>
            <a:pPr algn="l">
              <a:spcAft>
                <a:spcPts val="600"/>
              </a:spcAft>
            </a:pPr>
            <a:r>
              <a:rPr sz="1800" b="0" i="0">
                <a:solidFill>
                  <a:srgbClr val="232323"/>
                </a:solidFill>
                <a:latin typeface="Calibri"/>
              </a:rPr>
              <a:t>Agile: four sprints and a stabilisation period</a:t>
            </a:r>
          </a:p>
        </p:txBody>
      </p:sp>
      <p:sp>
        <p:nvSpPr>
          <p:cNvPr id="12" name="Rounded Rectangle 11"/>
          <p:cNvSpPr/>
          <p:nvPr/>
        </p:nvSpPr>
        <p:spPr>
          <a:xfrm>
            <a:off x="731520" y="3154680"/>
            <a:ext cx="2377440" cy="749808"/>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54680"/>
            <a:ext cx="2377440" cy="749808"/>
          </a:xfrm>
          <a:prstGeom prst="rect">
            <a:avLst/>
          </a:prstGeom>
          <a:noFill/>
        </p:spPr>
        <p:txBody>
          <a:bodyPr wrap="square" anchor="ctr" lIns="45720" rIns="45720" tIns="27432" bIns="27432">
            <a:spAutoFit/>
          </a:bodyPr>
          <a:lstStyle/>
          <a:p>
            <a:pPr algn="ctr">
              <a:spcAft>
                <a:spcPts val="600"/>
              </a:spcAft>
            </a:pPr>
            <a:r>
              <a:rPr sz="1800" b="1" i="0">
                <a:solidFill>
                  <a:srgbClr val="FFFFFF"/>
                </a:solidFill>
                <a:latin typeface="Calibri"/>
              </a:rPr>
              <a:t>Solution</a:t>
            </a:r>
          </a:p>
        </p:txBody>
      </p:sp>
      <p:sp>
        <p:nvSpPr>
          <p:cNvPr id="14" name="TextBox 13"/>
          <p:cNvSpPr txBox="1"/>
          <p:nvPr/>
        </p:nvSpPr>
        <p:spPr>
          <a:xfrm>
            <a:off x="3291840" y="3154680"/>
            <a:ext cx="8138160" cy="749808"/>
          </a:xfrm>
          <a:prstGeom prst="rect">
            <a:avLst/>
          </a:prstGeom>
          <a:noFill/>
        </p:spPr>
        <p:txBody>
          <a:bodyPr wrap="square" anchor="ctr" lIns="45720" rIns="45720" tIns="27432" bIns="27432">
            <a:spAutoFit/>
          </a:bodyPr>
          <a:lstStyle/>
          <a:p>
            <a:pPr algn="l">
              <a:spcAft>
                <a:spcPts val="600"/>
              </a:spcAft>
            </a:pPr>
            <a:r>
              <a:rPr sz="1800" b="0" i="0">
                <a:solidFill>
                  <a:srgbClr val="232323"/>
                </a:solidFill>
                <a:latin typeface="Calibri"/>
              </a:rPr>
              <a:t>A mobile web app with voice listing, chat, offline support and a hash-chain trust score</a:t>
            </a:r>
          </a:p>
        </p:txBody>
      </p:sp>
      <p:sp>
        <p:nvSpPr>
          <p:cNvPr id="15" name="Rounded Rectangle 14"/>
          <p:cNvSpPr/>
          <p:nvPr/>
        </p:nvSpPr>
        <p:spPr>
          <a:xfrm>
            <a:off x="731520" y="4069080"/>
            <a:ext cx="2377440" cy="749808"/>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069080"/>
            <a:ext cx="2377440" cy="749808"/>
          </a:xfrm>
          <a:prstGeom prst="rect">
            <a:avLst/>
          </a:prstGeom>
          <a:noFill/>
        </p:spPr>
        <p:txBody>
          <a:bodyPr wrap="square" anchor="ctr" lIns="45720" rIns="45720" tIns="27432" bIns="27432">
            <a:spAutoFit/>
          </a:bodyPr>
          <a:lstStyle/>
          <a:p>
            <a:pPr algn="ctr">
              <a:spcAft>
                <a:spcPts val="600"/>
              </a:spcAft>
            </a:pPr>
            <a:r>
              <a:rPr sz="1800" b="1" i="0">
                <a:solidFill>
                  <a:srgbClr val="FFFFFF"/>
                </a:solidFill>
                <a:latin typeface="Calibri"/>
              </a:rPr>
              <a:t>Results</a:t>
            </a:r>
          </a:p>
        </p:txBody>
      </p:sp>
      <p:sp>
        <p:nvSpPr>
          <p:cNvPr id="17" name="TextBox 16"/>
          <p:cNvSpPr txBox="1"/>
          <p:nvPr/>
        </p:nvSpPr>
        <p:spPr>
          <a:xfrm>
            <a:off x="3291840" y="4069080"/>
            <a:ext cx="8138160" cy="749808"/>
          </a:xfrm>
          <a:prstGeom prst="rect">
            <a:avLst/>
          </a:prstGeom>
          <a:noFill/>
        </p:spPr>
        <p:txBody>
          <a:bodyPr wrap="square" anchor="ctr" lIns="45720" rIns="45720" tIns="27432" bIns="27432">
            <a:spAutoFit/>
          </a:bodyPr>
          <a:lstStyle/>
          <a:p>
            <a:pPr algn="l">
              <a:spcAft>
                <a:spcPts val="600"/>
              </a:spcAft>
            </a:pPr>
            <a:r>
              <a:rPr sz="1800" b="0" i="0">
                <a:solidFill>
                  <a:srgbClr val="232323"/>
                </a:solidFill>
                <a:latin typeface="Calibri"/>
              </a:rPr>
              <a:t>86 of 86 tests pass; tampering is detected; live on Vercel and Render</a:t>
            </a:r>
          </a:p>
        </p:txBody>
      </p:sp>
      <p:sp>
        <p:nvSpPr>
          <p:cNvPr id="18" name="Rounded Rectangle 17"/>
          <p:cNvSpPr/>
          <p:nvPr/>
        </p:nvSpPr>
        <p:spPr>
          <a:xfrm>
            <a:off x="731520" y="4983480"/>
            <a:ext cx="2377440" cy="749808"/>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983480"/>
            <a:ext cx="2377440" cy="749808"/>
          </a:xfrm>
          <a:prstGeom prst="rect">
            <a:avLst/>
          </a:prstGeom>
          <a:noFill/>
        </p:spPr>
        <p:txBody>
          <a:bodyPr wrap="square" anchor="ctr" lIns="45720" rIns="45720" tIns="27432" bIns="27432">
            <a:spAutoFit/>
          </a:bodyPr>
          <a:lstStyle/>
          <a:p>
            <a:pPr algn="ctr">
              <a:spcAft>
                <a:spcPts val="600"/>
              </a:spcAft>
            </a:pPr>
            <a:r>
              <a:rPr sz="1800" b="1" i="0">
                <a:solidFill>
                  <a:srgbClr val="FFFFFF"/>
                </a:solidFill>
                <a:latin typeface="Calibri"/>
              </a:rPr>
              <a:t>Contribution</a:t>
            </a:r>
          </a:p>
        </p:txBody>
      </p:sp>
      <p:sp>
        <p:nvSpPr>
          <p:cNvPr id="20" name="TextBox 19"/>
          <p:cNvSpPr txBox="1"/>
          <p:nvPr/>
        </p:nvSpPr>
        <p:spPr>
          <a:xfrm>
            <a:off x="3291840" y="4983480"/>
            <a:ext cx="8138160" cy="749808"/>
          </a:xfrm>
          <a:prstGeom prst="rect">
            <a:avLst/>
          </a:prstGeom>
          <a:noFill/>
        </p:spPr>
        <p:txBody>
          <a:bodyPr wrap="square" anchor="ctr" lIns="45720" rIns="45720" tIns="27432" bIns="27432">
            <a:spAutoFit/>
          </a:bodyPr>
          <a:lstStyle/>
          <a:p>
            <a:pPr algn="l">
              <a:spcAft>
                <a:spcPts val="600"/>
              </a:spcAft>
            </a:pPr>
            <a:r>
              <a:rPr sz="1800" b="0" i="0">
                <a:solidFill>
                  <a:srgbClr val="232323"/>
                </a:solidFill>
                <a:latin typeface="Calibri"/>
              </a:rPr>
              <a:t>Verifiable trust for cash traders, without online payment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Achievement of Objectives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43</a:t>
            </a:r>
          </a:p>
        </p:txBody>
      </p:sp>
      <p:sp>
        <p:nvSpPr>
          <p:cNvPr id="6" name="Rounded Rectangle 5"/>
          <p:cNvSpPr/>
          <p:nvPr/>
        </p:nvSpPr>
        <p:spPr>
          <a:xfrm>
            <a:off x="731520" y="1508760"/>
            <a:ext cx="155448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08760"/>
            <a:ext cx="155448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a:t>
            </a:r>
          </a:p>
        </p:txBody>
      </p:sp>
      <p:sp>
        <p:nvSpPr>
          <p:cNvPr id="8" name="TextBox 7"/>
          <p:cNvSpPr txBox="1"/>
          <p:nvPr/>
        </p:nvSpPr>
        <p:spPr>
          <a:xfrm>
            <a:off x="2514600" y="1325880"/>
            <a:ext cx="1828800" cy="731520"/>
          </a:xfrm>
          <a:prstGeom prst="rect">
            <a:avLst/>
          </a:prstGeom>
          <a:noFill/>
        </p:spPr>
        <p:txBody>
          <a:bodyPr wrap="square" anchor="ctr" lIns="45720" rIns="45720" tIns="27432" bIns="27432">
            <a:spAutoFit/>
          </a:bodyPr>
          <a:lstStyle/>
          <a:p>
            <a:pPr algn="l">
              <a:spcAft>
                <a:spcPts val="600"/>
              </a:spcAft>
            </a:pPr>
            <a:r>
              <a:rPr sz="1800" b="1" i="0">
                <a:solidFill>
                  <a:srgbClr val="192D4B"/>
                </a:solidFill>
                <a:latin typeface="Calibri"/>
              </a:rPr>
              <a:t>Objective 1</a:t>
            </a:r>
          </a:p>
        </p:txBody>
      </p:sp>
      <p:sp>
        <p:nvSpPr>
          <p:cNvPr id="9" name="TextBox 8"/>
          <p:cNvSpPr txBox="1"/>
          <p:nvPr/>
        </p:nvSpPr>
        <p:spPr>
          <a:xfrm>
            <a:off x="4343400" y="1325880"/>
            <a:ext cx="713232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Discovery and filters</a:t>
            </a:r>
          </a:p>
        </p:txBody>
      </p:sp>
      <p:sp>
        <p:nvSpPr>
          <p:cNvPr id="10" name="Rounded Rectangle 9"/>
          <p:cNvSpPr/>
          <p:nvPr/>
        </p:nvSpPr>
        <p:spPr>
          <a:xfrm>
            <a:off x="731520" y="2423160"/>
            <a:ext cx="155448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23160"/>
            <a:ext cx="155448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a:t>
            </a:r>
          </a:p>
        </p:txBody>
      </p:sp>
      <p:sp>
        <p:nvSpPr>
          <p:cNvPr id="12" name="TextBox 11"/>
          <p:cNvSpPr txBox="1"/>
          <p:nvPr/>
        </p:nvSpPr>
        <p:spPr>
          <a:xfrm>
            <a:off x="2514600" y="2240280"/>
            <a:ext cx="1828800" cy="731520"/>
          </a:xfrm>
          <a:prstGeom prst="rect">
            <a:avLst/>
          </a:prstGeom>
          <a:noFill/>
        </p:spPr>
        <p:txBody>
          <a:bodyPr wrap="square" anchor="ctr" lIns="45720" rIns="45720" tIns="27432" bIns="27432">
            <a:spAutoFit/>
          </a:bodyPr>
          <a:lstStyle/>
          <a:p>
            <a:pPr algn="l">
              <a:spcAft>
                <a:spcPts val="600"/>
              </a:spcAft>
            </a:pPr>
            <a:r>
              <a:rPr sz="1800" b="1" i="0">
                <a:solidFill>
                  <a:srgbClr val="192D4B"/>
                </a:solidFill>
                <a:latin typeface="Calibri"/>
              </a:rPr>
              <a:t>Objective 2</a:t>
            </a:r>
          </a:p>
        </p:txBody>
      </p:sp>
      <p:sp>
        <p:nvSpPr>
          <p:cNvPr id="13" name="TextBox 12"/>
          <p:cNvSpPr txBox="1"/>
          <p:nvPr/>
        </p:nvSpPr>
        <p:spPr>
          <a:xfrm>
            <a:off x="4343400" y="2240280"/>
            <a:ext cx="713232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English voice listing, including spoken numbers</a:t>
            </a:r>
          </a:p>
        </p:txBody>
      </p:sp>
      <p:sp>
        <p:nvSpPr>
          <p:cNvPr id="14" name="Rounded Rectangle 13"/>
          <p:cNvSpPr/>
          <p:nvPr/>
        </p:nvSpPr>
        <p:spPr>
          <a:xfrm>
            <a:off x="731520" y="3337560"/>
            <a:ext cx="155448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37560"/>
            <a:ext cx="155448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a:t>
            </a:r>
          </a:p>
        </p:txBody>
      </p:sp>
      <p:sp>
        <p:nvSpPr>
          <p:cNvPr id="16" name="TextBox 15"/>
          <p:cNvSpPr txBox="1"/>
          <p:nvPr/>
        </p:nvSpPr>
        <p:spPr>
          <a:xfrm>
            <a:off x="2514600" y="3154680"/>
            <a:ext cx="1828800" cy="731520"/>
          </a:xfrm>
          <a:prstGeom prst="rect">
            <a:avLst/>
          </a:prstGeom>
          <a:noFill/>
        </p:spPr>
        <p:txBody>
          <a:bodyPr wrap="square" anchor="ctr" lIns="45720" rIns="45720" tIns="27432" bIns="27432">
            <a:spAutoFit/>
          </a:bodyPr>
          <a:lstStyle/>
          <a:p>
            <a:pPr algn="l">
              <a:spcAft>
                <a:spcPts val="600"/>
              </a:spcAft>
            </a:pPr>
            <a:r>
              <a:rPr sz="1800" b="1" i="0">
                <a:solidFill>
                  <a:srgbClr val="192D4B"/>
                </a:solidFill>
                <a:latin typeface="Calibri"/>
              </a:rPr>
              <a:t>Objective 3</a:t>
            </a:r>
          </a:p>
        </p:txBody>
      </p:sp>
      <p:sp>
        <p:nvSpPr>
          <p:cNvPr id="17" name="TextBox 16"/>
          <p:cNvSpPr txBox="1"/>
          <p:nvPr/>
        </p:nvSpPr>
        <p:spPr>
          <a:xfrm>
            <a:off x="4343400" y="3154680"/>
            <a:ext cx="713232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Tamper detection covers every block, including the most recent</a:t>
            </a:r>
          </a:p>
        </p:txBody>
      </p:sp>
      <p:sp>
        <p:nvSpPr>
          <p:cNvPr id="18" name="Rounded Rectangle 17"/>
          <p:cNvSpPr/>
          <p:nvPr/>
        </p:nvSpPr>
        <p:spPr>
          <a:xfrm>
            <a:off x="731520" y="4251960"/>
            <a:ext cx="155448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251960"/>
            <a:ext cx="155448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a:t>
            </a:r>
          </a:p>
        </p:txBody>
      </p:sp>
      <p:sp>
        <p:nvSpPr>
          <p:cNvPr id="20" name="TextBox 19"/>
          <p:cNvSpPr txBox="1"/>
          <p:nvPr/>
        </p:nvSpPr>
        <p:spPr>
          <a:xfrm>
            <a:off x="2514600" y="4069080"/>
            <a:ext cx="1828800" cy="731520"/>
          </a:xfrm>
          <a:prstGeom prst="rect">
            <a:avLst/>
          </a:prstGeom>
          <a:noFill/>
        </p:spPr>
        <p:txBody>
          <a:bodyPr wrap="square" anchor="ctr" lIns="45720" rIns="45720" tIns="27432" bIns="27432">
            <a:spAutoFit/>
          </a:bodyPr>
          <a:lstStyle/>
          <a:p>
            <a:pPr algn="l">
              <a:spcAft>
                <a:spcPts val="600"/>
              </a:spcAft>
            </a:pPr>
            <a:r>
              <a:rPr sz="1800" b="1" i="0">
                <a:solidFill>
                  <a:srgbClr val="192D4B"/>
                </a:solidFill>
                <a:latin typeface="Calibri"/>
              </a:rPr>
              <a:t>Objective 4</a:t>
            </a:r>
          </a:p>
        </p:txBody>
      </p:sp>
      <p:sp>
        <p:nvSpPr>
          <p:cNvPr id="21" name="TextBox 20"/>
          <p:cNvSpPr txBox="1"/>
          <p:nvPr/>
        </p:nvSpPr>
        <p:spPr>
          <a:xfrm>
            <a:off x="4343400" y="4069080"/>
            <a:ext cx="713232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Chat, offline reading and offline listing drafts</a:t>
            </a:r>
          </a:p>
        </p:txBody>
      </p:sp>
      <p:sp>
        <p:nvSpPr>
          <p:cNvPr id="22" name="Rounded Rectangle 21"/>
          <p:cNvSpPr/>
          <p:nvPr/>
        </p:nvSpPr>
        <p:spPr>
          <a:xfrm>
            <a:off x="731520" y="5166360"/>
            <a:ext cx="1554480" cy="347472"/>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166360"/>
            <a:ext cx="1554480" cy="347472"/>
          </a:xfrm>
          <a:prstGeom prst="rect">
            <a:avLst/>
          </a:prstGeom>
          <a:noFill/>
        </p:spPr>
        <p:txBody>
          <a:bodyPr wrap="square" anchor="ctr" lIns="45720" rIns="45720" tIns="27432" bIns="27432">
            <a:spAutoFit/>
          </a:bodyPr>
          <a:lstStyle/>
          <a:p>
            <a:pPr algn="ctr">
              <a:spcAft>
                <a:spcPts val="0"/>
              </a:spcAft>
            </a:pPr>
            <a:r>
              <a:rPr sz="1300" b="1" i="0">
                <a:solidFill>
                  <a:srgbClr val="B26B00"/>
                </a:solidFill>
                <a:latin typeface="Calibri"/>
              </a:rPr>
              <a:t>Partly</a:t>
            </a:r>
          </a:p>
        </p:txBody>
      </p:sp>
      <p:sp>
        <p:nvSpPr>
          <p:cNvPr id="24" name="TextBox 23"/>
          <p:cNvSpPr txBox="1"/>
          <p:nvPr/>
        </p:nvSpPr>
        <p:spPr>
          <a:xfrm>
            <a:off x="2514600" y="4983480"/>
            <a:ext cx="1828800" cy="731520"/>
          </a:xfrm>
          <a:prstGeom prst="rect">
            <a:avLst/>
          </a:prstGeom>
          <a:noFill/>
        </p:spPr>
        <p:txBody>
          <a:bodyPr wrap="square" anchor="ctr" lIns="45720" rIns="45720" tIns="27432" bIns="27432">
            <a:spAutoFit/>
          </a:bodyPr>
          <a:lstStyle/>
          <a:p>
            <a:pPr algn="l">
              <a:spcAft>
                <a:spcPts val="600"/>
              </a:spcAft>
            </a:pPr>
            <a:r>
              <a:rPr sz="1800" b="1" i="0">
                <a:solidFill>
                  <a:srgbClr val="192D4B"/>
                </a:solidFill>
                <a:latin typeface="Calibri"/>
              </a:rPr>
              <a:t>Objective 5</a:t>
            </a:r>
          </a:p>
        </p:txBody>
      </p:sp>
      <p:sp>
        <p:nvSpPr>
          <p:cNvPr id="25" name="TextBox 24"/>
          <p:cNvSpPr txBox="1"/>
          <p:nvPr/>
        </p:nvSpPr>
        <p:spPr>
          <a:xfrm>
            <a:off x="4343400" y="4983480"/>
            <a:ext cx="7132320" cy="731520"/>
          </a:xfrm>
          <a:prstGeom prst="rect">
            <a:avLst/>
          </a:prstGeom>
          <a:noFill/>
        </p:spPr>
        <p:txBody>
          <a:bodyPr wrap="square" anchor="ctr" lIns="45720" rIns="45720" tIns="27432" bIns="27432">
            <a:spAutoFit/>
          </a:bodyPr>
          <a:lstStyle/>
          <a:p>
            <a:pPr algn="l">
              <a:spcAft>
                <a:spcPts val="600"/>
              </a:spcAft>
            </a:pPr>
            <a:r>
              <a:rPr sz="1700" b="0" i="0">
                <a:solidFill>
                  <a:srgbClr val="232323"/>
                </a:solidFill>
                <a:latin typeface="Calibri"/>
              </a:rPr>
              <a:t>Tests in CI and on the live system; usability study pending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Recommendations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44</a:t>
            </a:r>
          </a:p>
        </p:txBody>
      </p:sp>
      <p:sp>
        <p:nvSpPr>
          <p:cNvPr id="6" name="Oval 5"/>
          <p:cNvSpPr/>
          <p:nvPr/>
        </p:nvSpPr>
        <p:spPr>
          <a:xfrm>
            <a:off x="822960" y="141732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600200" y="137160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Run the usability study with sellers and buyers before wider release</a:t>
            </a:r>
          </a:p>
        </p:txBody>
      </p:sp>
      <p:sp>
        <p:nvSpPr>
          <p:cNvPr id="8" name="Oval 7"/>
          <p:cNvSpPr/>
          <p:nvPr/>
        </p:nvSpPr>
        <p:spPr>
          <a:xfrm>
            <a:off x="822960" y="233172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600200" y="228600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Switch on real SMS through Africa's Talking (MTN, Airtel, Zamtel)</a:t>
            </a:r>
          </a:p>
        </p:txBody>
      </p:sp>
      <p:sp>
        <p:nvSpPr>
          <p:cNvPr id="10" name="Oval 9"/>
          <p:cNvSpPr/>
          <p:nvPr/>
        </p:nvSpPr>
        <p:spPr>
          <a:xfrm>
            <a:off x="822960" y="324612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600200" y="320040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Anchor each seller's latest hash outside the database</a:t>
            </a:r>
          </a:p>
        </p:txBody>
      </p:sp>
      <p:sp>
        <p:nvSpPr>
          <p:cNvPr id="12" name="Oval 11"/>
          <p:cNvSpPr/>
          <p:nvPr/>
        </p:nvSpPr>
        <p:spPr>
          <a:xfrm>
            <a:off x="822960" y="416052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3" name="TextBox 12"/>
          <p:cNvSpPr txBox="1"/>
          <p:nvPr/>
        </p:nvSpPr>
        <p:spPr>
          <a:xfrm>
            <a:off x="1600200" y="411480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Calibrate the score weights with real rating data</a:t>
            </a:r>
          </a:p>
        </p:txBody>
      </p:sp>
      <p:sp>
        <p:nvSpPr>
          <p:cNvPr id="14" name="Oval 13"/>
          <p:cNvSpPr/>
          <p:nvPr/>
        </p:nvSpPr>
        <p:spPr>
          <a:xfrm>
            <a:off x="822960" y="507492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15" name="TextBox 14"/>
          <p:cNvSpPr txBox="1"/>
          <p:nvPr/>
        </p:nvSpPr>
        <p:spPr>
          <a:xfrm>
            <a:off x="1600200" y="502920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Record seller forestry licences before verification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Future Work</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45</a:t>
            </a:r>
          </a:p>
        </p:txBody>
      </p:sp>
      <p:sp>
        <p:nvSpPr>
          <p:cNvPr id="6" name="Rounded Rectangle 5"/>
          <p:cNvSpPr/>
          <p:nvPr/>
        </p:nvSpPr>
        <p:spPr>
          <a:xfrm>
            <a:off x="731520" y="1371600"/>
            <a:ext cx="5257800" cy="20116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89204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Local-language voice</a:t>
            </a:r>
          </a:p>
        </p:txBody>
      </p:sp>
      <p:sp>
        <p:nvSpPr>
          <p:cNvPr id="8" name="TextBox 7"/>
          <p:cNvSpPr txBox="1"/>
          <p:nvPr/>
        </p:nvSpPr>
        <p:spPr>
          <a:xfrm>
            <a:off x="914400" y="1965960"/>
            <a:ext cx="4892040" cy="1280160"/>
          </a:xfrm>
          <a:prstGeom prst="rect">
            <a:avLst/>
          </a:prstGeom>
          <a:noFill/>
        </p:spPr>
        <p:txBody>
          <a:bodyPr wrap="square" anchor="t" lIns="45720" rIns="45720" tIns="27432" bIns="27432">
            <a:spAutoFit/>
          </a:bodyPr>
          <a:lstStyle/>
          <a:p>
            <a:pPr algn="l">
              <a:spcAft>
                <a:spcPts val="500"/>
              </a:spcAft>
            </a:pPr>
            <a:r>
              <a:rPr sz="1700" b="0" i="0">
                <a:solidFill>
                  <a:srgbClr val="232323"/>
                </a:solidFill>
                <a:latin typeface="Calibri"/>
              </a:rPr>
              <a:t>A Nyanja / Bemba speech model on a server, validated by native speakers</a:t>
            </a:r>
          </a:p>
        </p:txBody>
      </p:sp>
      <p:sp>
        <p:nvSpPr>
          <p:cNvPr id="9" name="Rounded Rectangle 8"/>
          <p:cNvSpPr/>
          <p:nvPr/>
        </p:nvSpPr>
        <p:spPr>
          <a:xfrm>
            <a:off x="6172200" y="1371600"/>
            <a:ext cx="5257800" cy="20116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508760"/>
            <a:ext cx="489204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Offline ratings</a:t>
            </a:r>
          </a:p>
        </p:txBody>
      </p:sp>
      <p:sp>
        <p:nvSpPr>
          <p:cNvPr id="11" name="TextBox 10"/>
          <p:cNvSpPr txBox="1"/>
          <p:nvPr/>
        </p:nvSpPr>
        <p:spPr>
          <a:xfrm>
            <a:off x="6355080" y="1965960"/>
            <a:ext cx="4892040" cy="1280160"/>
          </a:xfrm>
          <a:prstGeom prst="rect">
            <a:avLst/>
          </a:prstGeom>
          <a:noFill/>
        </p:spPr>
        <p:txBody>
          <a:bodyPr wrap="square" anchor="t" lIns="45720" rIns="45720" tIns="27432" bIns="27432">
            <a:spAutoFit/>
          </a:bodyPr>
          <a:lstStyle/>
          <a:p>
            <a:pPr algn="l">
              <a:spcAft>
                <a:spcPts val="500"/>
              </a:spcAft>
            </a:pPr>
            <a:r>
              <a:rPr sz="1700" b="0" i="0">
                <a:solidFill>
                  <a:srgbClr val="232323"/>
                </a:solidFill>
                <a:latin typeface="Calibri"/>
              </a:rPr>
              <a:t>Queue ratings like messages, so buyers can rate without a signal</a:t>
            </a:r>
          </a:p>
        </p:txBody>
      </p:sp>
      <p:sp>
        <p:nvSpPr>
          <p:cNvPr id="12" name="Rounded Rectangle 11"/>
          <p:cNvSpPr/>
          <p:nvPr/>
        </p:nvSpPr>
        <p:spPr>
          <a:xfrm>
            <a:off x="731520" y="3657600"/>
            <a:ext cx="5257800" cy="20116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794760"/>
            <a:ext cx="489204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Mobile-money option</a:t>
            </a:r>
          </a:p>
        </p:txBody>
      </p:sp>
      <p:sp>
        <p:nvSpPr>
          <p:cNvPr id="14" name="TextBox 13"/>
          <p:cNvSpPr txBox="1"/>
          <p:nvPr/>
        </p:nvSpPr>
        <p:spPr>
          <a:xfrm>
            <a:off x="914400" y="4251960"/>
            <a:ext cx="4892040" cy="1280160"/>
          </a:xfrm>
          <a:prstGeom prst="rect">
            <a:avLst/>
          </a:prstGeom>
          <a:noFill/>
        </p:spPr>
        <p:txBody>
          <a:bodyPr wrap="square" anchor="t" lIns="45720" rIns="45720" tIns="27432" bIns="27432">
            <a:spAutoFit/>
          </a:bodyPr>
          <a:lstStyle/>
          <a:p>
            <a:pPr algn="l">
              <a:spcAft>
                <a:spcPts val="500"/>
              </a:spcAft>
            </a:pPr>
            <a:r>
              <a:rPr sz="1700" b="0" i="0">
                <a:solidFill>
                  <a:srgbClr val="232323"/>
                </a:solidFill>
                <a:latin typeface="Calibri"/>
              </a:rPr>
              <a:t>Optional payment confirmation for transaction-verified ratings</a:t>
            </a:r>
          </a:p>
        </p:txBody>
      </p:sp>
      <p:sp>
        <p:nvSpPr>
          <p:cNvPr id="15" name="Rounded Rectangle 14"/>
          <p:cNvSpPr/>
          <p:nvPr/>
        </p:nvSpPr>
        <p:spPr>
          <a:xfrm>
            <a:off x="6172200" y="3657600"/>
            <a:ext cx="5257800" cy="20116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3794760"/>
            <a:ext cx="4892040" cy="457200"/>
          </a:xfrm>
          <a:prstGeom prst="rect">
            <a:avLst/>
          </a:prstGeom>
          <a:noFill/>
        </p:spPr>
        <p:txBody>
          <a:bodyPr wrap="square" anchor="t" lIns="45720" rIns="45720" tIns="27432" bIns="27432">
            <a:spAutoFit/>
          </a:bodyPr>
          <a:lstStyle/>
          <a:p>
            <a:pPr algn="l">
              <a:spcAft>
                <a:spcPts val="600"/>
              </a:spcAft>
            </a:pPr>
            <a:r>
              <a:rPr sz="2000" b="1" i="0">
                <a:solidFill>
                  <a:srgbClr val="192D4B"/>
                </a:solidFill>
                <a:latin typeface="Calibri"/>
              </a:rPr>
              <a:t>Beyond charcoal</a:t>
            </a:r>
          </a:p>
        </p:txBody>
      </p:sp>
      <p:sp>
        <p:nvSpPr>
          <p:cNvPr id="17" name="TextBox 16"/>
          <p:cNvSpPr txBox="1"/>
          <p:nvPr/>
        </p:nvSpPr>
        <p:spPr>
          <a:xfrm>
            <a:off x="6355080" y="4251960"/>
            <a:ext cx="4892040" cy="1280160"/>
          </a:xfrm>
          <a:prstGeom prst="rect">
            <a:avLst/>
          </a:prstGeom>
          <a:noFill/>
        </p:spPr>
        <p:txBody>
          <a:bodyPr wrap="square" anchor="t" lIns="45720" rIns="45720" tIns="27432" bIns="27432">
            <a:spAutoFit/>
          </a:bodyPr>
          <a:lstStyle/>
          <a:p>
            <a:pPr algn="l">
              <a:spcAft>
                <a:spcPts val="500"/>
              </a:spcAft>
            </a:pPr>
            <a:r>
              <a:rPr sz="1700" b="0" i="0">
                <a:solidFill>
                  <a:srgbClr val="232323"/>
                </a:solidFill>
                <a:latin typeface="Calibri"/>
              </a:rPr>
              <a:t>Other goods traded locally in cash: vegetables, building sand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332720" cy="1280160"/>
          </a:xfrm>
          <a:prstGeom prst="rect">
            <a:avLst/>
          </a:prstGeom>
          <a:noFill/>
        </p:spPr>
        <p:txBody>
          <a:bodyPr wrap="none">
            <a:spAutoFit/>
          </a:bodyPr>
          <a:lstStyle/>
          <a:p>
            <a:pPr algn="ctr">
              <a:defRPr sz="4000" b="1">
                <a:solidFill>
                  <a:srgbClr val="FFFFFF"/>
                </a:solidFill>
              </a:defRPr>
            </a:pPr>
            <a:r>
              <a:t>System Demonstration</a:t>
            </a:r>
          </a:p>
        </p:txBody>
      </p:sp>
      <p:sp>
        <p:nvSpPr>
          <p:cNvPr id="3" name="Rectangle 2"/>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46</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Demonstration Plan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47</a:t>
            </a:r>
          </a:p>
        </p:txBody>
      </p:sp>
      <p:sp>
        <p:nvSpPr>
          <p:cNvPr id="6" name="Oval 5"/>
          <p:cNvSpPr/>
          <p:nvPr/>
        </p:nvSpPr>
        <p:spPr>
          <a:xfrm>
            <a:off x="731520" y="1344168"/>
            <a:ext cx="502920" cy="5029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7" name="TextBox 6"/>
          <p:cNvSpPr txBox="1"/>
          <p:nvPr/>
        </p:nvSpPr>
        <p:spPr>
          <a:xfrm>
            <a:off x="1417320" y="1280160"/>
            <a:ext cx="1188720" cy="640080"/>
          </a:xfrm>
          <a:prstGeom prst="rect">
            <a:avLst/>
          </a:prstGeom>
          <a:noFill/>
        </p:spPr>
        <p:txBody>
          <a:bodyPr wrap="square" anchor="ctr" lIns="45720" rIns="45720" tIns="27432" bIns="27432">
            <a:spAutoFit/>
          </a:bodyPr>
          <a:lstStyle/>
          <a:p>
            <a:pPr algn="l">
              <a:spcAft>
                <a:spcPts val="600"/>
              </a:spcAft>
            </a:pPr>
            <a:r>
              <a:rPr sz="1600" b="1" i="0">
                <a:solidFill>
                  <a:srgbClr val="192D4B"/>
                </a:solidFill>
                <a:latin typeface="Calibri"/>
              </a:rPr>
              <a:t>Buyer</a:t>
            </a:r>
          </a:p>
        </p:txBody>
      </p:sp>
      <p:sp>
        <p:nvSpPr>
          <p:cNvPr id="8" name="TextBox 7"/>
          <p:cNvSpPr txBox="1"/>
          <p:nvPr/>
        </p:nvSpPr>
        <p:spPr>
          <a:xfrm>
            <a:off x="2606040" y="1280160"/>
            <a:ext cx="5943600" cy="640080"/>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Browse and filter by neighbourhood and price</a:t>
            </a:r>
          </a:p>
        </p:txBody>
      </p:sp>
      <p:sp>
        <p:nvSpPr>
          <p:cNvPr id="9" name="Oval 8"/>
          <p:cNvSpPr/>
          <p:nvPr/>
        </p:nvSpPr>
        <p:spPr>
          <a:xfrm>
            <a:off x="731520" y="2130551"/>
            <a:ext cx="502920" cy="5029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0" name="TextBox 9"/>
          <p:cNvSpPr txBox="1"/>
          <p:nvPr/>
        </p:nvSpPr>
        <p:spPr>
          <a:xfrm>
            <a:off x="1417320" y="2066543"/>
            <a:ext cx="1188720" cy="640080"/>
          </a:xfrm>
          <a:prstGeom prst="rect">
            <a:avLst/>
          </a:prstGeom>
          <a:noFill/>
        </p:spPr>
        <p:txBody>
          <a:bodyPr wrap="square" anchor="ctr" lIns="45720" rIns="45720" tIns="27432" bIns="27432">
            <a:spAutoFit/>
          </a:bodyPr>
          <a:lstStyle/>
          <a:p>
            <a:pPr algn="l">
              <a:spcAft>
                <a:spcPts val="600"/>
              </a:spcAft>
            </a:pPr>
            <a:r>
              <a:rPr sz="1600" b="1" i="0">
                <a:solidFill>
                  <a:srgbClr val="192D4B"/>
                </a:solidFill>
                <a:latin typeface="Calibri"/>
              </a:rPr>
              <a:t>Seller</a:t>
            </a:r>
          </a:p>
        </p:txBody>
      </p:sp>
      <p:sp>
        <p:nvSpPr>
          <p:cNvPr id="11" name="TextBox 10"/>
          <p:cNvSpPr txBox="1"/>
          <p:nvPr/>
        </p:nvSpPr>
        <p:spPr>
          <a:xfrm>
            <a:off x="2606040" y="2066543"/>
            <a:ext cx="5943600" cy="640080"/>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Post a listing by voice: "ten bags, ninety five kwacha, Kanyama"</a:t>
            </a:r>
          </a:p>
        </p:txBody>
      </p:sp>
      <p:sp>
        <p:nvSpPr>
          <p:cNvPr id="12" name="Oval 11"/>
          <p:cNvSpPr/>
          <p:nvPr/>
        </p:nvSpPr>
        <p:spPr>
          <a:xfrm>
            <a:off x="731520" y="2916936"/>
            <a:ext cx="502920" cy="5029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3" name="TextBox 12"/>
          <p:cNvSpPr txBox="1"/>
          <p:nvPr/>
        </p:nvSpPr>
        <p:spPr>
          <a:xfrm>
            <a:off x="1417320" y="2852928"/>
            <a:ext cx="1188720" cy="640080"/>
          </a:xfrm>
          <a:prstGeom prst="rect">
            <a:avLst/>
          </a:prstGeom>
          <a:noFill/>
        </p:spPr>
        <p:txBody>
          <a:bodyPr wrap="square" anchor="ctr" lIns="45720" rIns="45720" tIns="27432" bIns="27432">
            <a:spAutoFit/>
          </a:bodyPr>
          <a:lstStyle/>
          <a:p>
            <a:pPr algn="l">
              <a:spcAft>
                <a:spcPts val="600"/>
              </a:spcAft>
            </a:pPr>
            <a:r>
              <a:rPr sz="1600" b="1" i="0">
                <a:solidFill>
                  <a:srgbClr val="192D4B"/>
                </a:solidFill>
                <a:latin typeface="Calibri"/>
              </a:rPr>
              <a:t>Both</a:t>
            </a:r>
          </a:p>
        </p:txBody>
      </p:sp>
      <p:sp>
        <p:nvSpPr>
          <p:cNvPr id="14" name="TextBox 13"/>
          <p:cNvSpPr txBox="1"/>
          <p:nvPr/>
        </p:nvSpPr>
        <p:spPr>
          <a:xfrm>
            <a:off x="2606040" y="2852928"/>
            <a:ext cx="5943600" cy="640080"/>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Chat; go offline, send a message and post a listing, then reconnect</a:t>
            </a:r>
          </a:p>
        </p:txBody>
      </p:sp>
      <p:sp>
        <p:nvSpPr>
          <p:cNvPr id="15" name="Oval 14"/>
          <p:cNvSpPr/>
          <p:nvPr/>
        </p:nvSpPr>
        <p:spPr>
          <a:xfrm>
            <a:off x="731520" y="3703320"/>
            <a:ext cx="502920" cy="5029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6" name="TextBox 15"/>
          <p:cNvSpPr txBox="1"/>
          <p:nvPr/>
        </p:nvSpPr>
        <p:spPr>
          <a:xfrm>
            <a:off x="1417320" y="3639312"/>
            <a:ext cx="1188720" cy="640080"/>
          </a:xfrm>
          <a:prstGeom prst="rect">
            <a:avLst/>
          </a:prstGeom>
          <a:noFill/>
        </p:spPr>
        <p:txBody>
          <a:bodyPr wrap="square" anchor="ctr" lIns="45720" rIns="45720" tIns="27432" bIns="27432">
            <a:spAutoFit/>
          </a:bodyPr>
          <a:lstStyle/>
          <a:p>
            <a:pPr algn="l">
              <a:spcAft>
                <a:spcPts val="600"/>
              </a:spcAft>
            </a:pPr>
            <a:r>
              <a:rPr sz="1600" b="1" i="0">
                <a:solidFill>
                  <a:srgbClr val="192D4B"/>
                </a:solidFill>
                <a:latin typeface="Calibri"/>
              </a:rPr>
              <a:t>Buyer</a:t>
            </a:r>
          </a:p>
        </p:txBody>
      </p:sp>
      <p:sp>
        <p:nvSpPr>
          <p:cNvPr id="17" name="TextBox 16"/>
          <p:cNvSpPr txBox="1"/>
          <p:nvPr/>
        </p:nvSpPr>
        <p:spPr>
          <a:xfrm>
            <a:off x="2606040" y="3639312"/>
            <a:ext cx="5943600" cy="640080"/>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Rate the seller after collection; score updates</a:t>
            </a:r>
          </a:p>
        </p:txBody>
      </p:sp>
      <p:sp>
        <p:nvSpPr>
          <p:cNvPr id="18" name="Oval 17"/>
          <p:cNvSpPr/>
          <p:nvPr/>
        </p:nvSpPr>
        <p:spPr>
          <a:xfrm>
            <a:off x="731520" y="4489704"/>
            <a:ext cx="502920" cy="50292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19" name="TextBox 18"/>
          <p:cNvSpPr txBox="1"/>
          <p:nvPr/>
        </p:nvSpPr>
        <p:spPr>
          <a:xfrm>
            <a:off x="1417320" y="4425696"/>
            <a:ext cx="1188720" cy="640080"/>
          </a:xfrm>
          <a:prstGeom prst="rect">
            <a:avLst/>
          </a:prstGeom>
          <a:noFill/>
        </p:spPr>
        <p:txBody>
          <a:bodyPr wrap="square" anchor="ctr" lIns="45720" rIns="45720" tIns="27432" bIns="27432">
            <a:spAutoFit/>
          </a:bodyPr>
          <a:lstStyle/>
          <a:p>
            <a:pPr algn="l">
              <a:spcAft>
                <a:spcPts val="600"/>
              </a:spcAft>
            </a:pPr>
            <a:r>
              <a:rPr sz="1600" b="1" i="0">
                <a:solidFill>
                  <a:srgbClr val="192D4B"/>
                </a:solidFill>
                <a:latin typeface="Calibri"/>
              </a:rPr>
              <a:t>Tamper</a:t>
            </a:r>
          </a:p>
        </p:txBody>
      </p:sp>
      <p:sp>
        <p:nvSpPr>
          <p:cNvPr id="20" name="TextBox 19"/>
          <p:cNvSpPr txBox="1"/>
          <p:nvPr/>
        </p:nvSpPr>
        <p:spPr>
          <a:xfrm>
            <a:off x="2606040" y="4425696"/>
            <a:ext cx="5943600" cy="640080"/>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Edit a block in MongoDB Atlas: a red "Record has been altered" warning</a:t>
            </a:r>
          </a:p>
        </p:txBody>
      </p:sp>
      <p:sp>
        <p:nvSpPr>
          <p:cNvPr id="21" name="Oval 20"/>
          <p:cNvSpPr/>
          <p:nvPr/>
        </p:nvSpPr>
        <p:spPr>
          <a:xfrm>
            <a:off x="731520" y="5276088"/>
            <a:ext cx="502920" cy="5029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22" name="TextBox 21"/>
          <p:cNvSpPr txBox="1"/>
          <p:nvPr/>
        </p:nvSpPr>
        <p:spPr>
          <a:xfrm>
            <a:off x="1417320" y="5212079"/>
            <a:ext cx="1188720" cy="640080"/>
          </a:xfrm>
          <a:prstGeom prst="rect">
            <a:avLst/>
          </a:prstGeom>
          <a:noFill/>
        </p:spPr>
        <p:txBody>
          <a:bodyPr wrap="square" anchor="ctr" lIns="45720" rIns="45720" tIns="27432" bIns="27432">
            <a:spAutoFit/>
          </a:bodyPr>
          <a:lstStyle/>
          <a:p>
            <a:pPr algn="l">
              <a:spcAft>
                <a:spcPts val="600"/>
              </a:spcAft>
            </a:pPr>
            <a:r>
              <a:rPr sz="1600" b="1" i="0">
                <a:solidFill>
                  <a:srgbClr val="192D4B"/>
                </a:solidFill>
                <a:latin typeface="Calibri"/>
              </a:rPr>
              <a:t>Admin</a:t>
            </a:r>
          </a:p>
        </p:txBody>
      </p:sp>
      <p:sp>
        <p:nvSpPr>
          <p:cNvPr id="23" name="TextBox 22"/>
          <p:cNvSpPr txBox="1"/>
          <p:nvPr/>
        </p:nvSpPr>
        <p:spPr>
          <a:xfrm>
            <a:off x="2606040" y="5212079"/>
            <a:ext cx="5943600" cy="640080"/>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Integrity tab flags the altered record; verify a seller: +15</a:t>
            </a:r>
          </a:p>
        </p:txBody>
      </p:sp>
      <p:pic>
        <p:nvPicPr>
          <p:cNvPr id="24" name="Picture 23" descr="trust_tampered.png"/>
          <p:cNvPicPr>
            <a:picLocks noChangeAspect="1"/>
          </p:cNvPicPr>
          <p:nvPr/>
        </p:nvPicPr>
        <p:blipFill>
          <a:blip r:embed="rId2"/>
          <a:stretch>
            <a:fillRect/>
          </a:stretch>
        </p:blipFill>
        <p:spPr>
          <a:xfrm>
            <a:off x="8869680" y="1188720"/>
            <a:ext cx="2281666" cy="4937760"/>
          </a:xfrm>
          <a:prstGeom prst="rect">
            <a:avLst/>
          </a:prstGeom>
          <a:ln w="12700">
            <a:solidFill>
              <a:srgbClr val="D5DCE6"/>
            </a:solidFill>
          </a:ln>
        </p:spPr>
      </p:pic>
      <p:sp>
        <p:nvSpPr>
          <p:cNvPr id="25" name="TextBox 24"/>
          <p:cNvSpPr txBox="1"/>
          <p:nvPr/>
        </p:nvSpPr>
        <p:spPr>
          <a:xfrm>
            <a:off x="731520" y="5989320"/>
            <a:ext cx="7863840" cy="365760"/>
          </a:xfrm>
          <a:prstGeom prst="rect">
            <a:avLst/>
          </a:prstGeom>
          <a:noFill/>
        </p:spPr>
        <p:txBody>
          <a:bodyPr wrap="square" anchor="t" lIns="45720" rIns="45720" tIns="27432" bIns="27432">
            <a:spAutoFit/>
          </a:bodyPr>
          <a:lstStyle/>
          <a:p>
            <a:pPr algn="l">
              <a:spcAft>
                <a:spcPts val="600"/>
              </a:spcAft>
            </a:pPr>
            <a:r>
              <a:rPr sz="1300" b="0" i="0">
                <a:solidFill>
                  <a:srgbClr val="5A6472"/>
                </a:solidFill>
                <a:latin typeface="Calibri"/>
              </a:rPr>
              <a:t>Live: zam-market-khaki.vercel.app · Backup if the network fails: screenshots in the report.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Questions and Discussion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48</a:t>
            </a:r>
          </a:p>
        </p:txBody>
      </p:sp>
      <p:sp>
        <p:nvSpPr>
          <p:cNvPr id="6" name="Rounded Rectangle 5"/>
          <p:cNvSpPr/>
          <p:nvPr/>
        </p:nvSpPr>
        <p:spPr>
          <a:xfrm>
            <a:off x="2011680" y="1463040"/>
            <a:ext cx="8138160" cy="4206240"/>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37360"/>
            <a:ext cx="8138160" cy="914400"/>
          </a:xfrm>
          <a:prstGeom prst="rect">
            <a:avLst/>
          </a:prstGeom>
          <a:noFill/>
        </p:spPr>
        <p:txBody>
          <a:bodyPr wrap="square" anchor="t" lIns="45720" rIns="45720" tIns="27432" bIns="27432">
            <a:spAutoFit/>
          </a:bodyPr>
          <a:lstStyle/>
          <a:p>
            <a:pPr algn="ctr">
              <a:spcAft>
                <a:spcPts val="600"/>
              </a:spcAft>
            </a:pPr>
            <a:r>
              <a:rPr sz="4400" b="1" i="0">
                <a:solidFill>
                  <a:srgbClr val="FFFFFF"/>
                </a:solidFill>
                <a:latin typeface="Calibri"/>
              </a:rPr>
              <a:t>Thank you</a:t>
            </a:r>
          </a:p>
        </p:txBody>
      </p:sp>
      <p:sp>
        <p:nvSpPr>
          <p:cNvPr id="8" name="TextBox 7"/>
          <p:cNvSpPr txBox="1"/>
          <p:nvPr/>
        </p:nvSpPr>
        <p:spPr>
          <a:xfrm>
            <a:off x="2377440" y="2743200"/>
            <a:ext cx="7406640" cy="1097280"/>
          </a:xfrm>
          <a:prstGeom prst="rect">
            <a:avLst/>
          </a:prstGeom>
          <a:noFill/>
        </p:spPr>
        <p:txBody>
          <a:bodyPr wrap="square" anchor="t" lIns="45720" rIns="45720" tIns="27432" bIns="27432">
            <a:spAutoFit/>
          </a:bodyPr>
          <a:lstStyle/>
          <a:p>
            <a:pPr algn="ctr">
              <a:spcAft>
                <a:spcPts val="600"/>
              </a:spcAft>
            </a:pPr>
            <a:r>
              <a:rPr sz="2000" b="0" i="0">
                <a:solidFill>
                  <a:srgbClr val="CFDAEA"/>
                </a:solidFill>
                <a:latin typeface="Calibri"/>
              </a:rPr>
              <a:t>ZamMarket: local charcoal trading with a tamper-evident seller trust score</a:t>
            </a:r>
          </a:p>
        </p:txBody>
      </p:sp>
      <p:sp>
        <p:nvSpPr>
          <p:cNvPr id="9" name="TextBox 8"/>
          <p:cNvSpPr txBox="1"/>
          <p:nvPr/>
        </p:nvSpPr>
        <p:spPr>
          <a:xfrm>
            <a:off x="2377440" y="3840480"/>
            <a:ext cx="7406640" cy="457200"/>
          </a:xfrm>
          <a:prstGeom prst="rect">
            <a:avLst/>
          </a:prstGeom>
          <a:noFill/>
        </p:spPr>
        <p:txBody>
          <a:bodyPr wrap="square" anchor="t" lIns="45720" rIns="45720" tIns="27432" bIns="27432">
            <a:spAutoFit/>
          </a:bodyPr>
          <a:lstStyle/>
          <a:p>
            <a:pPr algn="ctr">
              <a:spcAft>
                <a:spcPts val="600"/>
              </a:spcAft>
            </a:pPr>
            <a:r>
              <a:rPr sz="1800" b="0" i="0">
                <a:solidFill>
                  <a:srgbClr val="FFFFFF"/>
                </a:solidFill>
                <a:latin typeface="Calibri"/>
              </a:rPr>
              <a:t>John Chola · 2021422054</a:t>
            </a:r>
          </a:p>
        </p:txBody>
      </p:sp>
      <p:sp>
        <p:nvSpPr>
          <p:cNvPr id="10" name="TextBox 9"/>
          <p:cNvSpPr txBox="1"/>
          <p:nvPr/>
        </p:nvSpPr>
        <p:spPr>
          <a:xfrm>
            <a:off x="2377440" y="4343400"/>
            <a:ext cx="7406640" cy="457200"/>
          </a:xfrm>
          <a:prstGeom prst="rect">
            <a:avLst/>
          </a:prstGeom>
          <a:noFill/>
        </p:spPr>
        <p:txBody>
          <a:bodyPr wrap="square" anchor="t" lIns="45720" rIns="45720" tIns="27432" bIns="27432">
            <a:spAutoFit/>
          </a:bodyPr>
          <a:lstStyle/>
          <a:p>
            <a:pPr algn="ctr">
              <a:spcAft>
                <a:spcPts val="600"/>
              </a:spcAft>
            </a:pPr>
            <a:r>
              <a:rPr sz="1600" b="0" i="0">
                <a:solidFill>
                  <a:srgbClr val="CFDAEA"/>
                </a:solidFill>
                <a:latin typeface="Calibri"/>
              </a:rPr>
              <a:t>zam-market-khaki.vercel.app · github.com/john-chola/ZamMarket</a:t>
            </a:r>
          </a:p>
        </p:txBody>
      </p:sp>
      <p:sp>
        <p:nvSpPr>
          <p:cNvPr id="11" name="TextBox 10"/>
          <p:cNvSpPr txBox="1"/>
          <p:nvPr/>
        </p:nvSpPr>
        <p:spPr>
          <a:xfrm>
            <a:off x="2011680" y="4892040"/>
            <a:ext cx="8138160" cy="640080"/>
          </a:xfrm>
          <a:prstGeom prst="rect">
            <a:avLst/>
          </a:prstGeom>
          <a:noFill/>
        </p:spPr>
        <p:txBody>
          <a:bodyPr wrap="square" anchor="t" lIns="45720" rIns="45720" tIns="27432" bIns="27432">
            <a:spAutoFit/>
          </a:bodyPr>
          <a:lstStyle/>
          <a:p>
            <a:pPr algn="ctr">
              <a:spcAft>
                <a:spcPts val="600"/>
              </a:spcAft>
            </a:pPr>
            <a:r>
              <a:rPr sz="2600" b="1" i="0">
                <a:solidFill>
                  <a:srgbClr val="F4A286"/>
                </a:solidFill>
                <a:latin typeface="Calibr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1710</Words>
  <Application>Microsoft Office PowerPoint</Application>
  <PresentationFormat>Widescreen</PresentationFormat>
  <Paragraphs>271</Paragraphs>
  <Slides>48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Alinani Simukanga</cp:lastModifiedBy>
  <cp:revision>3</cp:revision>
  <dcterms:created xsi:type="dcterms:W3CDTF">2013-01-27T09:14:16Z</dcterms:created>
  <dcterms:modified xsi:type="dcterms:W3CDTF">2026-09-22T12:32:30Z</dcterms:modified>
  <cp:category/>
</cp:coreProperties>
</file>