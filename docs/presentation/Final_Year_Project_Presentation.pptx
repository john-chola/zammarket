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7" r:id="rId5"/>
    <p:sldId id="258" r:id="rId6"/>
    <p:sldId id="260" r:id="rId7"/>
    <p:sldId id="277" r:id="rId8"/>
    <p:sldId id="280" r:id="rId9"/>
    <p:sldId id="278" r:id="rId10"/>
    <p:sldId id="282" r:id="rId11"/>
    <p:sldId id="283" r:id="rId12"/>
    <p:sldId id="284" r:id="rId13"/>
    <p:sldId id="285" r:id="rId14"/>
    <p:sldId id="288" r:id="rId15"/>
    <p:sldId id="296" r:id="rId16"/>
    <p:sldId id="298" r:id="rId17"/>
    <p:sldId id="301" r:id="rId18"/>
    <p:sldId id="308" r:id="rId19"/>
    <p:sldId id="306"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31"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428" autoAdjust="0"/>
    <p:restoredTop sz="94660"/>
  </p:normalViewPr>
  <p:slideViewPr>
    <p:cSldViewPr snapToGrid="0" snapToObjects="1" showGuides="1">
      <p:cViewPr varScale="1">
        <p:scale>
          <a:sx n="78" d="100"/>
          <a:sy n="78" d="100"/>
        </p:scale>
        <p:origin x="629" y="43"/>
      </p:cViewPr>
      <p:guideLst>
        <p:guide orient="horz" pos="2231"/>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3" Type="http://schemas.openxmlformats.org/officeDocument/2006/relationships/tableStyles" Target="tableStyles.xml"/><Relationship Id="rId22" Type="http://schemas.openxmlformats.org/officeDocument/2006/relationships/viewProps" Target="viewProps.xml"/><Relationship Id="rId21" Type="http://schemas.openxmlformats.org/officeDocument/2006/relationships/presProps" Target="presProps.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Good morning. My name is John Chola, computer number 2021422054, and my supervisor is Mr. Martin Phiri. My project is ZamMarket: a mobile web app that helps people in Lusaka find charcoal sellers near them, and gives every seller a trust score that cannot be quietly edited.</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This was an individual project, so I did all of the work myself, under Mr. Phiri's supervision. In numbers: four agile sprints plus a stabilisation period, eight modules, and 86 automated tests that all pass. It is live at zam-market-khaki.vercel.app. The app covers twenty-four Lusaka-area places.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About ten minutes of slides, following the report, then a four-minute live demonstration.</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Charcoal is the most common cooking fuel in urban Zambia: 44 percent of urban households cook mainly with it. It is sold informally and in cash. Buyers find sellers by walking and asking, and cannot judge a stranger; sellers cannot prove they are reliable. WhatsApp posts can be edited, and online shops build trust through online payment, which these traders do not use. My aim: a mobile web app for local discovery with a trust score that cannot be quietly edited. (About 1 minute.)</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Three layers. The phone runs the React app, which can cache data and queue messages offline. It talks to the Express API over REST and to the chat server over WebSockets. Only the server can write to the trust chain, which is stored in MongoDB.</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This is the core algorithm. Every event becomes a block whose hash covers the previous block's hash. When a profile is viewed, the server re-hashes everything and checks every link, and checks the last block against the hash stored on the seller. If anything was changed, the chain shows as broken. I chose a hash chain over a real blockchain because there is a single operator, so distributed consensus would add cost without benefit.</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Seven MongoDB collections. Two design decisions to point out: each trust block is its own document, with a unique index on seller and position so two simultaneous events cannot fork the chain; and the latest hash is also stored on the user, which lets us detect edits to the most recent block.</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Standard, free tools. I tested mobile behaviour and voice input on an Android phone in Chrome, because that is what most sellers would use.</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Eight modules. Most are standard for a marketplace. The two highlighted ones are what make ZamMarket different: voice input, and the trust chain.</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Five details I am proud of. One: a race condition. If two trust events arrived at the same moment, they could both claim the same position and fork the chain; a unique index plus a retry fixes that. Two: early on, every chain looked tampered, because MongoDB adds its own fields; I fixed that by re-hashing exactly what was originally hashed. Three: the voice parser understands spoken numbers.</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Some honest challenges. The most interesting: I found a security hole myself during polishing. Anyone could register as an administrator by sending the word 'admin' to the API. Now sign-up only allows buyer or seller, and administrators are created by a script. Deployment failed twice; I traced it to four causes, fixed all four, and the system is now live.</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These are system tests I ran on the live system with an Android phone on mobile data, plus B17, the most important automated test: editing the most recent trust block is caught by the hash stored on the seller. All 86 automated tests run on every push to GitHub. (About 1 minute.)</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The most important finding: you can give informal cash traders a verifiable reputation without online payment and without a real blockchain. Research questions 1 and 3 are answered largely yes; question 2 partly, because of the language limit.</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The limitations, honestly. The biggest is that there has been no user study. The trust chain is tamper-evident, not tamper-proof: someone with full database access could rebuild a whole chain. Anchoring the latest hash outside the database would fix that, and it is in my recommendations.</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Four of the five objectives are achieved; the fifth is partly achieved because the user study is still to be run, which is my first next step. Real SMS needs only a paid account and one setting. The main conclusion: a simple hash chain gives informal cash traders a verifiable reputation without online payment, and the system is live. Now I will show it. (About 1 minute.)</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DEMO SCRIPT (about 4 minutes). Two minutes before: open the Render /api/health link to wake the server, and keep Render Logs open for registration codes. Have two browser windows open before you start: a buyer logged in on one, the seller on the other (or a phone). 1) As buyer: Browse, tap Kanyama, set a price range. 2) As seller: New Listing, Voice, say 'Hardwood charcoal, ten bags, ninety five kwacha each, Kanyama'; show the fields, tap Use This, post. 3) As buyer: open the listing, Message Seller; reply as seller. Turn on airplane mode, send a message and post a listing with a photo; show both waiting (My Listings shows 'Waiting to post'); turn data back on and show both delivered. 4) As buyer: Rate Seller, 5 stars; open the trust page and show the new block. 5) In MongoDB Atlas, edit one trustchains document (change a rating type); refresh the trust page: the score turns into a red 'Record has been altered' warning. 6) As admin: open the Integrity tab; the same seller is flagged and the tab shows a red badge. Undo the edit in Atlas, run the check again and show it clear. Then open the Verify tab and verify a seller; their score rises by 15, and the action appears in the Activity tab. If anything fails, fall back to the screenshots.</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Thank you. I am happy to take questions.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panose="020B060402020202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7.xml"/><Relationship Id="rId1" Type="http://schemas.openxmlformats.org/officeDocument/2006/relationships/image" Target="../media/image3.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50000">
              <a:schemeClr val="accent3"/>
            </a:gs>
            <a:gs pos="0">
              <a:schemeClr val="accent3">
                <a:lumMod val="25000"/>
                <a:lumOff val="75000"/>
              </a:schemeClr>
            </a:gs>
            <a:gs pos="100000">
              <a:schemeClr val="accent3">
                <a:lumMod val="85000"/>
              </a:schemeClr>
            </a:gs>
          </a:gsLst>
          <a:lin ang="5400000" scaled="1"/>
        </a:gradFill>
        <a:effectLst/>
      </p:bgPr>
    </p:bg>
    <p:spTree>
      <p:nvGrpSpPr>
        <p:cNvPr id="1" name=""/>
        <p:cNvGrpSpPr/>
        <p:nvPr/>
      </p:nvGrpSpPr>
      <p:grpSpPr>
        <a:xfrm>
          <a:off x="0" y="0"/>
          <a:ext cx="0" cy="0"/>
          <a:chOff x="0" y="0"/>
          <a:chExt cx="0" cy="0"/>
        </a:xfrm>
      </p:grpSpPr>
      <p:sp>
        <p:nvSpPr>
          <p:cNvPr id="2" name="TextBox 1"/>
          <p:cNvSpPr txBox="1"/>
          <p:nvPr/>
        </p:nvSpPr>
        <p:spPr>
          <a:xfrm>
            <a:off x="4398010" y="245110"/>
            <a:ext cx="3365500" cy="1198880"/>
          </a:xfrm>
          <a:prstGeom prst="rect">
            <a:avLst/>
          </a:prstGeom>
          <a:noFill/>
        </p:spPr>
        <p:txBody>
          <a:bodyPr wrap="none">
            <a:spAutoFit/>
          </a:bodyPr>
          <a:lstStyle/>
          <a:p>
            <a:pPr algn="ctr">
              <a:lnSpc>
                <a:spcPct val="150000"/>
              </a:lnSpc>
              <a:defRPr sz="4000" b="1">
                <a:solidFill>
                  <a:srgbClr val="FFFFFF"/>
                </a:solidFill>
              </a:defRPr>
            </a:pPr>
            <a:r>
              <a:rPr sz="4800">
                <a:solidFill>
                  <a:schemeClr val="tx1"/>
                </a:solidFill>
                <a:latin typeface="Times New Roman" panose="02020603050405020304" charset="0"/>
                <a:cs typeface="Times New Roman" panose="02020603050405020304" charset="0"/>
              </a:rPr>
              <a:t>ZamMarket</a:t>
            </a:r>
            <a:endParaRPr sz="4800">
              <a:solidFill>
                <a:schemeClr val="tx1"/>
              </a:solidFill>
              <a:latin typeface="Times New Roman" panose="02020603050405020304" charset="0"/>
              <a:cs typeface="Times New Roman" panose="02020603050405020304" charset="0"/>
            </a:endParaRPr>
          </a:p>
        </p:txBody>
      </p:sp>
      <p:sp>
        <p:nvSpPr>
          <p:cNvPr id="3" name="TextBox 2"/>
          <p:cNvSpPr txBox="1"/>
          <p:nvPr/>
        </p:nvSpPr>
        <p:spPr>
          <a:xfrm>
            <a:off x="3647758" y="2967355"/>
            <a:ext cx="4866005" cy="3322955"/>
          </a:xfrm>
          <a:prstGeom prst="rect">
            <a:avLst/>
          </a:prstGeom>
          <a:noFill/>
        </p:spPr>
        <p:txBody>
          <a:bodyPr wrap="none">
            <a:spAutoFit/>
          </a:bodyPr>
          <a:lstStyle/>
          <a:p>
            <a:pPr algn="ctr">
              <a:lnSpc>
                <a:spcPct val="150000"/>
              </a:lnSpc>
              <a:defRPr sz="2000">
                <a:solidFill>
                  <a:srgbClr val="FFFFFF"/>
                </a:solidFill>
              </a:defRPr>
            </a:pPr>
            <a:r>
              <a:rPr b="1">
                <a:solidFill>
                  <a:schemeClr val="tx1"/>
                </a:solidFill>
                <a:latin typeface="Times New Roman" panose="02020603050405020304" charset="0"/>
                <a:cs typeface="Times New Roman" panose="02020603050405020304" charset="0"/>
              </a:rPr>
              <a:t>John Chola </a:t>
            </a:r>
            <a:endParaRPr b="1">
              <a:solidFill>
                <a:schemeClr val="tx1"/>
              </a:solidFill>
              <a:latin typeface="Times New Roman" panose="02020603050405020304" charset="0"/>
              <a:cs typeface="Times New Roman" panose="02020603050405020304" charset="0"/>
            </a:endParaRPr>
          </a:p>
          <a:p>
            <a:pPr algn="ctr">
              <a:lnSpc>
                <a:spcPct val="150000"/>
              </a:lnSpc>
              <a:defRPr sz="2000">
                <a:solidFill>
                  <a:srgbClr val="FFFFFF"/>
                </a:solidFill>
              </a:defRPr>
            </a:pPr>
            <a:r>
              <a:rPr b="1">
                <a:solidFill>
                  <a:schemeClr val="tx1"/>
                </a:solidFill>
                <a:latin typeface="Times New Roman" panose="02020603050405020304" charset="0"/>
                <a:cs typeface="Times New Roman" panose="02020603050405020304" charset="0"/>
              </a:rPr>
              <a:t> 2021422054</a:t>
            </a:r>
            <a:endParaRPr b="1">
              <a:solidFill>
                <a:schemeClr val="tx1"/>
              </a:solidFill>
              <a:latin typeface="Times New Roman" panose="02020603050405020304" charset="0"/>
              <a:cs typeface="Times New Roman" panose="02020603050405020304" charset="0"/>
            </a:endParaRPr>
          </a:p>
          <a:p>
            <a:pPr algn="ctr">
              <a:lnSpc>
                <a:spcPct val="150000"/>
              </a:lnSpc>
              <a:defRPr sz="2000">
                <a:solidFill>
                  <a:srgbClr val="FFFFFF"/>
                </a:solidFill>
              </a:defRPr>
            </a:pPr>
            <a:r>
              <a:rPr b="1">
                <a:solidFill>
                  <a:schemeClr val="tx1"/>
                </a:solidFill>
                <a:latin typeface="Times New Roman" panose="02020603050405020304" charset="0"/>
                <a:cs typeface="Times New Roman" panose="02020603050405020304" charset="0"/>
                <a:sym typeface="+mn-ea"/>
              </a:rPr>
              <a:t>Final Year Project Presentation</a:t>
            </a:r>
            <a:endParaRPr b="1">
              <a:solidFill>
                <a:schemeClr val="tx1"/>
              </a:solidFill>
              <a:latin typeface="Times New Roman" panose="02020603050405020304" charset="0"/>
              <a:cs typeface="Times New Roman" panose="02020603050405020304" charset="0"/>
            </a:endParaRPr>
          </a:p>
          <a:p>
            <a:pPr algn="ctr">
              <a:lnSpc>
                <a:spcPct val="150000"/>
              </a:lnSpc>
              <a:defRPr sz="2000">
                <a:solidFill>
                  <a:srgbClr val="FFFFFF"/>
                </a:solidFill>
              </a:defRPr>
            </a:pPr>
            <a:r>
              <a:rPr b="1">
                <a:solidFill>
                  <a:schemeClr val="tx1"/>
                </a:solidFill>
                <a:latin typeface="Times New Roman" panose="02020603050405020304" charset="0"/>
                <a:cs typeface="Times New Roman" panose="02020603050405020304" charset="0"/>
              </a:rPr>
              <a:t>University of Zambia</a:t>
            </a:r>
            <a:endParaRPr b="1">
              <a:solidFill>
                <a:schemeClr val="tx1"/>
              </a:solidFill>
              <a:latin typeface="Times New Roman" panose="02020603050405020304" charset="0"/>
              <a:cs typeface="Times New Roman" panose="02020603050405020304" charset="0"/>
            </a:endParaRPr>
          </a:p>
          <a:p>
            <a:pPr algn="ctr">
              <a:lnSpc>
                <a:spcPct val="150000"/>
              </a:lnSpc>
              <a:defRPr sz="2000">
                <a:solidFill>
                  <a:srgbClr val="FFFFFF"/>
                </a:solidFill>
              </a:defRPr>
            </a:pPr>
            <a:r>
              <a:rPr b="1">
                <a:solidFill>
                  <a:schemeClr val="tx1"/>
                </a:solidFill>
                <a:latin typeface="Times New Roman" panose="02020603050405020304" charset="0"/>
                <a:cs typeface="Times New Roman" panose="02020603050405020304" charset="0"/>
              </a:rPr>
              <a:t>School of Natural and Applied Sciences</a:t>
            </a:r>
            <a:endParaRPr b="1">
              <a:solidFill>
                <a:schemeClr val="tx1"/>
              </a:solidFill>
              <a:latin typeface="Times New Roman" panose="02020603050405020304" charset="0"/>
              <a:cs typeface="Times New Roman" panose="02020603050405020304" charset="0"/>
            </a:endParaRPr>
          </a:p>
          <a:p>
            <a:pPr algn="ctr">
              <a:lnSpc>
                <a:spcPct val="150000"/>
              </a:lnSpc>
              <a:defRPr sz="2000">
                <a:solidFill>
                  <a:srgbClr val="FFFFFF"/>
                </a:solidFill>
              </a:defRPr>
            </a:pPr>
            <a:r>
              <a:rPr b="1">
                <a:solidFill>
                  <a:schemeClr val="tx1"/>
                </a:solidFill>
                <a:latin typeface="Times New Roman" panose="02020603050405020304" charset="0"/>
                <a:cs typeface="Times New Roman" panose="02020603050405020304" charset="0"/>
              </a:rPr>
              <a:t>Department of Computing and Informatics</a:t>
            </a:r>
            <a:endParaRPr b="1">
              <a:solidFill>
                <a:schemeClr val="tx1"/>
              </a:solidFill>
              <a:latin typeface="Times New Roman" panose="02020603050405020304" charset="0"/>
              <a:cs typeface="Times New Roman" panose="02020603050405020304" charset="0"/>
            </a:endParaRPr>
          </a:p>
          <a:p>
            <a:pPr algn="ctr">
              <a:lnSpc>
                <a:spcPct val="150000"/>
              </a:lnSpc>
              <a:defRPr sz="2000">
                <a:solidFill>
                  <a:srgbClr val="FFFFFF"/>
                </a:solidFill>
              </a:defRPr>
            </a:pPr>
            <a:r>
              <a:rPr b="1">
                <a:solidFill>
                  <a:schemeClr val="tx1"/>
                </a:solidFill>
                <a:latin typeface="Times New Roman" panose="02020603050405020304" charset="0"/>
                <a:cs typeface="Times New Roman" panose="02020603050405020304" charset="0"/>
              </a:rPr>
              <a:t>2026</a:t>
            </a:r>
            <a:endParaRPr b="1">
              <a:solidFill>
                <a:schemeClr val="tx1"/>
              </a:solidFill>
              <a:latin typeface="Times New Roman" panose="02020603050405020304" charset="0"/>
              <a:cs typeface="Times New Roman" panose="02020603050405020304" charset="0"/>
            </a:endParaRPr>
          </a:p>
        </p:txBody>
      </p:sp>
      <p:sp>
        <p:nvSpPr>
          <p:cNvPr id="4" name="Rectangle 3"/>
          <p:cNvSpPr/>
          <p:nvPr/>
        </p:nvSpPr>
        <p:spPr>
          <a:xfrm>
            <a:off x="0" y="6565392"/>
            <a:ext cx="12191695" cy="292608"/>
          </a:xfrm>
          <a:prstGeom prst="rect">
            <a:avLst/>
          </a:prstGeom>
          <a:solidFill>
            <a:schemeClr val="accent3">
              <a:lumMod val="5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20040" y="6574536"/>
            <a:ext cx="2512060" cy="299085"/>
          </a:xfrm>
          <a:prstGeom prst="rect">
            <a:avLst/>
          </a:prstGeom>
          <a:gradFill>
            <a:gsLst>
              <a:gs pos="50000">
                <a:schemeClr val="accent2"/>
              </a:gs>
              <a:gs pos="0">
                <a:schemeClr val="accent2">
                  <a:lumMod val="25000"/>
                  <a:lumOff val="75000"/>
                </a:schemeClr>
              </a:gs>
              <a:gs pos="100000">
                <a:schemeClr val="accent2">
                  <a:lumMod val="85000"/>
                </a:schemeClr>
              </a:gs>
            </a:gsLst>
            <a:lin ang="5400000" scaled="1"/>
          </a:gradFill>
        </p:spPr>
        <p:txBody>
          <a:bodyPr wrap="none">
            <a:spAutoFit/>
          </a:bodyPr>
          <a:lstStyle/>
          <a:p>
            <a:pPr>
              <a:lnSpc>
                <a:spcPct val="150000"/>
              </a:lnSpc>
              <a:defRPr sz="900">
                <a:solidFill>
                  <a:srgbClr val="FFFFFF"/>
                </a:solidFill>
              </a:defRPr>
            </a:pPr>
            <a:r>
              <a:rPr b="1">
                <a:solidFill>
                  <a:schemeClr val="tx1"/>
                </a:solidFill>
                <a:latin typeface="Times New Roman" panose="02020603050405020304" charset="0"/>
                <a:cs typeface="Times New Roman" panose="02020603050405020304" charset="0"/>
              </a:rPr>
              <a:t>Final Year Project • Academic Year 2026         1</a:t>
            </a:r>
            <a:endParaRPr b="1">
              <a:solidFill>
                <a:schemeClr val="tx1"/>
              </a:solidFill>
              <a:latin typeface="Times New Roman" panose="02020603050405020304" charset="0"/>
              <a:cs typeface="Times New Roman" panose="02020603050405020304" charset="0"/>
            </a:endParaRPr>
          </a:p>
        </p:txBody>
      </p:sp>
      <p:sp>
        <p:nvSpPr>
          <p:cNvPr id="6" name="Subtitle"/>
          <p:cNvSpPr txBox="1"/>
          <p:nvPr/>
        </p:nvSpPr>
        <p:spPr>
          <a:xfrm>
            <a:off x="1198880" y="1443990"/>
            <a:ext cx="9966960" cy="700405"/>
          </a:xfrm>
          <a:prstGeom prst="rect">
            <a:avLst/>
          </a:prstGeom>
          <a:noFill/>
        </p:spPr>
        <p:txBody>
          <a:bodyPr wrap="square" lIns="45720" tIns="27432" rIns="45720" bIns="27432" anchor="t">
            <a:spAutoFit/>
          </a:bodyPr>
          <a:lstStyle/>
          <a:p>
            <a:pPr algn="ctr">
              <a:lnSpc>
                <a:spcPct val="150000"/>
              </a:lnSpc>
              <a:spcAft>
                <a:spcPts val="600"/>
              </a:spcAft>
            </a:pPr>
            <a:r>
              <a:rPr sz="2800" b="1" i="0">
                <a:solidFill>
                  <a:schemeClr val="tx1"/>
                </a:solidFill>
                <a:latin typeface="Times New Roman" panose="02020603050405020304" charset="0"/>
                <a:cs typeface="Times New Roman" panose="02020603050405020304" charset="0"/>
              </a:rPr>
              <a:t>A Progressive Web App for Local Charcoal Trading in Lusaka</a:t>
            </a:r>
            <a:endParaRPr sz="2800" b="1" i="0">
              <a:solidFill>
                <a:schemeClr val="tx1"/>
              </a:solidFill>
              <a:latin typeface="Times New Roman" panose="02020603050405020304" charset="0"/>
              <a:cs typeface="Times New Roman" panose="0202060305040502030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a:gsLst>
            <a:gs pos="50000">
              <a:schemeClr val="accent3"/>
            </a:gs>
            <a:gs pos="0">
              <a:schemeClr val="accent3">
                <a:lumMod val="25000"/>
                <a:lumOff val="75000"/>
              </a:schemeClr>
            </a:gs>
            <a:gs pos="100000">
              <a:schemeClr val="accent3">
                <a:lumMod val="85000"/>
              </a:schemeClr>
            </a:gs>
          </a:gsLst>
          <a:lin ang="5400000" scaled="1"/>
        </a:gradFill>
        <a:effectLst/>
      </p:bgPr>
    </p:bg>
    <p:spTree>
      <p:nvGrpSpPr>
        <p:cNvPr id="1" name=""/>
        <p:cNvGrpSpPr/>
        <p:nvPr/>
      </p:nvGrpSpPr>
      <p:grpSpPr>
        <a:xfrm>
          <a:off x="0" y="0"/>
          <a:ext cx="0" cy="0"/>
          <a:chOff x="0" y="0"/>
          <a:chExt cx="0" cy="0"/>
        </a:xfrm>
      </p:grpSpPr>
      <p:sp>
        <p:nvSpPr>
          <p:cNvPr id="2" name="TextBox 1"/>
          <p:cNvSpPr txBox="1"/>
          <p:nvPr/>
        </p:nvSpPr>
        <p:spPr>
          <a:xfrm>
            <a:off x="2506663" y="131445"/>
            <a:ext cx="7148195" cy="1014730"/>
          </a:xfrm>
          <a:prstGeom prst="rect">
            <a:avLst/>
          </a:prstGeom>
          <a:noFill/>
        </p:spPr>
        <p:txBody>
          <a:bodyPr wrap="none">
            <a:spAutoFit/>
          </a:bodyPr>
          <a:lstStyle/>
          <a:p>
            <a:pPr algn="ctr">
              <a:lnSpc>
                <a:spcPct val="150000"/>
              </a:lnSpc>
              <a:defRPr sz="2800" b="1">
                <a:solidFill>
                  <a:srgbClr val="192D4B"/>
                </a:solidFill>
              </a:defRPr>
            </a:pPr>
            <a:r>
              <a:rPr sz="4000">
                <a:solidFill>
                  <a:schemeClr val="tx1"/>
                </a:solidFill>
                <a:latin typeface="Times New Roman" panose="02020603050405020304" charset="0"/>
                <a:cs typeface="Times New Roman" panose="02020603050405020304" charset="0"/>
              </a:rPr>
              <a:t>Team Roles and Responsibilities</a:t>
            </a:r>
            <a:endParaRPr sz="4000">
              <a:solidFill>
                <a:schemeClr val="tx1"/>
              </a:solidFill>
              <a:latin typeface="Times New Roman" panose="02020603050405020304" charset="0"/>
              <a:cs typeface="Times New Roman" panose="02020603050405020304" charset="0"/>
            </a:endParaRPr>
          </a:p>
        </p:txBody>
      </p:sp>
      <p:graphicFrame>
        <p:nvGraphicFramePr>
          <p:cNvPr id="3" name="Table 2"/>
          <p:cNvGraphicFramePr>
            <a:graphicFrameLocks noGrp="1"/>
          </p:cNvGraphicFramePr>
          <p:nvPr/>
        </p:nvGraphicFramePr>
        <p:xfrm>
          <a:off x="731520" y="1234440"/>
          <a:ext cx="10698480" cy="1463040"/>
        </p:xfrm>
        <a:graphic>
          <a:graphicData uri="http://schemas.openxmlformats.org/drawingml/2006/table">
            <a:tbl>
              <a:tblPr firstRow="1" bandRow="1">
                <a:tableStyleId>{5C22544A-7EE6-4342-B048-85BDC9FD1C3A}</a:tableStyleId>
              </a:tblPr>
              <a:tblGrid>
                <a:gridCol w="3017520"/>
                <a:gridCol w="2194560"/>
                <a:gridCol w="5486400"/>
              </a:tblGrid>
              <a:tr h="731520">
                <a:tc>
                  <a:txBody>
                    <a:bodyPr/>
                    <a:lstStyle/>
                    <a:p>
                      <a:pPr>
                        <a:lnSpc>
                          <a:spcPct val="150000"/>
                        </a:lnSpc>
                        <a:defRPr sz="1400" b="1">
                          <a:solidFill>
                            <a:srgbClr val="FFFFFF"/>
                          </a:solidFill>
                        </a:defRPr>
                      </a:pPr>
                      <a:r>
                        <a:rPr sz="1800">
                          <a:solidFill>
                            <a:schemeClr val="tx1"/>
                          </a:solidFill>
                          <a:latin typeface="Times New Roman" panose="02020603050405020304" charset="0"/>
                          <a:cs typeface="Times New Roman" panose="02020603050405020304" charset="0"/>
                        </a:rPr>
                        <a:t>Member</a:t>
                      </a:r>
                      <a:endParaRPr sz="1800">
                        <a:solidFill>
                          <a:schemeClr val="tx1"/>
                        </a:solidFill>
                        <a:latin typeface="Times New Roman" panose="02020603050405020304" charset="0"/>
                        <a:cs typeface="Times New Roman" panose="02020603050405020304" charset="0"/>
                      </a:endParaRPr>
                    </a:p>
                  </a:txBody>
                  <a:tcPr>
                    <a:solidFill>
                      <a:schemeClr val="accent3">
                        <a:lumMod val="40000"/>
                        <a:lumOff val="60000"/>
                      </a:schemeClr>
                    </a:solidFill>
                  </a:tcPr>
                </a:tc>
                <a:tc>
                  <a:txBody>
                    <a:bodyPr/>
                    <a:lstStyle/>
                    <a:p>
                      <a:pPr>
                        <a:lnSpc>
                          <a:spcPct val="150000"/>
                        </a:lnSpc>
                        <a:defRPr sz="1400" b="1">
                          <a:solidFill>
                            <a:srgbClr val="FFFFFF"/>
                          </a:solidFill>
                        </a:defRPr>
                      </a:pPr>
                      <a:r>
                        <a:rPr sz="1800">
                          <a:solidFill>
                            <a:schemeClr val="tx1"/>
                          </a:solidFill>
                          <a:latin typeface="Times New Roman" panose="02020603050405020304" charset="0"/>
                          <a:cs typeface="Times New Roman" panose="02020603050405020304" charset="0"/>
                        </a:rPr>
                        <a:t>Computer No.</a:t>
                      </a:r>
                      <a:endParaRPr sz="1800">
                        <a:solidFill>
                          <a:schemeClr val="tx1"/>
                        </a:solidFill>
                        <a:latin typeface="Times New Roman" panose="02020603050405020304" charset="0"/>
                        <a:cs typeface="Times New Roman" panose="02020603050405020304" charset="0"/>
                      </a:endParaRPr>
                    </a:p>
                  </a:txBody>
                  <a:tcPr>
                    <a:solidFill>
                      <a:schemeClr val="accent3">
                        <a:lumMod val="40000"/>
                        <a:lumOff val="60000"/>
                      </a:schemeClr>
                    </a:solidFill>
                  </a:tcPr>
                </a:tc>
                <a:tc>
                  <a:txBody>
                    <a:bodyPr/>
                    <a:lstStyle/>
                    <a:p>
                      <a:pPr>
                        <a:lnSpc>
                          <a:spcPct val="150000"/>
                        </a:lnSpc>
                        <a:defRPr sz="1400" b="1">
                          <a:solidFill>
                            <a:srgbClr val="FFFFFF"/>
                          </a:solidFill>
                        </a:defRPr>
                      </a:pPr>
                      <a:r>
                        <a:rPr sz="1800">
                          <a:solidFill>
                            <a:schemeClr val="tx1"/>
                          </a:solidFill>
                          <a:latin typeface="Times New Roman" panose="02020603050405020304" charset="0"/>
                          <a:cs typeface="Times New Roman" panose="02020603050405020304" charset="0"/>
                        </a:rPr>
                        <a:t>Primary Role / Responsibilities</a:t>
                      </a:r>
                      <a:endParaRPr sz="1800">
                        <a:solidFill>
                          <a:schemeClr val="tx1"/>
                        </a:solidFill>
                        <a:latin typeface="Times New Roman" panose="02020603050405020304" charset="0"/>
                        <a:cs typeface="Times New Roman" panose="02020603050405020304" charset="0"/>
                      </a:endParaRPr>
                    </a:p>
                  </a:txBody>
                  <a:tcPr>
                    <a:solidFill>
                      <a:schemeClr val="accent3">
                        <a:lumMod val="40000"/>
                        <a:lumOff val="60000"/>
                      </a:schemeClr>
                    </a:solidFill>
                  </a:tcPr>
                </a:tc>
              </a:tr>
              <a:tr h="731520">
                <a:tc>
                  <a:txBody>
                    <a:bodyPr/>
                    <a:lstStyle/>
                    <a:p>
                      <a:pPr>
                        <a:lnSpc>
                          <a:spcPct val="150000"/>
                        </a:lnSpc>
                        <a:defRPr sz="1300">
                          <a:solidFill>
                            <a:srgbClr val="232323"/>
                          </a:solidFill>
                        </a:defRPr>
                      </a:pPr>
                      <a:r>
                        <a:rPr sz="1600" b="1">
                          <a:latin typeface="Times New Roman" panose="02020603050405020304" charset="0"/>
                          <a:cs typeface="Times New Roman" panose="02020603050405020304" charset="0"/>
                        </a:rPr>
                        <a:t>John Chola</a:t>
                      </a:r>
                      <a:endParaRPr sz="1600" b="1">
                        <a:latin typeface="Times New Roman" panose="02020603050405020304" charset="0"/>
                        <a:cs typeface="Times New Roman" panose="02020603050405020304" charset="0"/>
                      </a:endParaRPr>
                    </a:p>
                  </a:txBody>
                  <a:tcPr>
                    <a:solidFill>
                      <a:schemeClr val="accent3">
                        <a:lumMod val="20000"/>
                        <a:lumOff val="80000"/>
                      </a:schemeClr>
                    </a:solidFill>
                  </a:tcPr>
                </a:tc>
                <a:tc>
                  <a:txBody>
                    <a:bodyPr/>
                    <a:lstStyle/>
                    <a:p>
                      <a:pPr>
                        <a:lnSpc>
                          <a:spcPct val="150000"/>
                        </a:lnSpc>
                        <a:defRPr sz="1300">
                          <a:solidFill>
                            <a:srgbClr val="232323"/>
                          </a:solidFill>
                        </a:defRPr>
                      </a:pPr>
                      <a:r>
                        <a:rPr sz="1600" b="1">
                          <a:latin typeface="Times New Roman" panose="02020603050405020304" charset="0"/>
                          <a:cs typeface="Times New Roman" panose="02020603050405020304" charset="0"/>
                        </a:rPr>
                        <a:t>2021422054</a:t>
                      </a:r>
                      <a:endParaRPr sz="1600" b="1">
                        <a:latin typeface="Times New Roman" panose="02020603050405020304" charset="0"/>
                        <a:cs typeface="Times New Roman" panose="02020603050405020304" charset="0"/>
                      </a:endParaRPr>
                    </a:p>
                  </a:txBody>
                  <a:tcPr>
                    <a:solidFill>
                      <a:schemeClr val="accent3">
                        <a:lumMod val="20000"/>
                        <a:lumOff val="80000"/>
                      </a:schemeClr>
                    </a:solidFill>
                  </a:tcPr>
                </a:tc>
                <a:tc>
                  <a:txBody>
                    <a:bodyPr/>
                    <a:lstStyle/>
                    <a:p>
                      <a:pPr>
                        <a:lnSpc>
                          <a:spcPct val="150000"/>
                        </a:lnSpc>
                        <a:defRPr sz="1300">
                          <a:solidFill>
                            <a:srgbClr val="232323"/>
                          </a:solidFill>
                        </a:defRPr>
                      </a:pPr>
                      <a:r>
                        <a:rPr sz="1600" b="1">
                          <a:latin typeface="Times New Roman" panose="02020603050405020304" charset="0"/>
                          <a:cs typeface="Times New Roman" panose="02020603050405020304" charset="0"/>
                        </a:rPr>
                        <a:t>Sole developer: requirements, literature review, design, full-stack implementation, testing and report</a:t>
                      </a:r>
                      <a:endParaRPr sz="1600" b="1">
                        <a:latin typeface="Times New Roman" panose="02020603050405020304" charset="0"/>
                        <a:cs typeface="Times New Roman" panose="02020603050405020304" charset="0"/>
                      </a:endParaRPr>
                    </a:p>
                  </a:txBody>
                  <a:tcPr>
                    <a:solidFill>
                      <a:schemeClr val="accent3">
                        <a:lumMod val="20000"/>
                        <a:lumOff val="80000"/>
                      </a:schemeClr>
                    </a:solidFill>
                  </a:tcPr>
                </a:tc>
              </a:tr>
            </a:tbl>
          </a:graphicData>
        </a:graphic>
      </p:graphicFrame>
      <p:sp>
        <p:nvSpPr>
          <p:cNvPr id="4" name="TextBox 3"/>
          <p:cNvSpPr txBox="1"/>
          <p:nvPr/>
        </p:nvSpPr>
        <p:spPr>
          <a:xfrm>
            <a:off x="777240" y="5577840"/>
            <a:ext cx="5001895" cy="506730"/>
          </a:xfrm>
          <a:prstGeom prst="rect">
            <a:avLst/>
          </a:prstGeom>
          <a:noFill/>
        </p:spPr>
        <p:txBody>
          <a:bodyPr wrap="none">
            <a:spAutoFit/>
          </a:bodyPr>
          <a:lstStyle/>
          <a:p>
            <a:pPr>
              <a:lnSpc>
                <a:spcPct val="150000"/>
              </a:lnSpc>
              <a:defRPr sz="1500" b="1">
                <a:solidFill>
                  <a:srgbClr val="192D4B"/>
                </a:solidFill>
              </a:defRPr>
            </a:pPr>
            <a:r>
              <a:rPr sz="1800">
                <a:solidFill>
                  <a:schemeClr val="tx1"/>
                </a:solidFill>
                <a:latin typeface="Times New Roman" panose="02020603050405020304" charset="0"/>
                <a:cs typeface="Times New Roman" panose="02020603050405020304" charset="0"/>
              </a:rPr>
              <a:t>Supervisor: Mr. Martin Phiri · Individual project</a:t>
            </a:r>
            <a:endParaRPr sz="1800">
              <a:solidFill>
                <a:schemeClr val="tx1"/>
              </a:solidFill>
              <a:latin typeface="Times New Roman" panose="02020603050405020304" charset="0"/>
              <a:cs typeface="Times New Roman" panose="02020603050405020304" charset="0"/>
            </a:endParaRPr>
          </a:p>
        </p:txBody>
      </p:sp>
      <p:sp>
        <p:nvSpPr>
          <p:cNvPr id="5" name="Rectangle 4"/>
          <p:cNvSpPr/>
          <p:nvPr/>
        </p:nvSpPr>
        <p:spPr>
          <a:xfrm>
            <a:off x="0" y="6565392"/>
            <a:ext cx="12191695" cy="292608"/>
          </a:xfrm>
          <a:prstGeom prst="rect">
            <a:avLst/>
          </a:prstGeom>
          <a:solidFill>
            <a:schemeClr val="accent3">
              <a:lumMod val="5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50000"/>
              </a:lnSpc>
            </a:pPr>
            <a:endParaRPr>
              <a:solidFill>
                <a:schemeClr val="tx1"/>
              </a:solidFill>
              <a:latin typeface="Times New Roman" panose="02020603050405020304" charset="0"/>
              <a:cs typeface="Times New Roman" panose="02020603050405020304" charset="0"/>
            </a:endParaRPr>
          </a:p>
        </p:txBody>
      </p:sp>
      <p:sp>
        <p:nvSpPr>
          <p:cNvPr id="6" name="TextBox 5"/>
          <p:cNvSpPr txBox="1"/>
          <p:nvPr/>
        </p:nvSpPr>
        <p:spPr>
          <a:xfrm>
            <a:off x="320040" y="6574536"/>
            <a:ext cx="2454910" cy="299085"/>
          </a:xfrm>
          <a:prstGeom prst="rect">
            <a:avLst/>
          </a:prstGeom>
          <a:gradFill>
            <a:gsLst>
              <a:gs pos="50000">
                <a:schemeClr val="accent2"/>
              </a:gs>
              <a:gs pos="0">
                <a:schemeClr val="accent2">
                  <a:lumMod val="25000"/>
                  <a:lumOff val="75000"/>
                </a:schemeClr>
              </a:gs>
              <a:gs pos="100000">
                <a:schemeClr val="accent2">
                  <a:lumMod val="85000"/>
                </a:schemeClr>
              </a:gs>
            </a:gsLst>
            <a:lin ang="5400000" scaled="1"/>
          </a:gradFill>
        </p:spPr>
        <p:txBody>
          <a:bodyPr wrap="none">
            <a:spAutoFit/>
          </a:bodyPr>
          <a:lstStyle/>
          <a:p>
            <a:pPr>
              <a:lnSpc>
                <a:spcPct val="150000"/>
              </a:lnSpc>
              <a:defRPr sz="900">
                <a:solidFill>
                  <a:srgbClr val="FFFFFF"/>
                </a:solidFill>
              </a:defRPr>
            </a:pPr>
            <a:r>
              <a:rPr b="1">
                <a:solidFill>
                  <a:schemeClr val="tx1"/>
                </a:solidFill>
                <a:latin typeface="Times New Roman" panose="02020603050405020304" charset="0"/>
                <a:cs typeface="Times New Roman" panose="02020603050405020304" charset="0"/>
              </a:rPr>
              <a:t>Final Year Project • Academic Year 2026       2</a:t>
            </a:r>
            <a:endParaRPr b="1">
              <a:solidFill>
                <a:schemeClr val="tx1"/>
              </a:solidFill>
              <a:latin typeface="Times New Roman" panose="02020603050405020304" charset="0"/>
              <a:cs typeface="Times New Roman" panose="02020603050405020304" charset="0"/>
            </a:endParaRPr>
          </a:p>
        </p:txBody>
      </p:sp>
      <p:sp>
        <p:nvSpPr>
          <p:cNvPr id="7" name="Rounded Rectangle 6"/>
          <p:cNvSpPr/>
          <p:nvPr/>
        </p:nvSpPr>
        <p:spPr>
          <a:xfrm>
            <a:off x="731520" y="3291840"/>
            <a:ext cx="2468880" cy="1828800"/>
          </a:xfrm>
          <a:prstGeom prst="roundRect">
            <a:avLst>
              <a:gd name="adj" fmla="val 8000"/>
            </a:avLst>
          </a:prstGeom>
          <a:solidFill>
            <a:schemeClr val="accent3">
              <a:lumMod val="40000"/>
              <a:lumOff val="6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50000"/>
              </a:lnSpc>
            </a:pPr>
            <a:endParaRPr>
              <a:solidFill>
                <a:schemeClr val="tx1"/>
              </a:solidFill>
              <a:latin typeface="Times New Roman" panose="02020603050405020304" charset="0"/>
              <a:cs typeface="Times New Roman" panose="02020603050405020304" charset="0"/>
            </a:endParaRPr>
          </a:p>
        </p:txBody>
      </p:sp>
      <p:sp>
        <p:nvSpPr>
          <p:cNvPr id="8" name="TextBox 7"/>
          <p:cNvSpPr txBox="1"/>
          <p:nvPr/>
        </p:nvSpPr>
        <p:spPr>
          <a:xfrm>
            <a:off x="731520" y="3474720"/>
            <a:ext cx="2468880" cy="700405"/>
          </a:xfrm>
          <a:prstGeom prst="rect">
            <a:avLst/>
          </a:prstGeom>
          <a:noFill/>
        </p:spPr>
        <p:txBody>
          <a:bodyPr wrap="square" lIns="45720" tIns="27432" rIns="45720" bIns="27432" anchor="t">
            <a:spAutoFit/>
          </a:bodyPr>
          <a:lstStyle/>
          <a:p>
            <a:pPr algn="ctr">
              <a:lnSpc>
                <a:spcPct val="150000"/>
              </a:lnSpc>
              <a:spcAft>
                <a:spcPts val="0"/>
              </a:spcAft>
            </a:pPr>
            <a:r>
              <a:rPr sz="2800" b="1" i="0">
                <a:solidFill>
                  <a:schemeClr val="tx1"/>
                </a:solidFill>
                <a:latin typeface="Times New Roman" panose="02020603050405020304" charset="0"/>
                <a:cs typeface="Times New Roman" panose="02020603050405020304" charset="0"/>
              </a:rPr>
              <a:t>4</a:t>
            </a:r>
            <a:endParaRPr sz="2800" b="1" i="0">
              <a:solidFill>
                <a:schemeClr val="tx1"/>
              </a:solidFill>
              <a:latin typeface="Times New Roman" panose="02020603050405020304" charset="0"/>
              <a:cs typeface="Times New Roman" panose="02020603050405020304" charset="0"/>
            </a:endParaRPr>
          </a:p>
        </p:txBody>
      </p:sp>
      <p:sp>
        <p:nvSpPr>
          <p:cNvPr id="9" name="TextBox 8"/>
          <p:cNvSpPr txBox="1"/>
          <p:nvPr/>
        </p:nvSpPr>
        <p:spPr>
          <a:xfrm>
            <a:off x="868680" y="4389120"/>
            <a:ext cx="2194560" cy="793115"/>
          </a:xfrm>
          <a:prstGeom prst="rect">
            <a:avLst/>
          </a:prstGeom>
          <a:noFill/>
        </p:spPr>
        <p:txBody>
          <a:bodyPr wrap="square" lIns="45720" tIns="27432" rIns="45720" bIns="27432" anchor="t">
            <a:spAutoFit/>
          </a:bodyPr>
          <a:lstStyle/>
          <a:p>
            <a:pPr algn="ctr">
              <a:lnSpc>
                <a:spcPct val="150000"/>
              </a:lnSpc>
              <a:spcAft>
                <a:spcPts val="0"/>
              </a:spcAft>
            </a:pPr>
            <a:r>
              <a:rPr sz="1600" b="1" i="0">
                <a:solidFill>
                  <a:schemeClr val="tx1"/>
                </a:solidFill>
                <a:latin typeface="Times New Roman" panose="02020603050405020304" charset="0"/>
                <a:cs typeface="Times New Roman" panose="02020603050405020304" charset="0"/>
              </a:rPr>
              <a:t>agile sprints + a
stabilisation period</a:t>
            </a:r>
            <a:endParaRPr sz="1600" b="1" i="0">
              <a:solidFill>
                <a:schemeClr val="tx1"/>
              </a:solidFill>
              <a:latin typeface="Times New Roman" panose="02020603050405020304" charset="0"/>
              <a:cs typeface="Times New Roman" panose="02020603050405020304" charset="0"/>
            </a:endParaRPr>
          </a:p>
        </p:txBody>
      </p:sp>
      <p:sp>
        <p:nvSpPr>
          <p:cNvPr id="10" name="Rounded Rectangle 9"/>
          <p:cNvSpPr/>
          <p:nvPr/>
        </p:nvSpPr>
        <p:spPr>
          <a:xfrm>
            <a:off x="3474720" y="3291840"/>
            <a:ext cx="2468880" cy="1828800"/>
          </a:xfrm>
          <a:prstGeom prst="roundRect">
            <a:avLst>
              <a:gd name="adj" fmla="val 8000"/>
            </a:avLst>
          </a:prstGeom>
          <a:solidFill>
            <a:schemeClr val="accent3">
              <a:lumMod val="40000"/>
              <a:lumOff val="6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50000"/>
              </a:lnSpc>
            </a:pPr>
            <a:endParaRPr>
              <a:solidFill>
                <a:schemeClr val="tx1"/>
              </a:solidFill>
              <a:latin typeface="Times New Roman" panose="02020603050405020304" charset="0"/>
              <a:cs typeface="Times New Roman" panose="02020603050405020304" charset="0"/>
            </a:endParaRPr>
          </a:p>
        </p:txBody>
      </p:sp>
      <p:sp>
        <p:nvSpPr>
          <p:cNvPr id="11" name="TextBox 10"/>
          <p:cNvSpPr txBox="1"/>
          <p:nvPr/>
        </p:nvSpPr>
        <p:spPr>
          <a:xfrm>
            <a:off x="3474720" y="3474720"/>
            <a:ext cx="2468880" cy="700405"/>
          </a:xfrm>
          <a:prstGeom prst="rect">
            <a:avLst/>
          </a:prstGeom>
          <a:noFill/>
        </p:spPr>
        <p:txBody>
          <a:bodyPr wrap="square" lIns="45720" tIns="27432" rIns="45720" bIns="27432" anchor="t">
            <a:spAutoFit/>
          </a:bodyPr>
          <a:lstStyle/>
          <a:p>
            <a:pPr algn="ctr">
              <a:lnSpc>
                <a:spcPct val="150000"/>
              </a:lnSpc>
              <a:spcAft>
                <a:spcPts val="0"/>
              </a:spcAft>
            </a:pPr>
            <a:r>
              <a:rPr sz="2800" b="1" i="0">
                <a:solidFill>
                  <a:schemeClr val="tx1"/>
                </a:solidFill>
                <a:latin typeface="Times New Roman" panose="02020603050405020304" charset="0"/>
                <a:cs typeface="Times New Roman" panose="02020603050405020304" charset="0"/>
              </a:rPr>
              <a:t>8</a:t>
            </a:r>
            <a:endParaRPr sz="2800" b="1" i="0">
              <a:solidFill>
                <a:schemeClr val="tx1"/>
              </a:solidFill>
              <a:latin typeface="Times New Roman" panose="02020603050405020304" charset="0"/>
              <a:cs typeface="Times New Roman" panose="02020603050405020304" charset="0"/>
            </a:endParaRPr>
          </a:p>
        </p:txBody>
      </p:sp>
      <p:sp>
        <p:nvSpPr>
          <p:cNvPr id="12" name="TextBox 11"/>
          <p:cNvSpPr txBox="1"/>
          <p:nvPr/>
        </p:nvSpPr>
        <p:spPr>
          <a:xfrm>
            <a:off x="3611879" y="4389120"/>
            <a:ext cx="2194560" cy="469900"/>
          </a:xfrm>
          <a:prstGeom prst="rect">
            <a:avLst/>
          </a:prstGeom>
          <a:noFill/>
        </p:spPr>
        <p:txBody>
          <a:bodyPr wrap="square" lIns="45720" tIns="27432" rIns="45720" bIns="27432" anchor="t">
            <a:spAutoFit/>
          </a:bodyPr>
          <a:lstStyle/>
          <a:p>
            <a:pPr algn="ctr">
              <a:lnSpc>
                <a:spcPct val="150000"/>
              </a:lnSpc>
              <a:spcAft>
                <a:spcPts val="0"/>
              </a:spcAft>
            </a:pPr>
            <a:r>
              <a:rPr b="1" i="0">
                <a:solidFill>
                  <a:schemeClr val="tx1"/>
                </a:solidFill>
                <a:latin typeface="Times New Roman" panose="02020603050405020304" charset="0"/>
                <a:cs typeface="Times New Roman" panose="02020603050405020304" charset="0"/>
              </a:rPr>
              <a:t>system modules</a:t>
            </a:r>
            <a:endParaRPr b="1" i="0">
              <a:solidFill>
                <a:schemeClr val="tx1"/>
              </a:solidFill>
              <a:latin typeface="Times New Roman" panose="02020603050405020304" charset="0"/>
              <a:cs typeface="Times New Roman" panose="02020603050405020304" charset="0"/>
            </a:endParaRPr>
          </a:p>
        </p:txBody>
      </p:sp>
      <p:sp>
        <p:nvSpPr>
          <p:cNvPr id="13" name="Rounded Rectangle 12"/>
          <p:cNvSpPr/>
          <p:nvPr/>
        </p:nvSpPr>
        <p:spPr>
          <a:xfrm>
            <a:off x="6217920" y="3291840"/>
            <a:ext cx="2468880" cy="1828800"/>
          </a:xfrm>
          <a:prstGeom prst="roundRect">
            <a:avLst>
              <a:gd name="adj" fmla="val 8000"/>
            </a:avLst>
          </a:prstGeom>
          <a:solidFill>
            <a:schemeClr val="accent3">
              <a:lumMod val="40000"/>
              <a:lumOff val="6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50000"/>
              </a:lnSpc>
            </a:pPr>
            <a:endParaRPr>
              <a:solidFill>
                <a:schemeClr val="tx1"/>
              </a:solidFill>
              <a:latin typeface="Times New Roman" panose="02020603050405020304" charset="0"/>
              <a:cs typeface="Times New Roman" panose="02020603050405020304" charset="0"/>
            </a:endParaRPr>
          </a:p>
        </p:txBody>
      </p:sp>
      <p:sp>
        <p:nvSpPr>
          <p:cNvPr id="14" name="TextBox 13"/>
          <p:cNvSpPr txBox="1"/>
          <p:nvPr/>
        </p:nvSpPr>
        <p:spPr>
          <a:xfrm>
            <a:off x="6217920" y="3474720"/>
            <a:ext cx="2468880" cy="700405"/>
          </a:xfrm>
          <a:prstGeom prst="rect">
            <a:avLst/>
          </a:prstGeom>
          <a:noFill/>
        </p:spPr>
        <p:txBody>
          <a:bodyPr wrap="square" lIns="45720" tIns="27432" rIns="45720" bIns="27432" anchor="t">
            <a:spAutoFit/>
          </a:bodyPr>
          <a:lstStyle/>
          <a:p>
            <a:pPr algn="ctr">
              <a:lnSpc>
                <a:spcPct val="150000"/>
              </a:lnSpc>
              <a:spcAft>
                <a:spcPts val="0"/>
              </a:spcAft>
            </a:pPr>
            <a:r>
              <a:rPr sz="2800" b="1" i="0">
                <a:solidFill>
                  <a:schemeClr val="tx1"/>
                </a:solidFill>
                <a:latin typeface="Times New Roman" panose="02020603050405020304" charset="0"/>
                <a:cs typeface="Times New Roman" panose="02020603050405020304" charset="0"/>
              </a:rPr>
              <a:t>86</a:t>
            </a:r>
            <a:endParaRPr sz="2800" b="1" i="0">
              <a:solidFill>
                <a:schemeClr val="tx1"/>
              </a:solidFill>
              <a:latin typeface="Times New Roman" panose="02020603050405020304" charset="0"/>
              <a:cs typeface="Times New Roman" panose="02020603050405020304" charset="0"/>
            </a:endParaRPr>
          </a:p>
        </p:txBody>
      </p:sp>
      <p:sp>
        <p:nvSpPr>
          <p:cNvPr id="15" name="TextBox 14"/>
          <p:cNvSpPr txBox="1"/>
          <p:nvPr/>
        </p:nvSpPr>
        <p:spPr>
          <a:xfrm>
            <a:off x="6355080" y="4389120"/>
            <a:ext cx="2194560" cy="793115"/>
          </a:xfrm>
          <a:prstGeom prst="rect">
            <a:avLst/>
          </a:prstGeom>
          <a:noFill/>
        </p:spPr>
        <p:txBody>
          <a:bodyPr wrap="square" lIns="45720" tIns="27432" rIns="45720" bIns="27432" anchor="t">
            <a:spAutoFit/>
          </a:bodyPr>
          <a:lstStyle/>
          <a:p>
            <a:pPr algn="ctr">
              <a:lnSpc>
                <a:spcPct val="150000"/>
              </a:lnSpc>
              <a:spcAft>
                <a:spcPts val="0"/>
              </a:spcAft>
            </a:pPr>
            <a:r>
              <a:rPr sz="1600" b="1" i="0">
                <a:solidFill>
                  <a:schemeClr val="tx1"/>
                </a:solidFill>
                <a:latin typeface="Times New Roman" panose="02020603050405020304" charset="0"/>
                <a:cs typeface="Times New Roman" panose="02020603050405020304" charset="0"/>
              </a:rPr>
              <a:t>automated tests,
all passing</a:t>
            </a:r>
            <a:endParaRPr sz="1600" b="1" i="0">
              <a:solidFill>
                <a:schemeClr val="tx1"/>
              </a:solidFill>
              <a:latin typeface="Times New Roman" panose="02020603050405020304" charset="0"/>
              <a:cs typeface="Times New Roman" panose="02020603050405020304" charset="0"/>
            </a:endParaRPr>
          </a:p>
        </p:txBody>
      </p:sp>
      <p:sp>
        <p:nvSpPr>
          <p:cNvPr id="16" name="Rounded Rectangle 15"/>
          <p:cNvSpPr/>
          <p:nvPr/>
        </p:nvSpPr>
        <p:spPr>
          <a:xfrm>
            <a:off x="8961120" y="3291840"/>
            <a:ext cx="2468880" cy="1828800"/>
          </a:xfrm>
          <a:prstGeom prst="roundRect">
            <a:avLst>
              <a:gd name="adj" fmla="val 8000"/>
            </a:avLst>
          </a:prstGeom>
          <a:solidFill>
            <a:schemeClr val="accent3">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50000"/>
              </a:lnSpc>
            </a:pPr>
            <a:endParaRPr>
              <a:solidFill>
                <a:schemeClr val="tx1"/>
              </a:solidFill>
              <a:latin typeface="Times New Roman" panose="02020603050405020304" charset="0"/>
              <a:cs typeface="Times New Roman" panose="02020603050405020304" charset="0"/>
            </a:endParaRPr>
          </a:p>
        </p:txBody>
      </p:sp>
      <p:sp>
        <p:nvSpPr>
          <p:cNvPr id="17" name="TextBox 16"/>
          <p:cNvSpPr txBox="1"/>
          <p:nvPr/>
        </p:nvSpPr>
        <p:spPr>
          <a:xfrm>
            <a:off x="8961120" y="3474720"/>
            <a:ext cx="2468880" cy="700405"/>
          </a:xfrm>
          <a:prstGeom prst="rect">
            <a:avLst/>
          </a:prstGeom>
          <a:noFill/>
        </p:spPr>
        <p:txBody>
          <a:bodyPr wrap="square" lIns="45720" tIns="27432" rIns="45720" bIns="27432" anchor="t">
            <a:spAutoFit/>
          </a:bodyPr>
          <a:lstStyle/>
          <a:p>
            <a:pPr algn="ctr">
              <a:lnSpc>
                <a:spcPct val="150000"/>
              </a:lnSpc>
              <a:spcAft>
                <a:spcPts val="0"/>
              </a:spcAft>
            </a:pPr>
            <a:r>
              <a:rPr sz="2800" b="1" i="0">
                <a:solidFill>
                  <a:schemeClr val="tx1"/>
                </a:solidFill>
                <a:latin typeface="Times New Roman" panose="02020603050405020304" charset="0"/>
                <a:cs typeface="Times New Roman" panose="02020603050405020304" charset="0"/>
              </a:rPr>
              <a:t>24</a:t>
            </a:r>
            <a:endParaRPr sz="2800" b="1" i="0">
              <a:solidFill>
                <a:schemeClr val="tx1"/>
              </a:solidFill>
              <a:latin typeface="Times New Roman" panose="02020603050405020304" charset="0"/>
              <a:cs typeface="Times New Roman" panose="02020603050405020304" charset="0"/>
            </a:endParaRPr>
          </a:p>
        </p:txBody>
      </p:sp>
      <p:sp>
        <p:nvSpPr>
          <p:cNvPr id="18" name="TextBox 17"/>
          <p:cNvSpPr txBox="1"/>
          <p:nvPr/>
        </p:nvSpPr>
        <p:spPr>
          <a:xfrm>
            <a:off x="9098280" y="4389120"/>
            <a:ext cx="2194560" cy="793115"/>
          </a:xfrm>
          <a:prstGeom prst="rect">
            <a:avLst/>
          </a:prstGeom>
          <a:noFill/>
        </p:spPr>
        <p:txBody>
          <a:bodyPr wrap="square" lIns="45720" tIns="27432" rIns="45720" bIns="27432" anchor="t">
            <a:spAutoFit/>
          </a:bodyPr>
          <a:lstStyle/>
          <a:p>
            <a:pPr algn="ctr">
              <a:lnSpc>
                <a:spcPct val="150000"/>
              </a:lnSpc>
              <a:spcAft>
                <a:spcPts val="0"/>
              </a:spcAft>
            </a:pPr>
            <a:r>
              <a:rPr sz="1600" b="1" i="0">
                <a:solidFill>
                  <a:schemeClr val="tx1"/>
                </a:solidFill>
                <a:latin typeface="Times New Roman" panose="02020603050405020304" charset="0"/>
                <a:cs typeface="Times New Roman" panose="02020603050405020304" charset="0"/>
              </a:rPr>
              <a:t>Lusaka-area places
supported</a:t>
            </a:r>
            <a:endParaRPr sz="1600" b="1" i="0">
              <a:solidFill>
                <a:schemeClr val="tx1"/>
              </a:solidFill>
              <a:latin typeface="Times New Roman" panose="02020603050405020304" charset="0"/>
              <a:cs typeface="Times New Roman" panose="0202060305040502030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a:gsLst>
            <a:gs pos="50000">
              <a:schemeClr val="accent3"/>
            </a:gs>
            <a:gs pos="0">
              <a:schemeClr val="accent3">
                <a:lumMod val="25000"/>
                <a:lumOff val="75000"/>
              </a:schemeClr>
            </a:gs>
            <a:gs pos="100000">
              <a:schemeClr val="accent3">
                <a:lumMod val="85000"/>
              </a:schemeClr>
            </a:gs>
          </a:gsLst>
          <a:lin ang="5400000" scaled="1"/>
        </a:gradFill>
        <a:effectLst/>
      </p:bgPr>
    </p:bg>
    <p:spTree>
      <p:nvGrpSpPr>
        <p:cNvPr id="1" name=""/>
        <p:cNvGrpSpPr/>
        <p:nvPr/>
      </p:nvGrpSpPr>
      <p:grpSpPr>
        <a:xfrm>
          <a:off x="0" y="0"/>
          <a:ext cx="0" cy="0"/>
          <a:chOff x="0" y="0"/>
          <a:chExt cx="0" cy="0"/>
        </a:xfrm>
      </p:grpSpPr>
      <p:sp>
        <p:nvSpPr>
          <p:cNvPr id="2" name="TextBox 1"/>
          <p:cNvSpPr txBox="1"/>
          <p:nvPr/>
        </p:nvSpPr>
        <p:spPr>
          <a:xfrm>
            <a:off x="3518853" y="320040"/>
            <a:ext cx="5123815" cy="1014730"/>
          </a:xfrm>
          <a:prstGeom prst="rect">
            <a:avLst/>
          </a:prstGeom>
          <a:noFill/>
        </p:spPr>
        <p:txBody>
          <a:bodyPr wrap="none">
            <a:spAutoFit/>
          </a:bodyPr>
          <a:lstStyle/>
          <a:p>
            <a:pPr algn="ctr">
              <a:lnSpc>
                <a:spcPct val="150000"/>
              </a:lnSpc>
              <a:defRPr sz="2800" b="1">
                <a:solidFill>
                  <a:srgbClr val="192D4B"/>
                </a:solidFill>
              </a:defRPr>
            </a:pPr>
            <a:r>
              <a:rPr sz="4000">
                <a:latin typeface="Times New Roman" panose="02020603050405020304" charset="0"/>
                <a:cs typeface="Times New Roman" panose="02020603050405020304" charset="0"/>
              </a:rPr>
              <a:t>Presentation Overview</a:t>
            </a:r>
            <a:endParaRPr sz="4000">
              <a:latin typeface="Times New Roman" panose="02020603050405020304" charset="0"/>
              <a:cs typeface="Times New Roman" panose="02020603050405020304" charset="0"/>
            </a:endParaRPr>
          </a:p>
        </p:txBody>
      </p:sp>
      <p:sp>
        <p:nvSpPr>
          <p:cNvPr id="3" name="TextBox 2"/>
          <p:cNvSpPr txBox="1"/>
          <p:nvPr/>
        </p:nvSpPr>
        <p:spPr>
          <a:xfrm>
            <a:off x="822960" y="1325880"/>
            <a:ext cx="10607040" cy="4892675"/>
          </a:xfrm>
          <a:prstGeom prst="rect">
            <a:avLst/>
          </a:prstGeom>
          <a:noFill/>
        </p:spPr>
        <p:txBody>
          <a:bodyPr wrap="square">
            <a:spAutoFit/>
          </a:bodyPr>
          <a:lstStyle/>
          <a:p>
            <a:pPr>
              <a:lnSpc>
                <a:spcPct val="150000"/>
              </a:lnSpc>
              <a:spcAft>
                <a:spcPts val="1200"/>
              </a:spcAft>
              <a:defRPr sz="2100">
                <a:solidFill>
                  <a:srgbClr val="232323"/>
                </a:solidFill>
              </a:defRPr>
            </a:pPr>
            <a:r>
              <a:rPr lang="en-US" sz="2400" b="1" dirty="0">
                <a:solidFill>
                  <a:schemeClr val="tx1"/>
                </a:solidFill>
                <a:latin typeface="Times New Roman" panose="02020603050405020304" charset="0"/>
                <a:cs typeface="Times New Roman" panose="02020603050405020304" charset="0"/>
              </a:rPr>
              <a:t>Background </a:t>
            </a:r>
            <a:r>
              <a:rPr lang="en-US" sz="2400" b="1">
                <a:solidFill>
                  <a:schemeClr val="tx1"/>
                </a:solidFill>
                <a:latin typeface="Times New Roman" panose="02020603050405020304" charset="0"/>
                <a:cs typeface="Times New Roman" panose="02020603050405020304" charset="0"/>
              </a:rPr>
              <a:t>and Context</a:t>
            </a:r>
            <a:endParaRPr sz="2400" b="1" dirty="0">
              <a:solidFill>
                <a:schemeClr val="tx1"/>
              </a:solidFill>
              <a:latin typeface="Times New Roman" panose="02020603050405020304" charset="0"/>
              <a:cs typeface="Times New Roman" panose="02020603050405020304" charset="0"/>
            </a:endParaRPr>
          </a:p>
          <a:p>
            <a:pPr>
              <a:lnSpc>
                <a:spcPct val="150000"/>
              </a:lnSpc>
              <a:spcAft>
                <a:spcPts val="1200"/>
              </a:spcAft>
              <a:defRPr sz="2100">
                <a:solidFill>
                  <a:srgbClr val="232323"/>
                </a:solidFill>
              </a:defRPr>
            </a:pPr>
            <a:r>
              <a:rPr sz="2400" b="1" dirty="0">
                <a:solidFill>
                  <a:schemeClr val="tx1"/>
                </a:solidFill>
                <a:latin typeface="Times New Roman" panose="02020603050405020304" charset="0"/>
                <a:cs typeface="Times New Roman" panose="02020603050405020304" charset="0"/>
              </a:rPr>
              <a:t>System Analysis and Design</a:t>
            </a:r>
            <a:endParaRPr sz="2400" b="1" dirty="0">
              <a:solidFill>
                <a:schemeClr val="tx1"/>
              </a:solidFill>
              <a:latin typeface="Times New Roman" panose="02020603050405020304" charset="0"/>
              <a:cs typeface="Times New Roman" panose="02020603050405020304" charset="0"/>
            </a:endParaRPr>
          </a:p>
          <a:p>
            <a:pPr>
              <a:lnSpc>
                <a:spcPct val="150000"/>
              </a:lnSpc>
              <a:spcAft>
                <a:spcPts val="1200"/>
              </a:spcAft>
              <a:defRPr sz="2100">
                <a:solidFill>
                  <a:srgbClr val="232323"/>
                </a:solidFill>
              </a:defRPr>
            </a:pPr>
            <a:r>
              <a:rPr sz="2400" b="1" dirty="0">
                <a:solidFill>
                  <a:schemeClr val="tx1"/>
                </a:solidFill>
                <a:latin typeface="Times New Roman" panose="02020603050405020304" charset="0"/>
                <a:cs typeface="Times New Roman" panose="02020603050405020304" charset="0"/>
              </a:rPr>
              <a:t>Implementation / Development</a:t>
            </a:r>
            <a:endParaRPr sz="2400" b="1" dirty="0">
              <a:solidFill>
                <a:schemeClr val="tx1"/>
              </a:solidFill>
              <a:latin typeface="Times New Roman" panose="02020603050405020304" charset="0"/>
              <a:cs typeface="Times New Roman" panose="02020603050405020304" charset="0"/>
            </a:endParaRPr>
          </a:p>
          <a:p>
            <a:pPr>
              <a:lnSpc>
                <a:spcPct val="150000"/>
              </a:lnSpc>
              <a:spcAft>
                <a:spcPts val="1200"/>
              </a:spcAft>
              <a:defRPr sz="2100">
                <a:solidFill>
                  <a:srgbClr val="232323"/>
                </a:solidFill>
              </a:defRPr>
            </a:pPr>
            <a:r>
              <a:rPr sz="2400" b="1" dirty="0">
                <a:solidFill>
                  <a:schemeClr val="tx1"/>
                </a:solidFill>
                <a:latin typeface="Times New Roman" panose="02020603050405020304" charset="0"/>
                <a:cs typeface="Times New Roman" panose="02020603050405020304" charset="0"/>
              </a:rPr>
              <a:t>Testing, Results and Evaluation</a:t>
            </a:r>
            <a:endParaRPr sz="2400" b="1" dirty="0">
              <a:solidFill>
                <a:schemeClr val="tx1"/>
              </a:solidFill>
              <a:latin typeface="Times New Roman" panose="02020603050405020304" charset="0"/>
              <a:cs typeface="Times New Roman" panose="02020603050405020304" charset="0"/>
            </a:endParaRPr>
          </a:p>
          <a:p>
            <a:pPr>
              <a:lnSpc>
                <a:spcPct val="150000"/>
              </a:lnSpc>
              <a:spcAft>
                <a:spcPts val="1200"/>
              </a:spcAft>
              <a:defRPr sz="2100">
                <a:solidFill>
                  <a:srgbClr val="232323"/>
                </a:solidFill>
              </a:defRPr>
            </a:pPr>
            <a:r>
              <a:rPr sz="2400" b="1" dirty="0">
                <a:solidFill>
                  <a:schemeClr val="tx1"/>
                </a:solidFill>
                <a:latin typeface="Times New Roman" panose="02020603050405020304" charset="0"/>
                <a:cs typeface="Times New Roman" panose="02020603050405020304" charset="0"/>
              </a:rPr>
              <a:t>Discussion</a:t>
            </a:r>
            <a:endParaRPr sz="2400" b="1" dirty="0">
              <a:solidFill>
                <a:schemeClr val="tx1"/>
              </a:solidFill>
              <a:latin typeface="Times New Roman" panose="02020603050405020304" charset="0"/>
              <a:cs typeface="Times New Roman" panose="02020603050405020304" charset="0"/>
            </a:endParaRPr>
          </a:p>
          <a:p>
            <a:pPr>
              <a:lnSpc>
                <a:spcPct val="150000"/>
              </a:lnSpc>
              <a:spcAft>
                <a:spcPts val="1200"/>
              </a:spcAft>
              <a:defRPr sz="2100">
                <a:solidFill>
                  <a:srgbClr val="232323"/>
                </a:solidFill>
              </a:defRPr>
            </a:pPr>
            <a:r>
              <a:rPr sz="2400" b="1" dirty="0">
                <a:solidFill>
                  <a:schemeClr val="tx1"/>
                </a:solidFill>
                <a:latin typeface="Times New Roman" panose="02020603050405020304" charset="0"/>
                <a:cs typeface="Times New Roman" panose="02020603050405020304" charset="0"/>
              </a:rPr>
              <a:t>Conclusion</a:t>
            </a:r>
            <a:r>
              <a:rPr lang="en-US" sz="2400" b="1" dirty="0">
                <a:solidFill>
                  <a:schemeClr val="tx1"/>
                </a:solidFill>
                <a:latin typeface="Times New Roman" panose="02020603050405020304" charset="0"/>
                <a:cs typeface="Times New Roman" panose="02020603050405020304" charset="0"/>
              </a:rPr>
              <a:t> </a:t>
            </a:r>
            <a:endParaRPr lang="en-US" sz="2400" b="1" dirty="0">
              <a:solidFill>
                <a:schemeClr val="tx1"/>
              </a:solidFill>
              <a:latin typeface="Times New Roman" panose="02020603050405020304" charset="0"/>
              <a:cs typeface="Times New Roman" panose="02020603050405020304" charset="0"/>
            </a:endParaRPr>
          </a:p>
          <a:p>
            <a:pPr>
              <a:lnSpc>
                <a:spcPct val="150000"/>
              </a:lnSpc>
              <a:spcAft>
                <a:spcPts val="1200"/>
              </a:spcAft>
              <a:defRPr sz="2100">
                <a:solidFill>
                  <a:srgbClr val="232323"/>
                </a:solidFill>
              </a:defRPr>
            </a:pPr>
            <a:r>
              <a:rPr sz="2400" b="1" dirty="0">
                <a:solidFill>
                  <a:schemeClr val="tx1"/>
                </a:solidFill>
                <a:latin typeface="Times New Roman" panose="02020603050405020304" charset="0"/>
                <a:cs typeface="Times New Roman" panose="02020603050405020304" charset="0"/>
              </a:rPr>
              <a:t>System Demonstration</a:t>
            </a:r>
            <a:endParaRPr sz="2400" b="1" dirty="0">
              <a:solidFill>
                <a:schemeClr val="tx1"/>
              </a:solidFill>
              <a:latin typeface="Times New Roman" panose="02020603050405020304" charset="0"/>
              <a:cs typeface="Times New Roman" panose="02020603050405020304" charset="0"/>
            </a:endParaRPr>
          </a:p>
        </p:txBody>
      </p:sp>
      <p:sp>
        <p:nvSpPr>
          <p:cNvPr id="4" name="Rectangle 3"/>
          <p:cNvSpPr/>
          <p:nvPr/>
        </p:nvSpPr>
        <p:spPr>
          <a:xfrm>
            <a:off x="0" y="6565392"/>
            <a:ext cx="12191695" cy="292608"/>
          </a:xfrm>
          <a:prstGeom prst="rect">
            <a:avLst/>
          </a:prstGeom>
          <a:solidFill>
            <a:schemeClr val="accent3">
              <a:lumMod val="50000"/>
            </a:schemeClr>
          </a:solidFill>
          <a:ln>
            <a:solidFill>
              <a:schemeClr val="accent3">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50000"/>
              </a:lnSpc>
            </a:pPr>
            <a:endParaRPr>
              <a:latin typeface="Times New Roman" panose="02020603050405020304" charset="0"/>
              <a:cs typeface="Times New Roman" panose="02020603050405020304" charset="0"/>
            </a:endParaRPr>
          </a:p>
        </p:txBody>
      </p:sp>
      <p:sp>
        <p:nvSpPr>
          <p:cNvPr id="5" name="TextBox 4"/>
          <p:cNvSpPr txBox="1"/>
          <p:nvPr/>
        </p:nvSpPr>
        <p:spPr>
          <a:xfrm>
            <a:off x="320040" y="6574536"/>
            <a:ext cx="2512060" cy="299085"/>
          </a:xfrm>
          <a:prstGeom prst="rect">
            <a:avLst/>
          </a:prstGeom>
          <a:gradFill>
            <a:gsLst>
              <a:gs pos="50000">
                <a:schemeClr val="accent2"/>
              </a:gs>
              <a:gs pos="0">
                <a:schemeClr val="accent2">
                  <a:lumMod val="25000"/>
                  <a:lumOff val="75000"/>
                </a:schemeClr>
              </a:gs>
              <a:gs pos="100000">
                <a:schemeClr val="accent2">
                  <a:lumMod val="85000"/>
                </a:schemeClr>
              </a:gs>
            </a:gsLst>
            <a:lin ang="5400000" scaled="1"/>
          </a:gradFill>
        </p:spPr>
        <p:txBody>
          <a:bodyPr wrap="none">
            <a:spAutoFit/>
          </a:bodyPr>
          <a:lstStyle/>
          <a:p>
            <a:pPr>
              <a:lnSpc>
                <a:spcPct val="150000"/>
              </a:lnSpc>
              <a:defRPr sz="900">
                <a:solidFill>
                  <a:srgbClr val="FFFFFF"/>
                </a:solidFill>
              </a:defRPr>
            </a:pPr>
            <a:r>
              <a:rPr b="1">
                <a:solidFill>
                  <a:schemeClr val="tx1"/>
                </a:solidFill>
                <a:latin typeface="Times New Roman" panose="02020603050405020304" charset="0"/>
                <a:cs typeface="Times New Roman" panose="02020603050405020304" charset="0"/>
              </a:rPr>
              <a:t>Final Year Project • Academic Year 2026         3</a:t>
            </a:r>
            <a:endParaRPr b="1">
              <a:solidFill>
                <a:schemeClr val="tx1"/>
              </a:solidFill>
              <a:latin typeface="Times New Roman" panose="02020603050405020304" charset="0"/>
              <a:cs typeface="Times New Roman" panose="0202060305040502030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a:gsLst>
            <a:gs pos="50000">
              <a:schemeClr val="accent3"/>
            </a:gs>
            <a:gs pos="0">
              <a:schemeClr val="accent3">
                <a:lumMod val="25000"/>
                <a:lumOff val="75000"/>
              </a:schemeClr>
            </a:gs>
            <a:gs pos="100000">
              <a:schemeClr val="accent3">
                <a:lumMod val="85000"/>
              </a:schemeClr>
            </a:gs>
          </a:gsLst>
          <a:lin ang="5400000" scaled="1"/>
        </a:gradFill>
        <a:effectLst/>
      </p:bgPr>
    </p:bg>
    <p:spTree>
      <p:nvGrpSpPr>
        <p:cNvPr id="1" name=""/>
        <p:cNvGrpSpPr/>
        <p:nvPr/>
      </p:nvGrpSpPr>
      <p:grpSpPr>
        <a:xfrm>
          <a:off x="0" y="0"/>
          <a:ext cx="0" cy="0"/>
          <a:chOff x="0" y="0"/>
          <a:chExt cx="0" cy="0"/>
        </a:xfrm>
      </p:grpSpPr>
      <p:sp>
        <p:nvSpPr>
          <p:cNvPr id="2" name="TextBox 1"/>
          <p:cNvSpPr txBox="1"/>
          <p:nvPr/>
        </p:nvSpPr>
        <p:spPr>
          <a:xfrm>
            <a:off x="3053398" y="-84455"/>
            <a:ext cx="5649595" cy="1014730"/>
          </a:xfrm>
          <a:prstGeom prst="rect">
            <a:avLst/>
          </a:prstGeom>
          <a:noFill/>
        </p:spPr>
        <p:txBody>
          <a:bodyPr wrap="none">
            <a:spAutoFit/>
          </a:bodyPr>
          <a:lstStyle/>
          <a:p>
            <a:pPr algn="ctr">
              <a:lnSpc>
                <a:spcPct val="150000"/>
              </a:lnSpc>
              <a:defRPr sz="2800" b="1">
                <a:solidFill>
                  <a:srgbClr val="192D4B"/>
                </a:solidFill>
              </a:defRPr>
            </a:pPr>
            <a:r>
              <a:rPr sz="4000">
                <a:latin typeface="Times New Roman" panose="02020603050405020304" charset="0"/>
                <a:cs typeface="Times New Roman" panose="02020603050405020304" charset="0"/>
              </a:rPr>
              <a:t>Background and Context</a:t>
            </a:r>
            <a:endParaRPr sz="4000">
              <a:latin typeface="Times New Roman" panose="02020603050405020304" charset="0"/>
              <a:cs typeface="Times New Roman" panose="02020603050405020304" charset="0"/>
            </a:endParaRPr>
          </a:p>
        </p:txBody>
      </p:sp>
      <p:sp>
        <p:nvSpPr>
          <p:cNvPr id="4" name="Rectangle 3"/>
          <p:cNvSpPr/>
          <p:nvPr/>
        </p:nvSpPr>
        <p:spPr>
          <a:xfrm>
            <a:off x="635" y="6565392"/>
            <a:ext cx="12191695" cy="292608"/>
          </a:xfrm>
          <a:prstGeom prst="rect">
            <a:avLst/>
          </a:prstGeom>
          <a:solidFill>
            <a:schemeClr val="accent3">
              <a:lumMod val="5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50000"/>
              </a:lnSpc>
            </a:pPr>
            <a:endParaRPr>
              <a:latin typeface="Times New Roman" panose="02020603050405020304" charset="0"/>
              <a:cs typeface="Times New Roman" panose="02020603050405020304" charset="0"/>
            </a:endParaRPr>
          </a:p>
        </p:txBody>
      </p:sp>
      <p:sp>
        <p:nvSpPr>
          <p:cNvPr id="5" name="TextBox 4"/>
          <p:cNvSpPr txBox="1"/>
          <p:nvPr/>
        </p:nvSpPr>
        <p:spPr>
          <a:xfrm>
            <a:off x="320675" y="6574536"/>
            <a:ext cx="2483485" cy="299085"/>
          </a:xfrm>
          <a:prstGeom prst="rect">
            <a:avLst/>
          </a:prstGeom>
          <a:gradFill>
            <a:gsLst>
              <a:gs pos="50000">
                <a:schemeClr val="accent2"/>
              </a:gs>
              <a:gs pos="0">
                <a:schemeClr val="accent2">
                  <a:lumMod val="25000"/>
                  <a:lumOff val="75000"/>
                </a:schemeClr>
              </a:gs>
              <a:gs pos="100000">
                <a:schemeClr val="accent2">
                  <a:lumMod val="85000"/>
                </a:schemeClr>
              </a:gs>
            </a:gsLst>
            <a:lin ang="5400000" scaled="1"/>
          </a:gradFill>
          <a:ln>
            <a:gradFill>
              <a:gsLst>
                <a:gs pos="50000">
                  <a:schemeClr val="accent2"/>
                </a:gs>
                <a:gs pos="0">
                  <a:schemeClr val="accent2">
                    <a:lumMod val="25000"/>
                    <a:lumOff val="75000"/>
                  </a:schemeClr>
                </a:gs>
                <a:gs pos="100000">
                  <a:schemeClr val="accent2">
                    <a:lumMod val="85000"/>
                  </a:schemeClr>
                </a:gs>
              </a:gsLst>
              <a:lin ang="5400000" scaled="0"/>
            </a:gradFill>
          </a:ln>
        </p:spPr>
        <p:txBody>
          <a:bodyPr wrap="none">
            <a:spAutoFit/>
          </a:bodyPr>
          <a:lstStyle/>
          <a:p>
            <a:pPr>
              <a:lnSpc>
                <a:spcPct val="150000"/>
              </a:lnSpc>
              <a:defRPr sz="900">
                <a:solidFill>
                  <a:srgbClr val="FFFFFF"/>
                </a:solidFill>
              </a:defRPr>
            </a:pPr>
            <a:r>
              <a:rPr b="1" dirty="0">
                <a:solidFill>
                  <a:schemeClr val="tx1"/>
                </a:solidFill>
                <a:latin typeface="Times New Roman" panose="02020603050405020304" charset="0"/>
                <a:cs typeface="Times New Roman" panose="02020603050405020304" charset="0"/>
              </a:rPr>
              <a:t>Final Year Project • Academic Year 2026        4</a:t>
            </a:r>
            <a:endParaRPr b="1" dirty="0">
              <a:solidFill>
                <a:schemeClr val="tx1"/>
              </a:solidFill>
              <a:latin typeface="Times New Roman" panose="02020603050405020304" charset="0"/>
              <a:cs typeface="Times New Roman" panose="02020603050405020304" charset="0"/>
            </a:endParaRPr>
          </a:p>
        </p:txBody>
      </p:sp>
      <p:sp>
        <p:nvSpPr>
          <p:cNvPr id="6" name="TextBox 5"/>
          <p:cNvSpPr txBox="1"/>
          <p:nvPr/>
        </p:nvSpPr>
        <p:spPr>
          <a:xfrm>
            <a:off x="732790" y="868680"/>
            <a:ext cx="6766560" cy="4209415"/>
          </a:xfrm>
          <a:prstGeom prst="rect">
            <a:avLst/>
          </a:prstGeom>
          <a:noFill/>
        </p:spPr>
        <p:txBody>
          <a:bodyPr wrap="square" lIns="45720" tIns="27432" rIns="45720" bIns="27432" anchor="t">
            <a:spAutoFit/>
          </a:bodyPr>
          <a:lstStyle/>
          <a:p>
            <a:pPr algn="l">
              <a:lnSpc>
                <a:spcPct val="150000"/>
              </a:lnSpc>
              <a:spcAft>
                <a:spcPts val="1200"/>
              </a:spcAft>
            </a:pPr>
            <a:r>
              <a:rPr sz="2000" b="1" i="0">
                <a:solidFill>
                  <a:schemeClr val="tx1"/>
                </a:solidFill>
                <a:latin typeface="Times New Roman" panose="02020603050405020304" charset="0"/>
                <a:cs typeface="Times New Roman" panose="02020603050405020304" charset="0"/>
              </a:rPr>
              <a:t>Charcoal is the main cooking fuel </a:t>
            </a:r>
            <a:r>
              <a:rPr sz="2000" b="0" i="0">
                <a:solidFill>
                  <a:schemeClr val="tx1"/>
                </a:solidFill>
                <a:latin typeface="Times New Roman" panose="02020603050405020304" charset="0"/>
                <a:cs typeface="Times New Roman" panose="02020603050405020304" charset="0"/>
              </a:rPr>
              <a:t>for most urban Zambian households, even those with electricity.</a:t>
            </a:r>
            <a:endParaRPr sz="2000" b="0" i="0">
              <a:solidFill>
                <a:schemeClr val="tx1"/>
              </a:solidFill>
              <a:latin typeface="Times New Roman" panose="02020603050405020304" charset="0"/>
              <a:cs typeface="Times New Roman" panose="02020603050405020304" charset="0"/>
            </a:endParaRPr>
          </a:p>
          <a:p>
            <a:pPr algn="l">
              <a:lnSpc>
                <a:spcPct val="150000"/>
              </a:lnSpc>
              <a:spcAft>
                <a:spcPts val="1200"/>
              </a:spcAft>
            </a:pPr>
            <a:r>
              <a:rPr sz="2000" b="1" i="0">
                <a:solidFill>
                  <a:schemeClr val="tx1"/>
                </a:solidFill>
                <a:latin typeface="Times New Roman" panose="02020603050405020304" charset="0"/>
                <a:cs typeface="Times New Roman" panose="02020603050405020304" charset="0"/>
              </a:rPr>
              <a:t>It is sold informally, </a:t>
            </a:r>
            <a:r>
              <a:rPr sz="2000" b="0" i="0">
                <a:solidFill>
                  <a:schemeClr val="tx1"/>
                </a:solidFill>
                <a:latin typeface="Times New Roman" panose="02020603050405020304" charset="0"/>
                <a:cs typeface="Times New Roman" panose="02020603050405020304" charset="0"/>
              </a:rPr>
              <a:t>face to face and in cash; buyers find sellers by walking around and asking.</a:t>
            </a:r>
            <a:endParaRPr sz="2000" b="0" i="0">
              <a:solidFill>
                <a:schemeClr val="tx1"/>
              </a:solidFill>
              <a:latin typeface="Times New Roman" panose="02020603050405020304" charset="0"/>
              <a:cs typeface="Times New Roman" panose="02020603050405020304" charset="0"/>
            </a:endParaRPr>
          </a:p>
          <a:p>
            <a:pPr algn="l">
              <a:lnSpc>
                <a:spcPct val="150000"/>
              </a:lnSpc>
              <a:spcAft>
                <a:spcPts val="1200"/>
              </a:spcAft>
            </a:pPr>
            <a:r>
              <a:rPr sz="2000" b="1" i="0">
                <a:solidFill>
                  <a:schemeClr val="tx1"/>
                </a:solidFill>
                <a:latin typeface="Times New Roman" panose="02020603050405020304" charset="0"/>
                <a:cs typeface="Times New Roman" panose="02020603050405020304" charset="0"/>
              </a:rPr>
              <a:t>Trust is the gap: </a:t>
            </a:r>
            <a:r>
              <a:rPr sz="2000" b="0" i="0">
                <a:solidFill>
                  <a:schemeClr val="tx1"/>
                </a:solidFill>
                <a:latin typeface="Times New Roman" panose="02020603050405020304" charset="0"/>
                <a:cs typeface="Times New Roman" panose="02020603050405020304" charset="0"/>
              </a:rPr>
              <a:t>sellers have no record of good conduct, and buyers cannot judge strangers.</a:t>
            </a:r>
            <a:endParaRPr sz="2000" b="0" i="0">
              <a:solidFill>
                <a:schemeClr val="tx1"/>
              </a:solidFill>
              <a:latin typeface="Times New Roman" panose="02020603050405020304" charset="0"/>
              <a:cs typeface="Times New Roman" panose="02020603050405020304" charset="0"/>
            </a:endParaRPr>
          </a:p>
          <a:p>
            <a:pPr algn="l">
              <a:lnSpc>
                <a:spcPct val="150000"/>
              </a:lnSpc>
              <a:spcAft>
                <a:spcPts val="1200"/>
              </a:spcAft>
            </a:pPr>
            <a:r>
              <a:rPr sz="2000" b="1" i="0">
                <a:solidFill>
                  <a:schemeClr val="tx1"/>
                </a:solidFill>
                <a:latin typeface="Times New Roman" panose="02020603050405020304" charset="0"/>
                <a:cs typeface="Times New Roman" panose="02020603050405020304" charset="0"/>
              </a:rPr>
              <a:t>Who benefits: </a:t>
            </a:r>
            <a:r>
              <a:rPr sz="2000" b="0" i="0">
                <a:solidFill>
                  <a:schemeClr val="tx1"/>
                </a:solidFill>
                <a:latin typeface="Times New Roman" panose="02020603050405020304" charset="0"/>
                <a:cs typeface="Times New Roman" panose="02020603050405020304" charset="0"/>
              </a:rPr>
              <a:t>charcoal sellers, charcoal buyers, and the administrators who keep the market honest.</a:t>
            </a:r>
            <a:endParaRPr sz="2000" b="0" i="0">
              <a:solidFill>
                <a:schemeClr val="tx1"/>
              </a:solidFill>
              <a:latin typeface="Times New Roman" panose="02020603050405020304" charset="0"/>
              <a:cs typeface="Times New Roman" panose="02020603050405020304" charset="0"/>
            </a:endParaRPr>
          </a:p>
        </p:txBody>
      </p:sp>
      <p:sp>
        <p:nvSpPr>
          <p:cNvPr id="7" name="Rounded Rectangle 6"/>
          <p:cNvSpPr/>
          <p:nvPr/>
        </p:nvSpPr>
        <p:spPr>
          <a:xfrm>
            <a:off x="7864475" y="1325880"/>
            <a:ext cx="3657600" cy="3429000"/>
          </a:xfrm>
          <a:prstGeom prst="roundRect">
            <a:avLst>
              <a:gd name="adj" fmla="val 8000"/>
            </a:avLst>
          </a:prstGeom>
          <a:solidFill>
            <a:schemeClr val="accent3">
              <a:lumMod val="60000"/>
              <a:lumOff val="4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50000"/>
              </a:lnSpc>
            </a:pPr>
            <a:endParaRPr>
              <a:latin typeface="Times New Roman" panose="02020603050405020304" charset="0"/>
              <a:cs typeface="Times New Roman" panose="02020603050405020304" charset="0"/>
            </a:endParaRPr>
          </a:p>
        </p:txBody>
      </p:sp>
      <p:sp>
        <p:nvSpPr>
          <p:cNvPr id="8" name="TextBox 7"/>
          <p:cNvSpPr txBox="1"/>
          <p:nvPr/>
        </p:nvSpPr>
        <p:spPr>
          <a:xfrm>
            <a:off x="7864475" y="1463040"/>
            <a:ext cx="3657600" cy="885190"/>
          </a:xfrm>
          <a:prstGeom prst="rect">
            <a:avLst/>
          </a:prstGeom>
          <a:noFill/>
        </p:spPr>
        <p:txBody>
          <a:bodyPr wrap="square" lIns="45720" tIns="27432" rIns="45720" bIns="27432" anchor="t">
            <a:spAutoFit/>
          </a:bodyPr>
          <a:lstStyle/>
          <a:p>
            <a:pPr algn="ctr">
              <a:lnSpc>
                <a:spcPct val="150000"/>
              </a:lnSpc>
              <a:spcAft>
                <a:spcPts val="600"/>
              </a:spcAft>
            </a:pPr>
            <a:r>
              <a:rPr sz="3600" b="1" i="0">
                <a:solidFill>
                  <a:schemeClr val="tx1"/>
                </a:solidFill>
                <a:latin typeface="Times New Roman" panose="02020603050405020304" charset="0"/>
                <a:cs typeface="Times New Roman" panose="02020603050405020304" charset="0"/>
              </a:rPr>
              <a:t>44%</a:t>
            </a:r>
            <a:endParaRPr sz="3600" b="1" i="0">
              <a:solidFill>
                <a:schemeClr val="tx1"/>
              </a:solidFill>
              <a:latin typeface="Times New Roman" panose="02020603050405020304" charset="0"/>
              <a:cs typeface="Times New Roman" panose="02020603050405020304" charset="0"/>
            </a:endParaRPr>
          </a:p>
        </p:txBody>
      </p:sp>
      <p:sp>
        <p:nvSpPr>
          <p:cNvPr id="9" name="TextBox 8"/>
          <p:cNvSpPr txBox="1"/>
          <p:nvPr/>
        </p:nvSpPr>
        <p:spPr>
          <a:xfrm>
            <a:off x="8047355" y="2560320"/>
            <a:ext cx="3291840" cy="885190"/>
          </a:xfrm>
          <a:prstGeom prst="rect">
            <a:avLst/>
          </a:prstGeom>
          <a:noFill/>
        </p:spPr>
        <p:txBody>
          <a:bodyPr wrap="square" lIns="45720" tIns="27432" rIns="45720" bIns="27432" anchor="t">
            <a:spAutoFit/>
          </a:bodyPr>
          <a:lstStyle/>
          <a:p>
            <a:pPr algn="ctr">
              <a:lnSpc>
                <a:spcPct val="150000"/>
              </a:lnSpc>
              <a:spcAft>
                <a:spcPts val="600"/>
              </a:spcAft>
            </a:pPr>
            <a:r>
              <a:rPr b="1" i="0">
                <a:solidFill>
                  <a:schemeClr val="tx1"/>
                </a:solidFill>
                <a:latin typeface="Times New Roman" panose="02020603050405020304" charset="0"/>
                <a:cs typeface="Times New Roman" panose="02020603050405020304" charset="0"/>
              </a:rPr>
              <a:t>of urban households cook mainly with charcoal alone</a:t>
            </a:r>
            <a:endParaRPr b="1" i="0">
              <a:solidFill>
                <a:schemeClr val="tx1"/>
              </a:solidFill>
              <a:latin typeface="Times New Roman" panose="02020603050405020304" charset="0"/>
              <a:cs typeface="Times New Roman" panose="02020603050405020304" charset="0"/>
            </a:endParaRPr>
          </a:p>
        </p:txBody>
      </p:sp>
      <p:sp>
        <p:nvSpPr>
          <p:cNvPr id="10" name="TextBox 9"/>
          <p:cNvSpPr txBox="1"/>
          <p:nvPr/>
        </p:nvSpPr>
        <p:spPr>
          <a:xfrm>
            <a:off x="8047355" y="3520440"/>
            <a:ext cx="3291840" cy="793115"/>
          </a:xfrm>
          <a:prstGeom prst="rect">
            <a:avLst/>
          </a:prstGeom>
          <a:noFill/>
        </p:spPr>
        <p:txBody>
          <a:bodyPr wrap="square" lIns="45720" tIns="27432" rIns="45720" bIns="27432" anchor="t">
            <a:spAutoFit/>
          </a:bodyPr>
          <a:lstStyle/>
          <a:p>
            <a:pPr algn="ctr">
              <a:lnSpc>
                <a:spcPct val="150000"/>
              </a:lnSpc>
              <a:spcAft>
                <a:spcPts val="600"/>
              </a:spcAft>
            </a:pPr>
            <a:r>
              <a:rPr sz="1600" b="1" i="0">
                <a:solidFill>
                  <a:schemeClr val="tx1"/>
                </a:solidFill>
                <a:latin typeface="Times New Roman" panose="02020603050405020304" charset="0"/>
                <a:cs typeface="Times New Roman" panose="02020603050405020304" charset="0"/>
              </a:rPr>
              <a:t>A further 38% combine charcoal and electricity</a:t>
            </a:r>
            <a:endParaRPr sz="1600" b="1" i="0">
              <a:solidFill>
                <a:schemeClr val="tx1"/>
              </a:solidFill>
              <a:latin typeface="Times New Roman" panose="02020603050405020304" charset="0"/>
              <a:cs typeface="Times New Roman" panose="02020603050405020304" charset="0"/>
            </a:endParaRPr>
          </a:p>
        </p:txBody>
      </p:sp>
      <p:sp>
        <p:nvSpPr>
          <p:cNvPr id="11" name="TextBox 10"/>
          <p:cNvSpPr txBox="1"/>
          <p:nvPr/>
        </p:nvSpPr>
        <p:spPr>
          <a:xfrm>
            <a:off x="8047355" y="4251960"/>
            <a:ext cx="3291840" cy="377190"/>
          </a:xfrm>
          <a:prstGeom prst="rect">
            <a:avLst/>
          </a:prstGeom>
          <a:noFill/>
        </p:spPr>
        <p:txBody>
          <a:bodyPr wrap="square" lIns="45720" tIns="27432" rIns="45720" bIns="27432" anchor="t">
            <a:spAutoFit/>
          </a:bodyPr>
          <a:lstStyle/>
          <a:p>
            <a:pPr algn="ctr">
              <a:lnSpc>
                <a:spcPct val="150000"/>
              </a:lnSpc>
              <a:spcAft>
                <a:spcPts val="600"/>
              </a:spcAft>
            </a:pPr>
            <a:r>
              <a:rPr sz="1400" b="0" i="0">
                <a:solidFill>
                  <a:schemeClr val="tx1"/>
                </a:solidFill>
                <a:latin typeface="Times New Roman" panose="02020603050405020304" charset="0"/>
                <a:cs typeface="Times New Roman" panose="02020603050405020304" charset="0"/>
              </a:rPr>
              <a:t>Tembo, Mulenga &amp; Sitko (2015), IAPRI</a:t>
            </a:r>
            <a:endParaRPr sz="1400" b="0" i="0">
              <a:solidFill>
                <a:schemeClr val="tx1"/>
              </a:solidFill>
              <a:latin typeface="Times New Roman" panose="02020603050405020304" charset="0"/>
              <a:cs typeface="Times New Roman" panose="02020603050405020304" charset="0"/>
            </a:endParaRPr>
          </a:p>
        </p:txBody>
      </p:sp>
      <p:sp>
        <p:nvSpPr>
          <p:cNvPr id="12" name="Rounded Rectangle 11"/>
          <p:cNvSpPr/>
          <p:nvPr/>
        </p:nvSpPr>
        <p:spPr>
          <a:xfrm>
            <a:off x="732790" y="4931410"/>
            <a:ext cx="10789920" cy="1051560"/>
          </a:xfrm>
          <a:prstGeom prst="roundRect">
            <a:avLst>
              <a:gd name="adj" fmla="val 8000"/>
            </a:avLst>
          </a:prstGeom>
          <a:solidFill>
            <a:schemeClr val="accent3">
              <a:lumMod val="40000"/>
              <a:lumOff val="6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50000"/>
              </a:lnSpc>
            </a:pPr>
            <a:endParaRPr>
              <a:latin typeface="Times New Roman" panose="02020603050405020304" charset="0"/>
              <a:cs typeface="Times New Roman" panose="02020603050405020304" charset="0"/>
            </a:endParaRPr>
          </a:p>
        </p:txBody>
      </p:sp>
      <p:sp>
        <p:nvSpPr>
          <p:cNvPr id="13" name="TextBox 12"/>
          <p:cNvSpPr txBox="1"/>
          <p:nvPr/>
        </p:nvSpPr>
        <p:spPr>
          <a:xfrm>
            <a:off x="680720" y="5006340"/>
            <a:ext cx="10658475" cy="977900"/>
          </a:xfrm>
          <a:prstGeom prst="rect">
            <a:avLst/>
          </a:prstGeom>
          <a:noFill/>
        </p:spPr>
        <p:txBody>
          <a:bodyPr wrap="square" lIns="45720" tIns="27432" rIns="45720" bIns="27432" anchor="ctr">
            <a:spAutoFit/>
          </a:bodyPr>
          <a:lstStyle/>
          <a:p>
            <a:pPr algn="l">
              <a:lnSpc>
                <a:spcPct val="150000"/>
              </a:lnSpc>
              <a:spcAft>
                <a:spcPts val="600"/>
              </a:spcAft>
            </a:pPr>
            <a:r>
              <a:rPr sz="2000" b="1" i="0">
                <a:solidFill>
                  <a:srgbClr val="D85A30"/>
                </a:solidFill>
                <a:latin typeface="Times New Roman" panose="02020603050405020304" charset="0"/>
                <a:cs typeface="Times New Roman" panose="02020603050405020304" charset="0"/>
              </a:rPr>
              <a:t>Aim: </a:t>
            </a:r>
            <a:r>
              <a:rPr sz="2000" b="1" i="0">
                <a:solidFill>
                  <a:srgbClr val="232323"/>
                </a:solidFill>
                <a:latin typeface="Times New Roman" panose="02020603050405020304" charset="0"/>
                <a:cs typeface="Times New Roman" panose="02020603050405020304" charset="0"/>
              </a:rPr>
              <a:t>a mobile web app that connects charcoal sellers and buyers by neighbourhood, lets sellers list by voice, works on poor connections, and gives every seller a tamper-evident trust score.</a:t>
            </a:r>
            <a:endParaRPr sz="2000" b="1" i="0">
              <a:solidFill>
                <a:srgbClr val="232323"/>
              </a:solidFill>
              <a:latin typeface="Times New Roman" panose="02020603050405020304" charset="0"/>
              <a:cs typeface="Times New Roman" panose="0202060305040502030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a:gsLst>
            <a:gs pos="50000">
              <a:schemeClr val="accent3"/>
            </a:gs>
            <a:gs pos="0">
              <a:schemeClr val="accent3">
                <a:lumMod val="25000"/>
                <a:lumOff val="75000"/>
              </a:schemeClr>
            </a:gs>
            <a:gs pos="100000">
              <a:schemeClr val="accent3">
                <a:lumMod val="85000"/>
              </a:schemeClr>
            </a:gs>
          </a:gsLst>
          <a:lin ang="5400000" scaled="1"/>
        </a:gradFill>
        <a:effectLst/>
      </p:bgPr>
    </p:bg>
    <p:spTree>
      <p:nvGrpSpPr>
        <p:cNvPr id="1" name=""/>
        <p:cNvGrpSpPr/>
        <p:nvPr/>
      </p:nvGrpSpPr>
      <p:grpSpPr>
        <a:xfrm>
          <a:off x="0" y="0"/>
          <a:ext cx="0" cy="0"/>
          <a:chOff x="0" y="0"/>
          <a:chExt cx="0" cy="0"/>
        </a:xfrm>
      </p:grpSpPr>
      <p:sp>
        <p:nvSpPr>
          <p:cNvPr id="2" name="TextBox 1"/>
          <p:cNvSpPr txBox="1"/>
          <p:nvPr/>
        </p:nvSpPr>
        <p:spPr>
          <a:xfrm>
            <a:off x="3908425" y="0"/>
            <a:ext cx="4577080" cy="1014730"/>
          </a:xfrm>
          <a:prstGeom prst="rect">
            <a:avLst/>
          </a:prstGeom>
          <a:noFill/>
        </p:spPr>
        <p:txBody>
          <a:bodyPr wrap="none">
            <a:spAutoFit/>
          </a:bodyPr>
          <a:lstStyle/>
          <a:p>
            <a:pPr algn="ctr">
              <a:lnSpc>
                <a:spcPct val="150000"/>
              </a:lnSpc>
              <a:defRPr sz="2800" b="1">
                <a:solidFill>
                  <a:srgbClr val="192D4B"/>
                </a:solidFill>
              </a:defRPr>
            </a:pPr>
            <a:r>
              <a:rPr sz="4000">
                <a:solidFill>
                  <a:schemeClr val="tx1"/>
                </a:solidFill>
                <a:latin typeface="Times New Roman" panose="02020603050405020304" charset="0"/>
                <a:cs typeface="Times New Roman" panose="02020603050405020304" charset="0"/>
              </a:rPr>
              <a:t>System Architecture</a:t>
            </a:r>
            <a:endParaRPr sz="4000">
              <a:solidFill>
                <a:schemeClr val="tx1"/>
              </a:solidFill>
              <a:latin typeface="Times New Roman" panose="02020603050405020304" charset="0"/>
              <a:cs typeface="Times New Roman" panose="02020603050405020304" charset="0"/>
            </a:endParaRPr>
          </a:p>
        </p:txBody>
      </p:sp>
      <p:sp>
        <p:nvSpPr>
          <p:cNvPr id="4" name="Rectangle 3"/>
          <p:cNvSpPr/>
          <p:nvPr/>
        </p:nvSpPr>
        <p:spPr>
          <a:xfrm>
            <a:off x="0" y="6565392"/>
            <a:ext cx="12191695" cy="292608"/>
          </a:xfrm>
          <a:prstGeom prst="rect">
            <a:avLst/>
          </a:prstGeom>
          <a:solidFill>
            <a:schemeClr val="accent3">
              <a:lumMod val="5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20040" y="6574536"/>
            <a:ext cx="2397760" cy="229870"/>
          </a:xfrm>
          <a:prstGeom prst="rect">
            <a:avLst/>
          </a:prstGeom>
          <a:gradFill>
            <a:gsLst>
              <a:gs pos="50000">
                <a:schemeClr val="accent2"/>
              </a:gs>
              <a:gs pos="0">
                <a:schemeClr val="accent2">
                  <a:lumMod val="25000"/>
                  <a:lumOff val="75000"/>
                </a:schemeClr>
              </a:gs>
              <a:gs pos="100000">
                <a:schemeClr val="accent2">
                  <a:lumMod val="85000"/>
                </a:schemeClr>
              </a:gs>
            </a:gsLst>
            <a:lin ang="5400000" scaled="1"/>
          </a:gradFill>
        </p:spPr>
        <p:txBody>
          <a:bodyPr wrap="none">
            <a:spAutoFit/>
          </a:bodyPr>
          <a:lstStyle/>
          <a:p>
            <a:pPr>
              <a:defRPr sz="900">
                <a:solidFill>
                  <a:srgbClr val="FFFFFF"/>
                </a:solidFill>
              </a:defRPr>
            </a:pPr>
            <a:r>
              <a:rPr b="1" dirty="0">
                <a:solidFill>
                  <a:schemeClr val="tx1"/>
                </a:solidFill>
                <a:latin typeface="Times New Roman" panose="02020603050405020304" charset="0"/>
                <a:cs typeface="Times New Roman" panose="02020603050405020304" charset="0"/>
              </a:rPr>
              <a:t>Final Year Project • Academic Year 202</a:t>
            </a:r>
            <a:r>
              <a:rPr lang="en-US" b="1" dirty="0">
                <a:solidFill>
                  <a:schemeClr val="tx1"/>
                </a:solidFill>
                <a:latin typeface="Times New Roman" panose="02020603050405020304" charset="0"/>
                <a:cs typeface="Times New Roman" panose="02020603050405020304" charset="0"/>
              </a:rPr>
              <a:t>6</a:t>
            </a:r>
            <a:r>
              <a:rPr b="1" dirty="0">
                <a:solidFill>
                  <a:schemeClr val="tx1"/>
                </a:solidFill>
                <a:latin typeface="Times New Roman" panose="02020603050405020304" charset="0"/>
                <a:cs typeface="Times New Roman" panose="02020603050405020304" charset="0"/>
              </a:rPr>
              <a:t>     5</a:t>
            </a:r>
            <a:endParaRPr b="1" dirty="0">
              <a:solidFill>
                <a:schemeClr val="tx1"/>
              </a:solidFill>
              <a:latin typeface="Times New Roman" panose="02020603050405020304" charset="0"/>
              <a:cs typeface="Times New Roman" panose="02020603050405020304" charset="0"/>
            </a:endParaRPr>
          </a:p>
        </p:txBody>
      </p:sp>
      <p:sp>
        <p:nvSpPr>
          <p:cNvPr id="7" name="TextBox 6"/>
          <p:cNvSpPr txBox="1"/>
          <p:nvPr/>
        </p:nvSpPr>
        <p:spPr>
          <a:xfrm>
            <a:off x="8355965" y="1284605"/>
            <a:ext cx="3749039" cy="4106545"/>
          </a:xfrm>
          <a:prstGeom prst="rect">
            <a:avLst/>
          </a:prstGeom>
          <a:noFill/>
        </p:spPr>
        <p:txBody>
          <a:bodyPr wrap="square" lIns="45720" tIns="27432" rIns="45720" bIns="27432" anchor="t">
            <a:spAutoFit/>
          </a:bodyPr>
          <a:lstStyle/>
          <a:p>
            <a:pPr algn="l">
              <a:spcAft>
                <a:spcPts val="1400"/>
              </a:spcAft>
            </a:pPr>
            <a:r>
              <a:rPr sz="2400" b="1" i="0">
                <a:solidFill>
                  <a:schemeClr val="tx1"/>
                </a:solidFill>
                <a:latin typeface="Times New Roman" panose="02020603050405020304" charset="0"/>
                <a:cs typeface="Times New Roman" panose="02020603050405020304" charset="0"/>
              </a:rPr>
              <a:t>Presentation:</a:t>
            </a:r>
            <a:r>
              <a:rPr sz="2400" i="0">
                <a:solidFill>
                  <a:schemeClr val="tx1"/>
                </a:solidFill>
                <a:latin typeface="Times New Roman" panose="02020603050405020304" charset="0"/>
                <a:cs typeface="Times New Roman" panose="02020603050405020304" charset="0"/>
              </a:rPr>
              <a:t> React PWA on the phone, with offline cache and message queue.</a:t>
            </a:r>
            <a:endParaRPr sz="2400" i="0">
              <a:solidFill>
                <a:schemeClr val="tx1"/>
              </a:solidFill>
              <a:latin typeface="Times New Roman" panose="02020603050405020304" charset="0"/>
              <a:cs typeface="Times New Roman" panose="02020603050405020304" charset="0"/>
            </a:endParaRPr>
          </a:p>
          <a:p>
            <a:pPr algn="l">
              <a:spcAft>
                <a:spcPts val="1400"/>
              </a:spcAft>
            </a:pPr>
            <a:r>
              <a:rPr sz="2400" b="1" i="0">
                <a:solidFill>
                  <a:schemeClr val="tx1"/>
                </a:solidFill>
                <a:latin typeface="Times New Roman" panose="02020603050405020304" charset="0"/>
                <a:cs typeface="Times New Roman" panose="02020603050405020304" charset="0"/>
              </a:rPr>
              <a:t>Application:</a:t>
            </a:r>
            <a:r>
              <a:rPr sz="2400" i="0">
                <a:solidFill>
                  <a:schemeClr val="tx1"/>
                </a:solidFill>
                <a:latin typeface="Times New Roman" panose="02020603050405020304" charset="0"/>
                <a:cs typeface="Times New Roman" panose="02020603050405020304" charset="0"/>
              </a:rPr>
              <a:t> Express REST API and Socket.io server. Only the server writes trust blocks.</a:t>
            </a:r>
            <a:endParaRPr sz="2400" i="0">
              <a:solidFill>
                <a:schemeClr val="tx1"/>
              </a:solidFill>
              <a:latin typeface="Times New Roman" panose="02020603050405020304" charset="0"/>
              <a:cs typeface="Times New Roman" panose="02020603050405020304" charset="0"/>
            </a:endParaRPr>
          </a:p>
          <a:p>
            <a:pPr algn="l">
              <a:spcAft>
                <a:spcPts val="1400"/>
              </a:spcAft>
            </a:pPr>
            <a:r>
              <a:rPr sz="2400" b="1" i="0">
                <a:solidFill>
                  <a:schemeClr val="tx1"/>
                </a:solidFill>
                <a:latin typeface="Times New Roman" panose="02020603050405020304" charset="0"/>
                <a:cs typeface="Times New Roman" panose="02020603050405020304" charset="0"/>
              </a:rPr>
              <a:t>Data:</a:t>
            </a:r>
            <a:r>
              <a:rPr sz="2400" i="0">
                <a:solidFill>
                  <a:schemeClr val="tx1"/>
                </a:solidFill>
                <a:latin typeface="Times New Roman" panose="02020603050405020304" charset="0"/>
                <a:cs typeface="Times New Roman" panose="02020603050405020304" charset="0"/>
              </a:rPr>
              <a:t> MongoDB Atlas (seven collections) and Cloudinary for photos.</a:t>
            </a:r>
            <a:endParaRPr sz="2400" i="0">
              <a:solidFill>
                <a:schemeClr val="tx1"/>
              </a:solidFill>
              <a:latin typeface="Times New Roman" panose="02020603050405020304" charset="0"/>
              <a:cs typeface="Times New Roman" panose="02020603050405020304" charset="0"/>
            </a:endParaRPr>
          </a:p>
        </p:txBody>
      </p:sp>
      <p:pic>
        <p:nvPicPr>
          <p:cNvPr id="8" name="Picture 7" descr="FYP-DESIGN.drawio"/>
          <p:cNvPicPr>
            <a:picLocks noChangeAspect="1"/>
          </p:cNvPicPr>
          <p:nvPr/>
        </p:nvPicPr>
        <p:blipFill>
          <a:blip r:embed="rId1"/>
          <a:stretch>
            <a:fillRect/>
          </a:stretch>
        </p:blipFill>
        <p:spPr>
          <a:xfrm>
            <a:off x="74295" y="800100"/>
            <a:ext cx="7789545" cy="52578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a:gsLst>
            <a:gs pos="50000">
              <a:schemeClr val="accent3"/>
            </a:gs>
            <a:gs pos="0">
              <a:schemeClr val="accent3">
                <a:lumMod val="25000"/>
                <a:lumOff val="75000"/>
              </a:schemeClr>
            </a:gs>
            <a:gs pos="100000">
              <a:schemeClr val="accent3">
                <a:lumMod val="85000"/>
              </a:schemeClr>
            </a:gs>
          </a:gsLst>
          <a:lin ang="5400000" scaled="1"/>
        </a:gradFill>
        <a:effectLst/>
      </p:bgPr>
    </p:bg>
    <p:spTree>
      <p:nvGrpSpPr>
        <p:cNvPr id="1" name=""/>
        <p:cNvGrpSpPr/>
        <p:nvPr/>
      </p:nvGrpSpPr>
      <p:grpSpPr>
        <a:xfrm>
          <a:off x="0" y="0"/>
          <a:ext cx="0" cy="0"/>
          <a:chOff x="0" y="0"/>
          <a:chExt cx="0" cy="0"/>
        </a:xfrm>
      </p:grpSpPr>
      <p:sp>
        <p:nvSpPr>
          <p:cNvPr id="2" name="TextBox 1"/>
          <p:cNvSpPr txBox="1"/>
          <p:nvPr/>
        </p:nvSpPr>
        <p:spPr>
          <a:xfrm>
            <a:off x="869950" y="0"/>
            <a:ext cx="8661400" cy="1014730"/>
          </a:xfrm>
          <a:prstGeom prst="rect">
            <a:avLst/>
          </a:prstGeom>
          <a:noFill/>
        </p:spPr>
        <p:txBody>
          <a:bodyPr wrap="none">
            <a:spAutoFit/>
          </a:bodyPr>
          <a:lstStyle/>
          <a:p>
            <a:pPr algn="ctr">
              <a:lnSpc>
                <a:spcPct val="150000"/>
              </a:lnSpc>
              <a:defRPr sz="2800" b="1">
                <a:solidFill>
                  <a:srgbClr val="192D4B"/>
                </a:solidFill>
              </a:defRPr>
            </a:pPr>
            <a:r>
              <a:rPr sz="4000">
                <a:latin typeface="Times New Roman" panose="02020603050405020304" charset="0"/>
                <a:cs typeface="Times New Roman" panose="02020603050405020304" charset="0"/>
              </a:rPr>
              <a:t>Algorithms / Models / Technical Design</a:t>
            </a:r>
            <a:endParaRPr sz="4000">
              <a:latin typeface="Times New Roman" panose="02020603050405020304" charset="0"/>
              <a:cs typeface="Times New Roman" panose="02020603050405020304" charset="0"/>
            </a:endParaRPr>
          </a:p>
        </p:txBody>
      </p:sp>
      <p:sp>
        <p:nvSpPr>
          <p:cNvPr id="4" name="Rectangle 3"/>
          <p:cNvSpPr/>
          <p:nvPr/>
        </p:nvSpPr>
        <p:spPr>
          <a:xfrm>
            <a:off x="0" y="6565392"/>
            <a:ext cx="12191695" cy="292608"/>
          </a:xfrm>
          <a:prstGeom prst="rect">
            <a:avLst/>
          </a:prstGeom>
          <a:solidFill>
            <a:srgbClr val="192D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20040" y="6574536"/>
            <a:ext cx="11521440" cy="230832"/>
          </a:xfrm>
          <a:prstGeom prst="rect">
            <a:avLst/>
          </a:prstGeom>
          <a:noFill/>
        </p:spPr>
        <p:txBody>
          <a:bodyPr wrap="none">
            <a:spAutoFit/>
          </a:bodyPr>
          <a:lstStyle/>
          <a:p>
            <a:pPr>
              <a:defRPr sz="900">
                <a:solidFill>
                  <a:srgbClr val="FFFFFF"/>
                </a:solidFill>
              </a:defRPr>
            </a:pPr>
            <a:r>
              <a:rPr dirty="0"/>
              <a:t>Final Year Project • Academic Year 2026                                      7</a:t>
            </a:r>
            <a:endParaRPr dirty="0"/>
          </a:p>
        </p:txBody>
      </p:sp>
      <p:sp>
        <p:nvSpPr>
          <p:cNvPr id="7" name="TextBox 6"/>
          <p:cNvSpPr txBox="1"/>
          <p:nvPr/>
        </p:nvSpPr>
        <p:spPr>
          <a:xfrm>
            <a:off x="7726679" y="1234440"/>
            <a:ext cx="3931920" cy="5086350"/>
          </a:xfrm>
          <a:prstGeom prst="rect">
            <a:avLst/>
          </a:prstGeom>
          <a:noFill/>
        </p:spPr>
        <p:txBody>
          <a:bodyPr wrap="square" lIns="45720" tIns="27432" rIns="45720" bIns="27432" anchor="t">
            <a:spAutoFit/>
          </a:bodyPr>
          <a:lstStyle/>
          <a:p>
            <a:pPr algn="l">
              <a:lnSpc>
                <a:spcPct val="150000"/>
              </a:lnSpc>
              <a:spcAft>
                <a:spcPts val="1200"/>
              </a:spcAft>
            </a:pPr>
            <a:r>
              <a:rPr b="1" i="0">
                <a:solidFill>
                  <a:schemeClr val="tx1"/>
                </a:solidFill>
                <a:latin typeface="Times New Roman" panose="02020603050405020304" charset="0"/>
                <a:cs typeface="Times New Roman" panose="02020603050405020304" charset="0"/>
              </a:rPr>
              <a:t>Block hash:</a:t>
            </a:r>
            <a:r>
              <a:rPr i="0">
                <a:solidFill>
                  <a:schemeClr val="tx1"/>
                </a:solidFill>
                <a:latin typeface="Times New Roman" panose="02020603050405020304" charset="0"/>
                <a:cs typeface="Times New Roman" panose="02020603050405020304" charset="0"/>
              </a:rPr>
              <a:t> SHA-256 of time, event and previous hash.</a:t>
            </a:r>
            <a:endParaRPr i="0">
              <a:solidFill>
                <a:schemeClr val="tx1"/>
              </a:solidFill>
              <a:latin typeface="Times New Roman" panose="02020603050405020304" charset="0"/>
              <a:cs typeface="Times New Roman" panose="02020603050405020304" charset="0"/>
            </a:endParaRPr>
          </a:p>
          <a:p>
            <a:pPr algn="l">
              <a:lnSpc>
                <a:spcPct val="150000"/>
              </a:lnSpc>
              <a:spcAft>
                <a:spcPts val="1200"/>
              </a:spcAft>
            </a:pPr>
            <a:r>
              <a:rPr b="1" i="0">
                <a:solidFill>
                  <a:schemeClr val="tx1"/>
                </a:solidFill>
                <a:latin typeface="Times New Roman" panose="02020603050405020304" charset="0"/>
                <a:cs typeface="Times New Roman" panose="02020603050405020304" charset="0"/>
              </a:rPr>
              <a:t>Verify: </a:t>
            </a:r>
            <a:r>
              <a:rPr i="0">
                <a:solidFill>
                  <a:schemeClr val="tx1"/>
                </a:solidFill>
                <a:latin typeface="Times New Roman" panose="02020603050405020304" charset="0"/>
                <a:cs typeface="Times New Roman" panose="02020603050405020304" charset="0"/>
              </a:rPr>
              <a:t>re-hash every block, check every link, compare the last hash with the one stored on the seller.</a:t>
            </a:r>
            <a:endParaRPr i="0">
              <a:solidFill>
                <a:schemeClr val="tx1"/>
              </a:solidFill>
              <a:latin typeface="Times New Roman" panose="02020603050405020304" charset="0"/>
              <a:cs typeface="Times New Roman" panose="02020603050405020304" charset="0"/>
            </a:endParaRPr>
          </a:p>
          <a:p>
            <a:pPr algn="l">
              <a:lnSpc>
                <a:spcPct val="150000"/>
              </a:lnSpc>
              <a:spcAft>
                <a:spcPts val="1200"/>
              </a:spcAft>
            </a:pPr>
            <a:r>
              <a:rPr b="1" i="0">
                <a:solidFill>
                  <a:schemeClr val="tx1"/>
                </a:solidFill>
                <a:latin typeface="Times New Roman" panose="02020603050405020304" charset="0"/>
                <a:cs typeface="Times New Roman" panose="02020603050405020304" charset="0"/>
              </a:rPr>
              <a:t>Score:</a:t>
            </a:r>
            <a:r>
              <a:rPr i="0">
                <a:solidFill>
                  <a:schemeClr val="tx1"/>
                </a:solidFill>
                <a:latin typeface="Times New Roman" panose="02020603050405020304" charset="0"/>
                <a:cs typeface="Times New Roman" panose="02020603050405020304" charset="0"/>
              </a:rPr>
              <a:t> 50 + event weights, kept between 0 and 100. Verified +15, 5★ +8, listing +2, 1★ −5.</a:t>
            </a:r>
            <a:endParaRPr i="0">
              <a:solidFill>
                <a:schemeClr val="tx1"/>
              </a:solidFill>
              <a:latin typeface="Times New Roman" panose="02020603050405020304" charset="0"/>
              <a:cs typeface="Times New Roman" panose="02020603050405020304" charset="0"/>
            </a:endParaRPr>
          </a:p>
          <a:p>
            <a:pPr algn="l">
              <a:lnSpc>
                <a:spcPct val="150000"/>
              </a:lnSpc>
              <a:spcAft>
                <a:spcPts val="1200"/>
              </a:spcAft>
            </a:pPr>
            <a:r>
              <a:rPr b="1" i="0">
                <a:solidFill>
                  <a:schemeClr val="tx1"/>
                </a:solidFill>
                <a:latin typeface="Times New Roman" panose="02020603050405020304" charset="0"/>
                <a:cs typeface="Times New Roman" panose="02020603050405020304" charset="0"/>
              </a:rPr>
              <a:t>Voice parser:</a:t>
            </a:r>
            <a:r>
              <a:rPr i="0">
                <a:solidFill>
                  <a:schemeClr val="tx1"/>
                </a:solidFill>
                <a:latin typeface="Times New Roman" panose="02020603050405020304" charset="0"/>
                <a:cs typeface="Times New Roman" panose="02020603050405020304" charset="0"/>
              </a:rPr>
              <a:t> number words to digits, then price, quantity, unit and area by pattern.</a:t>
            </a:r>
            <a:endParaRPr i="0">
              <a:solidFill>
                <a:schemeClr val="tx1"/>
              </a:solidFill>
              <a:latin typeface="Times New Roman" panose="02020603050405020304" charset="0"/>
              <a:cs typeface="Times New Roman" panose="02020603050405020304" charset="0"/>
            </a:endParaRPr>
          </a:p>
        </p:txBody>
      </p:sp>
      <p:sp>
        <p:nvSpPr>
          <p:cNvPr id="8" name="TextBox 7"/>
          <p:cNvSpPr txBox="1"/>
          <p:nvPr/>
        </p:nvSpPr>
        <p:spPr>
          <a:xfrm>
            <a:off x="502920" y="5257800"/>
            <a:ext cx="6949440" cy="885190"/>
          </a:xfrm>
          <a:prstGeom prst="rect">
            <a:avLst/>
          </a:prstGeom>
          <a:noFill/>
        </p:spPr>
        <p:txBody>
          <a:bodyPr wrap="square" lIns="45720" tIns="27432" rIns="45720" bIns="27432" anchor="t">
            <a:spAutoFit/>
          </a:bodyPr>
          <a:lstStyle/>
          <a:p>
            <a:pPr algn="l">
              <a:lnSpc>
                <a:spcPct val="150000"/>
              </a:lnSpc>
              <a:spcAft>
                <a:spcPts val="600"/>
              </a:spcAft>
            </a:pPr>
            <a:r>
              <a:rPr b="1" i="0">
                <a:solidFill>
                  <a:schemeClr val="tx1"/>
                </a:solidFill>
                <a:latin typeface="Times New Roman" panose="02020603050405020304" charset="0"/>
                <a:cs typeface="Times New Roman" panose="02020603050405020304" charset="0"/>
              </a:rPr>
              <a:t>Why not a real blockchain?</a:t>
            </a:r>
            <a:r>
              <a:rPr sz="1600" b="1" i="0">
                <a:solidFill>
                  <a:schemeClr val="tx1"/>
                </a:solidFill>
                <a:latin typeface="Times New Roman" panose="02020603050405020304" charset="0"/>
                <a:cs typeface="Times New Roman" panose="02020603050405020304" charset="0"/>
              </a:rPr>
              <a:t> </a:t>
            </a:r>
            <a:r>
              <a:rPr b="1" i="0">
                <a:solidFill>
                  <a:schemeClr val="tx1"/>
                </a:solidFill>
                <a:latin typeface="Times New Roman" panose="02020603050405020304" charset="0"/>
                <a:cs typeface="Times New Roman" panose="02020603050405020304" charset="0"/>
              </a:rPr>
              <a:t>One operator, no need for consensus; a hash chain gives tamper evidence at no cost.</a:t>
            </a:r>
            <a:endParaRPr b="1" i="0">
              <a:solidFill>
                <a:schemeClr val="tx1"/>
              </a:solidFill>
              <a:latin typeface="Times New Roman" panose="02020603050405020304" charset="0"/>
              <a:cs typeface="Times New Roman" panose="02020603050405020304" charset="0"/>
            </a:endParaRPr>
          </a:p>
        </p:txBody>
      </p:sp>
      <p:pic>
        <p:nvPicPr>
          <p:cNvPr id="9" name="Picture 8" descr="Untitled Diagram.drawio (17)"/>
          <p:cNvPicPr>
            <a:picLocks noChangeAspect="1"/>
          </p:cNvPicPr>
          <p:nvPr/>
        </p:nvPicPr>
        <p:blipFill>
          <a:blip r:embed="rId1"/>
          <a:stretch>
            <a:fillRect/>
          </a:stretch>
        </p:blipFill>
        <p:spPr>
          <a:xfrm>
            <a:off x="503555" y="1292860"/>
            <a:ext cx="6919595" cy="398970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a:gsLst>
            <a:gs pos="50000">
              <a:schemeClr val="accent3"/>
            </a:gs>
            <a:gs pos="0">
              <a:schemeClr val="accent3">
                <a:lumMod val="25000"/>
                <a:lumOff val="75000"/>
              </a:schemeClr>
            </a:gs>
            <a:gs pos="100000">
              <a:schemeClr val="accent3">
                <a:lumMod val="85000"/>
              </a:schemeClr>
            </a:gs>
          </a:gsLst>
          <a:lin ang="5400000" scaled="1"/>
        </a:gradFill>
        <a:effectLst/>
      </p:bgPr>
    </p:bg>
    <p:spTree>
      <p:nvGrpSpPr>
        <p:cNvPr id="1" name=""/>
        <p:cNvGrpSpPr/>
        <p:nvPr/>
      </p:nvGrpSpPr>
      <p:grpSpPr>
        <a:xfrm>
          <a:off x="0" y="0"/>
          <a:ext cx="0" cy="0"/>
          <a:chOff x="0" y="0"/>
          <a:chExt cx="0" cy="0"/>
        </a:xfrm>
      </p:grpSpPr>
      <p:sp>
        <p:nvSpPr>
          <p:cNvPr id="2" name="TextBox 1"/>
          <p:cNvSpPr txBox="1"/>
          <p:nvPr/>
        </p:nvSpPr>
        <p:spPr>
          <a:xfrm>
            <a:off x="3470910" y="320040"/>
            <a:ext cx="5219700" cy="1014730"/>
          </a:xfrm>
          <a:prstGeom prst="rect">
            <a:avLst/>
          </a:prstGeom>
          <a:noFill/>
        </p:spPr>
        <p:txBody>
          <a:bodyPr wrap="none">
            <a:spAutoFit/>
          </a:bodyPr>
          <a:lstStyle/>
          <a:p>
            <a:pPr algn="ctr">
              <a:lnSpc>
                <a:spcPct val="150000"/>
              </a:lnSpc>
              <a:defRPr sz="2800" b="1">
                <a:solidFill>
                  <a:srgbClr val="192D4B"/>
                </a:solidFill>
              </a:defRPr>
            </a:pPr>
            <a:r>
              <a:rPr sz="4000">
                <a:solidFill>
                  <a:schemeClr val="tx1"/>
                </a:solidFill>
                <a:latin typeface="Times New Roman" panose="02020603050405020304" charset="0"/>
                <a:cs typeface="Times New Roman" panose="02020603050405020304" charset="0"/>
              </a:rPr>
              <a:t>Database / Data Design</a:t>
            </a:r>
            <a:endParaRPr sz="4000" dirty="0">
              <a:solidFill>
                <a:schemeClr val="tx1"/>
              </a:solidFill>
              <a:latin typeface="Times New Roman" panose="02020603050405020304" charset="0"/>
              <a:cs typeface="Times New Roman" panose="02020603050405020304" charset="0"/>
            </a:endParaRPr>
          </a:p>
        </p:txBody>
      </p:sp>
      <p:sp>
        <p:nvSpPr>
          <p:cNvPr id="4" name="Rectangle 3"/>
          <p:cNvSpPr/>
          <p:nvPr/>
        </p:nvSpPr>
        <p:spPr>
          <a:xfrm>
            <a:off x="0" y="6565392"/>
            <a:ext cx="12191695" cy="292608"/>
          </a:xfrm>
          <a:prstGeom prst="rect">
            <a:avLst/>
          </a:prstGeom>
          <a:solidFill>
            <a:schemeClr val="accent3">
              <a:lumMod val="5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50000"/>
              </a:lnSpc>
            </a:pPr>
            <a:endParaRPr>
              <a:latin typeface="Times New Roman" panose="02020603050405020304" charset="0"/>
              <a:cs typeface="Times New Roman" panose="02020603050405020304" charset="0"/>
            </a:endParaRPr>
          </a:p>
        </p:txBody>
      </p:sp>
      <p:sp>
        <p:nvSpPr>
          <p:cNvPr id="5" name="TextBox 4"/>
          <p:cNvSpPr txBox="1"/>
          <p:nvPr/>
        </p:nvSpPr>
        <p:spPr>
          <a:xfrm>
            <a:off x="320040" y="6574536"/>
            <a:ext cx="2397760" cy="299085"/>
          </a:xfrm>
          <a:prstGeom prst="rect">
            <a:avLst/>
          </a:prstGeom>
          <a:gradFill>
            <a:gsLst>
              <a:gs pos="50000">
                <a:schemeClr val="accent2"/>
              </a:gs>
              <a:gs pos="0">
                <a:schemeClr val="accent2">
                  <a:lumMod val="25000"/>
                  <a:lumOff val="75000"/>
                </a:schemeClr>
              </a:gs>
              <a:gs pos="100000">
                <a:schemeClr val="accent2">
                  <a:lumMod val="85000"/>
                </a:schemeClr>
              </a:gs>
            </a:gsLst>
            <a:lin ang="5400000" scaled="1"/>
          </a:gradFill>
        </p:spPr>
        <p:txBody>
          <a:bodyPr wrap="none">
            <a:spAutoFit/>
          </a:bodyPr>
          <a:lstStyle/>
          <a:p>
            <a:pPr>
              <a:lnSpc>
                <a:spcPct val="150000"/>
              </a:lnSpc>
              <a:defRPr sz="900">
                <a:solidFill>
                  <a:srgbClr val="FFFFFF"/>
                </a:solidFill>
              </a:defRPr>
            </a:pPr>
            <a:r>
              <a:rPr b="1" dirty="0">
                <a:solidFill>
                  <a:schemeClr val="tx1"/>
                </a:solidFill>
                <a:latin typeface="Times New Roman" panose="02020603050405020304" charset="0"/>
                <a:cs typeface="Times New Roman" panose="02020603050405020304" charset="0"/>
              </a:rPr>
              <a:t>Final Year Project • Academic Year 2026  </a:t>
            </a:r>
            <a:r>
              <a:rPr lang="en-US" b="1" dirty="0">
                <a:solidFill>
                  <a:schemeClr val="tx1"/>
                </a:solidFill>
                <a:latin typeface="Times New Roman" panose="02020603050405020304" charset="0"/>
                <a:cs typeface="Times New Roman" panose="02020603050405020304" charset="0"/>
              </a:rPr>
              <a:t>   </a:t>
            </a:r>
            <a:r>
              <a:rPr b="1" dirty="0">
                <a:solidFill>
                  <a:schemeClr val="tx1"/>
                </a:solidFill>
                <a:latin typeface="Times New Roman" panose="02020603050405020304" charset="0"/>
                <a:cs typeface="Times New Roman" panose="02020603050405020304" charset="0"/>
              </a:rPr>
              <a:t>6</a:t>
            </a:r>
            <a:endParaRPr b="1" dirty="0">
              <a:solidFill>
                <a:schemeClr val="tx1"/>
              </a:solidFill>
              <a:latin typeface="Times New Roman" panose="02020603050405020304" charset="0"/>
              <a:cs typeface="Times New Roman" panose="02020603050405020304" charset="0"/>
            </a:endParaRPr>
          </a:p>
        </p:txBody>
      </p:sp>
      <p:graphicFrame>
        <p:nvGraphicFramePr>
          <p:cNvPr id="6" name="Table 5"/>
          <p:cNvGraphicFramePr>
            <a:graphicFrameLocks noGrp="1"/>
          </p:cNvGraphicFramePr>
          <p:nvPr/>
        </p:nvGraphicFramePr>
        <p:xfrm>
          <a:off x="548640" y="1234440"/>
          <a:ext cx="11064240" cy="4096512"/>
        </p:xfrm>
        <a:graphic>
          <a:graphicData uri="http://schemas.openxmlformats.org/drawingml/2006/table">
            <a:tbl>
              <a:tblPr firstRow="1" bandRow="1">
                <a:tableStyleId>{5C22544A-7EE6-4342-B048-85BDC9FD1C3A}</a:tableStyleId>
              </a:tblPr>
              <a:tblGrid>
                <a:gridCol w="1828800"/>
                <a:gridCol w="5120640"/>
                <a:gridCol w="4114800"/>
              </a:tblGrid>
              <a:tr h="512064">
                <a:tc>
                  <a:txBody>
                    <a:bodyPr wrap="square"/>
                    <a:lstStyle/>
                    <a:p>
                      <a:pPr>
                        <a:lnSpc>
                          <a:spcPct val="150000"/>
                        </a:lnSpc>
                      </a:pPr>
                      <a:r>
                        <a:rPr sz="2000" b="1">
                          <a:solidFill>
                            <a:schemeClr val="tx1"/>
                          </a:solidFill>
                          <a:latin typeface="Times New Roman" panose="02020603050405020304" charset="0"/>
                          <a:cs typeface="Times New Roman" panose="02020603050405020304" charset="0"/>
                        </a:rPr>
                        <a:t>Collection</a:t>
                      </a:r>
                      <a:endParaRPr sz="2000" b="1">
                        <a:solidFill>
                          <a:schemeClr val="tx1"/>
                        </a:solidFill>
                        <a:latin typeface="Times New Roman" panose="02020603050405020304" charset="0"/>
                        <a:cs typeface="Times New Roman" panose="02020603050405020304" charset="0"/>
                      </a:endParaRPr>
                    </a:p>
                  </a:txBody>
                  <a:tcPr marL="73152" marR="73152" marT="36576" marB="36576" anchor="ctr">
                    <a:solidFill>
                      <a:schemeClr val="accent3">
                        <a:lumMod val="60000"/>
                        <a:lumOff val="40000"/>
                      </a:schemeClr>
                    </a:solidFill>
                  </a:tcPr>
                </a:tc>
                <a:tc>
                  <a:txBody>
                    <a:bodyPr wrap="square"/>
                    <a:lstStyle/>
                    <a:p>
                      <a:pPr>
                        <a:lnSpc>
                          <a:spcPct val="150000"/>
                        </a:lnSpc>
                      </a:pPr>
                      <a:r>
                        <a:rPr sz="2000" b="1">
                          <a:solidFill>
                            <a:schemeClr val="tx1"/>
                          </a:solidFill>
                          <a:latin typeface="Times New Roman" panose="02020603050405020304" charset="0"/>
                          <a:cs typeface="Times New Roman" panose="02020603050405020304" charset="0"/>
                        </a:rPr>
                        <a:t>Key fields</a:t>
                      </a:r>
                      <a:endParaRPr sz="2000" b="1">
                        <a:solidFill>
                          <a:schemeClr val="tx1"/>
                        </a:solidFill>
                        <a:latin typeface="Times New Roman" panose="02020603050405020304" charset="0"/>
                        <a:cs typeface="Times New Roman" panose="02020603050405020304" charset="0"/>
                      </a:endParaRPr>
                    </a:p>
                  </a:txBody>
                  <a:tcPr marL="73152" marR="73152" marT="36576" marB="36576" anchor="ctr">
                    <a:solidFill>
                      <a:schemeClr val="accent3">
                        <a:lumMod val="60000"/>
                        <a:lumOff val="40000"/>
                      </a:schemeClr>
                    </a:solidFill>
                  </a:tcPr>
                </a:tc>
                <a:tc>
                  <a:txBody>
                    <a:bodyPr wrap="square"/>
                    <a:lstStyle/>
                    <a:p>
                      <a:pPr>
                        <a:lnSpc>
                          <a:spcPct val="150000"/>
                        </a:lnSpc>
                      </a:pPr>
                      <a:r>
                        <a:rPr sz="2000" b="1">
                          <a:solidFill>
                            <a:schemeClr val="tx1"/>
                          </a:solidFill>
                          <a:latin typeface="Times New Roman" panose="02020603050405020304" charset="0"/>
                          <a:cs typeface="Times New Roman" panose="02020603050405020304" charset="0"/>
                        </a:rPr>
                        <a:t>Design decision</a:t>
                      </a:r>
                      <a:endParaRPr sz="2000" b="1">
                        <a:solidFill>
                          <a:schemeClr val="tx1"/>
                        </a:solidFill>
                        <a:latin typeface="Times New Roman" panose="02020603050405020304" charset="0"/>
                        <a:cs typeface="Times New Roman" panose="02020603050405020304" charset="0"/>
                      </a:endParaRPr>
                    </a:p>
                  </a:txBody>
                  <a:tcPr marL="73152" marR="73152" marT="36576" marB="36576" anchor="ctr">
                    <a:solidFill>
                      <a:schemeClr val="accent3">
                        <a:lumMod val="60000"/>
                        <a:lumOff val="40000"/>
                      </a:schemeClr>
                    </a:solidFill>
                  </a:tcPr>
                </a:tc>
              </a:tr>
              <a:tr h="512064">
                <a:tc>
                  <a:txBody>
                    <a:bodyPr wrap="square"/>
                    <a:lstStyle/>
                    <a:p>
                      <a:pPr>
                        <a:lnSpc>
                          <a:spcPct val="150000"/>
                        </a:lnSpc>
                      </a:pPr>
                      <a:r>
                        <a:rPr sz="1600" b="1">
                          <a:solidFill>
                            <a:schemeClr val="tx1"/>
                          </a:solidFill>
                          <a:latin typeface="Times New Roman" panose="02020603050405020304" charset="0"/>
                          <a:cs typeface="Times New Roman" panose="02020603050405020304" charset="0"/>
                        </a:rPr>
                        <a:t>User</a:t>
                      </a:r>
                      <a:endParaRPr sz="1600" b="1">
                        <a:solidFill>
                          <a:schemeClr val="tx1"/>
                        </a:solidFill>
                        <a:latin typeface="Times New Roman" panose="02020603050405020304" charset="0"/>
                        <a:cs typeface="Times New Roman" panose="02020603050405020304" charset="0"/>
                      </a:endParaRPr>
                    </a:p>
                  </a:txBody>
                  <a:tcPr marL="73152" marR="73152" marT="36576" marB="36576" anchor="ctr">
                    <a:solidFill>
                      <a:schemeClr val="accent3">
                        <a:lumMod val="20000"/>
                        <a:lumOff val="80000"/>
                      </a:schemeClr>
                    </a:solidFill>
                  </a:tcPr>
                </a:tc>
                <a:tc>
                  <a:txBody>
                    <a:bodyPr wrap="square"/>
                    <a:lstStyle/>
                    <a:p>
                      <a:pPr>
                        <a:lnSpc>
                          <a:spcPct val="150000"/>
                        </a:lnSpc>
                      </a:pPr>
                      <a:r>
                        <a:rPr sz="1600" b="1">
                          <a:solidFill>
                            <a:schemeClr val="tx1"/>
                          </a:solidFill>
                          <a:latin typeface="Times New Roman" panose="02020603050405020304" charset="0"/>
                          <a:cs typeface="Times New Roman" panose="02020603050405020304" charset="0"/>
                        </a:rPr>
                        <a:t>phone (unique), role, neighbourhood, trustScore {score, chainHash}</a:t>
                      </a:r>
                      <a:endParaRPr sz="1600" b="1">
                        <a:solidFill>
                          <a:schemeClr val="tx1"/>
                        </a:solidFill>
                        <a:latin typeface="Times New Roman" panose="02020603050405020304" charset="0"/>
                        <a:cs typeface="Times New Roman" panose="02020603050405020304" charset="0"/>
                      </a:endParaRPr>
                    </a:p>
                  </a:txBody>
                  <a:tcPr marL="73152" marR="73152" marT="36576" marB="36576" anchor="ctr">
                    <a:solidFill>
                      <a:schemeClr val="accent3">
                        <a:lumMod val="20000"/>
                        <a:lumOff val="80000"/>
                      </a:schemeClr>
                    </a:solidFill>
                  </a:tcPr>
                </a:tc>
                <a:tc>
                  <a:txBody>
                    <a:bodyPr wrap="square"/>
                    <a:lstStyle/>
                    <a:p>
                      <a:pPr>
                        <a:lnSpc>
                          <a:spcPct val="150000"/>
                        </a:lnSpc>
                      </a:pPr>
                      <a:r>
                        <a:rPr sz="1600" b="1">
                          <a:solidFill>
                            <a:schemeClr val="tx1"/>
                          </a:solidFill>
                          <a:latin typeface="Times New Roman" panose="02020603050405020304" charset="0"/>
                          <a:cs typeface="Times New Roman" panose="02020603050405020304" charset="0"/>
                        </a:rPr>
                        <a:t>Head hash of the chain stored here</a:t>
                      </a:r>
                      <a:endParaRPr sz="1600" b="1">
                        <a:solidFill>
                          <a:schemeClr val="tx1"/>
                        </a:solidFill>
                        <a:latin typeface="Times New Roman" panose="02020603050405020304" charset="0"/>
                        <a:cs typeface="Times New Roman" panose="02020603050405020304" charset="0"/>
                      </a:endParaRPr>
                    </a:p>
                  </a:txBody>
                  <a:tcPr marL="73152" marR="73152" marT="36576" marB="36576" anchor="ctr">
                    <a:solidFill>
                      <a:schemeClr val="accent3">
                        <a:lumMod val="20000"/>
                        <a:lumOff val="80000"/>
                      </a:schemeClr>
                    </a:solidFill>
                  </a:tcPr>
                </a:tc>
              </a:tr>
              <a:tr h="512064">
                <a:tc>
                  <a:txBody>
                    <a:bodyPr wrap="square"/>
                    <a:lstStyle/>
                    <a:p>
                      <a:pPr>
                        <a:lnSpc>
                          <a:spcPct val="150000"/>
                        </a:lnSpc>
                      </a:pPr>
                      <a:r>
                        <a:rPr sz="1600" b="1">
                          <a:solidFill>
                            <a:schemeClr val="tx1"/>
                          </a:solidFill>
                          <a:latin typeface="Times New Roman" panose="02020603050405020304" charset="0"/>
                          <a:cs typeface="Times New Roman" panose="02020603050405020304" charset="0"/>
                        </a:rPr>
                        <a:t>Listing</a:t>
                      </a:r>
                      <a:endParaRPr sz="1600" b="1">
                        <a:solidFill>
                          <a:schemeClr val="tx1"/>
                        </a:solidFill>
                        <a:latin typeface="Times New Roman" panose="02020603050405020304" charset="0"/>
                        <a:cs typeface="Times New Roman" panose="02020603050405020304" charset="0"/>
                      </a:endParaRPr>
                    </a:p>
                  </a:txBody>
                  <a:tcPr marL="73152" marR="73152" marT="36576" marB="36576" anchor="ctr">
                    <a:solidFill>
                      <a:schemeClr val="accent3">
                        <a:lumMod val="40000"/>
                        <a:lumOff val="60000"/>
                      </a:schemeClr>
                    </a:solidFill>
                  </a:tcPr>
                </a:tc>
                <a:tc>
                  <a:txBody>
                    <a:bodyPr wrap="square"/>
                    <a:lstStyle/>
                    <a:p>
                      <a:pPr>
                        <a:lnSpc>
                          <a:spcPct val="150000"/>
                        </a:lnSpc>
                      </a:pPr>
                      <a:r>
                        <a:rPr sz="1600" b="1">
                          <a:solidFill>
                            <a:schemeClr val="tx1"/>
                          </a:solidFill>
                          <a:latin typeface="Times New Roman" panose="02020603050405020304" charset="0"/>
                          <a:cs typeface="Times New Roman" panose="02020603050405020304" charset="0"/>
                        </a:rPr>
                        <a:t>seller, price, unit, quantity, neighbourhood, image, status</a:t>
                      </a:r>
                      <a:endParaRPr sz="1600" b="1">
                        <a:solidFill>
                          <a:schemeClr val="tx1"/>
                        </a:solidFill>
                        <a:latin typeface="Times New Roman" panose="02020603050405020304" charset="0"/>
                        <a:cs typeface="Times New Roman" panose="02020603050405020304" charset="0"/>
                      </a:endParaRPr>
                    </a:p>
                  </a:txBody>
                  <a:tcPr marL="73152" marR="73152" marT="36576" marB="36576" anchor="ctr">
                    <a:solidFill>
                      <a:schemeClr val="accent3">
                        <a:lumMod val="40000"/>
                        <a:lumOff val="60000"/>
                      </a:schemeClr>
                    </a:solidFill>
                  </a:tcPr>
                </a:tc>
                <a:tc>
                  <a:txBody>
                    <a:bodyPr wrap="square"/>
                    <a:lstStyle/>
                    <a:p>
                      <a:pPr>
                        <a:lnSpc>
                          <a:spcPct val="150000"/>
                        </a:lnSpc>
                      </a:pPr>
                      <a:r>
                        <a:rPr sz="1600" b="1">
                          <a:solidFill>
                            <a:schemeClr val="tx1"/>
                          </a:solidFill>
                          <a:latin typeface="Times New Roman" panose="02020603050405020304" charset="0"/>
                          <a:cs typeface="Times New Roman" panose="02020603050405020304" charset="0"/>
                        </a:rPr>
                        <a:t>Index on (neighbourhood, status, date)</a:t>
                      </a:r>
                      <a:endParaRPr sz="1600" b="1">
                        <a:solidFill>
                          <a:schemeClr val="tx1"/>
                        </a:solidFill>
                        <a:latin typeface="Times New Roman" panose="02020603050405020304" charset="0"/>
                        <a:cs typeface="Times New Roman" panose="02020603050405020304" charset="0"/>
                      </a:endParaRPr>
                    </a:p>
                  </a:txBody>
                  <a:tcPr marL="73152" marR="73152" marT="36576" marB="36576" anchor="ctr">
                    <a:solidFill>
                      <a:schemeClr val="accent3">
                        <a:lumMod val="40000"/>
                        <a:lumOff val="60000"/>
                      </a:schemeClr>
                    </a:solidFill>
                  </a:tcPr>
                </a:tc>
              </a:tr>
              <a:tr h="512064">
                <a:tc>
                  <a:txBody>
                    <a:bodyPr wrap="square"/>
                    <a:lstStyle/>
                    <a:p>
                      <a:pPr>
                        <a:lnSpc>
                          <a:spcPct val="150000"/>
                        </a:lnSpc>
                      </a:pPr>
                      <a:r>
                        <a:rPr sz="1600" b="1">
                          <a:solidFill>
                            <a:schemeClr val="tx1"/>
                          </a:solidFill>
                          <a:latin typeface="Times New Roman" panose="02020603050405020304" charset="0"/>
                          <a:cs typeface="Times New Roman" panose="02020603050405020304" charset="0"/>
                        </a:rPr>
                        <a:t>Conversation</a:t>
                      </a:r>
                      <a:endParaRPr sz="1600" b="1">
                        <a:solidFill>
                          <a:schemeClr val="tx1"/>
                        </a:solidFill>
                        <a:latin typeface="Times New Roman" panose="02020603050405020304" charset="0"/>
                        <a:cs typeface="Times New Roman" panose="02020603050405020304" charset="0"/>
                      </a:endParaRPr>
                    </a:p>
                  </a:txBody>
                  <a:tcPr marL="73152" marR="73152" marT="36576" marB="36576" anchor="ctr">
                    <a:solidFill>
                      <a:schemeClr val="accent3">
                        <a:lumMod val="20000"/>
                        <a:lumOff val="80000"/>
                      </a:schemeClr>
                    </a:solidFill>
                  </a:tcPr>
                </a:tc>
                <a:tc>
                  <a:txBody>
                    <a:bodyPr wrap="square"/>
                    <a:lstStyle/>
                    <a:p>
                      <a:pPr>
                        <a:lnSpc>
                          <a:spcPct val="150000"/>
                        </a:lnSpc>
                      </a:pPr>
                      <a:r>
                        <a:rPr sz="1600" b="1">
                          <a:solidFill>
                            <a:schemeClr val="tx1"/>
                          </a:solidFill>
                          <a:latin typeface="Times New Roman" panose="02020603050405020304" charset="0"/>
                          <a:cs typeface="Times New Roman" panose="02020603050405020304" charset="0"/>
                        </a:rPr>
                        <a:t>listing, buyer, seller, lastMessage, unread counts</a:t>
                      </a:r>
                      <a:endParaRPr sz="1600" b="1">
                        <a:solidFill>
                          <a:schemeClr val="tx1"/>
                        </a:solidFill>
                        <a:latin typeface="Times New Roman" panose="02020603050405020304" charset="0"/>
                        <a:cs typeface="Times New Roman" panose="02020603050405020304" charset="0"/>
                      </a:endParaRPr>
                    </a:p>
                  </a:txBody>
                  <a:tcPr marL="73152" marR="73152" marT="36576" marB="36576" anchor="ctr">
                    <a:solidFill>
                      <a:schemeClr val="accent3">
                        <a:lumMod val="20000"/>
                        <a:lumOff val="80000"/>
                      </a:schemeClr>
                    </a:solidFill>
                  </a:tcPr>
                </a:tc>
                <a:tc>
                  <a:txBody>
                    <a:bodyPr wrap="square"/>
                    <a:lstStyle/>
                    <a:p>
                      <a:pPr>
                        <a:lnSpc>
                          <a:spcPct val="150000"/>
                        </a:lnSpc>
                      </a:pPr>
                      <a:r>
                        <a:rPr sz="1600" b="1">
                          <a:solidFill>
                            <a:schemeClr val="tx1"/>
                          </a:solidFill>
                          <a:latin typeface="Times New Roman" panose="02020603050405020304" charset="0"/>
                          <a:cs typeface="Times New Roman" panose="02020603050405020304" charset="0"/>
                        </a:rPr>
                        <a:t>One per buyer per listing (unique)</a:t>
                      </a:r>
                      <a:endParaRPr sz="1600" b="1">
                        <a:solidFill>
                          <a:schemeClr val="tx1"/>
                        </a:solidFill>
                        <a:latin typeface="Times New Roman" panose="02020603050405020304" charset="0"/>
                        <a:cs typeface="Times New Roman" panose="02020603050405020304" charset="0"/>
                      </a:endParaRPr>
                    </a:p>
                  </a:txBody>
                  <a:tcPr marL="73152" marR="73152" marT="36576" marB="36576" anchor="ctr">
                    <a:solidFill>
                      <a:schemeClr val="accent3">
                        <a:lumMod val="20000"/>
                        <a:lumOff val="80000"/>
                      </a:schemeClr>
                    </a:solidFill>
                  </a:tcPr>
                </a:tc>
              </a:tr>
              <a:tr h="512064">
                <a:tc>
                  <a:txBody>
                    <a:bodyPr wrap="square"/>
                    <a:lstStyle/>
                    <a:p>
                      <a:pPr>
                        <a:lnSpc>
                          <a:spcPct val="150000"/>
                        </a:lnSpc>
                      </a:pPr>
                      <a:r>
                        <a:rPr sz="1600" b="1">
                          <a:solidFill>
                            <a:schemeClr val="tx1"/>
                          </a:solidFill>
                          <a:latin typeface="Times New Roman" panose="02020603050405020304" charset="0"/>
                          <a:cs typeface="Times New Roman" panose="02020603050405020304" charset="0"/>
                        </a:rPr>
                        <a:t>Message</a:t>
                      </a:r>
                      <a:endParaRPr sz="1600" b="1">
                        <a:solidFill>
                          <a:schemeClr val="tx1"/>
                        </a:solidFill>
                        <a:latin typeface="Times New Roman" panose="02020603050405020304" charset="0"/>
                        <a:cs typeface="Times New Roman" panose="02020603050405020304" charset="0"/>
                      </a:endParaRPr>
                    </a:p>
                  </a:txBody>
                  <a:tcPr marL="73152" marR="73152" marT="36576" marB="36576" anchor="ctr">
                    <a:solidFill>
                      <a:schemeClr val="accent3">
                        <a:lumMod val="40000"/>
                        <a:lumOff val="60000"/>
                      </a:schemeClr>
                    </a:solidFill>
                  </a:tcPr>
                </a:tc>
                <a:tc>
                  <a:txBody>
                    <a:bodyPr wrap="square"/>
                    <a:lstStyle/>
                    <a:p>
                      <a:pPr>
                        <a:lnSpc>
                          <a:spcPct val="150000"/>
                        </a:lnSpc>
                      </a:pPr>
                      <a:r>
                        <a:rPr sz="1600" b="1">
                          <a:solidFill>
                            <a:schemeClr val="tx1"/>
                          </a:solidFill>
                          <a:latin typeface="Times New Roman" panose="02020603050405020304" charset="0"/>
                          <a:cs typeface="Times New Roman" panose="02020603050405020304" charset="0"/>
                        </a:rPr>
                        <a:t>conversation, sender, text, readAt</a:t>
                      </a:r>
                      <a:endParaRPr sz="1600" b="1">
                        <a:solidFill>
                          <a:schemeClr val="tx1"/>
                        </a:solidFill>
                        <a:latin typeface="Times New Roman" panose="02020603050405020304" charset="0"/>
                        <a:cs typeface="Times New Roman" panose="02020603050405020304" charset="0"/>
                      </a:endParaRPr>
                    </a:p>
                  </a:txBody>
                  <a:tcPr marL="73152" marR="73152" marT="36576" marB="36576" anchor="ctr">
                    <a:solidFill>
                      <a:schemeClr val="accent3">
                        <a:lumMod val="40000"/>
                        <a:lumOff val="60000"/>
                      </a:schemeClr>
                    </a:solidFill>
                  </a:tcPr>
                </a:tc>
                <a:tc>
                  <a:txBody>
                    <a:bodyPr wrap="square"/>
                    <a:lstStyle/>
                    <a:p>
                      <a:pPr>
                        <a:lnSpc>
                          <a:spcPct val="150000"/>
                        </a:lnSpc>
                      </a:pPr>
                      <a:r>
                        <a:rPr sz="1600" b="1">
                          <a:solidFill>
                            <a:schemeClr val="tx1"/>
                          </a:solidFill>
                          <a:latin typeface="Times New Roman" panose="02020603050405020304" charset="0"/>
                          <a:cs typeface="Times New Roman" panose="02020603050405020304" charset="0"/>
                        </a:rPr>
                        <a:t>Index on (conversation, date)</a:t>
                      </a:r>
                      <a:endParaRPr sz="1600" b="1">
                        <a:solidFill>
                          <a:schemeClr val="tx1"/>
                        </a:solidFill>
                        <a:latin typeface="Times New Roman" panose="02020603050405020304" charset="0"/>
                        <a:cs typeface="Times New Roman" panose="02020603050405020304" charset="0"/>
                      </a:endParaRPr>
                    </a:p>
                  </a:txBody>
                  <a:tcPr marL="73152" marR="73152" marT="36576" marB="36576" anchor="ctr">
                    <a:solidFill>
                      <a:schemeClr val="accent3">
                        <a:lumMod val="40000"/>
                        <a:lumOff val="60000"/>
                      </a:schemeClr>
                    </a:solidFill>
                  </a:tcPr>
                </a:tc>
              </a:tr>
              <a:tr h="512064">
                <a:tc>
                  <a:txBody>
                    <a:bodyPr wrap="square"/>
                    <a:lstStyle/>
                    <a:p>
                      <a:pPr>
                        <a:lnSpc>
                          <a:spcPct val="150000"/>
                        </a:lnSpc>
                      </a:pPr>
                      <a:r>
                        <a:rPr sz="1600" b="1">
                          <a:solidFill>
                            <a:schemeClr val="tx1"/>
                          </a:solidFill>
                          <a:latin typeface="Times New Roman" panose="02020603050405020304" charset="0"/>
                          <a:cs typeface="Times New Roman" panose="02020603050405020304" charset="0"/>
                        </a:rPr>
                        <a:t>TrustChain</a:t>
                      </a:r>
                      <a:endParaRPr sz="1600" b="1">
                        <a:solidFill>
                          <a:schemeClr val="tx1"/>
                        </a:solidFill>
                        <a:latin typeface="Times New Roman" panose="02020603050405020304" charset="0"/>
                        <a:cs typeface="Times New Roman" panose="02020603050405020304" charset="0"/>
                      </a:endParaRPr>
                    </a:p>
                  </a:txBody>
                  <a:tcPr marL="73152" marR="73152" marT="36576" marB="36576" anchor="ctr">
                    <a:solidFill>
                      <a:schemeClr val="accent3">
                        <a:lumMod val="20000"/>
                        <a:lumOff val="80000"/>
                      </a:schemeClr>
                    </a:solidFill>
                  </a:tcPr>
                </a:tc>
                <a:tc>
                  <a:txBody>
                    <a:bodyPr wrap="square"/>
                    <a:lstStyle/>
                    <a:p>
                      <a:pPr>
                        <a:lnSpc>
                          <a:spcPct val="150000"/>
                        </a:lnSpc>
                      </a:pPr>
                      <a:r>
                        <a:rPr sz="1600" b="1">
                          <a:solidFill>
                            <a:schemeClr val="tx1"/>
                          </a:solidFill>
                          <a:latin typeface="Times New Roman" panose="02020603050405020304" charset="0"/>
                          <a:cs typeface="Times New Roman" panose="02020603050405020304" charset="0"/>
                        </a:rPr>
                        <a:t>seller, blockIndex, timestamp, event, previousHash, hash</a:t>
                      </a:r>
                      <a:endParaRPr sz="1600" b="1">
                        <a:solidFill>
                          <a:schemeClr val="tx1"/>
                        </a:solidFill>
                        <a:latin typeface="Times New Roman" panose="02020603050405020304" charset="0"/>
                        <a:cs typeface="Times New Roman" panose="02020603050405020304" charset="0"/>
                      </a:endParaRPr>
                    </a:p>
                  </a:txBody>
                  <a:tcPr marL="73152" marR="73152" marT="36576" marB="36576" anchor="ctr">
                    <a:solidFill>
                      <a:schemeClr val="accent3">
                        <a:lumMod val="20000"/>
                        <a:lumOff val="80000"/>
                      </a:schemeClr>
                    </a:solidFill>
                  </a:tcPr>
                </a:tc>
                <a:tc>
                  <a:txBody>
                    <a:bodyPr wrap="square"/>
                    <a:lstStyle/>
                    <a:p>
                      <a:pPr>
                        <a:lnSpc>
                          <a:spcPct val="150000"/>
                        </a:lnSpc>
                      </a:pPr>
                      <a:r>
                        <a:rPr sz="1600" b="1">
                          <a:solidFill>
                            <a:schemeClr val="tx1"/>
                          </a:solidFill>
                          <a:latin typeface="Times New Roman" panose="02020603050405020304" charset="0"/>
                          <a:cs typeface="Times New Roman" panose="02020603050405020304" charset="0"/>
                        </a:rPr>
                        <a:t>Unique (seller, blockIndex): no forks</a:t>
                      </a:r>
                      <a:endParaRPr sz="1600" b="1">
                        <a:solidFill>
                          <a:schemeClr val="tx1"/>
                        </a:solidFill>
                        <a:latin typeface="Times New Roman" panose="02020603050405020304" charset="0"/>
                        <a:cs typeface="Times New Roman" panose="02020603050405020304" charset="0"/>
                      </a:endParaRPr>
                    </a:p>
                  </a:txBody>
                  <a:tcPr marL="73152" marR="73152" marT="36576" marB="36576" anchor="ctr">
                    <a:solidFill>
                      <a:schemeClr val="accent3">
                        <a:lumMod val="20000"/>
                        <a:lumOff val="80000"/>
                      </a:schemeClr>
                    </a:solidFill>
                  </a:tcPr>
                </a:tc>
              </a:tr>
              <a:tr h="512064">
                <a:tc>
                  <a:txBody>
                    <a:bodyPr wrap="square"/>
                    <a:lstStyle/>
                    <a:p>
                      <a:pPr>
                        <a:lnSpc>
                          <a:spcPct val="150000"/>
                        </a:lnSpc>
                      </a:pPr>
                      <a:r>
                        <a:rPr sz="1600" b="1">
                          <a:solidFill>
                            <a:schemeClr val="tx1"/>
                          </a:solidFill>
                          <a:latin typeface="Times New Roman" panose="02020603050405020304" charset="0"/>
                          <a:cs typeface="Times New Roman" panose="02020603050405020304" charset="0"/>
                        </a:rPr>
                        <a:t>OTP</a:t>
                      </a:r>
                      <a:endParaRPr sz="1600" b="1">
                        <a:solidFill>
                          <a:schemeClr val="tx1"/>
                        </a:solidFill>
                        <a:latin typeface="Times New Roman" panose="02020603050405020304" charset="0"/>
                        <a:cs typeface="Times New Roman" panose="02020603050405020304" charset="0"/>
                      </a:endParaRPr>
                    </a:p>
                  </a:txBody>
                  <a:tcPr marL="73152" marR="73152" marT="36576" marB="36576" anchor="ctr">
                    <a:solidFill>
                      <a:schemeClr val="accent3">
                        <a:lumMod val="40000"/>
                        <a:lumOff val="60000"/>
                      </a:schemeClr>
                    </a:solidFill>
                  </a:tcPr>
                </a:tc>
                <a:tc>
                  <a:txBody>
                    <a:bodyPr wrap="square"/>
                    <a:lstStyle/>
                    <a:p>
                      <a:pPr>
                        <a:lnSpc>
                          <a:spcPct val="150000"/>
                        </a:lnSpc>
                      </a:pPr>
                      <a:r>
                        <a:rPr sz="1600" b="1">
                          <a:solidFill>
                            <a:schemeClr val="tx1"/>
                          </a:solidFill>
                          <a:latin typeface="Times New Roman" panose="02020603050405020304" charset="0"/>
                          <a:cs typeface="Times New Roman" panose="02020603050405020304" charset="0"/>
                        </a:rPr>
                        <a:t>phone, code, attempts, expiresAt</a:t>
                      </a:r>
                      <a:endParaRPr sz="1600" b="1">
                        <a:solidFill>
                          <a:schemeClr val="tx1"/>
                        </a:solidFill>
                        <a:latin typeface="Times New Roman" panose="02020603050405020304" charset="0"/>
                        <a:cs typeface="Times New Roman" panose="02020603050405020304" charset="0"/>
                      </a:endParaRPr>
                    </a:p>
                  </a:txBody>
                  <a:tcPr marL="73152" marR="73152" marT="36576" marB="36576" anchor="ctr">
                    <a:solidFill>
                      <a:schemeClr val="accent3">
                        <a:lumMod val="40000"/>
                        <a:lumOff val="60000"/>
                      </a:schemeClr>
                    </a:solidFill>
                  </a:tcPr>
                </a:tc>
                <a:tc>
                  <a:txBody>
                    <a:bodyPr wrap="square"/>
                    <a:lstStyle/>
                    <a:p>
                      <a:pPr>
                        <a:lnSpc>
                          <a:spcPct val="150000"/>
                        </a:lnSpc>
                      </a:pPr>
                      <a:r>
                        <a:rPr sz="1600" b="1">
                          <a:solidFill>
                            <a:schemeClr val="tx1"/>
                          </a:solidFill>
                          <a:latin typeface="Times New Roman" panose="02020603050405020304" charset="0"/>
                          <a:cs typeface="Times New Roman" panose="02020603050405020304" charset="0"/>
                        </a:rPr>
                        <a:t>Auto-deleted after 10 minutes (TTL)</a:t>
                      </a:r>
                      <a:endParaRPr sz="1600" b="1">
                        <a:solidFill>
                          <a:schemeClr val="tx1"/>
                        </a:solidFill>
                        <a:latin typeface="Times New Roman" panose="02020603050405020304" charset="0"/>
                        <a:cs typeface="Times New Roman" panose="02020603050405020304" charset="0"/>
                      </a:endParaRPr>
                    </a:p>
                  </a:txBody>
                  <a:tcPr marL="73152" marR="73152" marT="36576" marB="36576" anchor="ctr">
                    <a:solidFill>
                      <a:schemeClr val="accent3">
                        <a:lumMod val="40000"/>
                        <a:lumOff val="60000"/>
                      </a:schemeClr>
                    </a:solidFill>
                  </a:tcPr>
                </a:tc>
              </a:tr>
              <a:tr h="512064">
                <a:tc>
                  <a:txBody>
                    <a:bodyPr wrap="square"/>
                    <a:lstStyle/>
                    <a:p>
                      <a:pPr>
                        <a:lnSpc>
                          <a:spcPct val="150000"/>
                        </a:lnSpc>
                      </a:pPr>
                      <a:r>
                        <a:rPr sz="1600" b="1">
                          <a:solidFill>
                            <a:schemeClr val="tx1"/>
                          </a:solidFill>
                          <a:latin typeface="Times New Roman" panose="02020603050405020304" charset="0"/>
                          <a:cs typeface="Times New Roman" panose="02020603050405020304" charset="0"/>
                        </a:rPr>
                        <a:t>AdminLog</a:t>
                      </a:r>
                      <a:endParaRPr sz="1600" b="1">
                        <a:solidFill>
                          <a:schemeClr val="tx1"/>
                        </a:solidFill>
                        <a:latin typeface="Times New Roman" panose="02020603050405020304" charset="0"/>
                        <a:cs typeface="Times New Roman" panose="02020603050405020304" charset="0"/>
                      </a:endParaRPr>
                    </a:p>
                  </a:txBody>
                  <a:tcPr marL="73152" marR="73152" marT="36576" marB="36576" anchor="ctr">
                    <a:solidFill>
                      <a:schemeClr val="accent3">
                        <a:lumMod val="20000"/>
                        <a:lumOff val="80000"/>
                      </a:schemeClr>
                    </a:solidFill>
                  </a:tcPr>
                </a:tc>
                <a:tc>
                  <a:txBody>
                    <a:bodyPr wrap="square"/>
                    <a:lstStyle/>
                    <a:p>
                      <a:pPr>
                        <a:lnSpc>
                          <a:spcPct val="150000"/>
                        </a:lnSpc>
                      </a:pPr>
                      <a:r>
                        <a:rPr sz="1600" b="1">
                          <a:solidFill>
                            <a:schemeClr val="tx1"/>
                          </a:solidFill>
                          <a:latin typeface="Times New Roman" panose="02020603050405020304" charset="0"/>
                          <a:cs typeface="Times New Roman" panose="02020603050405020304" charset="0"/>
                        </a:rPr>
                        <a:t>admin, action, target, reason, time</a:t>
                      </a:r>
                      <a:endParaRPr sz="1600" b="1">
                        <a:solidFill>
                          <a:schemeClr val="tx1"/>
                        </a:solidFill>
                        <a:latin typeface="Times New Roman" panose="02020603050405020304" charset="0"/>
                        <a:cs typeface="Times New Roman" panose="02020603050405020304" charset="0"/>
                      </a:endParaRPr>
                    </a:p>
                  </a:txBody>
                  <a:tcPr marL="73152" marR="73152" marT="36576" marB="36576" anchor="ctr">
                    <a:solidFill>
                      <a:schemeClr val="accent3">
                        <a:lumMod val="20000"/>
                        <a:lumOff val="80000"/>
                      </a:schemeClr>
                    </a:solidFill>
                  </a:tcPr>
                </a:tc>
                <a:tc>
                  <a:txBody>
                    <a:bodyPr wrap="square"/>
                    <a:lstStyle/>
                    <a:p>
                      <a:pPr>
                        <a:lnSpc>
                          <a:spcPct val="150000"/>
                        </a:lnSpc>
                      </a:pPr>
                      <a:r>
                        <a:rPr sz="1600" b="1">
                          <a:solidFill>
                            <a:schemeClr val="tx1"/>
                          </a:solidFill>
                          <a:latin typeface="Times New Roman" panose="02020603050405020304" charset="0"/>
                          <a:cs typeface="Times New Roman" panose="02020603050405020304" charset="0"/>
                        </a:rPr>
                        <a:t>Every admin action is accountable</a:t>
                      </a:r>
                      <a:endParaRPr sz="1600" b="1">
                        <a:solidFill>
                          <a:schemeClr val="tx1"/>
                        </a:solidFill>
                        <a:latin typeface="Times New Roman" panose="02020603050405020304" charset="0"/>
                        <a:cs typeface="Times New Roman" panose="02020603050405020304" charset="0"/>
                      </a:endParaRPr>
                    </a:p>
                  </a:txBody>
                  <a:tcPr marL="73152" marR="73152" marT="36576" marB="36576" anchor="ctr">
                    <a:solidFill>
                      <a:schemeClr val="accent3">
                        <a:lumMod val="20000"/>
                        <a:lumOff val="80000"/>
                      </a:schemeClr>
                    </a:solidFill>
                  </a:tcPr>
                </a:tc>
              </a:tr>
            </a:tbl>
          </a:graphicData>
        </a:graphic>
      </p:graphicFrame>
      <p:sp>
        <p:nvSpPr>
          <p:cNvPr id="7" name="TextBox 6"/>
          <p:cNvSpPr txBox="1"/>
          <p:nvPr/>
        </p:nvSpPr>
        <p:spPr>
          <a:xfrm>
            <a:off x="548640" y="5532120"/>
            <a:ext cx="11064240" cy="977900"/>
          </a:xfrm>
          <a:prstGeom prst="rect">
            <a:avLst/>
          </a:prstGeom>
          <a:noFill/>
        </p:spPr>
        <p:txBody>
          <a:bodyPr wrap="square" lIns="45720" tIns="27432" rIns="45720" bIns="27432" anchor="t">
            <a:spAutoFit/>
          </a:bodyPr>
          <a:lstStyle/>
          <a:p>
            <a:pPr algn="l">
              <a:lnSpc>
                <a:spcPct val="150000"/>
              </a:lnSpc>
              <a:spcAft>
                <a:spcPts val="600"/>
              </a:spcAft>
            </a:pPr>
            <a:r>
              <a:rPr sz="2000" b="1" i="0">
                <a:solidFill>
                  <a:schemeClr val="tx1"/>
                </a:solidFill>
                <a:latin typeface="Times New Roman" panose="02020603050405020304" charset="0"/>
                <a:cs typeface="Times New Roman" panose="02020603050405020304" charset="0"/>
              </a:rPr>
              <a:t>One seller has many listings and many trust blocks; a conversation links one buyer, one seller and one listing.</a:t>
            </a:r>
            <a:endParaRPr sz="2000" b="1" i="0">
              <a:solidFill>
                <a:schemeClr val="tx1"/>
              </a:solidFill>
              <a:latin typeface="Times New Roman" panose="02020603050405020304" charset="0"/>
              <a:cs typeface="Times New Roman" panose="0202060305040502030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gradFill>
          <a:gsLst>
            <a:gs pos="50000">
              <a:schemeClr val="accent3"/>
            </a:gs>
            <a:gs pos="0">
              <a:schemeClr val="accent3">
                <a:lumMod val="25000"/>
                <a:lumOff val="75000"/>
              </a:schemeClr>
            </a:gs>
            <a:gs pos="100000">
              <a:schemeClr val="accent3">
                <a:lumMod val="85000"/>
              </a:schemeClr>
            </a:gs>
          </a:gsLst>
          <a:lin ang="5400000" scaled="1"/>
        </a:gradFill>
        <a:effectLst/>
      </p:bgPr>
    </p:bg>
    <p:spTree>
      <p:nvGrpSpPr>
        <p:cNvPr id="1" name=""/>
        <p:cNvGrpSpPr/>
        <p:nvPr/>
      </p:nvGrpSpPr>
      <p:grpSpPr>
        <a:xfrm>
          <a:off x="0" y="0"/>
          <a:ext cx="0" cy="0"/>
          <a:chOff x="0" y="0"/>
          <a:chExt cx="0" cy="0"/>
        </a:xfrm>
      </p:grpSpPr>
      <p:sp>
        <p:nvSpPr>
          <p:cNvPr id="2" name="TextBox 1"/>
          <p:cNvSpPr txBox="1"/>
          <p:nvPr/>
        </p:nvSpPr>
        <p:spPr>
          <a:xfrm>
            <a:off x="3066733" y="407035"/>
            <a:ext cx="6028055" cy="1014730"/>
          </a:xfrm>
          <a:prstGeom prst="rect">
            <a:avLst/>
          </a:prstGeom>
          <a:noFill/>
        </p:spPr>
        <p:txBody>
          <a:bodyPr wrap="none">
            <a:spAutoFit/>
          </a:bodyPr>
          <a:lstStyle/>
          <a:p>
            <a:pPr algn="ctr">
              <a:lnSpc>
                <a:spcPct val="150000"/>
              </a:lnSpc>
              <a:defRPr sz="2800" b="1">
                <a:solidFill>
                  <a:srgbClr val="192D4B"/>
                </a:solidFill>
              </a:defRPr>
            </a:pPr>
            <a:r>
              <a:rPr sz="4000">
                <a:solidFill>
                  <a:schemeClr val="tx1"/>
                </a:solidFill>
                <a:latin typeface="Times New Roman" panose="02020603050405020304" charset="0"/>
                <a:cs typeface="Times New Roman" panose="02020603050405020304" charset="0"/>
              </a:rPr>
              <a:t>Development Environment</a:t>
            </a:r>
            <a:endParaRPr sz="4000">
              <a:solidFill>
                <a:schemeClr val="tx1"/>
              </a:solidFill>
              <a:latin typeface="Times New Roman" panose="02020603050405020304" charset="0"/>
              <a:cs typeface="Times New Roman" panose="02020603050405020304" charset="0"/>
            </a:endParaRPr>
          </a:p>
        </p:txBody>
      </p:sp>
      <p:sp>
        <p:nvSpPr>
          <p:cNvPr id="3" name="TextBox 2"/>
          <p:cNvSpPr txBox="1"/>
          <p:nvPr/>
        </p:nvSpPr>
        <p:spPr>
          <a:xfrm>
            <a:off x="822960" y="1325880"/>
            <a:ext cx="10607040" cy="4739005"/>
          </a:xfrm>
          <a:prstGeom prst="rect">
            <a:avLst/>
          </a:prstGeom>
          <a:noFill/>
        </p:spPr>
        <p:txBody>
          <a:bodyPr wrap="square">
            <a:spAutoFit/>
          </a:bodyPr>
          <a:lstStyle/>
          <a:p>
            <a:pPr>
              <a:lnSpc>
                <a:spcPct val="150000"/>
              </a:lnSpc>
              <a:spcAft>
                <a:spcPts val="1200"/>
              </a:spcAft>
              <a:defRPr sz="2100">
                <a:solidFill>
                  <a:srgbClr val="232323"/>
                </a:solidFill>
              </a:defRPr>
            </a:pPr>
            <a:r>
              <a:rPr sz="2400" b="1">
                <a:solidFill>
                  <a:schemeClr val="tx1"/>
                </a:solidFill>
                <a:latin typeface="Times New Roman" panose="02020603050405020304" charset="0"/>
                <a:cs typeface="Times New Roman" panose="02020603050405020304" charset="0"/>
              </a:rPr>
              <a:t>Operating system: </a:t>
            </a:r>
            <a:r>
              <a:rPr sz="2400">
                <a:solidFill>
                  <a:schemeClr val="tx1"/>
                </a:solidFill>
                <a:latin typeface="Times New Roman" panose="02020603050405020304" charset="0"/>
                <a:cs typeface="Times New Roman" panose="02020603050405020304" charset="0"/>
              </a:rPr>
              <a:t>Windows on the development laptop; Android with Chrome for mobile and voice testing</a:t>
            </a:r>
            <a:endParaRPr sz="2400">
              <a:solidFill>
                <a:schemeClr val="tx1"/>
              </a:solidFill>
              <a:latin typeface="Times New Roman" panose="02020603050405020304" charset="0"/>
              <a:cs typeface="Times New Roman" panose="02020603050405020304" charset="0"/>
            </a:endParaRPr>
          </a:p>
          <a:p>
            <a:pPr>
              <a:lnSpc>
                <a:spcPct val="150000"/>
              </a:lnSpc>
              <a:spcAft>
                <a:spcPts val="1200"/>
              </a:spcAft>
              <a:defRPr sz="2100">
                <a:solidFill>
                  <a:srgbClr val="232323"/>
                </a:solidFill>
              </a:defRPr>
            </a:pPr>
            <a:r>
              <a:rPr sz="2400" b="1">
                <a:solidFill>
                  <a:schemeClr val="tx1"/>
                </a:solidFill>
                <a:latin typeface="Times New Roman" panose="02020603050405020304" charset="0"/>
                <a:cs typeface="Times New Roman" panose="02020603050405020304" charset="0"/>
              </a:rPr>
              <a:t>Programming language: </a:t>
            </a:r>
            <a:r>
              <a:rPr sz="2400">
                <a:solidFill>
                  <a:schemeClr val="tx1"/>
                </a:solidFill>
                <a:latin typeface="Times New Roman" panose="02020603050405020304" charset="0"/>
                <a:cs typeface="Times New Roman" panose="02020603050405020304" charset="0"/>
              </a:rPr>
              <a:t>JavaScript (Node.js 18+ and React JSX)</a:t>
            </a:r>
            <a:endParaRPr sz="2400">
              <a:solidFill>
                <a:schemeClr val="tx1"/>
              </a:solidFill>
              <a:latin typeface="Times New Roman" panose="02020603050405020304" charset="0"/>
              <a:cs typeface="Times New Roman" panose="02020603050405020304" charset="0"/>
            </a:endParaRPr>
          </a:p>
          <a:p>
            <a:pPr>
              <a:lnSpc>
                <a:spcPct val="150000"/>
              </a:lnSpc>
              <a:spcAft>
                <a:spcPts val="1200"/>
              </a:spcAft>
              <a:defRPr sz="2100">
                <a:solidFill>
                  <a:srgbClr val="232323"/>
                </a:solidFill>
              </a:defRPr>
            </a:pPr>
            <a:r>
              <a:rPr sz="2400" b="1">
                <a:solidFill>
                  <a:schemeClr val="tx1"/>
                </a:solidFill>
                <a:latin typeface="Times New Roman" panose="02020603050405020304" charset="0"/>
                <a:cs typeface="Times New Roman" panose="02020603050405020304" charset="0"/>
              </a:rPr>
              <a:t>Frameworks: </a:t>
            </a:r>
            <a:r>
              <a:rPr sz="2400">
                <a:solidFill>
                  <a:schemeClr val="tx1"/>
                </a:solidFill>
                <a:latin typeface="Times New Roman" panose="02020603050405020304" charset="0"/>
                <a:cs typeface="Times New Roman" panose="02020603050405020304" charset="0"/>
              </a:rPr>
              <a:t>React 19, Redux Toolkit, Express 4, Socket.io</a:t>
            </a:r>
            <a:endParaRPr sz="2400">
              <a:solidFill>
                <a:schemeClr val="tx1"/>
              </a:solidFill>
              <a:latin typeface="Times New Roman" panose="02020603050405020304" charset="0"/>
              <a:cs typeface="Times New Roman" panose="02020603050405020304" charset="0"/>
            </a:endParaRPr>
          </a:p>
          <a:p>
            <a:pPr>
              <a:lnSpc>
                <a:spcPct val="150000"/>
              </a:lnSpc>
              <a:spcAft>
                <a:spcPts val="1200"/>
              </a:spcAft>
              <a:defRPr sz="2100">
                <a:solidFill>
                  <a:srgbClr val="232323"/>
                </a:solidFill>
              </a:defRPr>
            </a:pPr>
            <a:r>
              <a:rPr sz="2400" b="1">
                <a:solidFill>
                  <a:schemeClr val="tx1"/>
                </a:solidFill>
                <a:latin typeface="Times New Roman" panose="02020603050405020304" charset="0"/>
                <a:cs typeface="Times New Roman" panose="02020603050405020304" charset="0"/>
              </a:rPr>
              <a:t>Database: </a:t>
            </a:r>
            <a:r>
              <a:rPr sz="2400">
                <a:solidFill>
                  <a:schemeClr val="tx1"/>
                </a:solidFill>
                <a:latin typeface="Times New Roman" panose="02020603050405020304" charset="0"/>
                <a:cs typeface="Times New Roman" panose="02020603050405020304" charset="0"/>
              </a:rPr>
              <a:t>MongoDB Atlas (free tier) via Mongoose</a:t>
            </a:r>
            <a:endParaRPr sz="2400">
              <a:solidFill>
                <a:schemeClr val="tx1"/>
              </a:solidFill>
              <a:latin typeface="Times New Roman" panose="02020603050405020304" charset="0"/>
              <a:cs typeface="Times New Roman" panose="02020603050405020304" charset="0"/>
            </a:endParaRPr>
          </a:p>
          <a:p>
            <a:pPr>
              <a:lnSpc>
                <a:spcPct val="150000"/>
              </a:lnSpc>
              <a:spcAft>
                <a:spcPts val="1200"/>
              </a:spcAft>
              <a:defRPr sz="2100">
                <a:solidFill>
                  <a:srgbClr val="232323"/>
                </a:solidFill>
              </a:defRPr>
            </a:pPr>
            <a:r>
              <a:rPr sz="2400" b="1">
                <a:solidFill>
                  <a:schemeClr val="tx1"/>
                </a:solidFill>
                <a:latin typeface="Times New Roman" panose="02020603050405020304" charset="0"/>
                <a:cs typeface="Times New Roman" panose="02020603050405020304" charset="0"/>
              </a:rPr>
              <a:t>IDE / development tools: </a:t>
            </a:r>
            <a:r>
              <a:rPr sz="2400">
                <a:solidFill>
                  <a:schemeClr val="tx1"/>
                </a:solidFill>
                <a:latin typeface="Times New Roman" panose="02020603050405020304" charset="0"/>
                <a:cs typeface="Times New Roman" panose="02020603050405020304" charset="0"/>
              </a:rPr>
              <a:t>VS Code, Chrome DevTools, Nodemon, ESLint</a:t>
            </a:r>
            <a:endParaRPr sz="2400">
              <a:solidFill>
                <a:schemeClr val="tx1"/>
              </a:solidFill>
              <a:latin typeface="Times New Roman" panose="02020603050405020304" charset="0"/>
              <a:cs typeface="Times New Roman" panose="02020603050405020304" charset="0"/>
            </a:endParaRPr>
          </a:p>
          <a:p>
            <a:pPr>
              <a:lnSpc>
                <a:spcPct val="150000"/>
              </a:lnSpc>
              <a:spcAft>
                <a:spcPts val="1200"/>
              </a:spcAft>
              <a:defRPr sz="2100">
                <a:solidFill>
                  <a:srgbClr val="232323"/>
                </a:solidFill>
              </a:defRPr>
            </a:pPr>
            <a:r>
              <a:rPr sz="2400" b="1">
                <a:solidFill>
                  <a:schemeClr val="tx1"/>
                </a:solidFill>
                <a:latin typeface="Times New Roman" panose="02020603050405020304" charset="0"/>
                <a:cs typeface="Times New Roman" panose="02020603050405020304" charset="0"/>
              </a:rPr>
              <a:t>Version control / deployment: </a:t>
            </a:r>
            <a:r>
              <a:rPr sz="2400">
                <a:solidFill>
                  <a:schemeClr val="tx1"/>
                </a:solidFill>
                <a:latin typeface="Times New Roman" panose="02020603050405020304" charset="0"/>
                <a:cs typeface="Times New Roman" panose="02020603050405020304" charset="0"/>
              </a:rPr>
              <a:t>Git and GitHub, GitHub Actions, Vercel and Render</a:t>
            </a:r>
            <a:endParaRPr sz="2400">
              <a:solidFill>
                <a:schemeClr val="tx1"/>
              </a:solidFill>
              <a:latin typeface="Times New Roman" panose="02020603050405020304" charset="0"/>
              <a:cs typeface="Times New Roman" panose="02020603050405020304" charset="0"/>
            </a:endParaRPr>
          </a:p>
        </p:txBody>
      </p:sp>
      <p:sp>
        <p:nvSpPr>
          <p:cNvPr id="4" name="Rectangle 3"/>
          <p:cNvSpPr/>
          <p:nvPr/>
        </p:nvSpPr>
        <p:spPr>
          <a:xfrm>
            <a:off x="0" y="6565392"/>
            <a:ext cx="12191695" cy="292608"/>
          </a:xfrm>
          <a:prstGeom prst="rect">
            <a:avLst/>
          </a:prstGeom>
          <a:solidFill>
            <a:schemeClr val="accent3">
              <a:lumMod val="5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50000"/>
              </a:lnSpc>
            </a:pPr>
            <a:endParaRPr>
              <a:solidFill>
                <a:schemeClr val="tx1"/>
              </a:solidFill>
              <a:latin typeface="Times New Roman" panose="02020603050405020304" charset="0"/>
              <a:cs typeface="Times New Roman" panose="02020603050405020304" charset="0"/>
            </a:endParaRPr>
          </a:p>
        </p:txBody>
      </p:sp>
      <p:sp>
        <p:nvSpPr>
          <p:cNvPr id="5" name="TextBox 4"/>
          <p:cNvSpPr txBox="1"/>
          <p:nvPr/>
        </p:nvSpPr>
        <p:spPr>
          <a:xfrm>
            <a:off x="320040" y="6574536"/>
            <a:ext cx="2397760" cy="299085"/>
          </a:xfrm>
          <a:prstGeom prst="rect">
            <a:avLst/>
          </a:prstGeom>
          <a:gradFill>
            <a:gsLst>
              <a:gs pos="50000">
                <a:schemeClr val="accent2"/>
              </a:gs>
              <a:gs pos="0">
                <a:schemeClr val="accent2">
                  <a:lumMod val="25000"/>
                  <a:lumOff val="75000"/>
                </a:schemeClr>
              </a:gs>
              <a:gs pos="100000">
                <a:schemeClr val="accent2">
                  <a:lumMod val="85000"/>
                </a:schemeClr>
              </a:gs>
            </a:gsLst>
            <a:lin ang="5400000" scaled="1"/>
          </a:gradFill>
        </p:spPr>
        <p:txBody>
          <a:bodyPr wrap="none">
            <a:spAutoFit/>
          </a:bodyPr>
          <a:lstStyle/>
          <a:p>
            <a:pPr>
              <a:lnSpc>
                <a:spcPct val="150000"/>
              </a:lnSpc>
              <a:defRPr sz="900">
                <a:solidFill>
                  <a:srgbClr val="FFFFFF"/>
                </a:solidFill>
              </a:defRPr>
            </a:pPr>
            <a:r>
              <a:rPr b="1" dirty="0">
                <a:solidFill>
                  <a:schemeClr val="tx1"/>
                </a:solidFill>
                <a:latin typeface="Times New Roman" panose="02020603050405020304" charset="0"/>
                <a:cs typeface="Times New Roman" panose="02020603050405020304" charset="0"/>
              </a:rPr>
              <a:t>Final Year Project • Academic Year 202</a:t>
            </a:r>
            <a:r>
              <a:rPr lang="en-US" b="1" dirty="0">
                <a:solidFill>
                  <a:schemeClr val="tx1"/>
                </a:solidFill>
                <a:latin typeface="Times New Roman" panose="02020603050405020304" charset="0"/>
                <a:cs typeface="Times New Roman" panose="02020603050405020304" charset="0"/>
              </a:rPr>
              <a:t>6</a:t>
            </a:r>
            <a:r>
              <a:rPr b="1" dirty="0">
                <a:solidFill>
                  <a:schemeClr val="tx1"/>
                </a:solidFill>
                <a:latin typeface="Times New Roman" panose="02020603050405020304" charset="0"/>
                <a:cs typeface="Times New Roman" panose="02020603050405020304" charset="0"/>
              </a:rPr>
              <a:t>     8</a:t>
            </a:r>
            <a:endParaRPr b="1" dirty="0">
              <a:solidFill>
                <a:schemeClr val="tx1"/>
              </a:solidFill>
              <a:latin typeface="Times New Roman" panose="02020603050405020304" charset="0"/>
              <a:cs typeface="Times New Roman" panose="0202060305040502030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gradFill>
          <a:gsLst>
            <a:gs pos="50000">
              <a:schemeClr val="accent3"/>
            </a:gs>
            <a:gs pos="0">
              <a:schemeClr val="accent3">
                <a:lumMod val="25000"/>
                <a:lumOff val="75000"/>
              </a:schemeClr>
            </a:gs>
            <a:gs pos="100000">
              <a:schemeClr val="accent3">
                <a:lumMod val="85000"/>
              </a:schemeClr>
            </a:gs>
          </a:gsLst>
          <a:lin ang="5400000" scaled="1"/>
        </a:gradFill>
        <a:effectLst/>
      </p:bgPr>
    </p:bg>
    <p:spTree>
      <p:nvGrpSpPr>
        <p:cNvPr id="1" name=""/>
        <p:cNvGrpSpPr/>
        <p:nvPr/>
      </p:nvGrpSpPr>
      <p:grpSpPr>
        <a:xfrm>
          <a:off x="0" y="0"/>
          <a:ext cx="0" cy="0"/>
          <a:chOff x="0" y="0"/>
          <a:chExt cx="0" cy="0"/>
        </a:xfrm>
      </p:grpSpPr>
      <p:sp>
        <p:nvSpPr>
          <p:cNvPr id="2" name="TextBox 1"/>
          <p:cNvSpPr txBox="1"/>
          <p:nvPr/>
        </p:nvSpPr>
        <p:spPr>
          <a:xfrm>
            <a:off x="2652713" y="320040"/>
            <a:ext cx="6856095" cy="1014730"/>
          </a:xfrm>
          <a:prstGeom prst="rect">
            <a:avLst/>
          </a:prstGeom>
          <a:noFill/>
        </p:spPr>
        <p:txBody>
          <a:bodyPr wrap="none">
            <a:spAutoFit/>
          </a:bodyPr>
          <a:lstStyle/>
          <a:p>
            <a:pPr algn="ctr">
              <a:lnSpc>
                <a:spcPct val="150000"/>
              </a:lnSpc>
              <a:defRPr sz="2800" b="1">
                <a:solidFill>
                  <a:srgbClr val="192D4B"/>
                </a:solidFill>
              </a:defRPr>
            </a:pPr>
            <a:r>
              <a:rPr sz="4000">
                <a:solidFill>
                  <a:schemeClr val="tx1"/>
                </a:solidFill>
                <a:latin typeface="Times New Roman" panose="02020603050405020304" charset="0"/>
                <a:cs typeface="Times New Roman" panose="02020603050405020304" charset="0"/>
              </a:rPr>
              <a:t>System Components / Modules</a:t>
            </a:r>
            <a:endParaRPr sz="4000">
              <a:solidFill>
                <a:schemeClr val="tx1"/>
              </a:solidFill>
              <a:latin typeface="Times New Roman" panose="02020603050405020304" charset="0"/>
              <a:cs typeface="Times New Roman" panose="02020603050405020304" charset="0"/>
            </a:endParaRPr>
          </a:p>
        </p:txBody>
      </p:sp>
      <p:sp>
        <p:nvSpPr>
          <p:cNvPr id="4" name="Rectangle 3"/>
          <p:cNvSpPr/>
          <p:nvPr/>
        </p:nvSpPr>
        <p:spPr>
          <a:xfrm>
            <a:off x="0" y="6565392"/>
            <a:ext cx="12191695" cy="292608"/>
          </a:xfrm>
          <a:prstGeom prst="rect">
            <a:avLst/>
          </a:prstGeom>
          <a:solidFill>
            <a:schemeClr val="accent3">
              <a:lumMod val="5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50000"/>
              </a:lnSpc>
            </a:pPr>
            <a:endParaRPr>
              <a:latin typeface="Times New Roman" panose="02020603050405020304" charset="0"/>
              <a:cs typeface="Times New Roman" panose="02020603050405020304" charset="0"/>
            </a:endParaRPr>
          </a:p>
        </p:txBody>
      </p:sp>
      <p:sp>
        <p:nvSpPr>
          <p:cNvPr id="5" name="TextBox 4"/>
          <p:cNvSpPr txBox="1"/>
          <p:nvPr/>
        </p:nvSpPr>
        <p:spPr>
          <a:xfrm>
            <a:off x="320040" y="6574536"/>
            <a:ext cx="2426335" cy="299085"/>
          </a:xfrm>
          <a:prstGeom prst="rect">
            <a:avLst/>
          </a:prstGeom>
          <a:gradFill>
            <a:gsLst>
              <a:gs pos="50000">
                <a:schemeClr val="accent2"/>
              </a:gs>
              <a:gs pos="0">
                <a:schemeClr val="accent2">
                  <a:lumMod val="25000"/>
                  <a:lumOff val="75000"/>
                </a:schemeClr>
              </a:gs>
              <a:gs pos="100000">
                <a:schemeClr val="accent2">
                  <a:lumMod val="85000"/>
                </a:schemeClr>
              </a:gs>
            </a:gsLst>
            <a:lin ang="5400000" scaled="1"/>
          </a:gradFill>
        </p:spPr>
        <p:txBody>
          <a:bodyPr wrap="none">
            <a:spAutoFit/>
          </a:bodyPr>
          <a:lstStyle/>
          <a:p>
            <a:pPr>
              <a:lnSpc>
                <a:spcPct val="150000"/>
              </a:lnSpc>
              <a:defRPr sz="900">
                <a:solidFill>
                  <a:srgbClr val="FFFFFF"/>
                </a:solidFill>
              </a:defRPr>
            </a:pPr>
            <a:r>
              <a:rPr b="1" dirty="0">
                <a:solidFill>
                  <a:schemeClr val="tx1"/>
                </a:solidFill>
                <a:latin typeface="Times New Roman" panose="02020603050405020304" charset="0"/>
                <a:cs typeface="Times New Roman" panose="02020603050405020304" charset="0"/>
              </a:rPr>
              <a:t>Final Year Project • Academic Year 2026  </a:t>
            </a:r>
            <a:r>
              <a:rPr lang="en-US" b="1" dirty="0">
                <a:solidFill>
                  <a:schemeClr val="tx1"/>
                </a:solidFill>
                <a:latin typeface="Times New Roman" panose="02020603050405020304" charset="0"/>
                <a:cs typeface="Times New Roman" panose="02020603050405020304" charset="0"/>
              </a:rPr>
              <a:t>  </a:t>
            </a:r>
            <a:r>
              <a:rPr b="1" dirty="0">
                <a:solidFill>
                  <a:schemeClr val="tx1"/>
                </a:solidFill>
                <a:latin typeface="Times New Roman" panose="02020603050405020304" charset="0"/>
                <a:cs typeface="Times New Roman" panose="02020603050405020304" charset="0"/>
              </a:rPr>
              <a:t>  9</a:t>
            </a:r>
            <a:endParaRPr b="1" dirty="0">
              <a:solidFill>
                <a:schemeClr val="tx1"/>
              </a:solidFill>
              <a:latin typeface="Times New Roman" panose="02020603050405020304" charset="0"/>
              <a:cs typeface="Times New Roman" panose="02020603050405020304" charset="0"/>
            </a:endParaRPr>
          </a:p>
        </p:txBody>
      </p:sp>
      <p:sp>
        <p:nvSpPr>
          <p:cNvPr id="6" name="Rounded Rectangle 5"/>
          <p:cNvSpPr/>
          <p:nvPr/>
        </p:nvSpPr>
        <p:spPr>
          <a:xfrm>
            <a:off x="731520" y="1371600"/>
            <a:ext cx="2514600" cy="2057400"/>
          </a:xfrm>
          <a:prstGeom prst="roundRect">
            <a:avLst>
              <a:gd name="adj" fmla="val 8000"/>
            </a:avLst>
          </a:prstGeom>
          <a:solidFill>
            <a:schemeClr val="accent3">
              <a:lumMod val="40000"/>
              <a:lumOff val="6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50000"/>
              </a:lnSpc>
            </a:pPr>
            <a:endParaRPr>
              <a:latin typeface="Times New Roman" panose="02020603050405020304" charset="0"/>
              <a:cs typeface="Times New Roman" panose="02020603050405020304" charset="0"/>
            </a:endParaRPr>
          </a:p>
        </p:txBody>
      </p:sp>
      <p:sp>
        <p:nvSpPr>
          <p:cNvPr id="7" name="TextBox 6"/>
          <p:cNvSpPr txBox="1"/>
          <p:nvPr/>
        </p:nvSpPr>
        <p:spPr>
          <a:xfrm>
            <a:off x="914400" y="1508760"/>
            <a:ext cx="2148840" cy="608330"/>
          </a:xfrm>
          <a:prstGeom prst="rect">
            <a:avLst/>
          </a:prstGeom>
          <a:noFill/>
        </p:spPr>
        <p:txBody>
          <a:bodyPr wrap="square" lIns="45720" tIns="27432" rIns="45720" bIns="27432" anchor="t">
            <a:spAutoFit/>
          </a:bodyPr>
          <a:lstStyle/>
          <a:p>
            <a:pPr algn="l">
              <a:lnSpc>
                <a:spcPct val="150000"/>
              </a:lnSpc>
              <a:spcAft>
                <a:spcPts val="600"/>
              </a:spcAft>
            </a:pPr>
            <a:r>
              <a:rPr sz="2400" b="1" i="0">
                <a:solidFill>
                  <a:schemeClr val="tx1"/>
                </a:solidFill>
                <a:latin typeface="Times New Roman" panose="02020603050405020304" charset="0"/>
                <a:cs typeface="Times New Roman" panose="02020603050405020304" charset="0"/>
              </a:rPr>
              <a:t>Authentication</a:t>
            </a:r>
            <a:endParaRPr sz="2400" b="1" i="0">
              <a:solidFill>
                <a:schemeClr val="tx1"/>
              </a:solidFill>
              <a:latin typeface="Times New Roman" panose="02020603050405020304" charset="0"/>
              <a:cs typeface="Times New Roman" panose="02020603050405020304" charset="0"/>
            </a:endParaRPr>
          </a:p>
        </p:txBody>
      </p:sp>
      <p:sp>
        <p:nvSpPr>
          <p:cNvPr id="8" name="TextBox 7"/>
          <p:cNvSpPr txBox="1"/>
          <p:nvPr/>
        </p:nvSpPr>
        <p:spPr>
          <a:xfrm>
            <a:off x="914400" y="1965960"/>
            <a:ext cx="2148840" cy="1439545"/>
          </a:xfrm>
          <a:prstGeom prst="rect">
            <a:avLst/>
          </a:prstGeom>
          <a:noFill/>
        </p:spPr>
        <p:txBody>
          <a:bodyPr wrap="square" lIns="45720" tIns="27432" rIns="45720" bIns="27432" anchor="t">
            <a:spAutoFit/>
          </a:bodyPr>
          <a:lstStyle/>
          <a:p>
            <a:pPr algn="l">
              <a:lnSpc>
                <a:spcPct val="150000"/>
              </a:lnSpc>
              <a:spcAft>
                <a:spcPts val="500"/>
              </a:spcAft>
            </a:pPr>
            <a:r>
              <a:rPr sz="2000" b="1" i="0">
                <a:solidFill>
                  <a:schemeClr val="tx1"/>
                </a:solidFill>
                <a:latin typeface="Times New Roman" panose="02020603050405020304" charset="0"/>
                <a:cs typeface="Times New Roman" panose="02020603050405020304" charset="0"/>
              </a:rPr>
              <a:t>OTP sign-up, JWT login, roles; admin by script</a:t>
            </a:r>
            <a:endParaRPr sz="2000" b="1" i="0">
              <a:solidFill>
                <a:schemeClr val="tx1"/>
              </a:solidFill>
              <a:latin typeface="Times New Roman" panose="02020603050405020304" charset="0"/>
              <a:cs typeface="Times New Roman" panose="02020603050405020304" charset="0"/>
            </a:endParaRPr>
          </a:p>
        </p:txBody>
      </p:sp>
      <p:sp>
        <p:nvSpPr>
          <p:cNvPr id="9" name="Rounded Rectangle 8"/>
          <p:cNvSpPr/>
          <p:nvPr/>
        </p:nvSpPr>
        <p:spPr>
          <a:xfrm>
            <a:off x="3447288" y="1371600"/>
            <a:ext cx="2514600" cy="2057400"/>
          </a:xfrm>
          <a:prstGeom prst="roundRect">
            <a:avLst>
              <a:gd name="adj" fmla="val 8000"/>
            </a:avLst>
          </a:prstGeom>
          <a:solidFill>
            <a:schemeClr val="accent3">
              <a:lumMod val="40000"/>
              <a:lumOff val="6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50000"/>
              </a:lnSpc>
            </a:pPr>
            <a:endParaRPr>
              <a:latin typeface="Times New Roman" panose="02020603050405020304" charset="0"/>
              <a:cs typeface="Times New Roman" panose="02020603050405020304" charset="0"/>
            </a:endParaRPr>
          </a:p>
        </p:txBody>
      </p:sp>
      <p:sp>
        <p:nvSpPr>
          <p:cNvPr id="10" name="TextBox 9"/>
          <p:cNvSpPr txBox="1"/>
          <p:nvPr/>
        </p:nvSpPr>
        <p:spPr>
          <a:xfrm>
            <a:off x="3630168" y="1508760"/>
            <a:ext cx="2148840" cy="608330"/>
          </a:xfrm>
          <a:prstGeom prst="rect">
            <a:avLst/>
          </a:prstGeom>
          <a:noFill/>
        </p:spPr>
        <p:txBody>
          <a:bodyPr wrap="square" lIns="45720" tIns="27432" rIns="45720" bIns="27432" anchor="t">
            <a:spAutoFit/>
          </a:bodyPr>
          <a:lstStyle/>
          <a:p>
            <a:pPr algn="l">
              <a:lnSpc>
                <a:spcPct val="150000"/>
              </a:lnSpc>
              <a:spcAft>
                <a:spcPts val="600"/>
              </a:spcAft>
            </a:pPr>
            <a:r>
              <a:rPr sz="2400" b="1" i="0">
                <a:solidFill>
                  <a:schemeClr val="tx1"/>
                </a:solidFill>
                <a:latin typeface="Times New Roman" panose="02020603050405020304" charset="0"/>
                <a:cs typeface="Times New Roman" panose="02020603050405020304" charset="0"/>
              </a:rPr>
              <a:t>Listings</a:t>
            </a:r>
            <a:endParaRPr sz="2400" b="1" i="0">
              <a:solidFill>
                <a:schemeClr val="tx1"/>
              </a:solidFill>
              <a:latin typeface="Times New Roman" panose="02020603050405020304" charset="0"/>
              <a:cs typeface="Times New Roman" panose="02020603050405020304" charset="0"/>
            </a:endParaRPr>
          </a:p>
        </p:txBody>
      </p:sp>
      <p:sp>
        <p:nvSpPr>
          <p:cNvPr id="11" name="TextBox 10"/>
          <p:cNvSpPr txBox="1"/>
          <p:nvPr/>
        </p:nvSpPr>
        <p:spPr>
          <a:xfrm>
            <a:off x="3630168" y="1965960"/>
            <a:ext cx="2148840" cy="977900"/>
          </a:xfrm>
          <a:prstGeom prst="rect">
            <a:avLst/>
          </a:prstGeom>
          <a:noFill/>
        </p:spPr>
        <p:txBody>
          <a:bodyPr wrap="square" lIns="45720" tIns="27432" rIns="45720" bIns="27432" anchor="t">
            <a:spAutoFit/>
          </a:bodyPr>
          <a:lstStyle/>
          <a:p>
            <a:pPr algn="l">
              <a:lnSpc>
                <a:spcPct val="150000"/>
              </a:lnSpc>
              <a:spcAft>
                <a:spcPts val="500"/>
              </a:spcAft>
            </a:pPr>
            <a:r>
              <a:rPr sz="2000" b="1" i="0">
                <a:solidFill>
                  <a:schemeClr val="tx1"/>
                </a:solidFill>
                <a:latin typeface="Times New Roman" panose="02020603050405020304" charset="0"/>
                <a:cs typeface="Times New Roman" panose="02020603050405020304" charset="0"/>
              </a:rPr>
              <a:t>Create, edit, pause, sell; photo upload</a:t>
            </a:r>
            <a:endParaRPr sz="2000" b="1" i="0">
              <a:solidFill>
                <a:schemeClr val="tx1"/>
              </a:solidFill>
              <a:latin typeface="Times New Roman" panose="02020603050405020304" charset="0"/>
              <a:cs typeface="Times New Roman" panose="02020603050405020304" charset="0"/>
            </a:endParaRPr>
          </a:p>
        </p:txBody>
      </p:sp>
      <p:sp>
        <p:nvSpPr>
          <p:cNvPr id="12" name="Rounded Rectangle 11"/>
          <p:cNvSpPr/>
          <p:nvPr/>
        </p:nvSpPr>
        <p:spPr>
          <a:xfrm>
            <a:off x="6163056" y="1371600"/>
            <a:ext cx="2514600" cy="2057400"/>
          </a:xfrm>
          <a:prstGeom prst="roundRect">
            <a:avLst>
              <a:gd name="adj" fmla="val 8000"/>
            </a:avLst>
          </a:prstGeom>
          <a:solidFill>
            <a:schemeClr val="accent3">
              <a:lumMod val="40000"/>
              <a:lumOff val="6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50000"/>
              </a:lnSpc>
            </a:pPr>
            <a:endParaRPr>
              <a:latin typeface="Times New Roman" panose="02020603050405020304" charset="0"/>
              <a:cs typeface="Times New Roman" panose="02020603050405020304" charset="0"/>
            </a:endParaRPr>
          </a:p>
        </p:txBody>
      </p:sp>
      <p:sp>
        <p:nvSpPr>
          <p:cNvPr id="13" name="TextBox 12"/>
          <p:cNvSpPr txBox="1"/>
          <p:nvPr/>
        </p:nvSpPr>
        <p:spPr>
          <a:xfrm>
            <a:off x="6345936" y="1508760"/>
            <a:ext cx="2148840" cy="608330"/>
          </a:xfrm>
          <a:prstGeom prst="rect">
            <a:avLst/>
          </a:prstGeom>
          <a:noFill/>
        </p:spPr>
        <p:txBody>
          <a:bodyPr wrap="square" lIns="45720" tIns="27432" rIns="45720" bIns="27432" anchor="t">
            <a:spAutoFit/>
          </a:bodyPr>
          <a:lstStyle/>
          <a:p>
            <a:pPr algn="l">
              <a:lnSpc>
                <a:spcPct val="150000"/>
              </a:lnSpc>
              <a:spcAft>
                <a:spcPts val="600"/>
              </a:spcAft>
            </a:pPr>
            <a:r>
              <a:rPr sz="2400" b="1" i="0">
                <a:solidFill>
                  <a:schemeClr val="tx1"/>
                </a:solidFill>
                <a:latin typeface="Times New Roman" panose="02020603050405020304" charset="0"/>
                <a:cs typeface="Times New Roman" panose="02020603050405020304" charset="0"/>
              </a:rPr>
              <a:t>Browse</a:t>
            </a:r>
            <a:endParaRPr sz="2400" b="1" i="0">
              <a:solidFill>
                <a:schemeClr val="tx1"/>
              </a:solidFill>
              <a:latin typeface="Times New Roman" panose="02020603050405020304" charset="0"/>
              <a:cs typeface="Times New Roman" panose="02020603050405020304" charset="0"/>
            </a:endParaRPr>
          </a:p>
        </p:txBody>
      </p:sp>
      <p:sp>
        <p:nvSpPr>
          <p:cNvPr id="14" name="TextBox 13"/>
          <p:cNvSpPr txBox="1"/>
          <p:nvPr/>
        </p:nvSpPr>
        <p:spPr>
          <a:xfrm>
            <a:off x="6345936" y="1965960"/>
            <a:ext cx="2148840" cy="1439545"/>
          </a:xfrm>
          <a:prstGeom prst="rect">
            <a:avLst/>
          </a:prstGeom>
          <a:noFill/>
        </p:spPr>
        <p:txBody>
          <a:bodyPr wrap="square" lIns="45720" tIns="27432" rIns="45720" bIns="27432" anchor="t">
            <a:spAutoFit/>
          </a:bodyPr>
          <a:lstStyle/>
          <a:p>
            <a:pPr algn="l">
              <a:lnSpc>
                <a:spcPct val="150000"/>
              </a:lnSpc>
              <a:spcAft>
                <a:spcPts val="500"/>
              </a:spcAft>
            </a:pPr>
            <a:r>
              <a:rPr sz="2000" b="1" i="0">
                <a:solidFill>
                  <a:srgbClr val="232323"/>
                </a:solidFill>
                <a:latin typeface="Times New Roman" panose="02020603050405020304" charset="0"/>
                <a:cs typeface="Times New Roman" panose="02020603050405020304" charset="0"/>
              </a:rPr>
              <a:t>Neighbourhood, keyword, price, quantity</a:t>
            </a:r>
            <a:endParaRPr sz="2000" b="1" i="0">
              <a:solidFill>
                <a:srgbClr val="232323"/>
              </a:solidFill>
              <a:latin typeface="Times New Roman" panose="02020603050405020304" charset="0"/>
              <a:cs typeface="Times New Roman" panose="02020603050405020304" charset="0"/>
            </a:endParaRPr>
          </a:p>
        </p:txBody>
      </p:sp>
      <p:sp>
        <p:nvSpPr>
          <p:cNvPr id="15" name="Rounded Rectangle 14"/>
          <p:cNvSpPr/>
          <p:nvPr/>
        </p:nvSpPr>
        <p:spPr>
          <a:xfrm>
            <a:off x="8878824" y="1371600"/>
            <a:ext cx="2514600" cy="2057400"/>
          </a:xfrm>
          <a:prstGeom prst="roundRect">
            <a:avLst>
              <a:gd name="adj" fmla="val 8000"/>
            </a:avLst>
          </a:prstGeom>
          <a:solidFill>
            <a:schemeClr val="accent3">
              <a:lumMod val="40000"/>
              <a:lumOff val="6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50000"/>
              </a:lnSpc>
            </a:pPr>
            <a:endParaRPr>
              <a:latin typeface="Times New Roman" panose="02020603050405020304" charset="0"/>
              <a:cs typeface="Times New Roman" panose="02020603050405020304" charset="0"/>
            </a:endParaRPr>
          </a:p>
        </p:txBody>
      </p:sp>
      <p:sp>
        <p:nvSpPr>
          <p:cNvPr id="16" name="TextBox 15"/>
          <p:cNvSpPr txBox="1"/>
          <p:nvPr/>
        </p:nvSpPr>
        <p:spPr>
          <a:xfrm>
            <a:off x="9061704" y="1508760"/>
            <a:ext cx="2148840" cy="608330"/>
          </a:xfrm>
          <a:prstGeom prst="rect">
            <a:avLst/>
          </a:prstGeom>
          <a:noFill/>
        </p:spPr>
        <p:txBody>
          <a:bodyPr wrap="square" lIns="45720" tIns="27432" rIns="45720" bIns="27432" anchor="t">
            <a:spAutoFit/>
          </a:bodyPr>
          <a:lstStyle/>
          <a:p>
            <a:pPr algn="l">
              <a:lnSpc>
                <a:spcPct val="150000"/>
              </a:lnSpc>
              <a:spcAft>
                <a:spcPts val="600"/>
              </a:spcAft>
            </a:pPr>
            <a:r>
              <a:rPr sz="2400" b="1" i="0">
                <a:solidFill>
                  <a:schemeClr val="tx1"/>
                </a:solidFill>
                <a:latin typeface="Times New Roman" panose="02020603050405020304" charset="0"/>
                <a:cs typeface="Times New Roman" panose="02020603050405020304" charset="0"/>
              </a:rPr>
              <a:t>Voice input</a:t>
            </a:r>
            <a:endParaRPr sz="2400" b="1" i="0">
              <a:solidFill>
                <a:schemeClr val="tx1"/>
              </a:solidFill>
              <a:latin typeface="Times New Roman" panose="02020603050405020304" charset="0"/>
              <a:cs typeface="Times New Roman" panose="02020603050405020304" charset="0"/>
            </a:endParaRPr>
          </a:p>
        </p:txBody>
      </p:sp>
      <p:sp>
        <p:nvSpPr>
          <p:cNvPr id="17" name="TextBox 16"/>
          <p:cNvSpPr txBox="1"/>
          <p:nvPr/>
        </p:nvSpPr>
        <p:spPr>
          <a:xfrm>
            <a:off x="9061704" y="1965960"/>
            <a:ext cx="2148840" cy="1439545"/>
          </a:xfrm>
          <a:prstGeom prst="rect">
            <a:avLst/>
          </a:prstGeom>
          <a:noFill/>
        </p:spPr>
        <p:txBody>
          <a:bodyPr wrap="square" lIns="45720" tIns="27432" rIns="45720" bIns="27432" anchor="t">
            <a:spAutoFit/>
          </a:bodyPr>
          <a:lstStyle/>
          <a:p>
            <a:pPr algn="l">
              <a:lnSpc>
                <a:spcPct val="150000"/>
              </a:lnSpc>
              <a:spcAft>
                <a:spcPts val="500"/>
              </a:spcAft>
            </a:pPr>
            <a:r>
              <a:rPr sz="2000" b="1" i="0">
                <a:solidFill>
                  <a:schemeClr val="tx1"/>
                </a:solidFill>
                <a:latin typeface="Times New Roman" panose="02020603050405020304" charset="0"/>
                <a:cs typeface="Times New Roman" panose="02020603050405020304" charset="0"/>
              </a:rPr>
              <a:t>Speech to text, parsed into the form</a:t>
            </a:r>
            <a:endParaRPr sz="2000" b="1" i="0">
              <a:solidFill>
                <a:schemeClr val="tx1"/>
              </a:solidFill>
              <a:latin typeface="Times New Roman" panose="02020603050405020304" charset="0"/>
              <a:cs typeface="Times New Roman" panose="02020603050405020304" charset="0"/>
            </a:endParaRPr>
          </a:p>
        </p:txBody>
      </p:sp>
      <p:sp>
        <p:nvSpPr>
          <p:cNvPr id="18" name="Rounded Rectangle 17"/>
          <p:cNvSpPr/>
          <p:nvPr/>
        </p:nvSpPr>
        <p:spPr>
          <a:xfrm>
            <a:off x="731520" y="3703320"/>
            <a:ext cx="2514600" cy="2057400"/>
          </a:xfrm>
          <a:prstGeom prst="roundRect">
            <a:avLst>
              <a:gd name="adj" fmla="val 8000"/>
            </a:avLst>
          </a:prstGeom>
          <a:solidFill>
            <a:schemeClr val="accent3">
              <a:lumMod val="40000"/>
              <a:lumOff val="6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50000"/>
              </a:lnSpc>
            </a:pPr>
            <a:endParaRPr>
              <a:latin typeface="Times New Roman" panose="02020603050405020304" charset="0"/>
              <a:cs typeface="Times New Roman" panose="02020603050405020304" charset="0"/>
            </a:endParaRPr>
          </a:p>
        </p:txBody>
      </p:sp>
      <p:sp>
        <p:nvSpPr>
          <p:cNvPr id="19" name="TextBox 18"/>
          <p:cNvSpPr txBox="1"/>
          <p:nvPr/>
        </p:nvSpPr>
        <p:spPr>
          <a:xfrm>
            <a:off x="861695" y="3853180"/>
            <a:ext cx="2148840" cy="608330"/>
          </a:xfrm>
          <a:prstGeom prst="rect">
            <a:avLst/>
          </a:prstGeom>
          <a:noFill/>
        </p:spPr>
        <p:txBody>
          <a:bodyPr wrap="square" lIns="45720" tIns="27432" rIns="45720" bIns="27432" anchor="t">
            <a:spAutoFit/>
          </a:bodyPr>
          <a:lstStyle/>
          <a:p>
            <a:pPr algn="l">
              <a:lnSpc>
                <a:spcPct val="150000"/>
              </a:lnSpc>
              <a:spcAft>
                <a:spcPts val="600"/>
              </a:spcAft>
            </a:pPr>
            <a:r>
              <a:rPr sz="2400" b="1" i="0">
                <a:solidFill>
                  <a:schemeClr val="tx1"/>
                </a:solidFill>
                <a:latin typeface="Times New Roman" panose="02020603050405020304" charset="0"/>
                <a:cs typeface="Times New Roman" panose="02020603050405020304" charset="0"/>
              </a:rPr>
              <a:t>Chat</a:t>
            </a:r>
            <a:endParaRPr sz="2400" b="1" i="0">
              <a:solidFill>
                <a:schemeClr val="tx1"/>
              </a:solidFill>
              <a:latin typeface="Times New Roman" panose="02020603050405020304" charset="0"/>
              <a:cs typeface="Times New Roman" panose="02020603050405020304" charset="0"/>
            </a:endParaRPr>
          </a:p>
        </p:txBody>
      </p:sp>
      <p:sp>
        <p:nvSpPr>
          <p:cNvPr id="20" name="TextBox 19"/>
          <p:cNvSpPr txBox="1"/>
          <p:nvPr/>
        </p:nvSpPr>
        <p:spPr>
          <a:xfrm>
            <a:off x="914400" y="4297680"/>
            <a:ext cx="2148840" cy="1439545"/>
          </a:xfrm>
          <a:prstGeom prst="rect">
            <a:avLst/>
          </a:prstGeom>
          <a:noFill/>
        </p:spPr>
        <p:txBody>
          <a:bodyPr wrap="square" lIns="45720" tIns="27432" rIns="45720" bIns="27432" anchor="t">
            <a:spAutoFit/>
          </a:bodyPr>
          <a:lstStyle/>
          <a:p>
            <a:pPr algn="l">
              <a:lnSpc>
                <a:spcPct val="150000"/>
              </a:lnSpc>
              <a:spcAft>
                <a:spcPts val="500"/>
              </a:spcAft>
            </a:pPr>
            <a:r>
              <a:rPr sz="2000" b="1" i="0">
                <a:solidFill>
                  <a:schemeClr val="tx1"/>
                </a:solidFill>
                <a:latin typeface="Times New Roman" panose="02020603050405020304" charset="0"/>
                <a:cs typeface="Times New Roman" panose="02020603050405020304" charset="0"/>
              </a:rPr>
              <a:t>Socket.io rooms, typing, unread counts</a:t>
            </a:r>
            <a:endParaRPr sz="2000" b="1" i="0">
              <a:solidFill>
                <a:schemeClr val="tx1"/>
              </a:solidFill>
              <a:latin typeface="Times New Roman" panose="02020603050405020304" charset="0"/>
              <a:cs typeface="Times New Roman" panose="02020603050405020304" charset="0"/>
            </a:endParaRPr>
          </a:p>
        </p:txBody>
      </p:sp>
      <p:sp>
        <p:nvSpPr>
          <p:cNvPr id="21" name="Rounded Rectangle 20"/>
          <p:cNvSpPr/>
          <p:nvPr/>
        </p:nvSpPr>
        <p:spPr>
          <a:xfrm>
            <a:off x="3447288" y="3703320"/>
            <a:ext cx="2514600" cy="2057400"/>
          </a:xfrm>
          <a:prstGeom prst="roundRect">
            <a:avLst>
              <a:gd name="adj" fmla="val 8000"/>
            </a:avLst>
          </a:prstGeom>
          <a:solidFill>
            <a:schemeClr val="accent3">
              <a:lumMod val="40000"/>
              <a:lumOff val="6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50000"/>
              </a:lnSpc>
            </a:pPr>
            <a:endParaRPr>
              <a:latin typeface="Times New Roman" panose="02020603050405020304" charset="0"/>
              <a:cs typeface="Times New Roman" panose="02020603050405020304" charset="0"/>
            </a:endParaRPr>
          </a:p>
        </p:txBody>
      </p:sp>
      <p:sp>
        <p:nvSpPr>
          <p:cNvPr id="22" name="TextBox 21"/>
          <p:cNvSpPr txBox="1"/>
          <p:nvPr/>
        </p:nvSpPr>
        <p:spPr>
          <a:xfrm>
            <a:off x="3630168" y="3840480"/>
            <a:ext cx="2148840" cy="608330"/>
          </a:xfrm>
          <a:prstGeom prst="rect">
            <a:avLst/>
          </a:prstGeom>
          <a:noFill/>
        </p:spPr>
        <p:txBody>
          <a:bodyPr wrap="square" lIns="45720" tIns="27432" rIns="45720" bIns="27432" anchor="t">
            <a:spAutoFit/>
          </a:bodyPr>
          <a:lstStyle/>
          <a:p>
            <a:pPr algn="l">
              <a:lnSpc>
                <a:spcPct val="150000"/>
              </a:lnSpc>
              <a:spcAft>
                <a:spcPts val="600"/>
              </a:spcAft>
            </a:pPr>
            <a:r>
              <a:rPr sz="2400" b="1" i="0">
                <a:solidFill>
                  <a:schemeClr val="tx1"/>
                </a:solidFill>
                <a:latin typeface="Times New Roman" panose="02020603050405020304" charset="0"/>
                <a:cs typeface="Times New Roman" panose="02020603050405020304" charset="0"/>
              </a:rPr>
              <a:t>Offline</a:t>
            </a:r>
            <a:endParaRPr sz="2400" b="1" i="0">
              <a:solidFill>
                <a:schemeClr val="tx1"/>
              </a:solidFill>
              <a:latin typeface="Times New Roman" panose="02020603050405020304" charset="0"/>
              <a:cs typeface="Times New Roman" panose="02020603050405020304" charset="0"/>
            </a:endParaRPr>
          </a:p>
        </p:txBody>
      </p:sp>
      <p:sp>
        <p:nvSpPr>
          <p:cNvPr id="23" name="TextBox 22"/>
          <p:cNvSpPr txBox="1"/>
          <p:nvPr/>
        </p:nvSpPr>
        <p:spPr>
          <a:xfrm>
            <a:off x="3630168" y="4297680"/>
            <a:ext cx="2148840" cy="1439545"/>
          </a:xfrm>
          <a:prstGeom prst="rect">
            <a:avLst/>
          </a:prstGeom>
          <a:noFill/>
        </p:spPr>
        <p:txBody>
          <a:bodyPr wrap="square" lIns="45720" tIns="27432" rIns="45720" bIns="27432" anchor="t">
            <a:spAutoFit/>
          </a:bodyPr>
          <a:lstStyle/>
          <a:p>
            <a:pPr algn="l">
              <a:lnSpc>
                <a:spcPct val="150000"/>
              </a:lnSpc>
              <a:spcAft>
                <a:spcPts val="500"/>
              </a:spcAft>
            </a:pPr>
            <a:r>
              <a:rPr sz="2000" b="1" i="0">
                <a:solidFill>
                  <a:schemeClr val="tx1"/>
                </a:solidFill>
                <a:latin typeface="Times New Roman" panose="02020603050405020304" charset="0"/>
                <a:cs typeface="Times New Roman" panose="02020603050405020304" charset="0"/>
              </a:rPr>
              <a:t>Service worker cache, IndexedDB queue</a:t>
            </a:r>
            <a:endParaRPr sz="2000" b="1" i="0">
              <a:solidFill>
                <a:schemeClr val="tx1"/>
              </a:solidFill>
              <a:latin typeface="Times New Roman" panose="02020603050405020304" charset="0"/>
              <a:cs typeface="Times New Roman" panose="02020603050405020304" charset="0"/>
            </a:endParaRPr>
          </a:p>
        </p:txBody>
      </p:sp>
      <p:sp>
        <p:nvSpPr>
          <p:cNvPr id="24" name="Rounded Rectangle 23"/>
          <p:cNvSpPr/>
          <p:nvPr/>
        </p:nvSpPr>
        <p:spPr>
          <a:xfrm>
            <a:off x="6163056" y="3703320"/>
            <a:ext cx="2514600" cy="2057400"/>
          </a:xfrm>
          <a:prstGeom prst="roundRect">
            <a:avLst>
              <a:gd name="adj" fmla="val 8000"/>
            </a:avLst>
          </a:prstGeom>
          <a:solidFill>
            <a:schemeClr val="accent3">
              <a:lumMod val="40000"/>
              <a:lumOff val="6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50000"/>
              </a:lnSpc>
            </a:pPr>
            <a:endParaRPr>
              <a:latin typeface="Times New Roman" panose="02020603050405020304" charset="0"/>
              <a:cs typeface="Times New Roman" panose="02020603050405020304" charset="0"/>
            </a:endParaRPr>
          </a:p>
        </p:txBody>
      </p:sp>
      <p:sp>
        <p:nvSpPr>
          <p:cNvPr id="25" name="TextBox 24"/>
          <p:cNvSpPr txBox="1"/>
          <p:nvPr/>
        </p:nvSpPr>
        <p:spPr>
          <a:xfrm>
            <a:off x="6345936" y="3840480"/>
            <a:ext cx="2148840" cy="700405"/>
          </a:xfrm>
          <a:prstGeom prst="rect">
            <a:avLst/>
          </a:prstGeom>
          <a:noFill/>
        </p:spPr>
        <p:txBody>
          <a:bodyPr wrap="square" lIns="45720" tIns="27432" rIns="45720" bIns="27432" anchor="t">
            <a:spAutoFit/>
          </a:bodyPr>
          <a:lstStyle/>
          <a:p>
            <a:pPr algn="l">
              <a:lnSpc>
                <a:spcPct val="150000"/>
              </a:lnSpc>
              <a:spcAft>
                <a:spcPts val="600"/>
              </a:spcAft>
            </a:pPr>
            <a:r>
              <a:rPr sz="2800" b="1" i="0">
                <a:solidFill>
                  <a:schemeClr val="tx1"/>
                </a:solidFill>
                <a:latin typeface="Times New Roman" panose="02020603050405020304" charset="0"/>
                <a:cs typeface="Times New Roman" panose="02020603050405020304" charset="0"/>
              </a:rPr>
              <a:t>Trust</a:t>
            </a:r>
            <a:endParaRPr sz="2800" b="1" i="0">
              <a:solidFill>
                <a:schemeClr val="tx1"/>
              </a:solidFill>
              <a:latin typeface="Times New Roman" panose="02020603050405020304" charset="0"/>
              <a:cs typeface="Times New Roman" panose="02020603050405020304" charset="0"/>
            </a:endParaRPr>
          </a:p>
        </p:txBody>
      </p:sp>
      <p:sp>
        <p:nvSpPr>
          <p:cNvPr id="26" name="TextBox 25"/>
          <p:cNvSpPr txBox="1"/>
          <p:nvPr/>
        </p:nvSpPr>
        <p:spPr>
          <a:xfrm>
            <a:off x="6345936" y="4297680"/>
            <a:ext cx="2148840" cy="977900"/>
          </a:xfrm>
          <a:prstGeom prst="rect">
            <a:avLst/>
          </a:prstGeom>
          <a:noFill/>
        </p:spPr>
        <p:txBody>
          <a:bodyPr wrap="square" lIns="45720" tIns="27432" rIns="45720" bIns="27432" anchor="t">
            <a:spAutoFit/>
          </a:bodyPr>
          <a:lstStyle/>
          <a:p>
            <a:pPr algn="l">
              <a:lnSpc>
                <a:spcPct val="150000"/>
              </a:lnSpc>
              <a:spcAft>
                <a:spcPts val="500"/>
              </a:spcAft>
            </a:pPr>
            <a:r>
              <a:rPr sz="2000" b="1" i="0">
                <a:solidFill>
                  <a:schemeClr val="tx1"/>
                </a:solidFill>
                <a:latin typeface="Times New Roman" panose="02020603050405020304" charset="0"/>
                <a:cs typeface="Times New Roman" panose="02020603050405020304" charset="0"/>
              </a:rPr>
              <a:t>Hash chain, score, rating rules</a:t>
            </a:r>
            <a:endParaRPr sz="2000" b="1" i="0">
              <a:solidFill>
                <a:schemeClr val="tx1"/>
              </a:solidFill>
              <a:latin typeface="Times New Roman" panose="02020603050405020304" charset="0"/>
              <a:cs typeface="Times New Roman" panose="02020603050405020304" charset="0"/>
            </a:endParaRPr>
          </a:p>
        </p:txBody>
      </p:sp>
      <p:sp>
        <p:nvSpPr>
          <p:cNvPr id="27" name="Rounded Rectangle 26"/>
          <p:cNvSpPr/>
          <p:nvPr/>
        </p:nvSpPr>
        <p:spPr>
          <a:xfrm>
            <a:off x="8878824" y="3703320"/>
            <a:ext cx="2514600" cy="2057400"/>
          </a:xfrm>
          <a:prstGeom prst="roundRect">
            <a:avLst>
              <a:gd name="adj" fmla="val 8000"/>
            </a:avLst>
          </a:prstGeom>
          <a:solidFill>
            <a:schemeClr val="accent3">
              <a:lumMod val="40000"/>
              <a:lumOff val="6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50000"/>
              </a:lnSpc>
            </a:pPr>
            <a:endParaRPr>
              <a:latin typeface="Times New Roman" panose="02020603050405020304" charset="0"/>
              <a:cs typeface="Times New Roman" panose="02020603050405020304" charset="0"/>
            </a:endParaRPr>
          </a:p>
        </p:txBody>
      </p:sp>
      <p:sp>
        <p:nvSpPr>
          <p:cNvPr id="28" name="TextBox 27"/>
          <p:cNvSpPr txBox="1"/>
          <p:nvPr/>
        </p:nvSpPr>
        <p:spPr>
          <a:xfrm>
            <a:off x="9061704" y="3840480"/>
            <a:ext cx="2148840" cy="608330"/>
          </a:xfrm>
          <a:prstGeom prst="rect">
            <a:avLst/>
          </a:prstGeom>
          <a:noFill/>
        </p:spPr>
        <p:txBody>
          <a:bodyPr wrap="square" lIns="45720" tIns="27432" rIns="45720" bIns="27432" anchor="t">
            <a:spAutoFit/>
          </a:bodyPr>
          <a:lstStyle/>
          <a:p>
            <a:pPr algn="l">
              <a:lnSpc>
                <a:spcPct val="150000"/>
              </a:lnSpc>
              <a:spcAft>
                <a:spcPts val="600"/>
              </a:spcAft>
            </a:pPr>
            <a:r>
              <a:rPr sz="2400" b="1" i="0">
                <a:solidFill>
                  <a:schemeClr val="tx1"/>
                </a:solidFill>
                <a:latin typeface="Times New Roman" panose="02020603050405020304" charset="0"/>
                <a:cs typeface="Times New Roman" panose="02020603050405020304" charset="0"/>
              </a:rPr>
              <a:t>Administration</a:t>
            </a:r>
            <a:endParaRPr sz="2400" b="1" i="0">
              <a:solidFill>
                <a:schemeClr val="tx1"/>
              </a:solidFill>
              <a:latin typeface="Times New Roman" panose="02020603050405020304" charset="0"/>
              <a:cs typeface="Times New Roman" panose="02020603050405020304" charset="0"/>
            </a:endParaRPr>
          </a:p>
        </p:txBody>
      </p:sp>
      <p:sp>
        <p:nvSpPr>
          <p:cNvPr id="29" name="TextBox 28"/>
          <p:cNvSpPr txBox="1"/>
          <p:nvPr/>
        </p:nvSpPr>
        <p:spPr>
          <a:xfrm>
            <a:off x="9061704" y="4297680"/>
            <a:ext cx="2148840" cy="1439545"/>
          </a:xfrm>
          <a:prstGeom prst="rect">
            <a:avLst/>
          </a:prstGeom>
          <a:noFill/>
        </p:spPr>
        <p:txBody>
          <a:bodyPr wrap="square" lIns="45720" tIns="27432" rIns="45720" bIns="27432" anchor="t">
            <a:spAutoFit/>
          </a:bodyPr>
          <a:lstStyle/>
          <a:p>
            <a:pPr algn="l">
              <a:lnSpc>
                <a:spcPct val="150000"/>
              </a:lnSpc>
              <a:spcAft>
                <a:spcPts val="500"/>
              </a:spcAft>
            </a:pPr>
            <a:r>
              <a:rPr sz="2000" b="1" i="0">
                <a:solidFill>
                  <a:srgbClr val="232323"/>
                </a:solidFill>
                <a:latin typeface="Times New Roman" panose="02020603050405020304" charset="0"/>
                <a:cs typeface="Times New Roman" panose="02020603050405020304" charset="0"/>
              </a:rPr>
              <a:t>Verify queue, integrity check, logged moderation</a:t>
            </a:r>
            <a:endParaRPr sz="2000" b="1" i="0">
              <a:solidFill>
                <a:srgbClr val="232323"/>
              </a:solidFill>
              <a:latin typeface="Times New Roman" panose="02020603050405020304" charset="0"/>
              <a:cs typeface="Times New Roman" panose="0202060305040502030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gradFill>
          <a:gsLst>
            <a:gs pos="50000">
              <a:schemeClr val="accent3"/>
            </a:gs>
            <a:gs pos="0">
              <a:schemeClr val="accent3">
                <a:lumMod val="25000"/>
                <a:lumOff val="75000"/>
              </a:schemeClr>
            </a:gs>
            <a:gs pos="100000">
              <a:schemeClr val="accent3">
                <a:lumMod val="85000"/>
              </a:schemeClr>
            </a:gs>
          </a:gsLst>
          <a:lin ang="5400000" scaled="1"/>
        </a:gradFill>
        <a:effectLst/>
      </p:bgPr>
    </p:bg>
    <p:spTree>
      <p:nvGrpSpPr>
        <p:cNvPr id="1" name=""/>
        <p:cNvGrpSpPr/>
        <p:nvPr/>
      </p:nvGrpSpPr>
      <p:grpSpPr>
        <a:xfrm>
          <a:off x="0" y="0"/>
          <a:ext cx="0" cy="0"/>
          <a:chOff x="0" y="0"/>
          <a:chExt cx="0" cy="0"/>
        </a:xfrm>
      </p:grpSpPr>
      <p:sp>
        <p:nvSpPr>
          <p:cNvPr id="2" name="TextBox 1"/>
          <p:cNvSpPr txBox="1"/>
          <p:nvPr/>
        </p:nvSpPr>
        <p:spPr>
          <a:xfrm>
            <a:off x="2942908" y="320040"/>
            <a:ext cx="6275705" cy="1014730"/>
          </a:xfrm>
          <a:prstGeom prst="rect">
            <a:avLst/>
          </a:prstGeom>
          <a:noFill/>
        </p:spPr>
        <p:txBody>
          <a:bodyPr wrap="none">
            <a:spAutoFit/>
          </a:bodyPr>
          <a:lstStyle/>
          <a:p>
            <a:pPr algn="ctr">
              <a:lnSpc>
                <a:spcPct val="150000"/>
              </a:lnSpc>
              <a:defRPr sz="2800" b="1">
                <a:solidFill>
                  <a:srgbClr val="192D4B"/>
                </a:solidFill>
              </a:defRPr>
            </a:pPr>
            <a:r>
              <a:rPr sz="4000">
                <a:solidFill>
                  <a:schemeClr val="tx1"/>
                </a:solidFill>
                <a:latin typeface="Times New Roman" panose="02020603050405020304" charset="0"/>
                <a:cs typeface="Times New Roman" panose="02020603050405020304" charset="0"/>
              </a:rPr>
              <a:t>Key Implementation Details</a:t>
            </a:r>
            <a:endParaRPr sz="4000">
              <a:solidFill>
                <a:schemeClr val="tx1"/>
              </a:solidFill>
              <a:latin typeface="Times New Roman" panose="02020603050405020304" charset="0"/>
              <a:cs typeface="Times New Roman" panose="02020603050405020304" charset="0"/>
            </a:endParaRPr>
          </a:p>
        </p:txBody>
      </p:sp>
      <p:sp>
        <p:nvSpPr>
          <p:cNvPr id="4" name="Rectangle 3"/>
          <p:cNvSpPr/>
          <p:nvPr/>
        </p:nvSpPr>
        <p:spPr>
          <a:xfrm>
            <a:off x="0" y="6565392"/>
            <a:ext cx="12191695" cy="292608"/>
          </a:xfrm>
          <a:prstGeom prst="rect">
            <a:avLst/>
          </a:prstGeom>
          <a:solidFill>
            <a:schemeClr val="accent3">
              <a:lumMod val="5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50000"/>
              </a:lnSpc>
            </a:pPr>
            <a:endParaRPr>
              <a:latin typeface="Times New Roman" panose="02020603050405020304" charset="0"/>
              <a:cs typeface="Times New Roman" panose="02020603050405020304" charset="0"/>
            </a:endParaRPr>
          </a:p>
        </p:txBody>
      </p:sp>
      <p:sp>
        <p:nvSpPr>
          <p:cNvPr id="5" name="TextBox 4"/>
          <p:cNvSpPr txBox="1"/>
          <p:nvPr/>
        </p:nvSpPr>
        <p:spPr>
          <a:xfrm>
            <a:off x="320040" y="6574536"/>
            <a:ext cx="2512060" cy="299085"/>
          </a:xfrm>
          <a:prstGeom prst="rect">
            <a:avLst/>
          </a:prstGeom>
          <a:gradFill>
            <a:gsLst>
              <a:gs pos="50000">
                <a:schemeClr val="accent2"/>
              </a:gs>
              <a:gs pos="0">
                <a:schemeClr val="accent2">
                  <a:lumMod val="25000"/>
                  <a:lumOff val="75000"/>
                </a:schemeClr>
              </a:gs>
              <a:gs pos="100000">
                <a:schemeClr val="accent2">
                  <a:lumMod val="85000"/>
                </a:schemeClr>
              </a:gs>
            </a:gsLst>
            <a:lin ang="5400000" scaled="1"/>
          </a:gradFill>
        </p:spPr>
        <p:txBody>
          <a:bodyPr wrap="none">
            <a:spAutoFit/>
          </a:bodyPr>
          <a:lstStyle/>
          <a:p>
            <a:pPr>
              <a:lnSpc>
                <a:spcPct val="150000"/>
              </a:lnSpc>
              <a:defRPr sz="900">
                <a:solidFill>
                  <a:srgbClr val="FFFFFF"/>
                </a:solidFill>
              </a:defRPr>
            </a:pPr>
            <a:r>
              <a:rPr b="1" dirty="0">
                <a:solidFill>
                  <a:schemeClr val="tx1"/>
                </a:solidFill>
                <a:latin typeface="Times New Roman" panose="02020603050405020304" charset="0"/>
                <a:cs typeface="Times New Roman" panose="02020603050405020304" charset="0"/>
              </a:rPr>
              <a:t>Final Year Project • Academic Year 2026       10</a:t>
            </a:r>
            <a:endParaRPr b="1" dirty="0">
              <a:solidFill>
                <a:schemeClr val="tx1"/>
              </a:solidFill>
              <a:latin typeface="Times New Roman" panose="02020603050405020304" charset="0"/>
              <a:cs typeface="Times New Roman" panose="02020603050405020304" charset="0"/>
            </a:endParaRPr>
          </a:p>
        </p:txBody>
      </p:sp>
      <p:sp>
        <p:nvSpPr>
          <p:cNvPr id="6" name="Rounded Rectangle 5"/>
          <p:cNvSpPr/>
          <p:nvPr/>
        </p:nvSpPr>
        <p:spPr>
          <a:xfrm>
            <a:off x="731520" y="1325880"/>
            <a:ext cx="10698480" cy="804672"/>
          </a:xfrm>
          <a:prstGeom prst="roundRect">
            <a:avLst>
              <a:gd name="adj" fmla="val 8000"/>
            </a:avLst>
          </a:prstGeom>
          <a:solidFill>
            <a:schemeClr val="accent3">
              <a:lumMod val="40000"/>
              <a:lumOff val="6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50000"/>
              </a:lnSpc>
            </a:pPr>
            <a:endParaRPr>
              <a:latin typeface="Times New Roman" panose="02020603050405020304" charset="0"/>
              <a:cs typeface="Times New Roman" panose="02020603050405020304" charset="0"/>
            </a:endParaRPr>
          </a:p>
        </p:txBody>
      </p:sp>
      <p:sp>
        <p:nvSpPr>
          <p:cNvPr id="7" name="TextBox 6"/>
          <p:cNvSpPr txBox="1"/>
          <p:nvPr/>
        </p:nvSpPr>
        <p:spPr>
          <a:xfrm>
            <a:off x="914400" y="1493266"/>
            <a:ext cx="2743200" cy="469900"/>
          </a:xfrm>
          <a:prstGeom prst="rect">
            <a:avLst/>
          </a:prstGeom>
          <a:noFill/>
        </p:spPr>
        <p:txBody>
          <a:bodyPr wrap="square" lIns="45720" tIns="27432" rIns="45720" bIns="27432" anchor="ctr">
            <a:spAutoFit/>
          </a:bodyPr>
          <a:lstStyle/>
          <a:p>
            <a:pPr algn="l">
              <a:lnSpc>
                <a:spcPct val="150000"/>
              </a:lnSpc>
              <a:spcAft>
                <a:spcPts val="600"/>
              </a:spcAft>
            </a:pPr>
            <a:r>
              <a:rPr b="1" i="0">
                <a:solidFill>
                  <a:schemeClr val="tx1"/>
                </a:solidFill>
                <a:latin typeface="Times New Roman" panose="02020603050405020304" charset="0"/>
                <a:cs typeface="Times New Roman" panose="02020603050405020304" charset="0"/>
              </a:rPr>
              <a:t>Appending a block</a:t>
            </a:r>
            <a:endParaRPr b="1" i="0">
              <a:solidFill>
                <a:schemeClr val="tx1"/>
              </a:solidFill>
              <a:latin typeface="Times New Roman" panose="02020603050405020304" charset="0"/>
              <a:cs typeface="Times New Roman" panose="02020603050405020304" charset="0"/>
            </a:endParaRPr>
          </a:p>
        </p:txBody>
      </p:sp>
      <p:sp>
        <p:nvSpPr>
          <p:cNvPr id="8" name="TextBox 7"/>
          <p:cNvSpPr txBox="1"/>
          <p:nvPr/>
        </p:nvSpPr>
        <p:spPr>
          <a:xfrm>
            <a:off x="3657600" y="1285621"/>
            <a:ext cx="7589520" cy="885190"/>
          </a:xfrm>
          <a:prstGeom prst="rect">
            <a:avLst/>
          </a:prstGeom>
          <a:noFill/>
        </p:spPr>
        <p:txBody>
          <a:bodyPr wrap="square" lIns="45720" tIns="27432" rIns="45720" bIns="27432" anchor="ctr">
            <a:spAutoFit/>
          </a:bodyPr>
          <a:lstStyle/>
          <a:p>
            <a:pPr algn="l">
              <a:lnSpc>
                <a:spcPct val="150000"/>
              </a:lnSpc>
              <a:spcAft>
                <a:spcPts val="600"/>
              </a:spcAft>
            </a:pPr>
            <a:r>
              <a:rPr b="1" i="0">
                <a:solidFill>
                  <a:schemeClr val="tx1"/>
                </a:solidFill>
                <a:latin typeface="Times New Roman" panose="02020603050405020304" charset="0"/>
                <a:cs typeface="Times New Roman" panose="02020603050405020304" charset="0"/>
              </a:rPr>
              <a:t>Read the last block, link to its hash, save. A unique index rejects a clash; the write is retried.</a:t>
            </a:r>
            <a:endParaRPr b="1" i="0">
              <a:solidFill>
                <a:schemeClr val="tx1"/>
              </a:solidFill>
              <a:latin typeface="Times New Roman" panose="02020603050405020304" charset="0"/>
              <a:cs typeface="Times New Roman" panose="02020603050405020304" charset="0"/>
            </a:endParaRPr>
          </a:p>
        </p:txBody>
      </p:sp>
      <p:sp>
        <p:nvSpPr>
          <p:cNvPr id="9" name="Rounded Rectangle 8"/>
          <p:cNvSpPr/>
          <p:nvPr/>
        </p:nvSpPr>
        <p:spPr>
          <a:xfrm>
            <a:off x="731520" y="2267712"/>
            <a:ext cx="10698480" cy="804672"/>
          </a:xfrm>
          <a:prstGeom prst="roundRect">
            <a:avLst>
              <a:gd name="adj" fmla="val 8000"/>
            </a:avLst>
          </a:prstGeom>
          <a:solidFill>
            <a:schemeClr val="accent3">
              <a:lumMod val="20000"/>
              <a:lumOff val="80000"/>
            </a:schemeClr>
          </a:solidFill>
          <a:ln w="12700">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50000"/>
              </a:lnSpc>
            </a:pPr>
            <a:endParaRPr>
              <a:latin typeface="Times New Roman" panose="02020603050405020304" charset="0"/>
              <a:cs typeface="Times New Roman" panose="02020603050405020304" charset="0"/>
            </a:endParaRPr>
          </a:p>
        </p:txBody>
      </p:sp>
      <p:sp>
        <p:nvSpPr>
          <p:cNvPr id="10" name="TextBox 9"/>
          <p:cNvSpPr txBox="1"/>
          <p:nvPr/>
        </p:nvSpPr>
        <p:spPr>
          <a:xfrm>
            <a:off x="914400" y="2435098"/>
            <a:ext cx="2743200" cy="469900"/>
          </a:xfrm>
          <a:prstGeom prst="rect">
            <a:avLst/>
          </a:prstGeom>
          <a:noFill/>
        </p:spPr>
        <p:txBody>
          <a:bodyPr wrap="square" lIns="45720" tIns="27432" rIns="45720" bIns="27432" anchor="ctr">
            <a:spAutoFit/>
          </a:bodyPr>
          <a:lstStyle/>
          <a:p>
            <a:pPr algn="l">
              <a:lnSpc>
                <a:spcPct val="150000"/>
              </a:lnSpc>
              <a:spcAft>
                <a:spcPts val="600"/>
              </a:spcAft>
            </a:pPr>
            <a:r>
              <a:rPr b="1" i="0">
                <a:solidFill>
                  <a:schemeClr val="tx1"/>
                </a:solidFill>
                <a:latin typeface="Times New Roman" panose="02020603050405020304" charset="0"/>
                <a:cs typeface="Times New Roman" panose="02020603050405020304" charset="0"/>
              </a:rPr>
              <a:t>Verifying a chain</a:t>
            </a:r>
            <a:endParaRPr b="1" i="0">
              <a:solidFill>
                <a:schemeClr val="tx1"/>
              </a:solidFill>
              <a:latin typeface="Times New Roman" panose="02020603050405020304" charset="0"/>
              <a:cs typeface="Times New Roman" panose="02020603050405020304" charset="0"/>
            </a:endParaRPr>
          </a:p>
        </p:txBody>
      </p:sp>
      <p:sp>
        <p:nvSpPr>
          <p:cNvPr id="11" name="TextBox 10"/>
          <p:cNvSpPr txBox="1"/>
          <p:nvPr/>
        </p:nvSpPr>
        <p:spPr>
          <a:xfrm>
            <a:off x="3657600" y="2227453"/>
            <a:ext cx="7589520" cy="885190"/>
          </a:xfrm>
          <a:prstGeom prst="rect">
            <a:avLst/>
          </a:prstGeom>
          <a:noFill/>
        </p:spPr>
        <p:txBody>
          <a:bodyPr wrap="square" lIns="45720" tIns="27432" rIns="45720" bIns="27432" anchor="ctr">
            <a:spAutoFit/>
          </a:bodyPr>
          <a:lstStyle/>
          <a:p>
            <a:pPr algn="l">
              <a:lnSpc>
                <a:spcPct val="150000"/>
              </a:lnSpc>
              <a:spcAft>
                <a:spcPts val="600"/>
              </a:spcAft>
            </a:pPr>
            <a:r>
              <a:rPr b="1" i="0">
                <a:solidFill>
                  <a:schemeClr val="tx1"/>
                </a:solidFill>
                <a:latin typeface="Times New Roman" panose="02020603050405020304" charset="0"/>
                <a:cs typeface="Times New Roman" panose="02020603050405020304" charset="0"/>
              </a:rPr>
              <a:t>Rebuild exactly what was hashed, so database fields (_id, __v) never cause false alarms.</a:t>
            </a:r>
            <a:endParaRPr b="1" i="0">
              <a:solidFill>
                <a:schemeClr val="tx1"/>
              </a:solidFill>
              <a:latin typeface="Times New Roman" panose="02020603050405020304" charset="0"/>
              <a:cs typeface="Times New Roman" panose="02020603050405020304" charset="0"/>
            </a:endParaRPr>
          </a:p>
        </p:txBody>
      </p:sp>
      <p:sp>
        <p:nvSpPr>
          <p:cNvPr id="12" name="Rounded Rectangle 11"/>
          <p:cNvSpPr/>
          <p:nvPr/>
        </p:nvSpPr>
        <p:spPr>
          <a:xfrm>
            <a:off x="731520" y="3209544"/>
            <a:ext cx="10698480" cy="804672"/>
          </a:xfrm>
          <a:prstGeom prst="roundRect">
            <a:avLst>
              <a:gd name="adj" fmla="val 8000"/>
            </a:avLst>
          </a:prstGeom>
          <a:solidFill>
            <a:schemeClr val="accent3">
              <a:lumMod val="40000"/>
              <a:lumOff val="6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50000"/>
              </a:lnSpc>
            </a:pPr>
            <a:endParaRPr>
              <a:latin typeface="Times New Roman" panose="02020603050405020304" charset="0"/>
              <a:cs typeface="Times New Roman" panose="02020603050405020304" charset="0"/>
            </a:endParaRPr>
          </a:p>
        </p:txBody>
      </p:sp>
      <p:sp>
        <p:nvSpPr>
          <p:cNvPr id="13" name="TextBox 12"/>
          <p:cNvSpPr txBox="1"/>
          <p:nvPr/>
        </p:nvSpPr>
        <p:spPr>
          <a:xfrm>
            <a:off x="914400" y="3376930"/>
            <a:ext cx="2743200" cy="469900"/>
          </a:xfrm>
          <a:prstGeom prst="rect">
            <a:avLst/>
          </a:prstGeom>
          <a:noFill/>
        </p:spPr>
        <p:txBody>
          <a:bodyPr wrap="square" lIns="45720" tIns="27432" rIns="45720" bIns="27432" anchor="ctr">
            <a:spAutoFit/>
          </a:bodyPr>
          <a:lstStyle/>
          <a:p>
            <a:pPr algn="l">
              <a:lnSpc>
                <a:spcPct val="150000"/>
              </a:lnSpc>
              <a:spcAft>
                <a:spcPts val="600"/>
              </a:spcAft>
            </a:pPr>
            <a:r>
              <a:rPr b="1" i="0">
                <a:solidFill>
                  <a:schemeClr val="tx1"/>
                </a:solidFill>
                <a:latin typeface="Times New Roman" panose="02020603050405020304" charset="0"/>
                <a:cs typeface="Times New Roman" panose="02020603050405020304" charset="0"/>
              </a:rPr>
              <a:t>Voice parsing</a:t>
            </a:r>
            <a:endParaRPr b="1" i="0">
              <a:solidFill>
                <a:schemeClr val="tx1"/>
              </a:solidFill>
              <a:latin typeface="Times New Roman" panose="02020603050405020304" charset="0"/>
              <a:cs typeface="Times New Roman" panose="02020603050405020304" charset="0"/>
            </a:endParaRPr>
          </a:p>
        </p:txBody>
      </p:sp>
      <p:sp>
        <p:nvSpPr>
          <p:cNvPr id="14" name="TextBox 13"/>
          <p:cNvSpPr txBox="1"/>
          <p:nvPr/>
        </p:nvSpPr>
        <p:spPr>
          <a:xfrm>
            <a:off x="3657600" y="3169285"/>
            <a:ext cx="7589520" cy="885190"/>
          </a:xfrm>
          <a:prstGeom prst="rect">
            <a:avLst/>
          </a:prstGeom>
          <a:noFill/>
        </p:spPr>
        <p:txBody>
          <a:bodyPr wrap="square" lIns="45720" tIns="27432" rIns="45720" bIns="27432" anchor="ctr">
            <a:spAutoFit/>
          </a:bodyPr>
          <a:lstStyle/>
          <a:p>
            <a:pPr algn="l">
              <a:lnSpc>
                <a:spcPct val="150000"/>
              </a:lnSpc>
              <a:spcAft>
                <a:spcPts val="600"/>
              </a:spcAft>
            </a:pPr>
            <a:r>
              <a:rPr b="1" i="0">
                <a:solidFill>
                  <a:schemeClr val="tx1"/>
                </a:solidFill>
                <a:latin typeface="Times New Roman" panose="02020603050405020304" charset="0"/>
                <a:cs typeface="Times New Roman" panose="02020603050405020304" charset="0"/>
              </a:rPr>
              <a:t>"ninety five kwacha" → K95. The best of three recognition guesses is used; the seller can correct it.</a:t>
            </a:r>
            <a:endParaRPr b="1" i="0">
              <a:solidFill>
                <a:schemeClr val="tx1"/>
              </a:solidFill>
              <a:latin typeface="Times New Roman" panose="02020603050405020304" charset="0"/>
              <a:cs typeface="Times New Roman" panose="02020603050405020304" charset="0"/>
            </a:endParaRPr>
          </a:p>
        </p:txBody>
      </p:sp>
      <p:sp>
        <p:nvSpPr>
          <p:cNvPr id="15" name="Rounded Rectangle 14"/>
          <p:cNvSpPr/>
          <p:nvPr/>
        </p:nvSpPr>
        <p:spPr>
          <a:xfrm>
            <a:off x="731520" y="4151376"/>
            <a:ext cx="10698480" cy="804672"/>
          </a:xfrm>
          <a:prstGeom prst="roundRect">
            <a:avLst>
              <a:gd name="adj" fmla="val 8000"/>
            </a:avLst>
          </a:prstGeom>
          <a:solidFill>
            <a:schemeClr val="accent3">
              <a:lumMod val="20000"/>
              <a:lumOff val="80000"/>
            </a:schemeClr>
          </a:solidFill>
          <a:ln w="12700">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50000"/>
              </a:lnSpc>
            </a:pPr>
            <a:endParaRPr>
              <a:latin typeface="Times New Roman" panose="02020603050405020304" charset="0"/>
              <a:cs typeface="Times New Roman" panose="02020603050405020304" charset="0"/>
            </a:endParaRPr>
          </a:p>
        </p:txBody>
      </p:sp>
      <p:sp>
        <p:nvSpPr>
          <p:cNvPr id="16" name="TextBox 15"/>
          <p:cNvSpPr txBox="1"/>
          <p:nvPr/>
        </p:nvSpPr>
        <p:spPr>
          <a:xfrm>
            <a:off x="914400" y="4318762"/>
            <a:ext cx="2743200" cy="469900"/>
          </a:xfrm>
          <a:prstGeom prst="rect">
            <a:avLst/>
          </a:prstGeom>
          <a:noFill/>
        </p:spPr>
        <p:txBody>
          <a:bodyPr wrap="square" lIns="45720" tIns="27432" rIns="45720" bIns="27432" anchor="ctr">
            <a:spAutoFit/>
          </a:bodyPr>
          <a:lstStyle/>
          <a:p>
            <a:pPr algn="l">
              <a:lnSpc>
                <a:spcPct val="150000"/>
              </a:lnSpc>
              <a:spcAft>
                <a:spcPts val="600"/>
              </a:spcAft>
            </a:pPr>
            <a:r>
              <a:rPr b="1" i="0">
                <a:solidFill>
                  <a:schemeClr val="tx1"/>
                </a:solidFill>
                <a:latin typeface="Times New Roman" panose="02020603050405020304" charset="0"/>
                <a:cs typeface="Times New Roman" panose="02020603050405020304" charset="0"/>
              </a:rPr>
              <a:t>Offline replay</a:t>
            </a:r>
            <a:endParaRPr b="1" i="0">
              <a:solidFill>
                <a:schemeClr val="tx1"/>
              </a:solidFill>
              <a:latin typeface="Times New Roman" panose="02020603050405020304" charset="0"/>
              <a:cs typeface="Times New Roman" panose="02020603050405020304" charset="0"/>
            </a:endParaRPr>
          </a:p>
        </p:txBody>
      </p:sp>
      <p:sp>
        <p:nvSpPr>
          <p:cNvPr id="17" name="TextBox 16"/>
          <p:cNvSpPr txBox="1"/>
          <p:nvPr/>
        </p:nvSpPr>
        <p:spPr>
          <a:xfrm>
            <a:off x="3657600" y="4111117"/>
            <a:ext cx="7589520" cy="885190"/>
          </a:xfrm>
          <a:prstGeom prst="rect">
            <a:avLst/>
          </a:prstGeom>
          <a:noFill/>
        </p:spPr>
        <p:txBody>
          <a:bodyPr wrap="square" lIns="45720" tIns="27432" rIns="45720" bIns="27432" anchor="ctr">
            <a:spAutoFit/>
          </a:bodyPr>
          <a:lstStyle/>
          <a:p>
            <a:pPr algn="l">
              <a:lnSpc>
                <a:spcPct val="150000"/>
              </a:lnSpc>
              <a:spcAft>
                <a:spcPts val="600"/>
              </a:spcAft>
            </a:pPr>
            <a:r>
              <a:rPr b="1" i="0">
                <a:solidFill>
                  <a:schemeClr val="tx1"/>
                </a:solidFill>
                <a:latin typeface="Times New Roman" panose="02020603050405020304" charset="0"/>
                <a:cs typeface="Times New Roman" panose="02020603050405020304" charset="0"/>
              </a:rPr>
              <a:t>Queued messages are sent in order when the connection returns, each removed only once confirmed.</a:t>
            </a:r>
            <a:endParaRPr b="1" i="0">
              <a:solidFill>
                <a:schemeClr val="tx1"/>
              </a:solidFill>
              <a:latin typeface="Times New Roman" panose="02020603050405020304" charset="0"/>
              <a:cs typeface="Times New Roman" panose="02020603050405020304" charset="0"/>
            </a:endParaRPr>
          </a:p>
        </p:txBody>
      </p:sp>
      <p:sp>
        <p:nvSpPr>
          <p:cNvPr id="18" name="Rounded Rectangle 17"/>
          <p:cNvSpPr/>
          <p:nvPr/>
        </p:nvSpPr>
        <p:spPr>
          <a:xfrm>
            <a:off x="731520" y="5093208"/>
            <a:ext cx="10698480" cy="804672"/>
          </a:xfrm>
          <a:prstGeom prst="roundRect">
            <a:avLst>
              <a:gd name="adj" fmla="val 8000"/>
            </a:avLst>
          </a:prstGeom>
          <a:solidFill>
            <a:schemeClr val="accent3">
              <a:lumMod val="40000"/>
              <a:lumOff val="6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50000"/>
              </a:lnSpc>
            </a:pPr>
            <a:endParaRPr>
              <a:latin typeface="Times New Roman" panose="02020603050405020304" charset="0"/>
              <a:cs typeface="Times New Roman" panose="02020603050405020304" charset="0"/>
            </a:endParaRPr>
          </a:p>
        </p:txBody>
      </p:sp>
      <p:sp>
        <p:nvSpPr>
          <p:cNvPr id="19" name="TextBox 18"/>
          <p:cNvSpPr txBox="1"/>
          <p:nvPr/>
        </p:nvSpPr>
        <p:spPr>
          <a:xfrm>
            <a:off x="914400" y="5347589"/>
            <a:ext cx="2743200" cy="469900"/>
          </a:xfrm>
          <a:prstGeom prst="rect">
            <a:avLst/>
          </a:prstGeom>
          <a:noFill/>
        </p:spPr>
        <p:txBody>
          <a:bodyPr wrap="square" lIns="45720" tIns="27432" rIns="45720" bIns="27432" anchor="ctr">
            <a:spAutoFit/>
          </a:bodyPr>
          <a:lstStyle/>
          <a:p>
            <a:pPr algn="l">
              <a:lnSpc>
                <a:spcPct val="150000"/>
              </a:lnSpc>
              <a:spcAft>
                <a:spcPts val="600"/>
              </a:spcAft>
            </a:pPr>
            <a:r>
              <a:rPr b="1" i="0">
                <a:solidFill>
                  <a:schemeClr val="tx1"/>
                </a:solidFill>
                <a:latin typeface="Times New Roman" panose="02020603050405020304" charset="0"/>
                <a:cs typeface="Times New Roman" panose="02020603050405020304" charset="0"/>
              </a:rPr>
              <a:t>Security</a:t>
            </a:r>
            <a:endParaRPr b="1" i="0">
              <a:solidFill>
                <a:schemeClr val="tx1"/>
              </a:solidFill>
              <a:latin typeface="Times New Roman" panose="02020603050405020304" charset="0"/>
              <a:cs typeface="Times New Roman" panose="02020603050405020304" charset="0"/>
            </a:endParaRPr>
          </a:p>
        </p:txBody>
      </p:sp>
      <p:sp>
        <p:nvSpPr>
          <p:cNvPr id="20" name="TextBox 19"/>
          <p:cNvSpPr txBox="1"/>
          <p:nvPr/>
        </p:nvSpPr>
        <p:spPr>
          <a:xfrm>
            <a:off x="3657600" y="5052949"/>
            <a:ext cx="7589520" cy="885190"/>
          </a:xfrm>
          <a:prstGeom prst="rect">
            <a:avLst/>
          </a:prstGeom>
          <a:noFill/>
        </p:spPr>
        <p:txBody>
          <a:bodyPr wrap="square" lIns="45720" tIns="27432" rIns="45720" bIns="27432" anchor="ctr">
            <a:spAutoFit/>
          </a:bodyPr>
          <a:lstStyle/>
          <a:p>
            <a:pPr algn="l">
              <a:lnSpc>
                <a:spcPct val="150000"/>
              </a:lnSpc>
              <a:spcAft>
                <a:spcPts val="600"/>
              </a:spcAft>
            </a:pPr>
            <a:r>
              <a:rPr b="1" i="0">
                <a:solidFill>
                  <a:schemeClr val="tx1"/>
                </a:solidFill>
                <a:latin typeface="Times New Roman" panose="02020603050405020304" charset="0"/>
                <a:cs typeface="Times New Roman" panose="02020603050405020304" charset="0"/>
              </a:rPr>
              <a:t>bcrypt, JWT, rate limits on login, OTP and sign-up; search text escaped; admins only by script.</a:t>
            </a:r>
            <a:endParaRPr b="1" i="0">
              <a:solidFill>
                <a:schemeClr val="tx1"/>
              </a:solidFill>
              <a:latin typeface="Times New Roman" panose="02020603050405020304" charset="0"/>
              <a:cs typeface="Times New Roman" panose="02020603050405020304"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gradFill>
          <a:gsLst>
            <a:gs pos="50000">
              <a:schemeClr val="accent3"/>
            </a:gs>
            <a:gs pos="0">
              <a:schemeClr val="accent3">
                <a:lumMod val="25000"/>
                <a:lumOff val="75000"/>
              </a:schemeClr>
            </a:gs>
            <a:gs pos="100000">
              <a:schemeClr val="accent3">
                <a:lumMod val="85000"/>
              </a:schemeClr>
            </a:gs>
          </a:gsLst>
          <a:lin ang="5400000" scaled="1"/>
        </a:gradFill>
        <a:effectLst/>
      </p:bgPr>
    </p:bg>
    <p:spTree>
      <p:nvGrpSpPr>
        <p:cNvPr id="1" name=""/>
        <p:cNvGrpSpPr/>
        <p:nvPr/>
      </p:nvGrpSpPr>
      <p:grpSpPr>
        <a:xfrm>
          <a:off x="0" y="0"/>
          <a:ext cx="0" cy="0"/>
          <a:chOff x="0" y="0"/>
          <a:chExt cx="0" cy="0"/>
        </a:xfrm>
      </p:grpSpPr>
      <p:sp>
        <p:nvSpPr>
          <p:cNvPr id="2" name="TextBox 1"/>
          <p:cNvSpPr txBox="1"/>
          <p:nvPr/>
        </p:nvSpPr>
        <p:spPr>
          <a:xfrm>
            <a:off x="3265488" y="320040"/>
            <a:ext cx="5630545" cy="1014730"/>
          </a:xfrm>
          <a:prstGeom prst="rect">
            <a:avLst/>
          </a:prstGeom>
          <a:noFill/>
        </p:spPr>
        <p:txBody>
          <a:bodyPr wrap="none">
            <a:spAutoFit/>
          </a:bodyPr>
          <a:lstStyle/>
          <a:p>
            <a:pPr algn="ctr">
              <a:lnSpc>
                <a:spcPct val="150000"/>
              </a:lnSpc>
              <a:defRPr sz="2800" b="1">
                <a:solidFill>
                  <a:srgbClr val="192D4B"/>
                </a:solidFill>
              </a:defRPr>
            </a:pPr>
            <a:r>
              <a:rPr sz="4000">
                <a:latin typeface="Times New Roman" panose="02020603050405020304" charset="0"/>
                <a:cs typeface="Times New Roman" panose="02020603050405020304" charset="0"/>
              </a:rPr>
              <a:t>Challenges and Solutions</a:t>
            </a:r>
            <a:endParaRPr sz="4000">
              <a:latin typeface="Times New Roman" panose="02020603050405020304" charset="0"/>
              <a:cs typeface="Times New Roman" panose="02020603050405020304" charset="0"/>
            </a:endParaRPr>
          </a:p>
        </p:txBody>
      </p:sp>
      <p:sp>
        <p:nvSpPr>
          <p:cNvPr id="4" name="Rectangle 3"/>
          <p:cNvSpPr/>
          <p:nvPr/>
        </p:nvSpPr>
        <p:spPr>
          <a:xfrm>
            <a:off x="0" y="6565392"/>
            <a:ext cx="12191695" cy="292608"/>
          </a:xfrm>
          <a:prstGeom prst="rect">
            <a:avLst/>
          </a:prstGeom>
          <a:solidFill>
            <a:schemeClr val="accent3">
              <a:lumMod val="5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50000"/>
              </a:lnSpc>
            </a:pPr>
            <a:endParaRPr>
              <a:latin typeface="Times New Roman" panose="02020603050405020304" charset="0"/>
              <a:cs typeface="Times New Roman" panose="02020603050405020304" charset="0"/>
            </a:endParaRPr>
          </a:p>
        </p:txBody>
      </p:sp>
      <p:sp>
        <p:nvSpPr>
          <p:cNvPr id="5" name="TextBox 4"/>
          <p:cNvSpPr txBox="1"/>
          <p:nvPr/>
        </p:nvSpPr>
        <p:spPr>
          <a:xfrm>
            <a:off x="320040" y="6574536"/>
            <a:ext cx="2540635" cy="299085"/>
          </a:xfrm>
          <a:prstGeom prst="rect">
            <a:avLst/>
          </a:prstGeom>
          <a:gradFill>
            <a:gsLst>
              <a:gs pos="50000">
                <a:schemeClr val="accent2"/>
              </a:gs>
              <a:gs pos="0">
                <a:schemeClr val="accent2">
                  <a:lumMod val="25000"/>
                  <a:lumOff val="75000"/>
                </a:schemeClr>
              </a:gs>
              <a:gs pos="100000">
                <a:schemeClr val="accent2">
                  <a:lumMod val="85000"/>
                </a:schemeClr>
              </a:gs>
            </a:gsLst>
            <a:lin ang="5400000" scaled="1"/>
          </a:gradFill>
        </p:spPr>
        <p:txBody>
          <a:bodyPr wrap="none">
            <a:spAutoFit/>
          </a:bodyPr>
          <a:lstStyle/>
          <a:p>
            <a:pPr>
              <a:lnSpc>
                <a:spcPct val="150000"/>
              </a:lnSpc>
              <a:defRPr sz="900">
                <a:solidFill>
                  <a:srgbClr val="FFFFFF"/>
                </a:solidFill>
              </a:defRPr>
            </a:pPr>
            <a:r>
              <a:rPr b="1" dirty="0">
                <a:solidFill>
                  <a:schemeClr val="tx1"/>
                </a:solidFill>
                <a:latin typeface="Times New Roman" panose="02020603050405020304" charset="0"/>
                <a:cs typeface="Times New Roman" panose="02020603050405020304" charset="0"/>
              </a:rPr>
              <a:t>Final Year Project • Academic Year 2026        11</a:t>
            </a:r>
            <a:endParaRPr b="1" dirty="0">
              <a:solidFill>
                <a:schemeClr val="tx1"/>
              </a:solidFill>
              <a:latin typeface="Times New Roman" panose="02020603050405020304" charset="0"/>
              <a:cs typeface="Times New Roman" panose="02020603050405020304" charset="0"/>
            </a:endParaRPr>
          </a:p>
        </p:txBody>
      </p:sp>
      <p:graphicFrame>
        <p:nvGraphicFramePr>
          <p:cNvPr id="6" name="Table 5"/>
          <p:cNvGraphicFramePr>
            <a:graphicFrameLocks noGrp="1"/>
          </p:cNvGraphicFramePr>
          <p:nvPr/>
        </p:nvGraphicFramePr>
        <p:xfrm>
          <a:off x="417195" y="1280160"/>
          <a:ext cx="11195685" cy="4728210"/>
        </p:xfrm>
        <a:graphic>
          <a:graphicData uri="http://schemas.openxmlformats.org/drawingml/2006/table">
            <a:tbl>
              <a:tblPr firstRow="1" bandRow="1">
                <a:tableStyleId>{5C22544A-7EE6-4342-B048-85BDC9FD1C3A}</a:tableStyleId>
              </a:tblPr>
              <a:tblGrid>
                <a:gridCol w="5800725"/>
                <a:gridCol w="5394960"/>
              </a:tblGrid>
              <a:tr h="566928">
                <a:tc>
                  <a:txBody>
                    <a:bodyPr wrap="square"/>
                    <a:lstStyle/>
                    <a:p>
                      <a:pPr>
                        <a:lnSpc>
                          <a:spcPct val="150000"/>
                        </a:lnSpc>
                      </a:pPr>
                      <a:r>
                        <a:rPr sz="2000" b="1">
                          <a:solidFill>
                            <a:schemeClr val="tx1"/>
                          </a:solidFill>
                          <a:latin typeface="Times New Roman" panose="02020603050405020304" charset="0"/>
                          <a:cs typeface="Times New Roman" panose="02020603050405020304" charset="0"/>
                        </a:rPr>
                        <a:t>Challenge</a:t>
                      </a:r>
                      <a:endParaRPr sz="2000" b="1">
                        <a:solidFill>
                          <a:schemeClr val="tx1"/>
                        </a:solidFill>
                        <a:latin typeface="Times New Roman" panose="02020603050405020304" charset="0"/>
                        <a:cs typeface="Times New Roman" panose="02020603050405020304" charset="0"/>
                      </a:endParaRPr>
                    </a:p>
                  </a:txBody>
                  <a:tcPr marL="73152" marR="73152" marT="36576" marB="36576" anchor="ctr">
                    <a:solidFill>
                      <a:schemeClr val="accent3">
                        <a:lumMod val="60000"/>
                        <a:lumOff val="40000"/>
                      </a:schemeClr>
                    </a:solidFill>
                  </a:tcPr>
                </a:tc>
                <a:tc>
                  <a:txBody>
                    <a:bodyPr wrap="square"/>
                    <a:lstStyle/>
                    <a:p>
                      <a:pPr>
                        <a:lnSpc>
                          <a:spcPct val="150000"/>
                        </a:lnSpc>
                      </a:pPr>
                      <a:r>
                        <a:rPr sz="2000" b="1">
                          <a:solidFill>
                            <a:schemeClr val="tx1"/>
                          </a:solidFill>
                          <a:latin typeface="Times New Roman" panose="02020603050405020304" charset="0"/>
                          <a:cs typeface="Times New Roman" panose="02020603050405020304" charset="0"/>
                        </a:rPr>
                        <a:t>Solution</a:t>
                      </a:r>
                      <a:endParaRPr sz="2000" b="1">
                        <a:solidFill>
                          <a:schemeClr val="tx1"/>
                        </a:solidFill>
                        <a:latin typeface="Times New Roman" panose="02020603050405020304" charset="0"/>
                        <a:cs typeface="Times New Roman" panose="02020603050405020304" charset="0"/>
                      </a:endParaRPr>
                    </a:p>
                  </a:txBody>
                  <a:tcPr marL="73152" marR="73152" marT="36576" marB="36576" anchor="ctr">
                    <a:solidFill>
                      <a:schemeClr val="accent3">
                        <a:lumMod val="60000"/>
                        <a:lumOff val="40000"/>
                      </a:schemeClr>
                    </a:solidFill>
                  </a:tcPr>
                </a:tc>
              </a:tr>
              <a:tr h="567055">
                <a:tc>
                  <a:txBody>
                    <a:bodyPr wrap="square"/>
                    <a:lstStyle/>
                    <a:p>
                      <a:pPr>
                        <a:lnSpc>
                          <a:spcPct val="150000"/>
                        </a:lnSpc>
                      </a:pPr>
                      <a:r>
                        <a:rPr sz="1600" b="1">
                          <a:solidFill>
                            <a:schemeClr val="tx1"/>
                          </a:solidFill>
                          <a:latin typeface="Times New Roman" panose="02020603050405020304" charset="0"/>
                          <a:cs typeface="Times New Roman" panose="02020603050405020304" charset="0"/>
                        </a:rPr>
                        <a:t>Every chain showed as tampered, though none was</a:t>
                      </a:r>
                      <a:endParaRPr sz="1600" b="1">
                        <a:solidFill>
                          <a:schemeClr val="tx1"/>
                        </a:solidFill>
                        <a:latin typeface="Times New Roman" panose="02020603050405020304" charset="0"/>
                        <a:cs typeface="Times New Roman" panose="02020603050405020304" charset="0"/>
                      </a:endParaRPr>
                    </a:p>
                  </a:txBody>
                  <a:tcPr marL="73152" marR="73152" marT="36576" marB="36576" anchor="ctr">
                    <a:solidFill>
                      <a:schemeClr val="accent3">
                        <a:lumMod val="20000"/>
                        <a:lumOff val="80000"/>
                      </a:schemeClr>
                    </a:solidFill>
                  </a:tcPr>
                </a:tc>
                <a:tc>
                  <a:txBody>
                    <a:bodyPr wrap="square"/>
                    <a:lstStyle/>
                    <a:p>
                      <a:pPr>
                        <a:lnSpc>
                          <a:spcPct val="150000"/>
                        </a:lnSpc>
                      </a:pPr>
                      <a:r>
                        <a:rPr sz="1600" b="1">
                          <a:solidFill>
                            <a:schemeClr val="tx1"/>
                          </a:solidFill>
                          <a:latin typeface="Times New Roman" panose="02020603050405020304" charset="0"/>
                          <a:cs typeface="Times New Roman" panose="02020603050405020304" charset="0"/>
                        </a:rPr>
                        <a:t>Re-hash only the original fields</a:t>
                      </a:r>
                      <a:endParaRPr sz="1600" b="1">
                        <a:solidFill>
                          <a:schemeClr val="tx1"/>
                        </a:solidFill>
                        <a:latin typeface="Times New Roman" panose="02020603050405020304" charset="0"/>
                        <a:cs typeface="Times New Roman" panose="02020603050405020304" charset="0"/>
                      </a:endParaRPr>
                    </a:p>
                  </a:txBody>
                  <a:tcPr marL="73152" marR="73152" marT="36576" marB="36576" anchor="ctr">
                    <a:solidFill>
                      <a:schemeClr val="accent3">
                        <a:lumMod val="20000"/>
                        <a:lumOff val="80000"/>
                      </a:schemeClr>
                    </a:solidFill>
                  </a:tcPr>
                </a:tc>
              </a:tr>
              <a:tr h="566928">
                <a:tc>
                  <a:txBody>
                    <a:bodyPr wrap="square"/>
                    <a:lstStyle/>
                    <a:p>
                      <a:pPr>
                        <a:lnSpc>
                          <a:spcPct val="150000"/>
                        </a:lnSpc>
                      </a:pPr>
                      <a:r>
                        <a:rPr sz="1600" b="1">
                          <a:solidFill>
                            <a:schemeClr val="tx1"/>
                          </a:solidFill>
                          <a:latin typeface="Times New Roman" panose="02020603050405020304" charset="0"/>
                          <a:cs typeface="Times New Roman" panose="02020603050405020304" charset="0"/>
                        </a:rPr>
                        <a:t>An edited last block could not be detected</a:t>
                      </a:r>
                      <a:endParaRPr sz="1600" b="1">
                        <a:solidFill>
                          <a:schemeClr val="tx1"/>
                        </a:solidFill>
                        <a:latin typeface="Times New Roman" panose="02020603050405020304" charset="0"/>
                        <a:cs typeface="Times New Roman" panose="02020603050405020304" charset="0"/>
                      </a:endParaRPr>
                    </a:p>
                  </a:txBody>
                  <a:tcPr marL="73152" marR="73152" marT="36576" marB="36576" anchor="ctr">
                    <a:solidFill>
                      <a:schemeClr val="accent3">
                        <a:lumMod val="40000"/>
                        <a:lumOff val="60000"/>
                      </a:schemeClr>
                    </a:solidFill>
                  </a:tcPr>
                </a:tc>
                <a:tc>
                  <a:txBody>
                    <a:bodyPr wrap="square"/>
                    <a:lstStyle/>
                    <a:p>
                      <a:pPr>
                        <a:lnSpc>
                          <a:spcPct val="150000"/>
                        </a:lnSpc>
                      </a:pPr>
                      <a:r>
                        <a:rPr sz="1600" b="1">
                          <a:solidFill>
                            <a:schemeClr val="tx1"/>
                          </a:solidFill>
                          <a:latin typeface="Times New Roman" panose="02020603050405020304" charset="0"/>
                          <a:cs typeface="Times New Roman" panose="02020603050405020304" charset="0"/>
                        </a:rPr>
                        <a:t>Check it against the hash stored on the seller</a:t>
                      </a:r>
                      <a:endParaRPr sz="1600" b="1">
                        <a:solidFill>
                          <a:schemeClr val="tx1"/>
                        </a:solidFill>
                        <a:latin typeface="Times New Roman" panose="02020603050405020304" charset="0"/>
                        <a:cs typeface="Times New Roman" panose="02020603050405020304" charset="0"/>
                      </a:endParaRPr>
                    </a:p>
                  </a:txBody>
                  <a:tcPr marL="73152" marR="73152" marT="36576" marB="36576" anchor="ctr">
                    <a:solidFill>
                      <a:schemeClr val="accent3">
                        <a:lumMod val="40000"/>
                        <a:lumOff val="60000"/>
                      </a:schemeClr>
                    </a:solidFill>
                  </a:tcPr>
                </a:tc>
              </a:tr>
              <a:tr h="566928">
                <a:tc>
                  <a:txBody>
                    <a:bodyPr wrap="square"/>
                    <a:lstStyle/>
                    <a:p>
                      <a:pPr>
                        <a:lnSpc>
                          <a:spcPct val="150000"/>
                        </a:lnSpc>
                      </a:pPr>
                      <a:r>
                        <a:rPr sz="1600" b="1">
                          <a:solidFill>
                            <a:schemeClr val="tx1"/>
                          </a:solidFill>
                          <a:latin typeface="Times New Roman" panose="02020603050405020304" charset="0"/>
                          <a:cs typeface="Times New Roman" panose="02020603050405020304" charset="0"/>
                        </a:rPr>
                        <a:t>Anyone could sign up as an administrator</a:t>
                      </a:r>
                      <a:endParaRPr sz="1600" b="1">
                        <a:solidFill>
                          <a:schemeClr val="tx1"/>
                        </a:solidFill>
                        <a:latin typeface="Times New Roman" panose="02020603050405020304" charset="0"/>
                        <a:cs typeface="Times New Roman" panose="02020603050405020304" charset="0"/>
                      </a:endParaRPr>
                    </a:p>
                  </a:txBody>
                  <a:tcPr marL="73152" marR="73152" marT="36576" marB="36576" anchor="ctr">
                    <a:solidFill>
                      <a:schemeClr val="accent3">
                        <a:lumMod val="20000"/>
                        <a:lumOff val="80000"/>
                      </a:schemeClr>
                    </a:solidFill>
                  </a:tcPr>
                </a:tc>
                <a:tc>
                  <a:txBody>
                    <a:bodyPr wrap="square"/>
                    <a:lstStyle/>
                    <a:p>
                      <a:pPr>
                        <a:lnSpc>
                          <a:spcPct val="150000"/>
                        </a:lnSpc>
                      </a:pPr>
                      <a:r>
                        <a:rPr sz="1600" b="1">
                          <a:solidFill>
                            <a:schemeClr val="tx1"/>
                          </a:solidFill>
                          <a:latin typeface="Times New Roman" panose="02020603050405020304" charset="0"/>
                          <a:cs typeface="Times New Roman" panose="02020603050405020304" charset="0"/>
                        </a:rPr>
                        <a:t>Sign-up limited to buyer and seller; admin created by a script</a:t>
                      </a:r>
                      <a:endParaRPr sz="1600" b="1">
                        <a:solidFill>
                          <a:schemeClr val="tx1"/>
                        </a:solidFill>
                        <a:latin typeface="Times New Roman" panose="02020603050405020304" charset="0"/>
                        <a:cs typeface="Times New Roman" panose="02020603050405020304" charset="0"/>
                      </a:endParaRPr>
                    </a:p>
                  </a:txBody>
                  <a:tcPr marL="73152" marR="73152" marT="36576" marB="36576" anchor="ctr">
                    <a:solidFill>
                      <a:schemeClr val="accent3">
                        <a:lumMod val="20000"/>
                        <a:lumOff val="80000"/>
                      </a:schemeClr>
                    </a:solidFill>
                  </a:tcPr>
                </a:tc>
              </a:tr>
              <a:tr h="566928">
                <a:tc>
                  <a:txBody>
                    <a:bodyPr wrap="square"/>
                    <a:lstStyle/>
                    <a:p>
                      <a:pPr>
                        <a:lnSpc>
                          <a:spcPct val="150000"/>
                        </a:lnSpc>
                      </a:pPr>
                      <a:r>
                        <a:rPr sz="1600" b="1">
                          <a:solidFill>
                            <a:schemeClr val="tx1"/>
                          </a:solidFill>
                          <a:latin typeface="Times New Roman" panose="02020603050405020304" charset="0"/>
                          <a:cs typeface="Times New Roman" panose="02020603050405020304" charset="0"/>
                        </a:rPr>
                        <a:t>An admin could verify twice (+15 again) or demote another admin</a:t>
                      </a:r>
                      <a:endParaRPr sz="1600" b="1">
                        <a:solidFill>
                          <a:schemeClr val="tx1"/>
                        </a:solidFill>
                        <a:latin typeface="Times New Roman" panose="02020603050405020304" charset="0"/>
                        <a:cs typeface="Times New Roman" panose="02020603050405020304" charset="0"/>
                      </a:endParaRPr>
                    </a:p>
                  </a:txBody>
                  <a:tcPr marL="73152" marR="73152" marT="36576" marB="36576" anchor="ctr">
                    <a:solidFill>
                      <a:schemeClr val="accent3">
                        <a:lumMod val="40000"/>
                        <a:lumOff val="60000"/>
                      </a:schemeClr>
                    </a:solidFill>
                  </a:tcPr>
                </a:tc>
                <a:tc>
                  <a:txBody>
                    <a:bodyPr wrap="square"/>
                    <a:lstStyle/>
                    <a:p>
                      <a:pPr>
                        <a:lnSpc>
                          <a:spcPct val="150000"/>
                        </a:lnSpc>
                      </a:pPr>
                      <a:r>
                        <a:rPr sz="1600" b="1">
                          <a:solidFill>
                            <a:schemeClr val="tx1"/>
                          </a:solidFill>
                          <a:latin typeface="Times New Roman" panose="02020603050405020304" charset="0"/>
                          <a:cs typeface="Times New Roman" panose="02020603050405020304" charset="0"/>
                        </a:rPr>
                        <a:t>Verify once only; admins protected; every action logged with a reason</a:t>
                      </a:r>
                      <a:endParaRPr sz="1600" b="1">
                        <a:solidFill>
                          <a:schemeClr val="tx1"/>
                        </a:solidFill>
                        <a:latin typeface="Times New Roman" panose="02020603050405020304" charset="0"/>
                        <a:cs typeface="Times New Roman" panose="02020603050405020304" charset="0"/>
                      </a:endParaRPr>
                    </a:p>
                  </a:txBody>
                  <a:tcPr marL="73152" marR="73152" marT="36576" marB="36576" anchor="ctr">
                    <a:solidFill>
                      <a:schemeClr val="accent3">
                        <a:lumMod val="40000"/>
                        <a:lumOff val="60000"/>
                      </a:schemeClr>
                    </a:solidFill>
                  </a:tcPr>
                </a:tc>
              </a:tr>
              <a:tr h="566928">
                <a:tc>
                  <a:txBody>
                    <a:bodyPr wrap="square"/>
                    <a:lstStyle/>
                    <a:p>
                      <a:pPr>
                        <a:lnSpc>
                          <a:spcPct val="150000"/>
                        </a:lnSpc>
                      </a:pPr>
                      <a:r>
                        <a:rPr sz="1600" b="1">
                          <a:solidFill>
                            <a:schemeClr val="tx1"/>
                          </a:solidFill>
                          <a:latin typeface="Times New Roman" panose="02020603050405020304" charset="0"/>
                          <a:cs typeface="Times New Roman" panose="02020603050405020304" charset="0"/>
                        </a:rPr>
                        <a:t>Browsers cannot recognise Nyanja or Bemba</a:t>
                      </a:r>
                      <a:endParaRPr sz="1600" b="1">
                        <a:solidFill>
                          <a:schemeClr val="tx1"/>
                        </a:solidFill>
                        <a:latin typeface="Times New Roman" panose="02020603050405020304" charset="0"/>
                        <a:cs typeface="Times New Roman" panose="02020603050405020304" charset="0"/>
                      </a:endParaRPr>
                    </a:p>
                  </a:txBody>
                  <a:tcPr marL="73152" marR="73152" marT="36576" marB="36576" anchor="ctr">
                    <a:solidFill>
                      <a:schemeClr val="accent3">
                        <a:lumMod val="20000"/>
                        <a:lumOff val="80000"/>
                      </a:schemeClr>
                    </a:solidFill>
                  </a:tcPr>
                </a:tc>
                <a:tc>
                  <a:txBody>
                    <a:bodyPr wrap="square"/>
                    <a:lstStyle/>
                    <a:p>
                      <a:pPr>
                        <a:lnSpc>
                          <a:spcPct val="150000"/>
                        </a:lnSpc>
                      </a:pPr>
                      <a:r>
                        <a:rPr sz="1600" b="1">
                          <a:solidFill>
                            <a:schemeClr val="tx1"/>
                          </a:solidFill>
                          <a:latin typeface="Times New Roman" panose="02020603050405020304" charset="0"/>
                          <a:cs typeface="Times New Roman" panose="02020603050405020304" charset="0"/>
                        </a:rPr>
                        <a:t>Scope narrowed to English, stated openly</a:t>
                      </a:r>
                      <a:endParaRPr sz="1600" b="1">
                        <a:solidFill>
                          <a:schemeClr val="tx1"/>
                        </a:solidFill>
                        <a:latin typeface="Times New Roman" panose="02020603050405020304" charset="0"/>
                        <a:cs typeface="Times New Roman" panose="02020603050405020304" charset="0"/>
                      </a:endParaRPr>
                    </a:p>
                  </a:txBody>
                  <a:tcPr marL="73152" marR="73152" marT="36576" marB="36576" anchor="ctr">
                    <a:solidFill>
                      <a:schemeClr val="accent3">
                        <a:lumMod val="20000"/>
                        <a:lumOff val="80000"/>
                      </a:schemeClr>
                    </a:solidFill>
                  </a:tcPr>
                </a:tc>
              </a:tr>
              <a:tr h="566928">
                <a:tc>
                  <a:txBody>
                    <a:bodyPr wrap="square"/>
                    <a:lstStyle/>
                    <a:p>
                      <a:pPr>
                        <a:lnSpc>
                          <a:spcPct val="150000"/>
                        </a:lnSpc>
                      </a:pPr>
                      <a:r>
                        <a:rPr lang="en-US" sz="1600" b="1">
                          <a:solidFill>
                            <a:schemeClr val="tx1"/>
                          </a:solidFill>
                          <a:latin typeface="Times New Roman" panose="02020603050405020304" charset="0"/>
                          <a:cs typeface="Times New Roman" panose="02020603050405020304" charset="0"/>
                        </a:rPr>
                        <a:t>Uploads failed with “stale request” as the laptop’s clock was off</a:t>
                      </a:r>
                      <a:endParaRPr lang="en-US" sz="1600" b="1">
                        <a:solidFill>
                          <a:schemeClr val="tx1"/>
                        </a:solidFill>
                        <a:latin typeface="Times New Roman" panose="02020603050405020304" charset="0"/>
                        <a:cs typeface="Times New Roman" panose="02020603050405020304" charset="0"/>
                      </a:endParaRPr>
                    </a:p>
                  </a:txBody>
                  <a:tcPr marL="73152" marR="73152" marT="36576" marB="36576" anchor="ctr">
                    <a:solidFill>
                      <a:schemeClr val="accent3">
                        <a:lumMod val="40000"/>
                        <a:lumOff val="60000"/>
                      </a:schemeClr>
                    </a:solidFill>
                  </a:tcPr>
                </a:tc>
                <a:tc>
                  <a:txBody>
                    <a:bodyPr wrap="square"/>
                    <a:lstStyle/>
                    <a:p>
                      <a:pPr>
                        <a:lnSpc>
                          <a:spcPct val="150000"/>
                        </a:lnSpc>
                      </a:pPr>
                      <a:r>
                        <a:rPr lang="en-US" sz="1600" b="1">
                          <a:solidFill>
                            <a:schemeClr val="tx1"/>
                          </a:solidFill>
                          <a:latin typeface="Times New Roman" panose="02020603050405020304" charset="0"/>
                          <a:cs typeface="Times New Roman" panose="02020603050405020304" charset="0"/>
                        </a:rPr>
                        <a:t>Solved by syncing the clock and adding a diagnostic check</a:t>
                      </a:r>
                      <a:endParaRPr lang="en-US" sz="1600" b="1">
                        <a:solidFill>
                          <a:schemeClr val="tx1"/>
                        </a:solidFill>
                        <a:latin typeface="Times New Roman" panose="02020603050405020304" charset="0"/>
                        <a:cs typeface="Times New Roman" panose="02020603050405020304" charset="0"/>
                      </a:endParaRPr>
                    </a:p>
                  </a:txBody>
                  <a:tcPr marL="73152" marR="73152" marT="36576" marB="36576" anchor="ctr">
                    <a:solidFill>
                      <a:schemeClr val="accent3">
                        <a:lumMod val="40000"/>
                        <a:lumOff val="60000"/>
                      </a:schemeClr>
                    </a:solidFill>
                  </a:tcPr>
                </a:tc>
              </a:tr>
              <a:tr h="566928">
                <a:tc>
                  <a:txBody>
                    <a:bodyPr wrap="square"/>
                    <a:lstStyle/>
                    <a:p>
                      <a:pPr>
                        <a:lnSpc>
                          <a:spcPct val="150000"/>
                        </a:lnSpc>
                      </a:pPr>
                      <a:r>
                        <a:rPr sz="1600" b="1">
                          <a:solidFill>
                            <a:schemeClr val="tx1"/>
                          </a:solidFill>
                          <a:latin typeface="Times New Roman" panose="02020603050405020304" charset="0"/>
                          <a:cs typeface="Times New Roman" panose="02020603050405020304" charset="0"/>
                        </a:rPr>
                        <a:t>Deployment failed (July  2026)</a:t>
                      </a:r>
                      <a:endParaRPr sz="1600" b="1">
                        <a:solidFill>
                          <a:schemeClr val="tx1"/>
                        </a:solidFill>
                        <a:latin typeface="Times New Roman" panose="02020603050405020304" charset="0"/>
                        <a:cs typeface="Times New Roman" panose="02020603050405020304" charset="0"/>
                      </a:endParaRPr>
                    </a:p>
                  </a:txBody>
                  <a:tcPr marL="73152" marR="73152" marT="36576" marB="36576" anchor="ctr">
                    <a:solidFill>
                      <a:schemeClr val="accent3">
                        <a:lumMod val="20000"/>
                        <a:lumOff val="80000"/>
                      </a:schemeClr>
                    </a:solidFill>
                  </a:tcPr>
                </a:tc>
                <a:tc>
                  <a:txBody>
                    <a:bodyPr wrap="square"/>
                    <a:lstStyle/>
                    <a:p>
                      <a:pPr>
                        <a:lnSpc>
                          <a:spcPct val="150000"/>
                        </a:lnSpc>
                      </a:pPr>
                      <a:r>
                        <a:rPr sz="1600" b="1">
                          <a:solidFill>
                            <a:schemeClr val="tx1"/>
                          </a:solidFill>
                          <a:latin typeface="Times New Roman" panose="02020603050405020304" charset="0"/>
                          <a:cs typeface="Times New Roman" panose="02020603050405020304" charset="0"/>
                        </a:rPr>
                        <a:t>Found and fixed causes; live since 12 October 2026</a:t>
                      </a:r>
                      <a:endParaRPr sz="1600" b="1">
                        <a:solidFill>
                          <a:schemeClr val="tx1"/>
                        </a:solidFill>
                        <a:latin typeface="Times New Roman" panose="02020603050405020304" charset="0"/>
                        <a:cs typeface="Times New Roman" panose="02020603050405020304" charset="0"/>
                      </a:endParaRPr>
                    </a:p>
                  </a:txBody>
                  <a:tcPr marL="73152" marR="73152" marT="36576" marB="36576" anchor="ctr">
                    <a:solidFill>
                      <a:schemeClr val="accent3">
                        <a:lumMod val="20000"/>
                        <a:lumOff val="80000"/>
                      </a:schemeClr>
                    </a:solidFill>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gradFill>
          <a:gsLst>
            <a:gs pos="50000">
              <a:schemeClr val="accent3"/>
            </a:gs>
            <a:gs pos="0">
              <a:schemeClr val="accent3">
                <a:lumMod val="25000"/>
                <a:lumOff val="75000"/>
              </a:schemeClr>
            </a:gs>
            <a:gs pos="100000">
              <a:schemeClr val="accent3">
                <a:lumMod val="85000"/>
              </a:schemeClr>
            </a:gs>
          </a:gsLst>
          <a:lin ang="5400000" scaled="1"/>
        </a:gradFill>
        <a:effectLst/>
      </p:bgPr>
    </p:bg>
    <p:spTree>
      <p:nvGrpSpPr>
        <p:cNvPr id="1" name=""/>
        <p:cNvGrpSpPr/>
        <p:nvPr/>
      </p:nvGrpSpPr>
      <p:grpSpPr>
        <a:xfrm>
          <a:off x="0" y="0"/>
          <a:ext cx="0" cy="0"/>
          <a:chOff x="0" y="0"/>
          <a:chExt cx="0" cy="0"/>
        </a:xfrm>
      </p:grpSpPr>
      <p:sp>
        <p:nvSpPr>
          <p:cNvPr id="2" name="TextBox 1"/>
          <p:cNvSpPr txBox="1"/>
          <p:nvPr/>
        </p:nvSpPr>
        <p:spPr>
          <a:xfrm>
            <a:off x="4693920" y="320040"/>
            <a:ext cx="2773680" cy="1014730"/>
          </a:xfrm>
          <a:prstGeom prst="rect">
            <a:avLst/>
          </a:prstGeom>
          <a:noFill/>
        </p:spPr>
        <p:txBody>
          <a:bodyPr wrap="none">
            <a:spAutoFit/>
          </a:bodyPr>
          <a:lstStyle/>
          <a:p>
            <a:pPr algn="ctr">
              <a:lnSpc>
                <a:spcPct val="150000"/>
              </a:lnSpc>
              <a:defRPr sz="2800" b="1">
                <a:solidFill>
                  <a:srgbClr val="192D4B"/>
                </a:solidFill>
              </a:defRPr>
            </a:pPr>
            <a:r>
              <a:rPr sz="4000">
                <a:latin typeface="Times New Roman" panose="02020603050405020304" charset="0"/>
                <a:cs typeface="Times New Roman" panose="02020603050405020304" charset="0"/>
              </a:rPr>
              <a:t>Test Results</a:t>
            </a:r>
            <a:endParaRPr sz="4000">
              <a:latin typeface="Times New Roman" panose="02020603050405020304" charset="0"/>
              <a:cs typeface="Times New Roman" panose="02020603050405020304" charset="0"/>
            </a:endParaRPr>
          </a:p>
        </p:txBody>
      </p:sp>
      <p:sp>
        <p:nvSpPr>
          <p:cNvPr id="4" name="Rectangle 3"/>
          <p:cNvSpPr/>
          <p:nvPr/>
        </p:nvSpPr>
        <p:spPr>
          <a:xfrm>
            <a:off x="0" y="6565392"/>
            <a:ext cx="12191695" cy="292608"/>
          </a:xfrm>
          <a:prstGeom prst="rect">
            <a:avLst/>
          </a:prstGeom>
          <a:solidFill>
            <a:schemeClr val="accent3">
              <a:lumMod val="5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50000"/>
              </a:lnSpc>
            </a:pPr>
            <a:endParaRPr>
              <a:latin typeface="Times New Roman" panose="02020603050405020304" charset="0"/>
              <a:cs typeface="Times New Roman" panose="02020603050405020304" charset="0"/>
            </a:endParaRPr>
          </a:p>
        </p:txBody>
      </p:sp>
      <p:sp>
        <p:nvSpPr>
          <p:cNvPr id="5" name="TextBox 4"/>
          <p:cNvSpPr txBox="1"/>
          <p:nvPr/>
        </p:nvSpPr>
        <p:spPr>
          <a:xfrm>
            <a:off x="320040" y="6574536"/>
            <a:ext cx="2512060" cy="299085"/>
          </a:xfrm>
          <a:prstGeom prst="rect">
            <a:avLst/>
          </a:prstGeom>
          <a:gradFill>
            <a:gsLst>
              <a:gs pos="50000">
                <a:schemeClr val="accent2"/>
              </a:gs>
              <a:gs pos="0">
                <a:schemeClr val="accent2">
                  <a:lumMod val="25000"/>
                  <a:lumOff val="75000"/>
                </a:schemeClr>
              </a:gs>
              <a:gs pos="100000">
                <a:schemeClr val="accent2">
                  <a:lumMod val="85000"/>
                </a:schemeClr>
              </a:gs>
            </a:gsLst>
            <a:lin ang="5400000" scaled="1"/>
          </a:gradFill>
        </p:spPr>
        <p:txBody>
          <a:bodyPr wrap="none">
            <a:spAutoFit/>
          </a:bodyPr>
          <a:lstStyle/>
          <a:p>
            <a:pPr>
              <a:lnSpc>
                <a:spcPct val="150000"/>
              </a:lnSpc>
              <a:defRPr sz="900">
                <a:solidFill>
                  <a:srgbClr val="FFFFFF"/>
                </a:solidFill>
              </a:defRPr>
            </a:pPr>
            <a:r>
              <a:rPr b="1" dirty="0">
                <a:solidFill>
                  <a:schemeClr val="tx1"/>
                </a:solidFill>
                <a:latin typeface="Times New Roman" panose="02020603050405020304" charset="0"/>
                <a:cs typeface="Times New Roman" panose="02020603050405020304" charset="0"/>
              </a:rPr>
              <a:t>Final Year Project • Academic Year 2026       12</a:t>
            </a:r>
            <a:endParaRPr b="1" dirty="0">
              <a:solidFill>
                <a:schemeClr val="tx1"/>
              </a:solidFill>
              <a:latin typeface="Times New Roman" panose="02020603050405020304" charset="0"/>
              <a:cs typeface="Times New Roman" panose="02020603050405020304" charset="0"/>
            </a:endParaRPr>
          </a:p>
        </p:txBody>
      </p:sp>
      <p:graphicFrame>
        <p:nvGraphicFramePr>
          <p:cNvPr id="6" name="Table 5"/>
          <p:cNvGraphicFramePr>
            <a:graphicFrameLocks noGrp="1"/>
          </p:cNvGraphicFramePr>
          <p:nvPr/>
        </p:nvGraphicFramePr>
        <p:xfrm>
          <a:off x="548640" y="1188720"/>
          <a:ext cx="11064240" cy="4114800"/>
        </p:xfrm>
        <a:graphic>
          <a:graphicData uri="http://schemas.openxmlformats.org/drawingml/2006/table">
            <a:tbl>
              <a:tblPr firstRow="1" bandRow="1">
                <a:tableStyleId>{5C22544A-7EE6-4342-B048-85BDC9FD1C3A}</a:tableStyleId>
              </a:tblPr>
              <a:tblGrid>
                <a:gridCol w="1005840"/>
                <a:gridCol w="5568315"/>
                <a:gridCol w="3334385"/>
                <a:gridCol w="1155700"/>
              </a:tblGrid>
              <a:tr h="457200">
                <a:tc>
                  <a:txBody>
                    <a:bodyPr wrap="square"/>
                    <a:lstStyle/>
                    <a:p>
                      <a:pPr>
                        <a:lnSpc>
                          <a:spcPct val="150000"/>
                        </a:lnSpc>
                      </a:pPr>
                      <a:r>
                        <a:rPr sz="2000" b="1">
                          <a:solidFill>
                            <a:schemeClr val="tx1"/>
                          </a:solidFill>
                          <a:latin typeface="Times New Roman" panose="02020603050405020304" charset="0"/>
                          <a:cs typeface="Times New Roman" panose="02020603050405020304" charset="0"/>
                        </a:rPr>
                        <a:t>ID</a:t>
                      </a:r>
                      <a:endParaRPr sz="2000" b="1">
                        <a:solidFill>
                          <a:schemeClr val="tx1"/>
                        </a:solidFill>
                        <a:latin typeface="Times New Roman" panose="02020603050405020304" charset="0"/>
                        <a:cs typeface="Times New Roman" panose="02020603050405020304" charset="0"/>
                      </a:endParaRPr>
                    </a:p>
                  </a:txBody>
                  <a:tcPr marL="73152" marR="73152" marT="36576" marB="36576" anchor="ctr">
                    <a:solidFill>
                      <a:schemeClr val="accent3">
                        <a:lumMod val="60000"/>
                        <a:lumOff val="40000"/>
                      </a:schemeClr>
                    </a:solidFill>
                  </a:tcPr>
                </a:tc>
                <a:tc>
                  <a:txBody>
                    <a:bodyPr wrap="square"/>
                    <a:lstStyle/>
                    <a:p>
                      <a:pPr>
                        <a:lnSpc>
                          <a:spcPct val="150000"/>
                        </a:lnSpc>
                      </a:pPr>
                      <a:r>
                        <a:rPr sz="2000" b="1">
                          <a:solidFill>
                            <a:schemeClr val="tx1"/>
                          </a:solidFill>
                          <a:latin typeface="Times New Roman" panose="02020603050405020304" charset="0"/>
                          <a:cs typeface="Times New Roman" panose="02020603050405020304" charset="0"/>
                        </a:rPr>
                        <a:t>Test case (live system, Android phone)</a:t>
                      </a:r>
                      <a:endParaRPr sz="2000" b="1">
                        <a:solidFill>
                          <a:schemeClr val="tx1"/>
                        </a:solidFill>
                        <a:latin typeface="Times New Roman" panose="02020603050405020304" charset="0"/>
                        <a:cs typeface="Times New Roman" panose="02020603050405020304" charset="0"/>
                      </a:endParaRPr>
                    </a:p>
                  </a:txBody>
                  <a:tcPr marL="73152" marR="73152" marT="36576" marB="36576" anchor="ctr">
                    <a:solidFill>
                      <a:schemeClr val="accent3">
                        <a:lumMod val="60000"/>
                        <a:lumOff val="40000"/>
                      </a:schemeClr>
                    </a:solidFill>
                  </a:tcPr>
                </a:tc>
                <a:tc>
                  <a:txBody>
                    <a:bodyPr wrap="square"/>
                    <a:lstStyle/>
                    <a:p>
                      <a:pPr>
                        <a:lnSpc>
                          <a:spcPct val="150000"/>
                        </a:lnSpc>
                      </a:pPr>
                      <a:r>
                        <a:rPr sz="2000" b="1">
                          <a:solidFill>
                            <a:schemeClr val="tx1"/>
                          </a:solidFill>
                          <a:latin typeface="Times New Roman" panose="02020603050405020304" charset="0"/>
                          <a:cs typeface="Times New Roman" panose="02020603050405020304" charset="0"/>
                        </a:rPr>
                        <a:t>Expected</a:t>
                      </a:r>
                      <a:endParaRPr sz="2000" b="1">
                        <a:solidFill>
                          <a:schemeClr val="tx1"/>
                        </a:solidFill>
                        <a:latin typeface="Times New Roman" panose="02020603050405020304" charset="0"/>
                        <a:cs typeface="Times New Roman" panose="02020603050405020304" charset="0"/>
                      </a:endParaRPr>
                    </a:p>
                  </a:txBody>
                  <a:tcPr marL="73152" marR="73152" marT="36576" marB="36576" anchor="ctr">
                    <a:solidFill>
                      <a:schemeClr val="accent3">
                        <a:lumMod val="60000"/>
                        <a:lumOff val="40000"/>
                      </a:schemeClr>
                    </a:solidFill>
                  </a:tcPr>
                </a:tc>
                <a:tc>
                  <a:txBody>
                    <a:bodyPr wrap="square"/>
                    <a:lstStyle/>
                    <a:p>
                      <a:pPr>
                        <a:lnSpc>
                          <a:spcPct val="150000"/>
                        </a:lnSpc>
                      </a:pPr>
                      <a:r>
                        <a:rPr sz="2000" b="1">
                          <a:solidFill>
                            <a:schemeClr val="tx1"/>
                          </a:solidFill>
                          <a:latin typeface="Times New Roman" panose="02020603050405020304" charset="0"/>
                          <a:cs typeface="Times New Roman" panose="02020603050405020304" charset="0"/>
                        </a:rPr>
                        <a:t>Result</a:t>
                      </a:r>
                      <a:endParaRPr sz="2000" b="1">
                        <a:solidFill>
                          <a:schemeClr val="tx1"/>
                        </a:solidFill>
                        <a:latin typeface="Times New Roman" panose="02020603050405020304" charset="0"/>
                        <a:cs typeface="Times New Roman" panose="02020603050405020304" charset="0"/>
                      </a:endParaRPr>
                    </a:p>
                  </a:txBody>
                  <a:tcPr marL="73152" marR="73152" marT="36576" marB="36576" anchor="ctr">
                    <a:solidFill>
                      <a:schemeClr val="accent3">
                        <a:lumMod val="60000"/>
                        <a:lumOff val="40000"/>
                      </a:schemeClr>
                    </a:solidFill>
                  </a:tcPr>
                </a:tc>
              </a:tr>
              <a:tr h="457200">
                <a:tc>
                  <a:txBody>
                    <a:bodyPr wrap="square"/>
                    <a:lstStyle/>
                    <a:p>
                      <a:pPr>
                        <a:lnSpc>
                          <a:spcPct val="150000"/>
                        </a:lnSpc>
                      </a:pPr>
                      <a:r>
                        <a:rPr sz="1800" b="1">
                          <a:solidFill>
                            <a:schemeClr val="tx1"/>
                          </a:solidFill>
                          <a:latin typeface="Times New Roman" panose="02020603050405020304" charset="0"/>
                          <a:cs typeface="Times New Roman" panose="02020603050405020304" charset="0"/>
                        </a:rPr>
                        <a:t>TC-01</a:t>
                      </a:r>
                      <a:endParaRPr sz="1800" b="1">
                        <a:solidFill>
                          <a:schemeClr val="tx1"/>
                        </a:solidFill>
                        <a:latin typeface="Times New Roman" panose="02020603050405020304" charset="0"/>
                        <a:cs typeface="Times New Roman" panose="02020603050405020304" charset="0"/>
                      </a:endParaRPr>
                    </a:p>
                  </a:txBody>
                  <a:tcPr marL="73152" marR="73152" marT="36576" marB="36576" anchor="ctr">
                    <a:solidFill>
                      <a:schemeClr val="accent3">
                        <a:lumMod val="20000"/>
                        <a:lumOff val="80000"/>
                      </a:schemeClr>
                    </a:solidFill>
                  </a:tcPr>
                </a:tc>
                <a:tc>
                  <a:txBody>
                    <a:bodyPr wrap="square"/>
                    <a:lstStyle/>
                    <a:p>
                      <a:pPr>
                        <a:lnSpc>
                          <a:spcPct val="150000"/>
                        </a:lnSpc>
                      </a:pPr>
                      <a:r>
                        <a:rPr sz="1800" b="1">
                          <a:solidFill>
                            <a:schemeClr val="tx1"/>
                          </a:solidFill>
                          <a:latin typeface="Times New Roman" panose="02020603050405020304" charset="0"/>
                          <a:cs typeface="Times New Roman" panose="02020603050405020304" charset="0"/>
                        </a:rPr>
                        <a:t>Register with a Zambian number and a one-time code</a:t>
                      </a:r>
                      <a:endParaRPr sz="1800" b="1">
                        <a:solidFill>
                          <a:schemeClr val="tx1"/>
                        </a:solidFill>
                        <a:latin typeface="Times New Roman" panose="02020603050405020304" charset="0"/>
                        <a:cs typeface="Times New Roman" panose="02020603050405020304" charset="0"/>
                      </a:endParaRPr>
                    </a:p>
                  </a:txBody>
                  <a:tcPr marL="73152" marR="73152" marT="36576" marB="36576" anchor="ctr">
                    <a:solidFill>
                      <a:schemeClr val="accent3">
                        <a:lumMod val="20000"/>
                        <a:lumOff val="80000"/>
                      </a:schemeClr>
                    </a:solidFill>
                  </a:tcPr>
                </a:tc>
                <a:tc>
                  <a:txBody>
                    <a:bodyPr wrap="square"/>
                    <a:lstStyle/>
                    <a:p>
                      <a:pPr>
                        <a:lnSpc>
                          <a:spcPct val="150000"/>
                        </a:lnSpc>
                      </a:pPr>
                      <a:r>
                        <a:rPr sz="1800" b="1">
                          <a:solidFill>
                            <a:schemeClr val="tx1"/>
                          </a:solidFill>
                          <a:latin typeface="Times New Roman" panose="02020603050405020304" charset="0"/>
                          <a:cs typeface="Times New Roman" panose="02020603050405020304" charset="0"/>
                        </a:rPr>
                        <a:t>Account created</a:t>
                      </a:r>
                      <a:endParaRPr sz="1800" b="1">
                        <a:solidFill>
                          <a:schemeClr val="tx1"/>
                        </a:solidFill>
                        <a:latin typeface="Times New Roman" panose="02020603050405020304" charset="0"/>
                        <a:cs typeface="Times New Roman" panose="02020603050405020304" charset="0"/>
                      </a:endParaRPr>
                    </a:p>
                  </a:txBody>
                  <a:tcPr marL="73152" marR="73152" marT="36576" marB="36576" anchor="ctr">
                    <a:solidFill>
                      <a:schemeClr val="accent3">
                        <a:lumMod val="20000"/>
                        <a:lumOff val="80000"/>
                      </a:schemeClr>
                    </a:solidFill>
                  </a:tcPr>
                </a:tc>
                <a:tc>
                  <a:txBody>
                    <a:bodyPr wrap="square"/>
                    <a:lstStyle/>
                    <a:p>
                      <a:pPr>
                        <a:lnSpc>
                          <a:spcPct val="150000"/>
                        </a:lnSpc>
                      </a:pPr>
                      <a:r>
                        <a:rPr sz="1800" b="1">
                          <a:solidFill>
                            <a:schemeClr val="tx1"/>
                          </a:solidFill>
                          <a:latin typeface="Times New Roman" panose="02020603050405020304" charset="0"/>
                          <a:cs typeface="Times New Roman" panose="02020603050405020304" charset="0"/>
                        </a:rPr>
                        <a:t>PASS</a:t>
                      </a:r>
                      <a:endParaRPr sz="1800" b="1">
                        <a:solidFill>
                          <a:schemeClr val="tx1"/>
                        </a:solidFill>
                        <a:latin typeface="Times New Roman" panose="02020603050405020304" charset="0"/>
                        <a:cs typeface="Times New Roman" panose="02020603050405020304" charset="0"/>
                      </a:endParaRPr>
                    </a:p>
                  </a:txBody>
                  <a:tcPr marL="73152" marR="73152" marT="36576" marB="36576" anchor="ctr">
                    <a:solidFill>
                      <a:schemeClr val="accent3">
                        <a:lumMod val="20000"/>
                        <a:lumOff val="80000"/>
                      </a:schemeClr>
                    </a:solidFill>
                  </a:tcPr>
                </a:tc>
              </a:tr>
              <a:tr h="457200">
                <a:tc>
                  <a:txBody>
                    <a:bodyPr wrap="square"/>
                    <a:lstStyle/>
                    <a:p>
                      <a:pPr>
                        <a:lnSpc>
                          <a:spcPct val="150000"/>
                        </a:lnSpc>
                      </a:pPr>
                      <a:r>
                        <a:rPr sz="1800" b="1">
                          <a:solidFill>
                            <a:schemeClr val="tx1"/>
                          </a:solidFill>
                          <a:latin typeface="Times New Roman" panose="02020603050405020304" charset="0"/>
                          <a:cs typeface="Times New Roman" panose="02020603050405020304" charset="0"/>
                        </a:rPr>
                        <a:t>TC-04</a:t>
                      </a:r>
                      <a:endParaRPr sz="1800" b="1">
                        <a:solidFill>
                          <a:schemeClr val="tx1"/>
                        </a:solidFill>
                        <a:latin typeface="Times New Roman" panose="02020603050405020304" charset="0"/>
                        <a:cs typeface="Times New Roman" panose="02020603050405020304" charset="0"/>
                      </a:endParaRPr>
                    </a:p>
                  </a:txBody>
                  <a:tcPr marL="73152" marR="73152" marT="36576" marB="36576" anchor="ctr">
                    <a:solidFill>
                      <a:schemeClr val="accent3">
                        <a:lumMod val="40000"/>
                        <a:lumOff val="60000"/>
                      </a:schemeClr>
                    </a:solidFill>
                  </a:tcPr>
                </a:tc>
                <a:tc>
                  <a:txBody>
                    <a:bodyPr wrap="square"/>
                    <a:lstStyle/>
                    <a:p>
                      <a:pPr>
                        <a:lnSpc>
                          <a:spcPct val="150000"/>
                        </a:lnSpc>
                      </a:pPr>
                      <a:r>
                        <a:rPr sz="1800" b="1">
                          <a:solidFill>
                            <a:schemeClr val="tx1"/>
                          </a:solidFill>
                          <a:latin typeface="Times New Roman" panose="02020603050405020304" charset="0"/>
                          <a:cs typeface="Times New Roman" panose="02020603050405020304" charset="0"/>
                        </a:rPr>
                        <a:t>Seller posts a listing with a photo</a:t>
                      </a:r>
                      <a:endParaRPr sz="1800" b="1">
                        <a:solidFill>
                          <a:schemeClr val="tx1"/>
                        </a:solidFill>
                        <a:latin typeface="Times New Roman" panose="02020603050405020304" charset="0"/>
                        <a:cs typeface="Times New Roman" panose="02020603050405020304" charset="0"/>
                      </a:endParaRPr>
                    </a:p>
                  </a:txBody>
                  <a:tcPr marL="73152" marR="73152" marT="36576" marB="36576" anchor="ctr">
                    <a:solidFill>
                      <a:schemeClr val="accent3">
                        <a:lumMod val="40000"/>
                        <a:lumOff val="60000"/>
                      </a:schemeClr>
                    </a:solidFill>
                  </a:tcPr>
                </a:tc>
                <a:tc>
                  <a:txBody>
                    <a:bodyPr wrap="square"/>
                    <a:lstStyle/>
                    <a:p>
                      <a:pPr>
                        <a:lnSpc>
                          <a:spcPct val="150000"/>
                        </a:lnSpc>
                      </a:pPr>
                      <a:r>
                        <a:rPr sz="1800" b="1">
                          <a:solidFill>
                            <a:schemeClr val="tx1"/>
                          </a:solidFill>
                          <a:latin typeface="Times New Roman" panose="02020603050405020304" charset="0"/>
                          <a:cs typeface="Times New Roman" panose="02020603050405020304" charset="0"/>
                        </a:rPr>
                        <a:t>Listing appears in Browse</a:t>
                      </a:r>
                      <a:endParaRPr sz="1800" b="1">
                        <a:solidFill>
                          <a:schemeClr val="tx1"/>
                        </a:solidFill>
                        <a:latin typeface="Times New Roman" panose="02020603050405020304" charset="0"/>
                        <a:cs typeface="Times New Roman" panose="02020603050405020304" charset="0"/>
                      </a:endParaRPr>
                    </a:p>
                  </a:txBody>
                  <a:tcPr marL="73152" marR="73152" marT="36576" marB="36576" anchor="ctr">
                    <a:solidFill>
                      <a:schemeClr val="accent3">
                        <a:lumMod val="40000"/>
                        <a:lumOff val="60000"/>
                      </a:schemeClr>
                    </a:solidFill>
                  </a:tcPr>
                </a:tc>
                <a:tc>
                  <a:txBody>
                    <a:bodyPr wrap="square"/>
                    <a:lstStyle/>
                    <a:p>
                      <a:pPr>
                        <a:lnSpc>
                          <a:spcPct val="150000"/>
                        </a:lnSpc>
                      </a:pPr>
                      <a:r>
                        <a:rPr sz="1800" b="1">
                          <a:solidFill>
                            <a:schemeClr val="tx1"/>
                          </a:solidFill>
                          <a:latin typeface="Times New Roman" panose="02020603050405020304" charset="0"/>
                          <a:cs typeface="Times New Roman" panose="02020603050405020304" charset="0"/>
                        </a:rPr>
                        <a:t>PASS</a:t>
                      </a:r>
                      <a:endParaRPr sz="1800" b="1">
                        <a:solidFill>
                          <a:schemeClr val="tx1"/>
                        </a:solidFill>
                        <a:latin typeface="Times New Roman" panose="02020603050405020304" charset="0"/>
                        <a:cs typeface="Times New Roman" panose="02020603050405020304" charset="0"/>
                      </a:endParaRPr>
                    </a:p>
                  </a:txBody>
                  <a:tcPr marL="73152" marR="73152" marT="36576" marB="36576" anchor="ctr">
                    <a:solidFill>
                      <a:schemeClr val="accent3">
                        <a:lumMod val="40000"/>
                        <a:lumOff val="60000"/>
                      </a:schemeClr>
                    </a:solidFill>
                  </a:tcPr>
                </a:tc>
              </a:tr>
              <a:tr h="457200">
                <a:tc>
                  <a:txBody>
                    <a:bodyPr wrap="square"/>
                    <a:lstStyle/>
                    <a:p>
                      <a:pPr>
                        <a:lnSpc>
                          <a:spcPct val="150000"/>
                        </a:lnSpc>
                      </a:pPr>
                      <a:r>
                        <a:rPr sz="1800" b="1">
                          <a:solidFill>
                            <a:schemeClr val="tx1"/>
                          </a:solidFill>
                          <a:latin typeface="Times New Roman" panose="02020603050405020304" charset="0"/>
                          <a:cs typeface="Times New Roman" panose="02020603050405020304" charset="0"/>
                        </a:rPr>
                        <a:t>TC-06</a:t>
                      </a:r>
                      <a:endParaRPr sz="1800" b="1">
                        <a:solidFill>
                          <a:schemeClr val="tx1"/>
                        </a:solidFill>
                        <a:latin typeface="Times New Roman" panose="02020603050405020304" charset="0"/>
                        <a:cs typeface="Times New Roman" panose="02020603050405020304" charset="0"/>
                      </a:endParaRPr>
                    </a:p>
                  </a:txBody>
                  <a:tcPr marL="73152" marR="73152" marT="36576" marB="36576" anchor="ctr">
                    <a:solidFill>
                      <a:schemeClr val="accent3">
                        <a:lumMod val="20000"/>
                        <a:lumOff val="80000"/>
                      </a:schemeClr>
                    </a:solidFill>
                  </a:tcPr>
                </a:tc>
                <a:tc>
                  <a:txBody>
                    <a:bodyPr wrap="square"/>
                    <a:lstStyle/>
                    <a:p>
                      <a:pPr>
                        <a:lnSpc>
                          <a:spcPct val="150000"/>
                        </a:lnSpc>
                      </a:pPr>
                      <a:r>
                        <a:rPr sz="1800" b="1">
                          <a:solidFill>
                            <a:schemeClr val="tx1"/>
                          </a:solidFill>
                          <a:latin typeface="Times New Roman" panose="02020603050405020304" charset="0"/>
                          <a:cs typeface="Times New Roman" panose="02020603050405020304" charset="0"/>
                        </a:rPr>
                        <a:t>Seller dictates a listing in Chrome on Android</a:t>
                      </a:r>
                      <a:endParaRPr sz="1800" b="1">
                        <a:solidFill>
                          <a:schemeClr val="tx1"/>
                        </a:solidFill>
                        <a:latin typeface="Times New Roman" panose="02020603050405020304" charset="0"/>
                        <a:cs typeface="Times New Roman" panose="02020603050405020304" charset="0"/>
                      </a:endParaRPr>
                    </a:p>
                  </a:txBody>
                  <a:tcPr marL="73152" marR="73152" marT="36576" marB="36576" anchor="ctr">
                    <a:solidFill>
                      <a:schemeClr val="accent3">
                        <a:lumMod val="20000"/>
                        <a:lumOff val="80000"/>
                      </a:schemeClr>
                    </a:solidFill>
                  </a:tcPr>
                </a:tc>
                <a:tc>
                  <a:txBody>
                    <a:bodyPr wrap="square"/>
                    <a:lstStyle/>
                    <a:p>
                      <a:pPr>
                        <a:lnSpc>
                          <a:spcPct val="150000"/>
                        </a:lnSpc>
                      </a:pPr>
                      <a:r>
                        <a:rPr sz="1800" b="1">
                          <a:solidFill>
                            <a:schemeClr val="tx1"/>
                          </a:solidFill>
                          <a:latin typeface="Times New Roman" panose="02020603050405020304" charset="0"/>
                          <a:cs typeface="Times New Roman" panose="02020603050405020304" charset="0"/>
                        </a:rPr>
                        <a:t>Form filled from speech</a:t>
                      </a:r>
                      <a:endParaRPr sz="1800" b="1">
                        <a:solidFill>
                          <a:schemeClr val="tx1"/>
                        </a:solidFill>
                        <a:latin typeface="Times New Roman" panose="02020603050405020304" charset="0"/>
                        <a:cs typeface="Times New Roman" panose="02020603050405020304" charset="0"/>
                      </a:endParaRPr>
                    </a:p>
                  </a:txBody>
                  <a:tcPr marL="73152" marR="73152" marT="36576" marB="36576" anchor="ctr">
                    <a:solidFill>
                      <a:schemeClr val="accent3">
                        <a:lumMod val="20000"/>
                        <a:lumOff val="80000"/>
                      </a:schemeClr>
                    </a:solidFill>
                  </a:tcPr>
                </a:tc>
                <a:tc>
                  <a:txBody>
                    <a:bodyPr wrap="square"/>
                    <a:lstStyle/>
                    <a:p>
                      <a:pPr>
                        <a:lnSpc>
                          <a:spcPct val="150000"/>
                        </a:lnSpc>
                      </a:pPr>
                      <a:r>
                        <a:rPr sz="1800" b="1">
                          <a:solidFill>
                            <a:schemeClr val="tx1"/>
                          </a:solidFill>
                          <a:latin typeface="Times New Roman" panose="02020603050405020304" charset="0"/>
                          <a:cs typeface="Times New Roman" panose="02020603050405020304" charset="0"/>
                        </a:rPr>
                        <a:t>PASS</a:t>
                      </a:r>
                      <a:endParaRPr sz="1800" b="1">
                        <a:solidFill>
                          <a:schemeClr val="tx1"/>
                        </a:solidFill>
                        <a:latin typeface="Times New Roman" panose="02020603050405020304" charset="0"/>
                        <a:cs typeface="Times New Roman" panose="02020603050405020304" charset="0"/>
                      </a:endParaRPr>
                    </a:p>
                  </a:txBody>
                  <a:tcPr marL="73152" marR="73152" marT="36576" marB="36576" anchor="ctr">
                    <a:solidFill>
                      <a:schemeClr val="accent3">
                        <a:lumMod val="20000"/>
                        <a:lumOff val="80000"/>
                      </a:schemeClr>
                    </a:solidFill>
                  </a:tcPr>
                </a:tc>
              </a:tr>
              <a:tr h="457200">
                <a:tc>
                  <a:txBody>
                    <a:bodyPr wrap="square"/>
                    <a:lstStyle/>
                    <a:p>
                      <a:pPr>
                        <a:lnSpc>
                          <a:spcPct val="150000"/>
                        </a:lnSpc>
                      </a:pPr>
                      <a:r>
                        <a:rPr sz="1800" b="1">
                          <a:solidFill>
                            <a:schemeClr val="tx1"/>
                          </a:solidFill>
                          <a:latin typeface="Times New Roman" panose="02020603050405020304" charset="0"/>
                          <a:cs typeface="Times New Roman" panose="02020603050405020304" charset="0"/>
                        </a:rPr>
                        <a:t>TC-07</a:t>
                      </a:r>
                      <a:endParaRPr sz="1800" b="1">
                        <a:solidFill>
                          <a:schemeClr val="tx1"/>
                        </a:solidFill>
                        <a:latin typeface="Times New Roman" panose="02020603050405020304" charset="0"/>
                        <a:cs typeface="Times New Roman" panose="02020603050405020304" charset="0"/>
                      </a:endParaRPr>
                    </a:p>
                  </a:txBody>
                  <a:tcPr marL="73152" marR="73152" marT="36576" marB="36576" anchor="ctr">
                    <a:solidFill>
                      <a:schemeClr val="accent3">
                        <a:lumMod val="40000"/>
                        <a:lumOff val="60000"/>
                      </a:schemeClr>
                    </a:solidFill>
                  </a:tcPr>
                </a:tc>
                <a:tc>
                  <a:txBody>
                    <a:bodyPr wrap="square"/>
                    <a:lstStyle/>
                    <a:p>
                      <a:pPr>
                        <a:lnSpc>
                          <a:spcPct val="150000"/>
                        </a:lnSpc>
                      </a:pPr>
                      <a:r>
                        <a:rPr sz="1800" b="1">
                          <a:solidFill>
                            <a:schemeClr val="tx1"/>
                          </a:solidFill>
                          <a:latin typeface="Times New Roman" panose="02020603050405020304" charset="0"/>
                          <a:cs typeface="Times New Roman" panose="02020603050405020304" charset="0"/>
                        </a:rPr>
                        <a:t>Buyer and seller chat</a:t>
                      </a:r>
                      <a:endParaRPr sz="1800" b="1">
                        <a:solidFill>
                          <a:schemeClr val="tx1"/>
                        </a:solidFill>
                        <a:latin typeface="Times New Roman" panose="02020603050405020304" charset="0"/>
                        <a:cs typeface="Times New Roman" panose="02020603050405020304" charset="0"/>
                      </a:endParaRPr>
                    </a:p>
                  </a:txBody>
                  <a:tcPr marL="73152" marR="73152" marT="36576" marB="36576" anchor="ctr">
                    <a:solidFill>
                      <a:schemeClr val="accent3">
                        <a:lumMod val="40000"/>
                        <a:lumOff val="60000"/>
                      </a:schemeClr>
                    </a:solidFill>
                  </a:tcPr>
                </a:tc>
                <a:tc>
                  <a:txBody>
                    <a:bodyPr wrap="square"/>
                    <a:lstStyle/>
                    <a:p>
                      <a:pPr>
                        <a:lnSpc>
                          <a:spcPct val="150000"/>
                        </a:lnSpc>
                      </a:pPr>
                      <a:r>
                        <a:rPr sz="1800" b="1">
                          <a:solidFill>
                            <a:schemeClr val="tx1"/>
                          </a:solidFill>
                          <a:latin typeface="Times New Roman" panose="02020603050405020304" charset="0"/>
                          <a:cs typeface="Times New Roman" panose="02020603050405020304" charset="0"/>
                        </a:rPr>
                        <a:t>Message arrives instantly</a:t>
                      </a:r>
                      <a:endParaRPr sz="1800" b="1">
                        <a:solidFill>
                          <a:schemeClr val="tx1"/>
                        </a:solidFill>
                        <a:latin typeface="Times New Roman" panose="02020603050405020304" charset="0"/>
                        <a:cs typeface="Times New Roman" panose="02020603050405020304" charset="0"/>
                      </a:endParaRPr>
                    </a:p>
                  </a:txBody>
                  <a:tcPr marL="73152" marR="73152" marT="36576" marB="36576" anchor="ctr">
                    <a:solidFill>
                      <a:schemeClr val="accent3">
                        <a:lumMod val="40000"/>
                        <a:lumOff val="60000"/>
                      </a:schemeClr>
                    </a:solidFill>
                  </a:tcPr>
                </a:tc>
                <a:tc>
                  <a:txBody>
                    <a:bodyPr wrap="square"/>
                    <a:lstStyle/>
                    <a:p>
                      <a:pPr>
                        <a:lnSpc>
                          <a:spcPct val="150000"/>
                        </a:lnSpc>
                      </a:pPr>
                      <a:r>
                        <a:rPr sz="1800" b="1">
                          <a:solidFill>
                            <a:schemeClr val="tx1"/>
                          </a:solidFill>
                          <a:latin typeface="Times New Roman" panose="02020603050405020304" charset="0"/>
                          <a:cs typeface="Times New Roman" panose="02020603050405020304" charset="0"/>
                        </a:rPr>
                        <a:t>PASS</a:t>
                      </a:r>
                      <a:endParaRPr sz="1800" b="1">
                        <a:solidFill>
                          <a:schemeClr val="tx1"/>
                        </a:solidFill>
                        <a:latin typeface="Times New Roman" panose="02020603050405020304" charset="0"/>
                        <a:cs typeface="Times New Roman" panose="02020603050405020304" charset="0"/>
                      </a:endParaRPr>
                    </a:p>
                  </a:txBody>
                  <a:tcPr marL="73152" marR="73152" marT="36576" marB="36576" anchor="ctr">
                    <a:solidFill>
                      <a:schemeClr val="accent3">
                        <a:lumMod val="40000"/>
                        <a:lumOff val="60000"/>
                      </a:schemeClr>
                    </a:solidFill>
                  </a:tcPr>
                </a:tc>
              </a:tr>
              <a:tr h="457200">
                <a:tc>
                  <a:txBody>
                    <a:bodyPr wrap="square"/>
                    <a:lstStyle/>
                    <a:p>
                      <a:pPr>
                        <a:lnSpc>
                          <a:spcPct val="150000"/>
                        </a:lnSpc>
                      </a:pPr>
                      <a:r>
                        <a:rPr sz="1800" b="1">
                          <a:solidFill>
                            <a:schemeClr val="tx1"/>
                          </a:solidFill>
                          <a:latin typeface="Times New Roman" panose="02020603050405020304" charset="0"/>
                          <a:cs typeface="Times New Roman" panose="02020603050405020304" charset="0"/>
                        </a:rPr>
                        <a:t>TC-14</a:t>
                      </a:r>
                      <a:endParaRPr sz="1800" b="1">
                        <a:solidFill>
                          <a:schemeClr val="tx1"/>
                        </a:solidFill>
                        <a:latin typeface="Times New Roman" panose="02020603050405020304" charset="0"/>
                        <a:cs typeface="Times New Roman" panose="02020603050405020304" charset="0"/>
                      </a:endParaRPr>
                    </a:p>
                  </a:txBody>
                  <a:tcPr marL="73152" marR="73152" marT="36576" marB="36576" anchor="ctr">
                    <a:solidFill>
                      <a:schemeClr val="accent3">
                        <a:lumMod val="20000"/>
                        <a:lumOff val="80000"/>
                      </a:schemeClr>
                    </a:solidFill>
                  </a:tcPr>
                </a:tc>
                <a:tc>
                  <a:txBody>
                    <a:bodyPr wrap="square"/>
                    <a:lstStyle/>
                    <a:p>
                      <a:pPr>
                        <a:lnSpc>
                          <a:spcPct val="150000"/>
                        </a:lnSpc>
                      </a:pPr>
                      <a:r>
                        <a:rPr sz="1800" b="1">
                          <a:solidFill>
                            <a:schemeClr val="tx1"/>
                          </a:solidFill>
                          <a:latin typeface="Times New Roman" panose="02020603050405020304" charset="0"/>
                          <a:cs typeface="Times New Roman" panose="02020603050405020304" charset="0"/>
                        </a:rPr>
                        <a:t>Admin verifies a seller</a:t>
                      </a:r>
                      <a:endParaRPr sz="1800" b="1">
                        <a:solidFill>
                          <a:schemeClr val="tx1"/>
                        </a:solidFill>
                        <a:latin typeface="Times New Roman" panose="02020603050405020304" charset="0"/>
                        <a:cs typeface="Times New Roman" panose="02020603050405020304" charset="0"/>
                      </a:endParaRPr>
                    </a:p>
                  </a:txBody>
                  <a:tcPr marL="73152" marR="73152" marT="36576" marB="36576" anchor="ctr">
                    <a:solidFill>
                      <a:schemeClr val="accent3">
                        <a:lumMod val="20000"/>
                        <a:lumOff val="80000"/>
                      </a:schemeClr>
                    </a:solidFill>
                  </a:tcPr>
                </a:tc>
                <a:tc>
                  <a:txBody>
                    <a:bodyPr wrap="square"/>
                    <a:lstStyle/>
                    <a:p>
                      <a:pPr>
                        <a:lnSpc>
                          <a:spcPct val="150000"/>
                        </a:lnSpc>
                      </a:pPr>
                      <a:r>
                        <a:rPr sz="1800" b="1">
                          <a:solidFill>
                            <a:schemeClr val="tx1"/>
                          </a:solidFill>
                          <a:latin typeface="Times New Roman" panose="02020603050405020304" charset="0"/>
                          <a:cs typeface="Times New Roman" panose="02020603050405020304" charset="0"/>
                        </a:rPr>
                        <a:t>Badge shown; score +15</a:t>
                      </a:r>
                      <a:endParaRPr sz="1800" b="1">
                        <a:solidFill>
                          <a:schemeClr val="tx1"/>
                        </a:solidFill>
                        <a:latin typeface="Times New Roman" panose="02020603050405020304" charset="0"/>
                        <a:cs typeface="Times New Roman" panose="02020603050405020304" charset="0"/>
                      </a:endParaRPr>
                    </a:p>
                  </a:txBody>
                  <a:tcPr marL="73152" marR="73152" marT="36576" marB="36576" anchor="ctr">
                    <a:solidFill>
                      <a:schemeClr val="accent3">
                        <a:lumMod val="20000"/>
                        <a:lumOff val="80000"/>
                      </a:schemeClr>
                    </a:solidFill>
                  </a:tcPr>
                </a:tc>
                <a:tc>
                  <a:txBody>
                    <a:bodyPr wrap="square"/>
                    <a:lstStyle/>
                    <a:p>
                      <a:pPr>
                        <a:lnSpc>
                          <a:spcPct val="150000"/>
                        </a:lnSpc>
                      </a:pPr>
                      <a:r>
                        <a:rPr sz="1800" b="1">
                          <a:solidFill>
                            <a:schemeClr val="tx1"/>
                          </a:solidFill>
                          <a:latin typeface="Times New Roman" panose="02020603050405020304" charset="0"/>
                          <a:cs typeface="Times New Roman" panose="02020603050405020304" charset="0"/>
                        </a:rPr>
                        <a:t>PASS</a:t>
                      </a:r>
                      <a:endParaRPr sz="1800" b="1">
                        <a:solidFill>
                          <a:schemeClr val="tx1"/>
                        </a:solidFill>
                        <a:latin typeface="Times New Roman" panose="02020603050405020304" charset="0"/>
                        <a:cs typeface="Times New Roman" panose="02020603050405020304" charset="0"/>
                      </a:endParaRPr>
                    </a:p>
                  </a:txBody>
                  <a:tcPr marL="73152" marR="73152" marT="36576" marB="36576" anchor="ctr">
                    <a:solidFill>
                      <a:schemeClr val="accent3">
                        <a:lumMod val="20000"/>
                        <a:lumOff val="80000"/>
                      </a:schemeClr>
                    </a:solidFill>
                  </a:tcPr>
                </a:tc>
              </a:tr>
              <a:tr h="457200">
                <a:tc>
                  <a:txBody>
                    <a:bodyPr wrap="square"/>
                    <a:lstStyle/>
                    <a:p>
                      <a:pPr>
                        <a:lnSpc>
                          <a:spcPct val="150000"/>
                        </a:lnSpc>
                      </a:pPr>
                      <a:r>
                        <a:rPr sz="1800" b="1">
                          <a:solidFill>
                            <a:schemeClr val="tx1"/>
                          </a:solidFill>
                          <a:latin typeface="Times New Roman" panose="02020603050405020304" charset="0"/>
                          <a:cs typeface="Times New Roman" panose="02020603050405020304" charset="0"/>
                        </a:rPr>
                        <a:t>TC-17</a:t>
                      </a:r>
                      <a:endParaRPr sz="1800" b="1">
                        <a:solidFill>
                          <a:schemeClr val="tx1"/>
                        </a:solidFill>
                        <a:latin typeface="Times New Roman" panose="02020603050405020304" charset="0"/>
                        <a:cs typeface="Times New Roman" panose="02020603050405020304" charset="0"/>
                      </a:endParaRPr>
                    </a:p>
                  </a:txBody>
                  <a:tcPr marL="73152" marR="73152" marT="36576" marB="36576" anchor="ctr">
                    <a:solidFill>
                      <a:schemeClr val="accent3">
                        <a:lumMod val="40000"/>
                        <a:lumOff val="60000"/>
                      </a:schemeClr>
                    </a:solidFill>
                  </a:tcPr>
                </a:tc>
                <a:tc>
                  <a:txBody>
                    <a:bodyPr wrap="square"/>
                    <a:lstStyle/>
                    <a:p>
                      <a:pPr>
                        <a:lnSpc>
                          <a:spcPct val="150000"/>
                        </a:lnSpc>
                      </a:pPr>
                      <a:r>
                        <a:rPr sz="1800" b="1">
                          <a:solidFill>
                            <a:schemeClr val="tx1"/>
                          </a:solidFill>
                          <a:latin typeface="Times New Roman" panose="02020603050405020304" charset="0"/>
                          <a:cs typeface="Times New Roman" panose="02020603050405020304" charset="0"/>
                        </a:rPr>
                        <a:t>Hosted app (Vercel + Render) on mobile data</a:t>
                      </a:r>
                      <a:endParaRPr sz="1800" b="1">
                        <a:solidFill>
                          <a:schemeClr val="tx1"/>
                        </a:solidFill>
                        <a:latin typeface="Times New Roman" panose="02020603050405020304" charset="0"/>
                        <a:cs typeface="Times New Roman" panose="02020603050405020304" charset="0"/>
                      </a:endParaRPr>
                    </a:p>
                  </a:txBody>
                  <a:tcPr marL="73152" marR="73152" marT="36576" marB="36576" anchor="ctr">
                    <a:solidFill>
                      <a:schemeClr val="accent3">
                        <a:lumMod val="40000"/>
                        <a:lumOff val="60000"/>
                      </a:schemeClr>
                    </a:solidFill>
                  </a:tcPr>
                </a:tc>
                <a:tc>
                  <a:txBody>
                    <a:bodyPr wrap="square"/>
                    <a:lstStyle/>
                    <a:p>
                      <a:pPr>
                        <a:lnSpc>
                          <a:spcPct val="150000"/>
                        </a:lnSpc>
                      </a:pPr>
                      <a:r>
                        <a:rPr sz="1800" b="1">
                          <a:solidFill>
                            <a:schemeClr val="tx1"/>
                          </a:solidFill>
                          <a:latin typeface="Times New Roman" panose="02020603050405020304" charset="0"/>
                          <a:cs typeface="Times New Roman" panose="02020603050405020304" charset="0"/>
                        </a:rPr>
                        <a:t>Pages load; chat connects</a:t>
                      </a:r>
                      <a:endParaRPr sz="1800" b="1">
                        <a:solidFill>
                          <a:schemeClr val="tx1"/>
                        </a:solidFill>
                        <a:latin typeface="Times New Roman" panose="02020603050405020304" charset="0"/>
                        <a:cs typeface="Times New Roman" panose="02020603050405020304" charset="0"/>
                      </a:endParaRPr>
                    </a:p>
                  </a:txBody>
                  <a:tcPr marL="73152" marR="73152" marT="36576" marB="36576" anchor="ctr">
                    <a:solidFill>
                      <a:schemeClr val="accent3">
                        <a:lumMod val="40000"/>
                        <a:lumOff val="60000"/>
                      </a:schemeClr>
                    </a:solidFill>
                  </a:tcPr>
                </a:tc>
                <a:tc>
                  <a:txBody>
                    <a:bodyPr wrap="square"/>
                    <a:lstStyle/>
                    <a:p>
                      <a:pPr>
                        <a:lnSpc>
                          <a:spcPct val="150000"/>
                        </a:lnSpc>
                      </a:pPr>
                      <a:r>
                        <a:rPr sz="1800" b="1">
                          <a:solidFill>
                            <a:schemeClr val="tx1"/>
                          </a:solidFill>
                          <a:latin typeface="Times New Roman" panose="02020603050405020304" charset="0"/>
                          <a:cs typeface="Times New Roman" panose="02020603050405020304" charset="0"/>
                        </a:rPr>
                        <a:t>PASS</a:t>
                      </a:r>
                      <a:endParaRPr sz="1800" b="1">
                        <a:solidFill>
                          <a:schemeClr val="tx1"/>
                        </a:solidFill>
                        <a:latin typeface="Times New Roman" panose="02020603050405020304" charset="0"/>
                        <a:cs typeface="Times New Roman" panose="02020603050405020304" charset="0"/>
                      </a:endParaRPr>
                    </a:p>
                  </a:txBody>
                  <a:tcPr marL="73152" marR="73152" marT="36576" marB="36576" anchor="ctr">
                    <a:solidFill>
                      <a:schemeClr val="accent3">
                        <a:lumMod val="40000"/>
                        <a:lumOff val="60000"/>
                      </a:schemeClr>
                    </a:solidFill>
                  </a:tcPr>
                </a:tc>
              </a:tr>
              <a:tr h="457200">
                <a:tc>
                  <a:txBody>
                    <a:bodyPr wrap="square"/>
                    <a:lstStyle/>
                    <a:p>
                      <a:pPr>
                        <a:lnSpc>
                          <a:spcPct val="150000"/>
                        </a:lnSpc>
                      </a:pPr>
                      <a:r>
                        <a:rPr sz="1800" b="1">
                          <a:solidFill>
                            <a:schemeClr val="tx1"/>
                          </a:solidFill>
                          <a:latin typeface="Times New Roman" panose="02020603050405020304" charset="0"/>
                          <a:cs typeface="Times New Roman" panose="02020603050405020304" charset="0"/>
                        </a:rPr>
                        <a:t>TC-22</a:t>
                      </a:r>
                      <a:endParaRPr sz="1800" b="1">
                        <a:solidFill>
                          <a:schemeClr val="tx1"/>
                        </a:solidFill>
                        <a:latin typeface="Times New Roman" panose="02020603050405020304" charset="0"/>
                        <a:cs typeface="Times New Roman" panose="02020603050405020304" charset="0"/>
                      </a:endParaRPr>
                    </a:p>
                  </a:txBody>
                  <a:tcPr marL="73152" marR="73152" marT="36576" marB="36576" anchor="ctr">
                    <a:solidFill>
                      <a:schemeClr val="accent3">
                        <a:lumMod val="20000"/>
                        <a:lumOff val="80000"/>
                      </a:schemeClr>
                    </a:solidFill>
                  </a:tcPr>
                </a:tc>
                <a:tc>
                  <a:txBody>
                    <a:bodyPr wrap="square"/>
                    <a:lstStyle/>
                    <a:p>
                      <a:pPr>
                        <a:lnSpc>
                          <a:spcPct val="150000"/>
                        </a:lnSpc>
                      </a:pPr>
                      <a:r>
                        <a:rPr sz="1800" b="1">
                          <a:solidFill>
                            <a:schemeClr val="tx1"/>
                          </a:solidFill>
                          <a:latin typeface="Times New Roman" panose="02020603050405020304" charset="0"/>
                          <a:cs typeface="Times New Roman" panose="02020603050405020304" charset="0"/>
                        </a:rPr>
                        <a:t>Install the app from Chrome on Android</a:t>
                      </a:r>
                      <a:endParaRPr sz="1800" b="1">
                        <a:solidFill>
                          <a:schemeClr val="tx1"/>
                        </a:solidFill>
                        <a:latin typeface="Times New Roman" panose="02020603050405020304" charset="0"/>
                        <a:cs typeface="Times New Roman" panose="02020603050405020304" charset="0"/>
                      </a:endParaRPr>
                    </a:p>
                  </a:txBody>
                  <a:tcPr marL="73152" marR="73152" marT="36576" marB="36576" anchor="ctr">
                    <a:solidFill>
                      <a:schemeClr val="accent3">
                        <a:lumMod val="20000"/>
                        <a:lumOff val="80000"/>
                      </a:schemeClr>
                    </a:solidFill>
                  </a:tcPr>
                </a:tc>
                <a:tc>
                  <a:txBody>
                    <a:bodyPr wrap="square"/>
                    <a:lstStyle/>
                    <a:p>
                      <a:pPr>
                        <a:lnSpc>
                          <a:spcPct val="150000"/>
                        </a:lnSpc>
                      </a:pPr>
                      <a:r>
                        <a:rPr sz="1800" b="1">
                          <a:solidFill>
                            <a:schemeClr val="tx1"/>
                          </a:solidFill>
                          <a:latin typeface="Times New Roman" panose="02020603050405020304" charset="0"/>
                          <a:cs typeface="Times New Roman" panose="02020603050405020304" charset="0"/>
                        </a:rPr>
                        <a:t>Opens from the home screen</a:t>
                      </a:r>
                      <a:endParaRPr sz="1800" b="1">
                        <a:solidFill>
                          <a:schemeClr val="tx1"/>
                        </a:solidFill>
                        <a:latin typeface="Times New Roman" panose="02020603050405020304" charset="0"/>
                        <a:cs typeface="Times New Roman" panose="02020603050405020304" charset="0"/>
                      </a:endParaRPr>
                    </a:p>
                  </a:txBody>
                  <a:tcPr marL="73152" marR="73152" marT="36576" marB="36576" anchor="ctr">
                    <a:solidFill>
                      <a:schemeClr val="accent3">
                        <a:lumMod val="20000"/>
                        <a:lumOff val="80000"/>
                      </a:schemeClr>
                    </a:solidFill>
                  </a:tcPr>
                </a:tc>
                <a:tc>
                  <a:txBody>
                    <a:bodyPr wrap="square"/>
                    <a:lstStyle/>
                    <a:p>
                      <a:pPr>
                        <a:lnSpc>
                          <a:spcPct val="150000"/>
                        </a:lnSpc>
                      </a:pPr>
                      <a:r>
                        <a:rPr sz="1800" b="1">
                          <a:solidFill>
                            <a:schemeClr val="tx1"/>
                          </a:solidFill>
                          <a:latin typeface="Times New Roman" panose="02020603050405020304" charset="0"/>
                          <a:cs typeface="Times New Roman" panose="02020603050405020304" charset="0"/>
                        </a:rPr>
                        <a:t>PASS</a:t>
                      </a:r>
                      <a:endParaRPr sz="1800" b="1">
                        <a:solidFill>
                          <a:schemeClr val="tx1"/>
                        </a:solidFill>
                        <a:latin typeface="Times New Roman" panose="02020603050405020304" charset="0"/>
                        <a:cs typeface="Times New Roman" panose="02020603050405020304" charset="0"/>
                      </a:endParaRPr>
                    </a:p>
                  </a:txBody>
                  <a:tcPr marL="73152" marR="73152" marT="36576" marB="36576" anchor="ctr">
                    <a:solidFill>
                      <a:schemeClr val="accent3">
                        <a:lumMod val="20000"/>
                        <a:lumOff val="80000"/>
                      </a:schemeClr>
                    </a:solidFill>
                  </a:tcPr>
                </a:tc>
              </a:tr>
              <a:tr h="457200">
                <a:tc>
                  <a:txBody>
                    <a:bodyPr wrap="square"/>
                    <a:lstStyle/>
                    <a:p>
                      <a:pPr>
                        <a:lnSpc>
                          <a:spcPct val="150000"/>
                        </a:lnSpc>
                      </a:pPr>
                      <a:r>
                        <a:rPr sz="1800" b="1">
                          <a:solidFill>
                            <a:schemeClr val="tx1"/>
                          </a:solidFill>
                          <a:latin typeface="Times New Roman" panose="02020603050405020304" charset="0"/>
                          <a:cs typeface="Times New Roman" panose="02020603050405020304" charset="0"/>
                        </a:rPr>
                        <a:t>B17</a:t>
                      </a:r>
                      <a:endParaRPr sz="1800" b="1">
                        <a:solidFill>
                          <a:schemeClr val="tx1"/>
                        </a:solidFill>
                        <a:latin typeface="Times New Roman" panose="02020603050405020304" charset="0"/>
                        <a:cs typeface="Times New Roman" panose="02020603050405020304" charset="0"/>
                      </a:endParaRPr>
                    </a:p>
                  </a:txBody>
                  <a:tcPr marL="73152" marR="73152" marT="36576" marB="36576" anchor="ctr">
                    <a:solidFill>
                      <a:schemeClr val="accent3">
                        <a:lumMod val="40000"/>
                        <a:lumOff val="60000"/>
                      </a:schemeClr>
                    </a:solidFill>
                  </a:tcPr>
                </a:tc>
                <a:tc>
                  <a:txBody>
                    <a:bodyPr wrap="square"/>
                    <a:lstStyle/>
                    <a:p>
                      <a:pPr>
                        <a:lnSpc>
                          <a:spcPct val="150000"/>
                        </a:lnSpc>
                      </a:pPr>
                      <a:r>
                        <a:rPr sz="1800" b="1">
                          <a:solidFill>
                            <a:schemeClr val="tx1"/>
                          </a:solidFill>
                          <a:latin typeface="Times New Roman" panose="02020603050405020304" charset="0"/>
                          <a:cs typeface="Times New Roman" panose="02020603050405020304" charset="0"/>
                        </a:rPr>
                        <a:t>Edit the most recent trust block (automated)</a:t>
                      </a:r>
                      <a:endParaRPr sz="1800" b="1">
                        <a:solidFill>
                          <a:schemeClr val="tx1"/>
                        </a:solidFill>
                        <a:latin typeface="Times New Roman" panose="02020603050405020304" charset="0"/>
                        <a:cs typeface="Times New Roman" panose="02020603050405020304" charset="0"/>
                      </a:endParaRPr>
                    </a:p>
                  </a:txBody>
                  <a:tcPr marL="73152" marR="73152" marT="36576" marB="36576" anchor="ctr">
                    <a:solidFill>
                      <a:schemeClr val="accent3">
                        <a:lumMod val="40000"/>
                        <a:lumOff val="60000"/>
                      </a:schemeClr>
                    </a:solidFill>
                  </a:tcPr>
                </a:tc>
                <a:tc>
                  <a:txBody>
                    <a:bodyPr wrap="square"/>
                    <a:lstStyle/>
                    <a:p>
                      <a:pPr>
                        <a:lnSpc>
                          <a:spcPct val="150000"/>
                        </a:lnSpc>
                      </a:pPr>
                      <a:r>
                        <a:rPr sz="1800" b="1">
                          <a:solidFill>
                            <a:schemeClr val="tx1"/>
                          </a:solidFill>
                          <a:latin typeface="Times New Roman" panose="02020603050405020304" charset="0"/>
                          <a:cs typeface="Times New Roman" panose="02020603050405020304" charset="0"/>
                        </a:rPr>
                        <a:t>Caught by stored head hash</a:t>
                      </a:r>
                      <a:endParaRPr sz="1800" b="1">
                        <a:solidFill>
                          <a:schemeClr val="tx1"/>
                        </a:solidFill>
                        <a:latin typeface="Times New Roman" panose="02020603050405020304" charset="0"/>
                        <a:cs typeface="Times New Roman" panose="02020603050405020304" charset="0"/>
                      </a:endParaRPr>
                    </a:p>
                  </a:txBody>
                  <a:tcPr marL="73152" marR="73152" marT="36576" marB="36576" anchor="ctr">
                    <a:solidFill>
                      <a:schemeClr val="accent3">
                        <a:lumMod val="40000"/>
                        <a:lumOff val="60000"/>
                      </a:schemeClr>
                    </a:solidFill>
                  </a:tcPr>
                </a:tc>
                <a:tc>
                  <a:txBody>
                    <a:bodyPr wrap="square"/>
                    <a:lstStyle/>
                    <a:p>
                      <a:pPr>
                        <a:lnSpc>
                          <a:spcPct val="150000"/>
                        </a:lnSpc>
                      </a:pPr>
                      <a:r>
                        <a:rPr sz="1800" b="1">
                          <a:solidFill>
                            <a:schemeClr val="tx1"/>
                          </a:solidFill>
                          <a:latin typeface="Times New Roman" panose="02020603050405020304" charset="0"/>
                          <a:cs typeface="Times New Roman" panose="02020603050405020304" charset="0"/>
                        </a:rPr>
                        <a:t>PASS</a:t>
                      </a:r>
                      <a:endParaRPr sz="1800" b="1">
                        <a:solidFill>
                          <a:schemeClr val="tx1"/>
                        </a:solidFill>
                        <a:latin typeface="Times New Roman" panose="02020603050405020304" charset="0"/>
                        <a:cs typeface="Times New Roman" panose="02020603050405020304" charset="0"/>
                      </a:endParaRPr>
                    </a:p>
                  </a:txBody>
                  <a:tcPr marL="73152" marR="73152" marT="36576" marB="36576" anchor="ctr">
                    <a:solidFill>
                      <a:schemeClr val="accent3">
                        <a:lumMod val="40000"/>
                        <a:lumOff val="60000"/>
                      </a:schemeClr>
                    </a:solidFill>
                  </a:tcP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gradFill>
          <a:gsLst>
            <a:gs pos="50000">
              <a:schemeClr val="accent3"/>
            </a:gs>
            <a:gs pos="0">
              <a:schemeClr val="accent3">
                <a:lumMod val="25000"/>
                <a:lumOff val="75000"/>
              </a:schemeClr>
            </a:gs>
            <a:gs pos="100000">
              <a:schemeClr val="accent3">
                <a:lumMod val="85000"/>
              </a:schemeClr>
            </a:gs>
          </a:gsLst>
          <a:lin ang="5400000" scaled="1"/>
        </a:gradFill>
        <a:effectLst/>
      </p:bgPr>
    </p:bg>
    <p:spTree>
      <p:nvGrpSpPr>
        <p:cNvPr id="1" name=""/>
        <p:cNvGrpSpPr/>
        <p:nvPr/>
      </p:nvGrpSpPr>
      <p:grpSpPr>
        <a:xfrm>
          <a:off x="0" y="0"/>
          <a:ext cx="0" cy="0"/>
          <a:chOff x="0" y="0"/>
          <a:chExt cx="0" cy="0"/>
        </a:xfrm>
      </p:grpSpPr>
      <p:sp>
        <p:nvSpPr>
          <p:cNvPr id="2" name="TextBox 1"/>
          <p:cNvSpPr txBox="1"/>
          <p:nvPr/>
        </p:nvSpPr>
        <p:spPr>
          <a:xfrm>
            <a:off x="3562033" y="320040"/>
            <a:ext cx="5037455" cy="1014730"/>
          </a:xfrm>
          <a:prstGeom prst="rect">
            <a:avLst/>
          </a:prstGeom>
          <a:noFill/>
        </p:spPr>
        <p:txBody>
          <a:bodyPr wrap="none">
            <a:spAutoFit/>
          </a:bodyPr>
          <a:lstStyle/>
          <a:p>
            <a:pPr algn="ctr">
              <a:lnSpc>
                <a:spcPct val="150000"/>
              </a:lnSpc>
              <a:defRPr sz="2800" b="1">
                <a:solidFill>
                  <a:srgbClr val="192D4B"/>
                </a:solidFill>
              </a:defRPr>
            </a:pPr>
            <a:r>
              <a:rPr sz="4000">
                <a:latin typeface="Times New Roman" panose="02020603050405020304" charset="0"/>
                <a:cs typeface="Times New Roman" panose="02020603050405020304" charset="0"/>
              </a:rPr>
              <a:t>Discussion of Findings</a:t>
            </a:r>
            <a:endParaRPr sz="4000">
              <a:latin typeface="Times New Roman" panose="02020603050405020304" charset="0"/>
              <a:cs typeface="Times New Roman" panose="02020603050405020304" charset="0"/>
            </a:endParaRPr>
          </a:p>
        </p:txBody>
      </p:sp>
      <p:sp>
        <p:nvSpPr>
          <p:cNvPr id="4" name="Rectangle 3"/>
          <p:cNvSpPr/>
          <p:nvPr/>
        </p:nvSpPr>
        <p:spPr>
          <a:xfrm>
            <a:off x="0" y="6565392"/>
            <a:ext cx="12191695" cy="292608"/>
          </a:xfrm>
          <a:prstGeom prst="rect">
            <a:avLst/>
          </a:prstGeom>
          <a:solidFill>
            <a:schemeClr val="accent3">
              <a:lumMod val="5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50000"/>
              </a:lnSpc>
            </a:pPr>
            <a:endParaRPr>
              <a:latin typeface="Times New Roman" panose="02020603050405020304" charset="0"/>
              <a:cs typeface="Times New Roman" panose="02020603050405020304" charset="0"/>
            </a:endParaRPr>
          </a:p>
        </p:txBody>
      </p:sp>
      <p:sp>
        <p:nvSpPr>
          <p:cNvPr id="5" name="TextBox 4"/>
          <p:cNvSpPr txBox="1"/>
          <p:nvPr/>
        </p:nvSpPr>
        <p:spPr>
          <a:xfrm>
            <a:off x="320040" y="6574536"/>
            <a:ext cx="2483485" cy="299085"/>
          </a:xfrm>
          <a:prstGeom prst="rect">
            <a:avLst/>
          </a:prstGeom>
          <a:gradFill>
            <a:gsLst>
              <a:gs pos="50000">
                <a:schemeClr val="accent2"/>
              </a:gs>
              <a:gs pos="0">
                <a:schemeClr val="accent2">
                  <a:lumMod val="25000"/>
                  <a:lumOff val="75000"/>
                </a:schemeClr>
              </a:gs>
              <a:gs pos="100000">
                <a:schemeClr val="accent2">
                  <a:lumMod val="85000"/>
                </a:schemeClr>
              </a:gs>
            </a:gsLst>
            <a:lin ang="5400000" scaled="1"/>
          </a:gradFill>
        </p:spPr>
        <p:txBody>
          <a:bodyPr wrap="none">
            <a:spAutoFit/>
          </a:bodyPr>
          <a:lstStyle/>
          <a:p>
            <a:pPr>
              <a:lnSpc>
                <a:spcPct val="150000"/>
              </a:lnSpc>
              <a:defRPr sz="900">
                <a:solidFill>
                  <a:srgbClr val="FFFFFF"/>
                </a:solidFill>
              </a:defRPr>
            </a:pPr>
            <a:r>
              <a:rPr b="1" dirty="0">
                <a:solidFill>
                  <a:schemeClr val="tx1"/>
                </a:solidFill>
                <a:latin typeface="Times New Roman" panose="02020603050405020304" charset="0"/>
                <a:cs typeface="Times New Roman" panose="02020603050405020304" charset="0"/>
              </a:rPr>
              <a:t>Final Year Project • Academic Year 2026      13</a:t>
            </a:r>
            <a:endParaRPr b="1" dirty="0">
              <a:solidFill>
                <a:schemeClr val="tx1"/>
              </a:solidFill>
              <a:latin typeface="Times New Roman" panose="02020603050405020304" charset="0"/>
              <a:cs typeface="Times New Roman" panose="02020603050405020304" charset="0"/>
            </a:endParaRPr>
          </a:p>
        </p:txBody>
      </p:sp>
      <p:sp>
        <p:nvSpPr>
          <p:cNvPr id="6" name="Rounded Rectangle 5"/>
          <p:cNvSpPr/>
          <p:nvPr/>
        </p:nvSpPr>
        <p:spPr>
          <a:xfrm>
            <a:off x="731520" y="1325880"/>
            <a:ext cx="5257800" cy="2148840"/>
          </a:xfrm>
          <a:prstGeom prst="roundRect">
            <a:avLst>
              <a:gd name="adj" fmla="val 8000"/>
            </a:avLst>
          </a:prstGeom>
          <a:solidFill>
            <a:schemeClr val="accent3">
              <a:lumMod val="40000"/>
              <a:lumOff val="6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50000"/>
              </a:lnSpc>
            </a:pPr>
            <a:endParaRPr>
              <a:latin typeface="Times New Roman" panose="02020603050405020304" charset="0"/>
              <a:cs typeface="Times New Roman" panose="02020603050405020304" charset="0"/>
            </a:endParaRPr>
          </a:p>
        </p:txBody>
      </p:sp>
      <p:sp>
        <p:nvSpPr>
          <p:cNvPr id="7" name="TextBox 6"/>
          <p:cNvSpPr txBox="1"/>
          <p:nvPr/>
        </p:nvSpPr>
        <p:spPr>
          <a:xfrm>
            <a:off x="960120" y="1508760"/>
            <a:ext cx="2743200" cy="700405"/>
          </a:xfrm>
          <a:prstGeom prst="rect">
            <a:avLst/>
          </a:prstGeom>
          <a:noFill/>
        </p:spPr>
        <p:txBody>
          <a:bodyPr wrap="square" lIns="45720" tIns="27432" rIns="45720" bIns="27432" anchor="t">
            <a:spAutoFit/>
          </a:bodyPr>
          <a:lstStyle/>
          <a:p>
            <a:pPr algn="l">
              <a:lnSpc>
                <a:spcPct val="150000"/>
              </a:lnSpc>
              <a:spcAft>
                <a:spcPts val="600"/>
              </a:spcAft>
            </a:pPr>
            <a:r>
              <a:rPr sz="2800" b="1" i="0">
                <a:solidFill>
                  <a:schemeClr val="tx1"/>
                </a:solidFill>
                <a:latin typeface="Times New Roman" panose="02020603050405020304" charset="0"/>
                <a:cs typeface="Times New Roman" panose="02020603050405020304" charset="0"/>
              </a:rPr>
              <a:t>Trust</a:t>
            </a:r>
            <a:endParaRPr sz="2800" b="1" i="0">
              <a:solidFill>
                <a:schemeClr val="tx1"/>
              </a:solidFill>
              <a:latin typeface="Times New Roman" panose="02020603050405020304" charset="0"/>
              <a:cs typeface="Times New Roman" panose="02020603050405020304" charset="0"/>
            </a:endParaRPr>
          </a:p>
        </p:txBody>
      </p:sp>
      <p:sp>
        <p:nvSpPr>
          <p:cNvPr id="8" name="Rounded Rectangle 7"/>
          <p:cNvSpPr/>
          <p:nvPr/>
        </p:nvSpPr>
        <p:spPr>
          <a:xfrm>
            <a:off x="4023360" y="1527048"/>
            <a:ext cx="1737360" cy="347472"/>
          </a:xfrm>
          <a:prstGeom prst="roundRect">
            <a:avLst>
              <a:gd name="adj" fmla="val 50000"/>
            </a:avLst>
          </a:prstGeom>
          <a:solidFill>
            <a:srgbClr val="E3F2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50000"/>
              </a:lnSpc>
            </a:pPr>
            <a:endParaRPr>
              <a:latin typeface="Times New Roman" panose="02020603050405020304" charset="0"/>
              <a:cs typeface="Times New Roman" panose="02020603050405020304" charset="0"/>
            </a:endParaRPr>
          </a:p>
        </p:txBody>
      </p:sp>
      <p:sp>
        <p:nvSpPr>
          <p:cNvPr id="9" name="TextBox 8"/>
          <p:cNvSpPr txBox="1"/>
          <p:nvPr/>
        </p:nvSpPr>
        <p:spPr>
          <a:xfrm>
            <a:off x="4023360" y="1465834"/>
            <a:ext cx="1737360" cy="469900"/>
          </a:xfrm>
          <a:prstGeom prst="rect">
            <a:avLst/>
          </a:prstGeom>
          <a:solidFill>
            <a:schemeClr val="accent3">
              <a:lumMod val="20000"/>
              <a:lumOff val="80000"/>
            </a:schemeClr>
          </a:solidFill>
        </p:spPr>
        <p:txBody>
          <a:bodyPr wrap="square" lIns="45720" tIns="27432" rIns="45720" bIns="27432" anchor="ctr">
            <a:spAutoFit/>
          </a:bodyPr>
          <a:lstStyle/>
          <a:p>
            <a:pPr algn="ctr">
              <a:lnSpc>
                <a:spcPct val="150000"/>
              </a:lnSpc>
              <a:spcAft>
                <a:spcPts val="0"/>
              </a:spcAft>
            </a:pPr>
            <a:r>
              <a:rPr b="1" i="0">
                <a:solidFill>
                  <a:schemeClr val="tx1"/>
                </a:solidFill>
                <a:latin typeface="Times New Roman" panose="02020603050405020304" charset="0"/>
                <a:cs typeface="Times New Roman" panose="02020603050405020304" charset="0"/>
              </a:rPr>
              <a:t>RQ1: Yes</a:t>
            </a:r>
            <a:endParaRPr b="1" i="0">
              <a:solidFill>
                <a:schemeClr val="tx1"/>
              </a:solidFill>
              <a:latin typeface="Times New Roman" panose="02020603050405020304" charset="0"/>
              <a:cs typeface="Times New Roman" panose="02020603050405020304" charset="0"/>
            </a:endParaRPr>
          </a:p>
        </p:txBody>
      </p:sp>
      <p:sp>
        <p:nvSpPr>
          <p:cNvPr id="10" name="TextBox 9"/>
          <p:cNvSpPr txBox="1"/>
          <p:nvPr/>
        </p:nvSpPr>
        <p:spPr>
          <a:xfrm>
            <a:off x="960120" y="2103120"/>
            <a:ext cx="4800600" cy="1439545"/>
          </a:xfrm>
          <a:prstGeom prst="rect">
            <a:avLst/>
          </a:prstGeom>
          <a:noFill/>
        </p:spPr>
        <p:txBody>
          <a:bodyPr wrap="square" lIns="45720" tIns="27432" rIns="45720" bIns="27432" anchor="t">
            <a:spAutoFit/>
          </a:bodyPr>
          <a:lstStyle/>
          <a:p>
            <a:pPr algn="l">
              <a:lnSpc>
                <a:spcPct val="150000"/>
              </a:lnSpc>
              <a:spcAft>
                <a:spcPts val="600"/>
              </a:spcAft>
            </a:pPr>
            <a:r>
              <a:rPr sz="2000" b="1" i="0">
                <a:solidFill>
                  <a:schemeClr val="tx1"/>
                </a:solidFill>
                <a:latin typeface="Times New Roman" panose="02020603050405020304" charset="0"/>
                <a:cs typeface="Times New Roman" panose="02020603050405020304" charset="0"/>
              </a:rPr>
              <a:t>A hash chain on an ordinary database detects any edited, deleted or reordered event, cheaply.</a:t>
            </a:r>
            <a:endParaRPr sz="2000" b="1" i="0">
              <a:solidFill>
                <a:schemeClr val="tx1"/>
              </a:solidFill>
              <a:latin typeface="Times New Roman" panose="02020603050405020304" charset="0"/>
              <a:cs typeface="Times New Roman" panose="02020603050405020304" charset="0"/>
            </a:endParaRPr>
          </a:p>
        </p:txBody>
      </p:sp>
      <p:sp>
        <p:nvSpPr>
          <p:cNvPr id="11" name="Rounded Rectangle 10"/>
          <p:cNvSpPr/>
          <p:nvPr/>
        </p:nvSpPr>
        <p:spPr>
          <a:xfrm>
            <a:off x="6172200" y="1325880"/>
            <a:ext cx="5257800" cy="2148840"/>
          </a:xfrm>
          <a:prstGeom prst="roundRect">
            <a:avLst>
              <a:gd name="adj" fmla="val 8000"/>
            </a:avLst>
          </a:prstGeom>
          <a:solidFill>
            <a:schemeClr val="accent3">
              <a:lumMod val="40000"/>
              <a:lumOff val="6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50000"/>
              </a:lnSpc>
            </a:pPr>
            <a:endParaRPr>
              <a:latin typeface="Times New Roman" panose="02020603050405020304" charset="0"/>
              <a:cs typeface="Times New Roman" panose="02020603050405020304" charset="0"/>
            </a:endParaRPr>
          </a:p>
        </p:txBody>
      </p:sp>
      <p:sp>
        <p:nvSpPr>
          <p:cNvPr id="12" name="TextBox 11"/>
          <p:cNvSpPr txBox="1"/>
          <p:nvPr/>
        </p:nvSpPr>
        <p:spPr>
          <a:xfrm>
            <a:off x="6400800" y="1508760"/>
            <a:ext cx="2743200" cy="700405"/>
          </a:xfrm>
          <a:prstGeom prst="rect">
            <a:avLst/>
          </a:prstGeom>
          <a:noFill/>
        </p:spPr>
        <p:txBody>
          <a:bodyPr wrap="square" lIns="45720" tIns="27432" rIns="45720" bIns="27432" anchor="t">
            <a:spAutoFit/>
          </a:bodyPr>
          <a:lstStyle/>
          <a:p>
            <a:pPr algn="l">
              <a:lnSpc>
                <a:spcPct val="150000"/>
              </a:lnSpc>
              <a:spcAft>
                <a:spcPts val="600"/>
              </a:spcAft>
            </a:pPr>
            <a:r>
              <a:rPr sz="2800" b="1" i="0">
                <a:solidFill>
                  <a:schemeClr val="tx1"/>
                </a:solidFill>
                <a:latin typeface="Times New Roman" panose="02020603050405020304" charset="0"/>
                <a:cs typeface="Times New Roman" panose="02020603050405020304" charset="0"/>
              </a:rPr>
              <a:t>Discovery</a:t>
            </a:r>
            <a:endParaRPr sz="2800" b="1" i="0">
              <a:solidFill>
                <a:schemeClr val="tx1"/>
              </a:solidFill>
              <a:latin typeface="Times New Roman" panose="02020603050405020304" charset="0"/>
              <a:cs typeface="Times New Roman" panose="02020603050405020304" charset="0"/>
            </a:endParaRPr>
          </a:p>
        </p:txBody>
      </p:sp>
      <p:sp>
        <p:nvSpPr>
          <p:cNvPr id="13" name="Rounded Rectangle 12"/>
          <p:cNvSpPr/>
          <p:nvPr/>
        </p:nvSpPr>
        <p:spPr>
          <a:xfrm>
            <a:off x="9464040" y="1527048"/>
            <a:ext cx="1737360" cy="347472"/>
          </a:xfrm>
          <a:prstGeom prst="roundRect">
            <a:avLst>
              <a:gd name="adj" fmla="val 50000"/>
            </a:avLst>
          </a:prstGeom>
          <a:solidFill>
            <a:srgbClr val="E3F2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50000"/>
              </a:lnSpc>
            </a:pPr>
            <a:endParaRPr>
              <a:latin typeface="Times New Roman" panose="02020603050405020304" charset="0"/>
              <a:cs typeface="Times New Roman" panose="02020603050405020304" charset="0"/>
            </a:endParaRPr>
          </a:p>
        </p:txBody>
      </p:sp>
      <p:sp>
        <p:nvSpPr>
          <p:cNvPr id="14" name="TextBox 13"/>
          <p:cNvSpPr txBox="1"/>
          <p:nvPr/>
        </p:nvSpPr>
        <p:spPr>
          <a:xfrm>
            <a:off x="9464040" y="1465834"/>
            <a:ext cx="1737360" cy="469900"/>
          </a:xfrm>
          <a:prstGeom prst="rect">
            <a:avLst/>
          </a:prstGeom>
          <a:solidFill>
            <a:schemeClr val="accent3">
              <a:lumMod val="20000"/>
              <a:lumOff val="80000"/>
            </a:schemeClr>
          </a:solidFill>
        </p:spPr>
        <p:txBody>
          <a:bodyPr wrap="square" lIns="45720" tIns="27432" rIns="45720" bIns="27432" anchor="ctr">
            <a:spAutoFit/>
          </a:bodyPr>
          <a:lstStyle/>
          <a:p>
            <a:pPr algn="ctr">
              <a:lnSpc>
                <a:spcPct val="150000"/>
              </a:lnSpc>
              <a:spcAft>
                <a:spcPts val="0"/>
              </a:spcAft>
            </a:pPr>
            <a:r>
              <a:rPr b="1" i="0">
                <a:solidFill>
                  <a:schemeClr val="tx1"/>
                </a:solidFill>
                <a:latin typeface="Times New Roman" panose="02020603050405020304" charset="0"/>
                <a:cs typeface="Times New Roman" panose="02020603050405020304" charset="0"/>
              </a:rPr>
              <a:t>Achieved</a:t>
            </a:r>
            <a:endParaRPr b="1" i="0">
              <a:solidFill>
                <a:schemeClr val="tx1"/>
              </a:solidFill>
              <a:latin typeface="Times New Roman" panose="02020603050405020304" charset="0"/>
              <a:cs typeface="Times New Roman" panose="02020603050405020304" charset="0"/>
            </a:endParaRPr>
          </a:p>
        </p:txBody>
      </p:sp>
      <p:sp>
        <p:nvSpPr>
          <p:cNvPr id="15" name="TextBox 14"/>
          <p:cNvSpPr txBox="1"/>
          <p:nvPr/>
        </p:nvSpPr>
        <p:spPr>
          <a:xfrm>
            <a:off x="6400800" y="2103120"/>
            <a:ext cx="4800600" cy="793115"/>
          </a:xfrm>
          <a:prstGeom prst="rect">
            <a:avLst/>
          </a:prstGeom>
          <a:noFill/>
        </p:spPr>
        <p:txBody>
          <a:bodyPr wrap="square" lIns="45720" tIns="27432" rIns="45720" bIns="27432" anchor="t">
            <a:spAutoFit/>
          </a:bodyPr>
          <a:lstStyle/>
          <a:p>
            <a:pPr algn="l">
              <a:lnSpc>
                <a:spcPct val="150000"/>
              </a:lnSpc>
              <a:spcAft>
                <a:spcPts val="600"/>
              </a:spcAft>
            </a:pPr>
            <a:r>
              <a:rPr sz="1600" b="0" i="0">
                <a:solidFill>
                  <a:srgbClr val="232323"/>
                </a:solidFill>
                <a:latin typeface="Times New Roman" panose="02020603050405020304" charset="0"/>
                <a:cs typeface="Times New Roman" panose="02020603050405020304" charset="0"/>
              </a:rPr>
              <a:t>Neighbourhood filters match how residents describe location, with no GPS needed.</a:t>
            </a:r>
            <a:endParaRPr sz="1600" b="0" i="0">
              <a:solidFill>
                <a:srgbClr val="232323"/>
              </a:solidFill>
              <a:latin typeface="Times New Roman" panose="02020603050405020304" charset="0"/>
              <a:cs typeface="Times New Roman" panose="02020603050405020304" charset="0"/>
            </a:endParaRPr>
          </a:p>
        </p:txBody>
      </p:sp>
      <p:sp>
        <p:nvSpPr>
          <p:cNvPr id="16" name="Rounded Rectangle 15"/>
          <p:cNvSpPr/>
          <p:nvPr/>
        </p:nvSpPr>
        <p:spPr>
          <a:xfrm>
            <a:off x="731520" y="3703320"/>
            <a:ext cx="5257800" cy="2148840"/>
          </a:xfrm>
          <a:prstGeom prst="roundRect">
            <a:avLst>
              <a:gd name="adj" fmla="val 8000"/>
            </a:avLst>
          </a:prstGeom>
          <a:solidFill>
            <a:schemeClr val="accent3">
              <a:lumMod val="40000"/>
              <a:lumOff val="6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50000"/>
              </a:lnSpc>
            </a:pPr>
            <a:endParaRPr>
              <a:latin typeface="Times New Roman" panose="02020603050405020304" charset="0"/>
              <a:cs typeface="Times New Roman" panose="02020603050405020304" charset="0"/>
            </a:endParaRPr>
          </a:p>
        </p:txBody>
      </p:sp>
      <p:sp>
        <p:nvSpPr>
          <p:cNvPr id="17" name="TextBox 16"/>
          <p:cNvSpPr txBox="1"/>
          <p:nvPr/>
        </p:nvSpPr>
        <p:spPr>
          <a:xfrm>
            <a:off x="960120" y="3886200"/>
            <a:ext cx="2743200" cy="700405"/>
          </a:xfrm>
          <a:prstGeom prst="rect">
            <a:avLst/>
          </a:prstGeom>
          <a:noFill/>
        </p:spPr>
        <p:txBody>
          <a:bodyPr wrap="square" lIns="45720" tIns="27432" rIns="45720" bIns="27432" anchor="t">
            <a:spAutoFit/>
          </a:bodyPr>
          <a:lstStyle/>
          <a:p>
            <a:pPr algn="l">
              <a:lnSpc>
                <a:spcPct val="150000"/>
              </a:lnSpc>
              <a:spcAft>
                <a:spcPts val="600"/>
              </a:spcAft>
            </a:pPr>
            <a:r>
              <a:rPr sz="2800" b="1" i="0">
                <a:solidFill>
                  <a:schemeClr val="tx1"/>
                </a:solidFill>
                <a:latin typeface="Times New Roman" panose="02020603050405020304" charset="0"/>
                <a:cs typeface="Times New Roman" panose="02020603050405020304" charset="0"/>
              </a:rPr>
              <a:t>Voice</a:t>
            </a:r>
            <a:endParaRPr sz="2800" b="1" i="0">
              <a:solidFill>
                <a:schemeClr val="tx1"/>
              </a:solidFill>
              <a:latin typeface="Times New Roman" panose="02020603050405020304" charset="0"/>
              <a:cs typeface="Times New Roman" panose="02020603050405020304" charset="0"/>
            </a:endParaRPr>
          </a:p>
        </p:txBody>
      </p:sp>
      <p:sp>
        <p:nvSpPr>
          <p:cNvPr id="18" name="Rounded Rectangle 17"/>
          <p:cNvSpPr/>
          <p:nvPr/>
        </p:nvSpPr>
        <p:spPr>
          <a:xfrm>
            <a:off x="4023360" y="3904487"/>
            <a:ext cx="1737360" cy="347472"/>
          </a:xfrm>
          <a:prstGeom prst="roundRect">
            <a:avLst>
              <a:gd name="adj" fmla="val 50000"/>
            </a:avLst>
          </a:prstGeom>
          <a:solidFill>
            <a:srgbClr val="FDF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50000"/>
              </a:lnSpc>
            </a:pPr>
            <a:endParaRPr>
              <a:latin typeface="Times New Roman" panose="02020603050405020304" charset="0"/>
              <a:cs typeface="Times New Roman" panose="02020603050405020304" charset="0"/>
            </a:endParaRPr>
          </a:p>
        </p:txBody>
      </p:sp>
      <p:sp>
        <p:nvSpPr>
          <p:cNvPr id="19" name="TextBox 18"/>
          <p:cNvSpPr txBox="1"/>
          <p:nvPr/>
        </p:nvSpPr>
        <p:spPr>
          <a:xfrm>
            <a:off x="4023360" y="3843273"/>
            <a:ext cx="1737360" cy="469900"/>
          </a:xfrm>
          <a:prstGeom prst="rect">
            <a:avLst/>
          </a:prstGeom>
          <a:solidFill>
            <a:schemeClr val="accent3">
              <a:lumMod val="20000"/>
              <a:lumOff val="80000"/>
            </a:schemeClr>
          </a:solidFill>
        </p:spPr>
        <p:txBody>
          <a:bodyPr wrap="square" lIns="45720" tIns="27432" rIns="45720" bIns="27432" anchor="ctr">
            <a:spAutoFit/>
          </a:bodyPr>
          <a:lstStyle/>
          <a:p>
            <a:pPr algn="ctr">
              <a:lnSpc>
                <a:spcPct val="150000"/>
              </a:lnSpc>
              <a:spcAft>
                <a:spcPts val="0"/>
              </a:spcAft>
            </a:pPr>
            <a:r>
              <a:rPr b="1" i="0">
                <a:solidFill>
                  <a:schemeClr val="tx1"/>
                </a:solidFill>
                <a:latin typeface="Times New Roman" panose="02020603050405020304" charset="0"/>
                <a:cs typeface="Times New Roman" panose="02020603050405020304" charset="0"/>
              </a:rPr>
              <a:t>RQ2: Partly</a:t>
            </a:r>
            <a:endParaRPr b="1" i="0">
              <a:solidFill>
                <a:schemeClr val="tx1"/>
              </a:solidFill>
              <a:latin typeface="Times New Roman" panose="02020603050405020304" charset="0"/>
              <a:cs typeface="Times New Roman" panose="02020603050405020304" charset="0"/>
            </a:endParaRPr>
          </a:p>
        </p:txBody>
      </p:sp>
      <p:sp>
        <p:nvSpPr>
          <p:cNvPr id="20" name="TextBox 19"/>
          <p:cNvSpPr txBox="1"/>
          <p:nvPr/>
        </p:nvSpPr>
        <p:spPr>
          <a:xfrm>
            <a:off x="960120" y="4480559"/>
            <a:ext cx="4800600" cy="977900"/>
          </a:xfrm>
          <a:prstGeom prst="rect">
            <a:avLst/>
          </a:prstGeom>
          <a:noFill/>
        </p:spPr>
        <p:txBody>
          <a:bodyPr wrap="square" lIns="45720" tIns="27432" rIns="45720" bIns="27432" anchor="t">
            <a:spAutoFit/>
          </a:bodyPr>
          <a:lstStyle/>
          <a:p>
            <a:pPr algn="l">
              <a:lnSpc>
                <a:spcPct val="150000"/>
              </a:lnSpc>
              <a:spcAft>
                <a:spcPts val="600"/>
              </a:spcAft>
            </a:pPr>
            <a:r>
              <a:rPr sz="2000" b="0" i="0">
                <a:solidFill>
                  <a:srgbClr val="232323"/>
                </a:solidFill>
                <a:latin typeface="Times New Roman" panose="02020603050405020304" charset="0"/>
                <a:cs typeface="Times New Roman" panose="02020603050405020304" charset="0"/>
              </a:rPr>
              <a:t>Works for English sentences, but Nyanja and Bemba speakers are not served.</a:t>
            </a:r>
            <a:endParaRPr sz="2000" b="0" i="0">
              <a:solidFill>
                <a:srgbClr val="232323"/>
              </a:solidFill>
              <a:latin typeface="Times New Roman" panose="02020603050405020304" charset="0"/>
              <a:cs typeface="Times New Roman" panose="02020603050405020304" charset="0"/>
            </a:endParaRPr>
          </a:p>
        </p:txBody>
      </p:sp>
      <p:sp>
        <p:nvSpPr>
          <p:cNvPr id="21" name="Rounded Rectangle 20"/>
          <p:cNvSpPr/>
          <p:nvPr/>
        </p:nvSpPr>
        <p:spPr>
          <a:xfrm>
            <a:off x="6172200" y="3703320"/>
            <a:ext cx="5257800" cy="2148840"/>
          </a:xfrm>
          <a:prstGeom prst="roundRect">
            <a:avLst>
              <a:gd name="adj" fmla="val 8000"/>
            </a:avLst>
          </a:prstGeom>
          <a:solidFill>
            <a:schemeClr val="accent3">
              <a:lumMod val="40000"/>
              <a:lumOff val="6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50000"/>
              </a:lnSpc>
            </a:pPr>
            <a:endParaRPr>
              <a:latin typeface="Times New Roman" panose="02020603050405020304" charset="0"/>
              <a:cs typeface="Times New Roman" panose="02020603050405020304" charset="0"/>
            </a:endParaRPr>
          </a:p>
        </p:txBody>
      </p:sp>
      <p:sp>
        <p:nvSpPr>
          <p:cNvPr id="22" name="TextBox 21"/>
          <p:cNvSpPr txBox="1"/>
          <p:nvPr/>
        </p:nvSpPr>
        <p:spPr>
          <a:xfrm>
            <a:off x="6400800" y="3886200"/>
            <a:ext cx="2743200" cy="700405"/>
          </a:xfrm>
          <a:prstGeom prst="rect">
            <a:avLst/>
          </a:prstGeom>
          <a:noFill/>
        </p:spPr>
        <p:txBody>
          <a:bodyPr wrap="square" lIns="45720" tIns="27432" rIns="45720" bIns="27432" anchor="t">
            <a:spAutoFit/>
          </a:bodyPr>
          <a:lstStyle/>
          <a:p>
            <a:pPr algn="l">
              <a:lnSpc>
                <a:spcPct val="150000"/>
              </a:lnSpc>
              <a:spcAft>
                <a:spcPts val="600"/>
              </a:spcAft>
            </a:pPr>
            <a:r>
              <a:rPr sz="2800" b="1" i="0">
                <a:solidFill>
                  <a:schemeClr val="tx1"/>
                </a:solidFill>
                <a:latin typeface="Times New Roman" panose="02020603050405020304" charset="0"/>
                <a:cs typeface="Times New Roman" panose="02020603050405020304" charset="0"/>
              </a:rPr>
              <a:t>Connectivity</a:t>
            </a:r>
            <a:endParaRPr sz="2800" b="1" i="0">
              <a:solidFill>
                <a:schemeClr val="tx1"/>
              </a:solidFill>
              <a:latin typeface="Times New Roman" panose="02020603050405020304" charset="0"/>
              <a:cs typeface="Times New Roman" panose="02020603050405020304" charset="0"/>
            </a:endParaRPr>
          </a:p>
        </p:txBody>
      </p:sp>
      <p:sp>
        <p:nvSpPr>
          <p:cNvPr id="23" name="Rounded Rectangle 22"/>
          <p:cNvSpPr/>
          <p:nvPr/>
        </p:nvSpPr>
        <p:spPr>
          <a:xfrm>
            <a:off x="9464040" y="3904487"/>
            <a:ext cx="1737360" cy="347472"/>
          </a:xfrm>
          <a:prstGeom prst="roundRect">
            <a:avLst>
              <a:gd name="adj" fmla="val 50000"/>
            </a:avLst>
          </a:prstGeom>
          <a:solidFill>
            <a:srgbClr val="E3F2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50000"/>
              </a:lnSpc>
            </a:pPr>
            <a:endParaRPr>
              <a:latin typeface="Times New Roman" panose="02020603050405020304" charset="0"/>
              <a:cs typeface="Times New Roman" panose="02020603050405020304" charset="0"/>
            </a:endParaRPr>
          </a:p>
        </p:txBody>
      </p:sp>
      <p:sp>
        <p:nvSpPr>
          <p:cNvPr id="24" name="TextBox 23"/>
          <p:cNvSpPr txBox="1"/>
          <p:nvPr/>
        </p:nvSpPr>
        <p:spPr>
          <a:xfrm>
            <a:off x="9464040" y="3843273"/>
            <a:ext cx="1737360" cy="469900"/>
          </a:xfrm>
          <a:prstGeom prst="rect">
            <a:avLst/>
          </a:prstGeom>
          <a:solidFill>
            <a:schemeClr val="accent3">
              <a:lumMod val="20000"/>
              <a:lumOff val="80000"/>
            </a:schemeClr>
          </a:solidFill>
        </p:spPr>
        <p:txBody>
          <a:bodyPr wrap="square" lIns="45720" tIns="27432" rIns="45720" bIns="27432" anchor="ctr">
            <a:spAutoFit/>
          </a:bodyPr>
          <a:lstStyle/>
          <a:p>
            <a:pPr algn="ctr">
              <a:lnSpc>
                <a:spcPct val="150000"/>
              </a:lnSpc>
              <a:spcAft>
                <a:spcPts val="0"/>
              </a:spcAft>
            </a:pPr>
            <a:r>
              <a:rPr b="1" i="0">
                <a:solidFill>
                  <a:schemeClr val="tx1"/>
                </a:solidFill>
                <a:latin typeface="Times New Roman" panose="02020603050405020304" charset="0"/>
                <a:cs typeface="Times New Roman" panose="02020603050405020304" charset="0"/>
              </a:rPr>
              <a:t>RQ3: Largely</a:t>
            </a:r>
            <a:endParaRPr b="1" i="0">
              <a:solidFill>
                <a:schemeClr val="tx1"/>
              </a:solidFill>
              <a:latin typeface="Times New Roman" panose="02020603050405020304" charset="0"/>
              <a:cs typeface="Times New Roman" panose="02020603050405020304" charset="0"/>
            </a:endParaRPr>
          </a:p>
        </p:txBody>
      </p:sp>
      <p:sp>
        <p:nvSpPr>
          <p:cNvPr id="25" name="TextBox 24"/>
          <p:cNvSpPr txBox="1"/>
          <p:nvPr/>
        </p:nvSpPr>
        <p:spPr>
          <a:xfrm>
            <a:off x="6400800" y="4480559"/>
            <a:ext cx="4800600" cy="977900"/>
          </a:xfrm>
          <a:prstGeom prst="rect">
            <a:avLst/>
          </a:prstGeom>
          <a:noFill/>
        </p:spPr>
        <p:txBody>
          <a:bodyPr wrap="square" lIns="45720" tIns="27432" rIns="45720" bIns="27432" anchor="t">
            <a:spAutoFit/>
          </a:bodyPr>
          <a:lstStyle/>
          <a:p>
            <a:pPr algn="l">
              <a:lnSpc>
                <a:spcPct val="150000"/>
              </a:lnSpc>
              <a:spcAft>
                <a:spcPts val="600"/>
              </a:spcAft>
            </a:pPr>
            <a:r>
              <a:rPr sz="2000" b="0" i="0">
                <a:solidFill>
                  <a:schemeClr val="tx1"/>
                </a:solidFill>
                <a:latin typeface="Times New Roman" panose="02020603050405020304" charset="0"/>
                <a:cs typeface="Times New Roman" panose="02020603050405020304" charset="0"/>
              </a:rPr>
              <a:t>Reading, messaging and new listings survive drops; ratings need a connection.</a:t>
            </a:r>
            <a:endParaRPr sz="2000" b="0" i="0">
              <a:solidFill>
                <a:schemeClr val="tx1"/>
              </a:solidFill>
              <a:latin typeface="Times New Roman" panose="02020603050405020304" charset="0"/>
              <a:cs typeface="Times New Roman" panose="02020603050405020304" charset="0"/>
            </a:endParaRPr>
          </a:p>
        </p:txBody>
      </p:sp>
      <p:sp>
        <p:nvSpPr>
          <p:cNvPr id="26" name="TextBox 25"/>
          <p:cNvSpPr txBox="1"/>
          <p:nvPr/>
        </p:nvSpPr>
        <p:spPr>
          <a:xfrm>
            <a:off x="731520" y="6080760"/>
            <a:ext cx="10698480" cy="423545"/>
          </a:xfrm>
          <a:prstGeom prst="rect">
            <a:avLst/>
          </a:prstGeom>
          <a:noFill/>
        </p:spPr>
        <p:txBody>
          <a:bodyPr wrap="square" lIns="45720" tIns="27432" rIns="45720" bIns="27432" anchor="t">
            <a:spAutoFit/>
          </a:bodyPr>
          <a:lstStyle/>
          <a:p>
            <a:pPr algn="l">
              <a:lnSpc>
                <a:spcPct val="150000"/>
              </a:lnSpc>
              <a:spcAft>
                <a:spcPts val="600"/>
              </a:spcAft>
            </a:pPr>
            <a:r>
              <a:rPr sz="1600" b="1" i="0">
                <a:solidFill>
                  <a:schemeClr val="tx1"/>
                </a:solidFill>
                <a:latin typeface="Times New Roman" panose="02020603050405020304" charset="0"/>
                <a:cs typeface="Times New Roman" panose="02020603050405020304" charset="0"/>
              </a:rPr>
              <a:t>Most important finding: verifiable trust is possible without online payment.</a:t>
            </a:r>
            <a:endParaRPr sz="1600" b="1" i="0">
              <a:solidFill>
                <a:schemeClr val="tx1"/>
              </a:solidFill>
              <a:latin typeface="Times New Roman" panose="02020603050405020304" charset="0"/>
              <a:cs typeface="Times New Roman" panose="02020603050405020304"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gradFill>
          <a:gsLst>
            <a:gs pos="50000">
              <a:schemeClr val="accent3"/>
            </a:gs>
            <a:gs pos="0">
              <a:schemeClr val="accent3">
                <a:lumMod val="25000"/>
                <a:lumOff val="75000"/>
              </a:schemeClr>
            </a:gs>
            <a:gs pos="100000">
              <a:schemeClr val="accent3">
                <a:lumMod val="85000"/>
              </a:schemeClr>
            </a:gs>
          </a:gsLst>
          <a:lin ang="5400000" scaled="1"/>
        </a:gradFill>
        <a:effectLst/>
      </p:bgPr>
    </p:bg>
    <p:spTree>
      <p:nvGrpSpPr>
        <p:cNvPr id="1" name=""/>
        <p:cNvGrpSpPr/>
        <p:nvPr/>
      </p:nvGrpSpPr>
      <p:grpSpPr>
        <a:xfrm>
          <a:off x="0" y="0"/>
          <a:ext cx="0" cy="0"/>
          <a:chOff x="0" y="0"/>
          <a:chExt cx="0" cy="0"/>
        </a:xfrm>
      </p:grpSpPr>
      <p:sp>
        <p:nvSpPr>
          <p:cNvPr id="2" name="TextBox 1"/>
          <p:cNvSpPr txBox="1"/>
          <p:nvPr/>
        </p:nvSpPr>
        <p:spPr>
          <a:xfrm>
            <a:off x="3066415" y="259080"/>
            <a:ext cx="2693670" cy="1014730"/>
          </a:xfrm>
          <a:prstGeom prst="rect">
            <a:avLst/>
          </a:prstGeom>
          <a:noFill/>
        </p:spPr>
        <p:txBody>
          <a:bodyPr wrap="none">
            <a:spAutoFit/>
          </a:bodyPr>
          <a:lstStyle/>
          <a:p>
            <a:pPr algn="ctr">
              <a:lnSpc>
                <a:spcPct val="150000"/>
              </a:lnSpc>
              <a:defRPr sz="2800" b="1">
                <a:solidFill>
                  <a:srgbClr val="192D4B"/>
                </a:solidFill>
              </a:defRPr>
            </a:pPr>
            <a:r>
              <a:rPr sz="4000">
                <a:solidFill>
                  <a:schemeClr val="tx1"/>
                </a:solidFill>
                <a:latin typeface="Times New Roman" panose="02020603050405020304" charset="0"/>
                <a:cs typeface="Times New Roman" panose="02020603050405020304" charset="0"/>
              </a:rPr>
              <a:t>Limitations</a:t>
            </a:r>
            <a:endParaRPr sz="4000">
              <a:solidFill>
                <a:schemeClr val="tx1"/>
              </a:solidFill>
              <a:latin typeface="Times New Roman" panose="02020603050405020304" charset="0"/>
              <a:cs typeface="Times New Roman" panose="02020603050405020304" charset="0"/>
            </a:endParaRPr>
          </a:p>
        </p:txBody>
      </p:sp>
      <p:sp>
        <p:nvSpPr>
          <p:cNvPr id="4" name="Rectangle 3"/>
          <p:cNvSpPr/>
          <p:nvPr/>
        </p:nvSpPr>
        <p:spPr>
          <a:xfrm>
            <a:off x="0" y="6565392"/>
            <a:ext cx="12191695" cy="292608"/>
          </a:xfrm>
          <a:prstGeom prst="rect">
            <a:avLst/>
          </a:prstGeom>
          <a:solidFill>
            <a:schemeClr val="accent3">
              <a:lumMod val="5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50000"/>
              </a:lnSpc>
            </a:pPr>
            <a:endParaRPr>
              <a:solidFill>
                <a:schemeClr val="tx1"/>
              </a:solidFill>
              <a:latin typeface="Times New Roman" panose="02020603050405020304" charset="0"/>
              <a:cs typeface="Times New Roman" panose="02020603050405020304" charset="0"/>
            </a:endParaRPr>
          </a:p>
        </p:txBody>
      </p:sp>
      <p:sp>
        <p:nvSpPr>
          <p:cNvPr id="5" name="TextBox 4"/>
          <p:cNvSpPr txBox="1"/>
          <p:nvPr/>
        </p:nvSpPr>
        <p:spPr>
          <a:xfrm>
            <a:off x="320040" y="6574536"/>
            <a:ext cx="2454910" cy="299085"/>
          </a:xfrm>
          <a:prstGeom prst="rect">
            <a:avLst/>
          </a:prstGeom>
          <a:gradFill>
            <a:gsLst>
              <a:gs pos="50000">
                <a:schemeClr val="accent2"/>
              </a:gs>
              <a:gs pos="0">
                <a:schemeClr val="accent2">
                  <a:lumMod val="25000"/>
                  <a:lumOff val="75000"/>
                </a:schemeClr>
              </a:gs>
              <a:gs pos="100000">
                <a:schemeClr val="accent2">
                  <a:lumMod val="85000"/>
                </a:schemeClr>
              </a:gs>
            </a:gsLst>
            <a:lin ang="5400000" scaled="1"/>
          </a:gradFill>
        </p:spPr>
        <p:txBody>
          <a:bodyPr wrap="none">
            <a:spAutoFit/>
          </a:bodyPr>
          <a:lstStyle/>
          <a:p>
            <a:pPr>
              <a:lnSpc>
                <a:spcPct val="150000"/>
              </a:lnSpc>
              <a:defRPr sz="900">
                <a:solidFill>
                  <a:srgbClr val="FFFFFF"/>
                </a:solidFill>
              </a:defRPr>
            </a:pPr>
            <a:r>
              <a:rPr b="1" dirty="0">
                <a:solidFill>
                  <a:schemeClr val="tx1"/>
                </a:solidFill>
                <a:latin typeface="Times New Roman" panose="02020603050405020304" charset="0"/>
                <a:cs typeface="Times New Roman" panose="02020603050405020304" charset="0"/>
              </a:rPr>
              <a:t>Final Year Project • Academic Year 2026     14</a:t>
            </a:r>
            <a:endParaRPr b="1" dirty="0">
              <a:solidFill>
                <a:schemeClr val="tx1"/>
              </a:solidFill>
              <a:latin typeface="Times New Roman" panose="02020603050405020304" charset="0"/>
              <a:cs typeface="Times New Roman" panose="02020603050405020304" charset="0"/>
            </a:endParaRPr>
          </a:p>
        </p:txBody>
      </p:sp>
      <p:sp>
        <p:nvSpPr>
          <p:cNvPr id="6" name="TextBox 5"/>
          <p:cNvSpPr txBox="1"/>
          <p:nvPr/>
        </p:nvSpPr>
        <p:spPr>
          <a:xfrm>
            <a:off x="731520" y="1325880"/>
            <a:ext cx="10698480" cy="4650740"/>
          </a:xfrm>
          <a:prstGeom prst="rect">
            <a:avLst/>
          </a:prstGeom>
          <a:noFill/>
        </p:spPr>
        <p:txBody>
          <a:bodyPr wrap="square" lIns="45720" tIns="27432" rIns="45720" bIns="27432" anchor="t">
            <a:spAutoFit/>
          </a:bodyPr>
          <a:lstStyle/>
          <a:p>
            <a:pPr algn="l">
              <a:lnSpc>
                <a:spcPct val="150000"/>
              </a:lnSpc>
              <a:spcAft>
                <a:spcPts val="1400"/>
              </a:spcAft>
            </a:pPr>
            <a:r>
              <a:rPr sz="2400" b="1" i="0">
                <a:solidFill>
                  <a:schemeClr val="tx1"/>
                </a:solidFill>
                <a:latin typeface="Times New Roman" panose="02020603050405020304" charset="0"/>
                <a:cs typeface="Times New Roman" panose="02020603050405020304" charset="0"/>
              </a:rPr>
              <a:t>No user study yet: </a:t>
            </a:r>
            <a:r>
              <a:rPr sz="2400" b="0" i="0">
                <a:solidFill>
                  <a:schemeClr val="tx1"/>
                </a:solidFill>
                <a:latin typeface="Times New Roman" panose="02020603050405020304" charset="0"/>
                <a:cs typeface="Times New Roman" panose="02020603050405020304" charset="0"/>
              </a:rPr>
              <a:t>usability and real-world benefit are not yet measured</a:t>
            </a:r>
            <a:endParaRPr sz="2400" b="0" i="0">
              <a:solidFill>
                <a:schemeClr val="tx1"/>
              </a:solidFill>
              <a:latin typeface="Times New Roman" panose="02020603050405020304" charset="0"/>
              <a:cs typeface="Times New Roman" panose="02020603050405020304" charset="0"/>
            </a:endParaRPr>
          </a:p>
          <a:p>
            <a:pPr algn="l">
              <a:lnSpc>
                <a:spcPct val="150000"/>
              </a:lnSpc>
              <a:spcAft>
                <a:spcPts val="1400"/>
              </a:spcAft>
            </a:pPr>
            <a:r>
              <a:rPr sz="2400" b="1" i="0">
                <a:solidFill>
                  <a:schemeClr val="tx1"/>
                </a:solidFill>
                <a:latin typeface="Times New Roman" panose="02020603050405020304" charset="0"/>
                <a:cs typeface="Times New Roman" panose="02020603050405020304" charset="0"/>
              </a:rPr>
              <a:t>English-only voice: </a:t>
            </a:r>
            <a:r>
              <a:rPr sz="2400" b="0" i="0">
                <a:solidFill>
                  <a:schemeClr val="tx1"/>
                </a:solidFill>
                <a:latin typeface="Times New Roman" panose="02020603050405020304" charset="0"/>
                <a:cs typeface="Times New Roman" panose="02020603050405020304" charset="0"/>
              </a:rPr>
              <a:t>excludes some sellers who would gain most</a:t>
            </a:r>
            <a:endParaRPr sz="2400" b="0" i="0">
              <a:solidFill>
                <a:schemeClr val="tx1"/>
              </a:solidFill>
              <a:latin typeface="Times New Roman" panose="02020603050405020304" charset="0"/>
              <a:cs typeface="Times New Roman" panose="02020603050405020304" charset="0"/>
            </a:endParaRPr>
          </a:p>
          <a:p>
            <a:pPr algn="l">
              <a:lnSpc>
                <a:spcPct val="150000"/>
              </a:lnSpc>
              <a:spcAft>
                <a:spcPts val="1400"/>
              </a:spcAft>
            </a:pPr>
            <a:r>
              <a:rPr sz="2400" b="1" i="0">
                <a:solidFill>
                  <a:schemeClr val="tx1"/>
                </a:solidFill>
                <a:latin typeface="Times New Roman" panose="02020603050405020304" charset="0"/>
                <a:cs typeface="Times New Roman" panose="02020603050405020304" charset="0"/>
              </a:rPr>
              <a:t>Tamper-evident, not tamper-proof: </a:t>
            </a:r>
            <a:r>
              <a:rPr sz="2400" b="0" i="0">
                <a:solidFill>
                  <a:schemeClr val="tx1"/>
                </a:solidFill>
                <a:latin typeface="Times New Roman" panose="02020603050405020304" charset="0"/>
                <a:cs typeface="Times New Roman" panose="02020603050405020304" charset="0"/>
              </a:rPr>
              <a:t>someone with full database access could rewrite a whole chain</a:t>
            </a:r>
            <a:endParaRPr sz="2400" b="0" i="0">
              <a:solidFill>
                <a:schemeClr val="tx1"/>
              </a:solidFill>
              <a:latin typeface="Times New Roman" panose="02020603050405020304" charset="0"/>
              <a:cs typeface="Times New Roman" panose="02020603050405020304" charset="0"/>
            </a:endParaRPr>
          </a:p>
          <a:p>
            <a:pPr algn="l">
              <a:lnSpc>
                <a:spcPct val="150000"/>
              </a:lnSpc>
              <a:spcAft>
                <a:spcPts val="1400"/>
              </a:spcAft>
            </a:pPr>
            <a:r>
              <a:rPr sz="2400" b="1" i="0">
                <a:solidFill>
                  <a:schemeClr val="tx1"/>
                </a:solidFill>
                <a:latin typeface="Times New Roman" panose="02020603050405020304" charset="0"/>
                <a:cs typeface="Times New Roman" panose="02020603050405020304" charset="0"/>
              </a:rPr>
              <a:t>Rating gate: </a:t>
            </a:r>
            <a:r>
              <a:rPr sz="2400" b="0" i="0">
                <a:solidFill>
                  <a:schemeClr val="tx1"/>
                </a:solidFill>
                <a:latin typeface="Times New Roman" panose="02020603050405020304" charset="0"/>
                <a:cs typeface="Times New Roman" panose="02020603050405020304" charset="0"/>
              </a:rPr>
              <a:t>checks that a conversation happened, not that a sale did</a:t>
            </a:r>
            <a:endParaRPr sz="2400" b="0" i="0">
              <a:solidFill>
                <a:schemeClr val="tx1"/>
              </a:solidFill>
              <a:latin typeface="Times New Roman" panose="02020603050405020304" charset="0"/>
              <a:cs typeface="Times New Roman" panose="02020603050405020304" charset="0"/>
            </a:endParaRPr>
          </a:p>
          <a:p>
            <a:pPr algn="l">
              <a:lnSpc>
                <a:spcPct val="150000"/>
              </a:lnSpc>
              <a:spcAft>
                <a:spcPts val="1400"/>
              </a:spcAft>
            </a:pPr>
            <a:r>
              <a:rPr sz="2400" b="1" i="0">
                <a:solidFill>
                  <a:schemeClr val="tx1"/>
                </a:solidFill>
                <a:latin typeface="Times New Roman" panose="02020603050405020304" charset="0"/>
                <a:cs typeface="Times New Roman" panose="02020603050405020304" charset="0"/>
              </a:rPr>
              <a:t>No paid SMS: </a:t>
            </a:r>
            <a:r>
              <a:rPr sz="2400" b="0" i="0">
                <a:solidFill>
                  <a:schemeClr val="tx1"/>
                </a:solidFill>
                <a:latin typeface="Times New Roman" panose="02020603050405020304" charset="0"/>
                <a:cs typeface="Times New Roman" panose="02020603050405020304" charset="0"/>
              </a:rPr>
              <a:t>registration codes go to the server log; real SMS is built in and is one setting away</a:t>
            </a:r>
            <a:endParaRPr sz="2400" b="0" i="0">
              <a:solidFill>
                <a:schemeClr val="tx1"/>
              </a:solidFill>
              <a:latin typeface="Times New Roman" panose="02020603050405020304" charset="0"/>
              <a:cs typeface="Times New Roman" panose="02020603050405020304"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gradFill>
          <a:gsLst>
            <a:gs pos="50000">
              <a:schemeClr val="accent3"/>
            </a:gs>
            <a:gs pos="0">
              <a:schemeClr val="accent3">
                <a:lumMod val="25000"/>
                <a:lumOff val="75000"/>
              </a:schemeClr>
            </a:gs>
            <a:gs pos="100000">
              <a:schemeClr val="accent3">
                <a:lumMod val="85000"/>
              </a:schemeClr>
            </a:gs>
          </a:gsLst>
          <a:lin ang="5400000" scaled="1"/>
        </a:gradFill>
        <a:effectLst/>
      </p:bgPr>
    </p:bg>
    <p:spTree>
      <p:nvGrpSpPr>
        <p:cNvPr id="1" name=""/>
        <p:cNvGrpSpPr/>
        <p:nvPr/>
      </p:nvGrpSpPr>
      <p:grpSpPr>
        <a:xfrm>
          <a:off x="0" y="0"/>
          <a:ext cx="0" cy="0"/>
          <a:chOff x="0" y="0"/>
          <a:chExt cx="0" cy="0"/>
        </a:xfrm>
      </p:grpSpPr>
      <p:sp>
        <p:nvSpPr>
          <p:cNvPr id="2" name="TextBox 1"/>
          <p:cNvSpPr txBox="1"/>
          <p:nvPr/>
        </p:nvSpPr>
        <p:spPr>
          <a:xfrm>
            <a:off x="4094163" y="48260"/>
            <a:ext cx="2610485" cy="1014730"/>
          </a:xfrm>
          <a:prstGeom prst="rect">
            <a:avLst/>
          </a:prstGeom>
          <a:noFill/>
        </p:spPr>
        <p:txBody>
          <a:bodyPr wrap="none">
            <a:spAutoFit/>
          </a:bodyPr>
          <a:lstStyle/>
          <a:p>
            <a:pPr algn="ctr">
              <a:lnSpc>
                <a:spcPct val="150000"/>
              </a:lnSpc>
              <a:defRPr sz="2800" b="1">
                <a:solidFill>
                  <a:srgbClr val="192D4B"/>
                </a:solidFill>
              </a:defRPr>
            </a:pPr>
            <a:r>
              <a:rPr sz="4000">
                <a:solidFill>
                  <a:schemeClr val="tx1"/>
                </a:solidFill>
                <a:latin typeface="Times New Roman" panose="02020603050405020304" charset="0"/>
                <a:cs typeface="Times New Roman" panose="02020603050405020304" charset="0"/>
              </a:rPr>
              <a:t>Conclusion</a:t>
            </a:r>
            <a:endParaRPr sz="4000" dirty="0">
              <a:solidFill>
                <a:schemeClr val="tx1"/>
              </a:solidFill>
              <a:latin typeface="Times New Roman" panose="02020603050405020304" charset="0"/>
              <a:cs typeface="Times New Roman" panose="02020603050405020304" charset="0"/>
            </a:endParaRPr>
          </a:p>
        </p:txBody>
      </p:sp>
      <p:sp>
        <p:nvSpPr>
          <p:cNvPr id="4" name="Rectangle 3"/>
          <p:cNvSpPr/>
          <p:nvPr/>
        </p:nvSpPr>
        <p:spPr>
          <a:xfrm>
            <a:off x="0" y="6565392"/>
            <a:ext cx="12191695" cy="292608"/>
          </a:xfrm>
          <a:prstGeom prst="rect">
            <a:avLst/>
          </a:prstGeom>
          <a:solidFill>
            <a:schemeClr val="accent3">
              <a:lumMod val="5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50000"/>
              </a:lnSpc>
            </a:pPr>
            <a:endParaRPr>
              <a:solidFill>
                <a:schemeClr val="tx1"/>
              </a:solidFill>
              <a:latin typeface="Times New Roman" panose="02020603050405020304" charset="0"/>
              <a:cs typeface="Times New Roman" panose="02020603050405020304" charset="0"/>
            </a:endParaRPr>
          </a:p>
        </p:txBody>
      </p:sp>
      <p:sp>
        <p:nvSpPr>
          <p:cNvPr id="5" name="TextBox 4"/>
          <p:cNvSpPr txBox="1"/>
          <p:nvPr/>
        </p:nvSpPr>
        <p:spPr>
          <a:xfrm>
            <a:off x="320040" y="6574536"/>
            <a:ext cx="2426335" cy="299085"/>
          </a:xfrm>
          <a:prstGeom prst="rect">
            <a:avLst/>
          </a:prstGeom>
          <a:gradFill>
            <a:gsLst>
              <a:gs pos="50000">
                <a:schemeClr val="accent2"/>
              </a:gs>
              <a:gs pos="0">
                <a:schemeClr val="accent2">
                  <a:lumMod val="25000"/>
                  <a:lumOff val="75000"/>
                </a:schemeClr>
              </a:gs>
              <a:gs pos="100000">
                <a:schemeClr val="accent2">
                  <a:lumMod val="85000"/>
                </a:schemeClr>
              </a:gs>
            </a:gsLst>
            <a:lin ang="5400000" scaled="1"/>
          </a:gradFill>
        </p:spPr>
        <p:txBody>
          <a:bodyPr wrap="none">
            <a:spAutoFit/>
          </a:bodyPr>
          <a:lstStyle/>
          <a:p>
            <a:pPr>
              <a:lnSpc>
                <a:spcPct val="150000"/>
              </a:lnSpc>
              <a:defRPr sz="900">
                <a:solidFill>
                  <a:srgbClr val="FFFFFF"/>
                </a:solidFill>
              </a:defRPr>
            </a:pPr>
            <a:r>
              <a:rPr b="1" dirty="0">
                <a:solidFill>
                  <a:schemeClr val="tx1"/>
                </a:solidFill>
                <a:latin typeface="Times New Roman" panose="02020603050405020304" charset="0"/>
                <a:cs typeface="Times New Roman" panose="02020603050405020304" charset="0"/>
              </a:rPr>
              <a:t>Final Year Project • Academic Year 2026    15</a:t>
            </a:r>
            <a:endParaRPr b="1" dirty="0">
              <a:solidFill>
                <a:schemeClr val="tx1"/>
              </a:solidFill>
              <a:latin typeface="Times New Roman" panose="02020603050405020304" charset="0"/>
              <a:cs typeface="Times New Roman" panose="02020603050405020304" charset="0"/>
            </a:endParaRPr>
          </a:p>
        </p:txBody>
      </p:sp>
      <p:sp>
        <p:nvSpPr>
          <p:cNvPr id="6" name="TextBox 5"/>
          <p:cNvSpPr txBox="1"/>
          <p:nvPr/>
        </p:nvSpPr>
        <p:spPr>
          <a:xfrm>
            <a:off x="731520" y="1188720"/>
            <a:ext cx="5852160" cy="608330"/>
          </a:xfrm>
          <a:prstGeom prst="rect">
            <a:avLst/>
          </a:prstGeom>
          <a:noFill/>
        </p:spPr>
        <p:txBody>
          <a:bodyPr wrap="square" lIns="45720" tIns="27432" rIns="45720" bIns="27432" anchor="t">
            <a:spAutoFit/>
          </a:bodyPr>
          <a:lstStyle/>
          <a:p>
            <a:pPr algn="l">
              <a:lnSpc>
                <a:spcPct val="150000"/>
              </a:lnSpc>
              <a:spcAft>
                <a:spcPts val="600"/>
              </a:spcAft>
            </a:pPr>
            <a:r>
              <a:rPr sz="2400" b="1" i="0">
                <a:solidFill>
                  <a:schemeClr val="tx1"/>
                </a:solidFill>
                <a:latin typeface="Times New Roman" panose="02020603050405020304" charset="0"/>
                <a:cs typeface="Times New Roman" panose="02020603050405020304" charset="0"/>
              </a:rPr>
              <a:t>Objectives</a:t>
            </a:r>
            <a:endParaRPr sz="2400" b="1" i="0">
              <a:solidFill>
                <a:schemeClr val="tx1"/>
              </a:solidFill>
              <a:latin typeface="Times New Roman" panose="02020603050405020304" charset="0"/>
              <a:cs typeface="Times New Roman" panose="02020603050405020304" charset="0"/>
            </a:endParaRPr>
          </a:p>
        </p:txBody>
      </p:sp>
      <p:sp>
        <p:nvSpPr>
          <p:cNvPr id="7" name="TextBox 6"/>
          <p:cNvSpPr txBox="1"/>
          <p:nvPr/>
        </p:nvSpPr>
        <p:spPr>
          <a:xfrm>
            <a:off x="731520" y="1753870"/>
            <a:ext cx="4206240" cy="469900"/>
          </a:xfrm>
          <a:prstGeom prst="rect">
            <a:avLst/>
          </a:prstGeom>
          <a:noFill/>
        </p:spPr>
        <p:txBody>
          <a:bodyPr wrap="square" lIns="45720" tIns="27432" rIns="45720" bIns="27432" anchor="ctr">
            <a:spAutoFit/>
          </a:bodyPr>
          <a:lstStyle/>
          <a:p>
            <a:pPr algn="l">
              <a:lnSpc>
                <a:spcPct val="150000"/>
              </a:lnSpc>
              <a:spcAft>
                <a:spcPts val="600"/>
              </a:spcAft>
            </a:pPr>
            <a:r>
              <a:rPr b="1" i="0">
                <a:solidFill>
                  <a:schemeClr val="tx1"/>
                </a:solidFill>
                <a:latin typeface="Times New Roman" panose="02020603050405020304" charset="0"/>
                <a:cs typeface="Times New Roman" panose="02020603050405020304" charset="0"/>
              </a:rPr>
              <a:t>1. Discovery and filters</a:t>
            </a:r>
            <a:endParaRPr b="1" i="0">
              <a:solidFill>
                <a:schemeClr val="tx1"/>
              </a:solidFill>
              <a:latin typeface="Times New Roman" panose="02020603050405020304" charset="0"/>
              <a:cs typeface="Times New Roman" panose="02020603050405020304" charset="0"/>
            </a:endParaRPr>
          </a:p>
        </p:txBody>
      </p:sp>
      <p:sp>
        <p:nvSpPr>
          <p:cNvPr id="8" name="Rounded Rectangle 7"/>
          <p:cNvSpPr/>
          <p:nvPr/>
        </p:nvSpPr>
        <p:spPr>
          <a:xfrm>
            <a:off x="4937760" y="1810512"/>
            <a:ext cx="1463040" cy="347472"/>
          </a:xfrm>
          <a:prstGeom prst="roundRect">
            <a:avLst>
              <a:gd name="adj" fmla="val 50000"/>
            </a:avLst>
          </a:prstGeom>
          <a:solidFill>
            <a:srgbClr val="E3F2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50000"/>
              </a:lnSpc>
            </a:pPr>
            <a:endParaRPr>
              <a:solidFill>
                <a:schemeClr val="tx1"/>
              </a:solidFill>
              <a:latin typeface="Times New Roman" panose="02020603050405020304" charset="0"/>
              <a:cs typeface="Times New Roman" panose="02020603050405020304" charset="0"/>
            </a:endParaRPr>
          </a:p>
        </p:txBody>
      </p:sp>
      <p:sp>
        <p:nvSpPr>
          <p:cNvPr id="9" name="TextBox 8"/>
          <p:cNvSpPr txBox="1"/>
          <p:nvPr/>
        </p:nvSpPr>
        <p:spPr>
          <a:xfrm>
            <a:off x="4937760" y="1772475"/>
            <a:ext cx="1463040" cy="423545"/>
          </a:xfrm>
          <a:prstGeom prst="rect">
            <a:avLst/>
          </a:prstGeom>
          <a:solidFill>
            <a:schemeClr val="accent3">
              <a:lumMod val="40000"/>
              <a:lumOff val="60000"/>
            </a:schemeClr>
          </a:solidFill>
        </p:spPr>
        <p:txBody>
          <a:bodyPr wrap="square" lIns="45720" tIns="27432" rIns="45720" bIns="27432" anchor="ctr">
            <a:spAutoFit/>
          </a:bodyPr>
          <a:lstStyle/>
          <a:p>
            <a:pPr algn="ctr">
              <a:lnSpc>
                <a:spcPct val="150000"/>
              </a:lnSpc>
              <a:spcAft>
                <a:spcPts val="0"/>
              </a:spcAft>
            </a:pPr>
            <a:r>
              <a:rPr sz="1600" b="1" i="0">
                <a:solidFill>
                  <a:schemeClr val="tx1"/>
                </a:solidFill>
                <a:latin typeface="Times New Roman" panose="02020603050405020304" charset="0"/>
                <a:cs typeface="Times New Roman" panose="02020603050405020304" charset="0"/>
              </a:rPr>
              <a:t>Achieved</a:t>
            </a:r>
            <a:endParaRPr sz="1600" b="1" i="0">
              <a:solidFill>
                <a:schemeClr val="tx1"/>
              </a:solidFill>
              <a:latin typeface="Times New Roman" panose="02020603050405020304" charset="0"/>
              <a:cs typeface="Times New Roman" panose="02020603050405020304" charset="0"/>
            </a:endParaRPr>
          </a:p>
        </p:txBody>
      </p:sp>
      <p:sp>
        <p:nvSpPr>
          <p:cNvPr id="10" name="TextBox 9"/>
          <p:cNvSpPr txBox="1"/>
          <p:nvPr/>
        </p:nvSpPr>
        <p:spPr>
          <a:xfrm>
            <a:off x="731520" y="2389060"/>
            <a:ext cx="4206240" cy="516255"/>
          </a:xfrm>
          <a:prstGeom prst="rect">
            <a:avLst/>
          </a:prstGeom>
          <a:noFill/>
        </p:spPr>
        <p:txBody>
          <a:bodyPr wrap="square" lIns="45720" tIns="27432" rIns="45720" bIns="27432" anchor="ctr">
            <a:spAutoFit/>
          </a:bodyPr>
          <a:lstStyle/>
          <a:p>
            <a:pPr algn="l">
              <a:lnSpc>
                <a:spcPct val="150000"/>
              </a:lnSpc>
              <a:spcAft>
                <a:spcPts val="600"/>
              </a:spcAft>
            </a:pPr>
            <a:r>
              <a:rPr sz="2000" b="1" i="0">
                <a:solidFill>
                  <a:schemeClr val="tx1"/>
                </a:solidFill>
                <a:latin typeface="Times New Roman" panose="02020603050405020304" charset="0"/>
                <a:cs typeface="Times New Roman" panose="02020603050405020304" charset="0"/>
              </a:rPr>
              <a:t>2. English voice listing</a:t>
            </a:r>
            <a:endParaRPr sz="2000" b="1" i="0">
              <a:solidFill>
                <a:schemeClr val="tx1"/>
              </a:solidFill>
              <a:latin typeface="Times New Roman" panose="02020603050405020304" charset="0"/>
              <a:cs typeface="Times New Roman" panose="02020603050405020304" charset="0"/>
            </a:endParaRPr>
          </a:p>
        </p:txBody>
      </p:sp>
      <p:sp>
        <p:nvSpPr>
          <p:cNvPr id="11" name="Rounded Rectangle 10"/>
          <p:cNvSpPr/>
          <p:nvPr/>
        </p:nvSpPr>
        <p:spPr>
          <a:xfrm>
            <a:off x="4937760" y="2468880"/>
            <a:ext cx="1463040" cy="347472"/>
          </a:xfrm>
          <a:prstGeom prst="roundRect">
            <a:avLst>
              <a:gd name="adj" fmla="val 50000"/>
            </a:avLst>
          </a:prstGeom>
          <a:solidFill>
            <a:srgbClr val="E3F2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50000"/>
              </a:lnSpc>
            </a:pPr>
            <a:endParaRPr>
              <a:solidFill>
                <a:schemeClr val="tx1"/>
              </a:solidFill>
              <a:latin typeface="Times New Roman" panose="02020603050405020304" charset="0"/>
              <a:cs typeface="Times New Roman" panose="02020603050405020304" charset="0"/>
            </a:endParaRPr>
          </a:p>
        </p:txBody>
      </p:sp>
      <p:sp>
        <p:nvSpPr>
          <p:cNvPr id="12" name="TextBox 11"/>
          <p:cNvSpPr txBox="1"/>
          <p:nvPr/>
        </p:nvSpPr>
        <p:spPr>
          <a:xfrm>
            <a:off x="4937760" y="2430844"/>
            <a:ext cx="1463040" cy="423545"/>
          </a:xfrm>
          <a:prstGeom prst="rect">
            <a:avLst/>
          </a:prstGeom>
          <a:solidFill>
            <a:schemeClr val="accent3">
              <a:lumMod val="40000"/>
              <a:lumOff val="60000"/>
            </a:schemeClr>
          </a:solidFill>
        </p:spPr>
        <p:txBody>
          <a:bodyPr wrap="square" lIns="45720" tIns="27432" rIns="45720" bIns="27432" anchor="ctr">
            <a:spAutoFit/>
          </a:bodyPr>
          <a:lstStyle/>
          <a:p>
            <a:pPr algn="ctr">
              <a:lnSpc>
                <a:spcPct val="150000"/>
              </a:lnSpc>
              <a:spcAft>
                <a:spcPts val="0"/>
              </a:spcAft>
            </a:pPr>
            <a:r>
              <a:rPr sz="1600" b="1" i="0">
                <a:solidFill>
                  <a:schemeClr val="tx1"/>
                </a:solidFill>
                <a:latin typeface="Times New Roman" panose="02020603050405020304" charset="0"/>
                <a:cs typeface="Times New Roman" panose="02020603050405020304" charset="0"/>
              </a:rPr>
              <a:t>Achieved</a:t>
            </a:r>
            <a:endParaRPr sz="1600" b="1" i="0">
              <a:solidFill>
                <a:schemeClr val="tx1"/>
              </a:solidFill>
              <a:latin typeface="Times New Roman" panose="02020603050405020304" charset="0"/>
              <a:cs typeface="Times New Roman" panose="02020603050405020304" charset="0"/>
            </a:endParaRPr>
          </a:p>
        </p:txBody>
      </p:sp>
      <p:sp>
        <p:nvSpPr>
          <p:cNvPr id="13" name="TextBox 12"/>
          <p:cNvSpPr txBox="1"/>
          <p:nvPr/>
        </p:nvSpPr>
        <p:spPr>
          <a:xfrm>
            <a:off x="731520" y="3047429"/>
            <a:ext cx="4206240" cy="516255"/>
          </a:xfrm>
          <a:prstGeom prst="rect">
            <a:avLst/>
          </a:prstGeom>
          <a:noFill/>
        </p:spPr>
        <p:txBody>
          <a:bodyPr wrap="square" lIns="45720" tIns="27432" rIns="45720" bIns="27432" anchor="ctr">
            <a:spAutoFit/>
          </a:bodyPr>
          <a:lstStyle/>
          <a:p>
            <a:pPr algn="l">
              <a:lnSpc>
                <a:spcPct val="150000"/>
              </a:lnSpc>
              <a:spcAft>
                <a:spcPts val="600"/>
              </a:spcAft>
            </a:pPr>
            <a:r>
              <a:rPr sz="2000" b="1" i="0">
                <a:solidFill>
                  <a:schemeClr val="tx1"/>
                </a:solidFill>
                <a:latin typeface="Times New Roman" panose="02020603050405020304" charset="0"/>
                <a:cs typeface="Times New Roman" panose="02020603050405020304" charset="0"/>
              </a:rPr>
              <a:t>3. Tamper-evident trust score</a:t>
            </a:r>
            <a:endParaRPr sz="2000" b="1" i="0">
              <a:solidFill>
                <a:schemeClr val="tx1"/>
              </a:solidFill>
              <a:latin typeface="Times New Roman" panose="02020603050405020304" charset="0"/>
              <a:cs typeface="Times New Roman" panose="02020603050405020304" charset="0"/>
            </a:endParaRPr>
          </a:p>
        </p:txBody>
      </p:sp>
      <p:sp>
        <p:nvSpPr>
          <p:cNvPr id="14" name="Rounded Rectangle 13"/>
          <p:cNvSpPr/>
          <p:nvPr/>
        </p:nvSpPr>
        <p:spPr>
          <a:xfrm>
            <a:off x="4937760" y="3127248"/>
            <a:ext cx="1463040" cy="347472"/>
          </a:xfrm>
          <a:prstGeom prst="roundRect">
            <a:avLst>
              <a:gd name="adj" fmla="val 50000"/>
            </a:avLst>
          </a:prstGeom>
          <a:solidFill>
            <a:srgbClr val="E3F2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50000"/>
              </a:lnSpc>
            </a:pPr>
            <a:endParaRPr>
              <a:solidFill>
                <a:schemeClr val="tx1"/>
              </a:solidFill>
              <a:latin typeface="Times New Roman" panose="02020603050405020304" charset="0"/>
              <a:cs typeface="Times New Roman" panose="02020603050405020304" charset="0"/>
            </a:endParaRPr>
          </a:p>
        </p:txBody>
      </p:sp>
      <p:sp>
        <p:nvSpPr>
          <p:cNvPr id="15" name="TextBox 14"/>
          <p:cNvSpPr txBox="1"/>
          <p:nvPr/>
        </p:nvSpPr>
        <p:spPr>
          <a:xfrm>
            <a:off x="4937760" y="3089212"/>
            <a:ext cx="1463040" cy="423545"/>
          </a:xfrm>
          <a:prstGeom prst="rect">
            <a:avLst/>
          </a:prstGeom>
          <a:solidFill>
            <a:schemeClr val="accent3">
              <a:lumMod val="40000"/>
              <a:lumOff val="60000"/>
            </a:schemeClr>
          </a:solidFill>
        </p:spPr>
        <p:txBody>
          <a:bodyPr wrap="square" lIns="45720" tIns="27432" rIns="45720" bIns="27432" anchor="ctr">
            <a:spAutoFit/>
          </a:bodyPr>
          <a:lstStyle/>
          <a:p>
            <a:pPr algn="ctr">
              <a:lnSpc>
                <a:spcPct val="150000"/>
              </a:lnSpc>
              <a:spcAft>
                <a:spcPts val="0"/>
              </a:spcAft>
            </a:pPr>
            <a:r>
              <a:rPr sz="1600" b="1" i="0">
                <a:solidFill>
                  <a:schemeClr val="tx1"/>
                </a:solidFill>
                <a:latin typeface="Times New Roman" panose="02020603050405020304" charset="0"/>
                <a:cs typeface="Times New Roman" panose="02020603050405020304" charset="0"/>
              </a:rPr>
              <a:t>Achieved</a:t>
            </a:r>
            <a:endParaRPr sz="1600" b="1" i="0">
              <a:solidFill>
                <a:schemeClr val="tx1"/>
              </a:solidFill>
              <a:latin typeface="Times New Roman" panose="02020603050405020304" charset="0"/>
              <a:cs typeface="Times New Roman" panose="02020603050405020304" charset="0"/>
            </a:endParaRPr>
          </a:p>
        </p:txBody>
      </p:sp>
      <p:sp>
        <p:nvSpPr>
          <p:cNvPr id="16" name="TextBox 15"/>
          <p:cNvSpPr txBox="1"/>
          <p:nvPr/>
        </p:nvSpPr>
        <p:spPr>
          <a:xfrm>
            <a:off x="731520" y="3705797"/>
            <a:ext cx="4206240" cy="516255"/>
          </a:xfrm>
          <a:prstGeom prst="rect">
            <a:avLst/>
          </a:prstGeom>
          <a:noFill/>
        </p:spPr>
        <p:txBody>
          <a:bodyPr wrap="square" lIns="45720" tIns="27432" rIns="45720" bIns="27432" anchor="ctr">
            <a:spAutoFit/>
          </a:bodyPr>
          <a:lstStyle/>
          <a:p>
            <a:pPr algn="l">
              <a:lnSpc>
                <a:spcPct val="150000"/>
              </a:lnSpc>
              <a:spcAft>
                <a:spcPts val="600"/>
              </a:spcAft>
            </a:pPr>
            <a:r>
              <a:rPr sz="2000" b="1" i="0">
                <a:solidFill>
                  <a:schemeClr val="tx1"/>
                </a:solidFill>
                <a:latin typeface="Times New Roman" panose="02020603050405020304" charset="0"/>
                <a:cs typeface="Times New Roman" panose="02020603050405020304" charset="0"/>
              </a:rPr>
              <a:t>4. Messaging and offline support</a:t>
            </a:r>
            <a:endParaRPr sz="2000" b="1" i="0">
              <a:solidFill>
                <a:schemeClr val="tx1"/>
              </a:solidFill>
              <a:latin typeface="Times New Roman" panose="02020603050405020304" charset="0"/>
              <a:cs typeface="Times New Roman" panose="02020603050405020304" charset="0"/>
            </a:endParaRPr>
          </a:p>
        </p:txBody>
      </p:sp>
      <p:sp>
        <p:nvSpPr>
          <p:cNvPr id="17" name="Rounded Rectangle 16"/>
          <p:cNvSpPr/>
          <p:nvPr/>
        </p:nvSpPr>
        <p:spPr>
          <a:xfrm>
            <a:off x="4937760" y="3785616"/>
            <a:ext cx="1463040" cy="347472"/>
          </a:xfrm>
          <a:prstGeom prst="roundRect">
            <a:avLst>
              <a:gd name="adj" fmla="val 50000"/>
            </a:avLst>
          </a:prstGeom>
          <a:solidFill>
            <a:srgbClr val="E3F2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50000"/>
              </a:lnSpc>
            </a:pPr>
            <a:endParaRPr>
              <a:solidFill>
                <a:schemeClr val="tx1"/>
              </a:solidFill>
              <a:latin typeface="Times New Roman" panose="02020603050405020304" charset="0"/>
              <a:cs typeface="Times New Roman" panose="02020603050405020304" charset="0"/>
            </a:endParaRPr>
          </a:p>
        </p:txBody>
      </p:sp>
      <p:sp>
        <p:nvSpPr>
          <p:cNvPr id="18" name="TextBox 17"/>
          <p:cNvSpPr txBox="1"/>
          <p:nvPr/>
        </p:nvSpPr>
        <p:spPr>
          <a:xfrm>
            <a:off x="4937760" y="3747580"/>
            <a:ext cx="1463040" cy="423545"/>
          </a:xfrm>
          <a:prstGeom prst="rect">
            <a:avLst/>
          </a:prstGeom>
          <a:solidFill>
            <a:schemeClr val="accent3">
              <a:lumMod val="40000"/>
              <a:lumOff val="60000"/>
            </a:schemeClr>
          </a:solidFill>
        </p:spPr>
        <p:txBody>
          <a:bodyPr wrap="square" lIns="45720" tIns="27432" rIns="45720" bIns="27432" anchor="ctr">
            <a:spAutoFit/>
          </a:bodyPr>
          <a:lstStyle/>
          <a:p>
            <a:pPr algn="ctr">
              <a:lnSpc>
                <a:spcPct val="150000"/>
              </a:lnSpc>
              <a:spcAft>
                <a:spcPts val="0"/>
              </a:spcAft>
            </a:pPr>
            <a:r>
              <a:rPr sz="1600" b="1" i="0">
                <a:solidFill>
                  <a:schemeClr val="tx1"/>
                </a:solidFill>
                <a:latin typeface="Times New Roman" panose="02020603050405020304" charset="0"/>
                <a:cs typeface="Times New Roman" panose="02020603050405020304" charset="0"/>
              </a:rPr>
              <a:t>Achieved</a:t>
            </a:r>
            <a:endParaRPr sz="1600" b="1" i="0">
              <a:solidFill>
                <a:schemeClr val="tx1"/>
              </a:solidFill>
              <a:latin typeface="Times New Roman" panose="02020603050405020304" charset="0"/>
              <a:cs typeface="Times New Roman" panose="02020603050405020304" charset="0"/>
            </a:endParaRPr>
          </a:p>
        </p:txBody>
      </p:sp>
      <p:sp>
        <p:nvSpPr>
          <p:cNvPr id="19" name="TextBox 18"/>
          <p:cNvSpPr txBox="1"/>
          <p:nvPr/>
        </p:nvSpPr>
        <p:spPr>
          <a:xfrm>
            <a:off x="731520" y="4364164"/>
            <a:ext cx="4206240" cy="516255"/>
          </a:xfrm>
          <a:prstGeom prst="rect">
            <a:avLst/>
          </a:prstGeom>
          <a:noFill/>
        </p:spPr>
        <p:txBody>
          <a:bodyPr wrap="square" lIns="45720" tIns="27432" rIns="45720" bIns="27432" anchor="ctr">
            <a:spAutoFit/>
          </a:bodyPr>
          <a:lstStyle/>
          <a:p>
            <a:pPr algn="l">
              <a:lnSpc>
                <a:spcPct val="150000"/>
              </a:lnSpc>
              <a:spcAft>
                <a:spcPts val="600"/>
              </a:spcAft>
            </a:pPr>
            <a:r>
              <a:rPr sz="2000" b="1" i="0">
                <a:solidFill>
                  <a:schemeClr val="tx1"/>
                </a:solidFill>
                <a:latin typeface="Times New Roman" panose="02020603050405020304" charset="0"/>
                <a:cs typeface="Times New Roman" panose="02020603050405020304" charset="0"/>
              </a:rPr>
              <a:t>5. Evaluation (user study pending)</a:t>
            </a:r>
            <a:endParaRPr sz="2000" b="1" i="0">
              <a:solidFill>
                <a:schemeClr val="tx1"/>
              </a:solidFill>
              <a:latin typeface="Times New Roman" panose="02020603050405020304" charset="0"/>
              <a:cs typeface="Times New Roman" panose="02020603050405020304" charset="0"/>
            </a:endParaRPr>
          </a:p>
        </p:txBody>
      </p:sp>
      <p:sp>
        <p:nvSpPr>
          <p:cNvPr id="20" name="Rounded Rectangle 19"/>
          <p:cNvSpPr/>
          <p:nvPr/>
        </p:nvSpPr>
        <p:spPr>
          <a:xfrm>
            <a:off x="4937760" y="4443983"/>
            <a:ext cx="1463040" cy="347472"/>
          </a:xfrm>
          <a:prstGeom prst="roundRect">
            <a:avLst>
              <a:gd name="adj" fmla="val 50000"/>
            </a:avLst>
          </a:prstGeom>
          <a:solidFill>
            <a:srgbClr val="FDF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50000"/>
              </a:lnSpc>
            </a:pPr>
            <a:endParaRPr>
              <a:solidFill>
                <a:schemeClr val="tx1"/>
              </a:solidFill>
              <a:latin typeface="Times New Roman" panose="02020603050405020304" charset="0"/>
              <a:cs typeface="Times New Roman" panose="02020603050405020304" charset="0"/>
            </a:endParaRPr>
          </a:p>
        </p:txBody>
      </p:sp>
      <p:sp>
        <p:nvSpPr>
          <p:cNvPr id="21" name="TextBox 20"/>
          <p:cNvSpPr txBox="1"/>
          <p:nvPr/>
        </p:nvSpPr>
        <p:spPr>
          <a:xfrm>
            <a:off x="4937760" y="4405947"/>
            <a:ext cx="1463040" cy="423545"/>
          </a:xfrm>
          <a:prstGeom prst="rect">
            <a:avLst/>
          </a:prstGeom>
          <a:solidFill>
            <a:schemeClr val="accent3">
              <a:lumMod val="40000"/>
              <a:lumOff val="60000"/>
            </a:schemeClr>
          </a:solidFill>
        </p:spPr>
        <p:txBody>
          <a:bodyPr wrap="square" lIns="45720" tIns="27432" rIns="45720" bIns="27432" anchor="ctr">
            <a:spAutoFit/>
          </a:bodyPr>
          <a:lstStyle/>
          <a:p>
            <a:pPr algn="ctr">
              <a:lnSpc>
                <a:spcPct val="150000"/>
              </a:lnSpc>
              <a:spcAft>
                <a:spcPts val="0"/>
              </a:spcAft>
            </a:pPr>
            <a:r>
              <a:rPr sz="1600" b="1" i="0">
                <a:solidFill>
                  <a:schemeClr val="tx1"/>
                </a:solidFill>
                <a:latin typeface="Times New Roman" panose="02020603050405020304" charset="0"/>
                <a:cs typeface="Times New Roman" panose="02020603050405020304" charset="0"/>
              </a:rPr>
              <a:t>Partly</a:t>
            </a:r>
            <a:endParaRPr sz="1600" b="1" i="0">
              <a:solidFill>
                <a:schemeClr val="tx1"/>
              </a:solidFill>
              <a:latin typeface="Times New Roman" panose="02020603050405020304" charset="0"/>
              <a:cs typeface="Times New Roman" panose="02020603050405020304" charset="0"/>
            </a:endParaRPr>
          </a:p>
        </p:txBody>
      </p:sp>
      <p:sp>
        <p:nvSpPr>
          <p:cNvPr id="22" name="Rounded Rectangle 21"/>
          <p:cNvSpPr/>
          <p:nvPr/>
        </p:nvSpPr>
        <p:spPr>
          <a:xfrm>
            <a:off x="6949440" y="1188720"/>
            <a:ext cx="4572000" cy="3611880"/>
          </a:xfrm>
          <a:prstGeom prst="roundRect">
            <a:avLst>
              <a:gd name="adj" fmla="val 8000"/>
            </a:avLst>
          </a:prstGeom>
          <a:solidFill>
            <a:schemeClr val="accent3">
              <a:lumMod val="40000"/>
              <a:lumOff val="6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50000"/>
              </a:lnSpc>
            </a:pPr>
            <a:endParaRPr>
              <a:solidFill>
                <a:schemeClr val="tx1"/>
              </a:solidFill>
              <a:latin typeface="Times New Roman" panose="02020603050405020304" charset="0"/>
              <a:cs typeface="Times New Roman" panose="02020603050405020304" charset="0"/>
            </a:endParaRPr>
          </a:p>
        </p:txBody>
      </p:sp>
      <p:sp>
        <p:nvSpPr>
          <p:cNvPr id="23" name="TextBox 22"/>
          <p:cNvSpPr txBox="1"/>
          <p:nvPr/>
        </p:nvSpPr>
        <p:spPr>
          <a:xfrm>
            <a:off x="7132320" y="1325880"/>
            <a:ext cx="4206240" cy="608330"/>
          </a:xfrm>
          <a:prstGeom prst="rect">
            <a:avLst/>
          </a:prstGeom>
          <a:noFill/>
        </p:spPr>
        <p:txBody>
          <a:bodyPr wrap="square" lIns="45720" tIns="27432" rIns="45720" bIns="27432" anchor="t">
            <a:spAutoFit/>
          </a:bodyPr>
          <a:lstStyle/>
          <a:p>
            <a:pPr algn="l">
              <a:lnSpc>
                <a:spcPct val="150000"/>
              </a:lnSpc>
              <a:spcAft>
                <a:spcPts val="600"/>
              </a:spcAft>
            </a:pPr>
            <a:r>
              <a:rPr sz="2400" b="1" i="0">
                <a:solidFill>
                  <a:schemeClr val="tx1"/>
                </a:solidFill>
                <a:latin typeface="Times New Roman" panose="02020603050405020304" charset="0"/>
                <a:cs typeface="Times New Roman" panose="02020603050405020304" charset="0"/>
              </a:rPr>
              <a:t>Next steps</a:t>
            </a:r>
            <a:endParaRPr sz="2400" b="1" i="0">
              <a:solidFill>
                <a:schemeClr val="tx1"/>
              </a:solidFill>
              <a:latin typeface="Times New Roman" panose="02020603050405020304" charset="0"/>
              <a:cs typeface="Times New Roman" panose="02020603050405020304" charset="0"/>
            </a:endParaRPr>
          </a:p>
        </p:txBody>
      </p:sp>
      <p:sp>
        <p:nvSpPr>
          <p:cNvPr id="24" name="TextBox 23"/>
          <p:cNvSpPr txBox="1"/>
          <p:nvPr/>
        </p:nvSpPr>
        <p:spPr>
          <a:xfrm>
            <a:off x="7132320" y="1783080"/>
            <a:ext cx="4206240" cy="2324100"/>
          </a:xfrm>
          <a:prstGeom prst="rect">
            <a:avLst/>
          </a:prstGeom>
          <a:noFill/>
        </p:spPr>
        <p:txBody>
          <a:bodyPr wrap="square" lIns="45720" tIns="27432" rIns="45720" bIns="27432" anchor="t">
            <a:spAutoFit/>
          </a:bodyPr>
          <a:lstStyle/>
          <a:p>
            <a:pPr algn="l">
              <a:lnSpc>
                <a:spcPct val="150000"/>
              </a:lnSpc>
              <a:spcAft>
                <a:spcPts val="500"/>
              </a:spcAft>
            </a:pPr>
            <a:r>
              <a:rPr b="1" i="0">
                <a:solidFill>
                  <a:schemeClr val="tx1"/>
                </a:solidFill>
                <a:latin typeface="Times New Roman" panose="02020603050405020304" charset="0"/>
                <a:cs typeface="Times New Roman" panose="02020603050405020304" charset="0"/>
              </a:rPr>
              <a:t>1. Usability study with sellers and buyers</a:t>
            </a:r>
            <a:endParaRPr b="1" i="0">
              <a:solidFill>
                <a:schemeClr val="tx1"/>
              </a:solidFill>
              <a:latin typeface="Times New Roman" panose="02020603050405020304" charset="0"/>
              <a:cs typeface="Times New Roman" panose="02020603050405020304" charset="0"/>
            </a:endParaRPr>
          </a:p>
          <a:p>
            <a:pPr algn="l">
              <a:lnSpc>
                <a:spcPct val="150000"/>
              </a:lnSpc>
              <a:spcAft>
                <a:spcPts val="500"/>
              </a:spcAft>
            </a:pPr>
            <a:r>
              <a:rPr b="1" i="0">
                <a:solidFill>
                  <a:schemeClr val="tx1"/>
                </a:solidFill>
                <a:latin typeface="Times New Roman" panose="02020603050405020304" charset="0"/>
                <a:cs typeface="Times New Roman" panose="02020603050405020304" charset="0"/>
              </a:rPr>
              <a:t>2. Switch on real SMS (Africa's Talking)</a:t>
            </a:r>
            <a:endParaRPr b="1" i="0">
              <a:solidFill>
                <a:schemeClr val="tx1"/>
              </a:solidFill>
              <a:latin typeface="Times New Roman" panose="02020603050405020304" charset="0"/>
              <a:cs typeface="Times New Roman" panose="02020603050405020304" charset="0"/>
            </a:endParaRPr>
          </a:p>
          <a:p>
            <a:pPr algn="l">
              <a:lnSpc>
                <a:spcPct val="150000"/>
              </a:lnSpc>
              <a:spcAft>
                <a:spcPts val="500"/>
              </a:spcAft>
            </a:pPr>
            <a:r>
              <a:rPr b="1" i="0">
                <a:solidFill>
                  <a:schemeClr val="tx1"/>
                </a:solidFill>
                <a:latin typeface="Times New Roman" panose="02020603050405020304" charset="0"/>
                <a:cs typeface="Times New Roman" panose="02020603050405020304" charset="0"/>
              </a:rPr>
              <a:t>3. Anchor the latest hash outside the database</a:t>
            </a:r>
            <a:endParaRPr b="1" i="0">
              <a:solidFill>
                <a:schemeClr val="tx1"/>
              </a:solidFill>
              <a:latin typeface="Times New Roman" panose="02020603050405020304" charset="0"/>
              <a:cs typeface="Times New Roman" panose="02020603050405020304" charset="0"/>
            </a:endParaRPr>
          </a:p>
          <a:p>
            <a:pPr algn="l">
              <a:lnSpc>
                <a:spcPct val="150000"/>
              </a:lnSpc>
              <a:spcAft>
                <a:spcPts val="500"/>
              </a:spcAft>
            </a:pPr>
            <a:r>
              <a:rPr b="1" i="0">
                <a:solidFill>
                  <a:schemeClr val="tx1"/>
                </a:solidFill>
                <a:latin typeface="Times New Roman" panose="02020603050405020304" charset="0"/>
                <a:cs typeface="Times New Roman" panose="02020603050405020304" charset="0"/>
              </a:rPr>
              <a:t>4. Nyanja and Bemba voice input</a:t>
            </a:r>
            <a:endParaRPr b="1" i="0">
              <a:solidFill>
                <a:schemeClr val="tx1"/>
              </a:solidFill>
              <a:latin typeface="Times New Roman" panose="02020603050405020304" charset="0"/>
              <a:cs typeface="Times New Roman" panose="02020603050405020304" charset="0"/>
            </a:endParaRPr>
          </a:p>
        </p:txBody>
      </p:sp>
      <p:sp>
        <p:nvSpPr>
          <p:cNvPr id="25" name="Rounded Rectangle 24"/>
          <p:cNvSpPr/>
          <p:nvPr/>
        </p:nvSpPr>
        <p:spPr>
          <a:xfrm>
            <a:off x="731520" y="5074920"/>
            <a:ext cx="10789920" cy="960120"/>
          </a:xfrm>
          <a:prstGeom prst="roundRect">
            <a:avLst>
              <a:gd name="adj" fmla="val 8000"/>
            </a:avLst>
          </a:prstGeom>
          <a:solidFill>
            <a:schemeClr val="accent3">
              <a:lumMod val="40000"/>
              <a:lumOff val="6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50000"/>
              </a:lnSpc>
            </a:pPr>
            <a:endParaRPr>
              <a:solidFill>
                <a:schemeClr val="tx1"/>
              </a:solidFill>
              <a:latin typeface="Times New Roman" panose="02020603050405020304" charset="0"/>
              <a:cs typeface="Times New Roman" panose="02020603050405020304" charset="0"/>
            </a:endParaRPr>
          </a:p>
        </p:txBody>
      </p:sp>
      <p:sp>
        <p:nvSpPr>
          <p:cNvPr id="26" name="TextBox 25"/>
          <p:cNvSpPr txBox="1"/>
          <p:nvPr/>
        </p:nvSpPr>
        <p:spPr>
          <a:xfrm>
            <a:off x="960120" y="5066030"/>
            <a:ext cx="10332720" cy="977900"/>
          </a:xfrm>
          <a:prstGeom prst="rect">
            <a:avLst/>
          </a:prstGeom>
          <a:solidFill>
            <a:schemeClr val="accent3">
              <a:lumMod val="40000"/>
              <a:lumOff val="60000"/>
            </a:schemeClr>
          </a:solidFill>
        </p:spPr>
        <p:txBody>
          <a:bodyPr wrap="square" lIns="45720" tIns="27432" rIns="45720" bIns="27432" anchor="ctr">
            <a:spAutoFit/>
          </a:bodyPr>
          <a:lstStyle/>
          <a:p>
            <a:pPr algn="ctr">
              <a:lnSpc>
                <a:spcPct val="150000"/>
              </a:lnSpc>
              <a:spcAft>
                <a:spcPts val="600"/>
              </a:spcAft>
            </a:pPr>
            <a:r>
              <a:rPr sz="2000" b="1" i="0">
                <a:solidFill>
                  <a:schemeClr val="tx1"/>
                </a:solidFill>
                <a:latin typeface="Times New Roman" panose="02020603050405020304" charset="0"/>
                <a:cs typeface="Times New Roman" panose="02020603050405020304" charset="0"/>
              </a:rPr>
              <a:t>Verifiable trust for cash traders is possible without online payment, and ZamMarket is live at zam-market-khaki.vercel.app.</a:t>
            </a:r>
            <a:endParaRPr sz="2000" b="1" i="0">
              <a:solidFill>
                <a:schemeClr val="tx1"/>
              </a:solidFill>
              <a:latin typeface="Times New Roman" panose="02020603050405020304" charset="0"/>
              <a:cs typeface="Times New Roman" panose="02020603050405020304"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gradFill>
          <a:gsLst>
            <a:gs pos="50000">
              <a:schemeClr val="accent3"/>
            </a:gs>
            <a:gs pos="0">
              <a:schemeClr val="accent3">
                <a:lumMod val="25000"/>
                <a:lumOff val="75000"/>
              </a:schemeClr>
            </a:gs>
            <a:gs pos="100000">
              <a:schemeClr val="accent3">
                <a:lumMod val="85000"/>
              </a:schemeClr>
            </a:gs>
          </a:gsLst>
          <a:lin ang="5400000" scaled="1"/>
        </a:gradFill>
        <a:effectLst/>
      </p:bgPr>
    </p:bg>
    <p:spTree>
      <p:nvGrpSpPr>
        <p:cNvPr id="1" name=""/>
        <p:cNvGrpSpPr/>
        <p:nvPr/>
      </p:nvGrpSpPr>
      <p:grpSpPr>
        <a:xfrm>
          <a:off x="0" y="0"/>
          <a:ext cx="0" cy="0"/>
          <a:chOff x="0" y="0"/>
          <a:chExt cx="0" cy="0"/>
        </a:xfrm>
      </p:grpSpPr>
      <p:sp>
        <p:nvSpPr>
          <p:cNvPr id="2" name="TextBox 1"/>
          <p:cNvSpPr txBox="1"/>
          <p:nvPr/>
        </p:nvSpPr>
        <p:spPr>
          <a:xfrm>
            <a:off x="3809683" y="320040"/>
            <a:ext cx="4542155" cy="1014730"/>
          </a:xfrm>
          <a:prstGeom prst="rect">
            <a:avLst/>
          </a:prstGeom>
          <a:noFill/>
        </p:spPr>
        <p:txBody>
          <a:bodyPr wrap="none">
            <a:spAutoFit/>
          </a:bodyPr>
          <a:lstStyle/>
          <a:p>
            <a:pPr algn="ctr">
              <a:lnSpc>
                <a:spcPct val="150000"/>
              </a:lnSpc>
              <a:defRPr sz="2800" b="1">
                <a:solidFill>
                  <a:srgbClr val="192D4B"/>
                </a:solidFill>
              </a:defRPr>
            </a:pPr>
            <a:r>
              <a:rPr sz="4000">
                <a:latin typeface="Times New Roman" panose="02020603050405020304" charset="0"/>
                <a:cs typeface="Times New Roman" panose="02020603050405020304" charset="0"/>
              </a:rPr>
              <a:t>Demonstration Plan</a:t>
            </a:r>
            <a:endParaRPr sz="4000">
              <a:latin typeface="Times New Roman" panose="02020603050405020304" charset="0"/>
              <a:cs typeface="Times New Roman" panose="02020603050405020304" charset="0"/>
            </a:endParaRPr>
          </a:p>
        </p:txBody>
      </p:sp>
      <p:sp>
        <p:nvSpPr>
          <p:cNvPr id="4" name="Rectangle 3"/>
          <p:cNvSpPr/>
          <p:nvPr/>
        </p:nvSpPr>
        <p:spPr>
          <a:xfrm>
            <a:off x="0" y="6565392"/>
            <a:ext cx="12191695" cy="292608"/>
          </a:xfrm>
          <a:prstGeom prst="rect">
            <a:avLst/>
          </a:prstGeom>
          <a:solidFill>
            <a:schemeClr val="accent3">
              <a:lumMod val="5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50000"/>
              </a:lnSpc>
            </a:pPr>
            <a:endParaRPr>
              <a:latin typeface="Times New Roman" panose="02020603050405020304" charset="0"/>
              <a:cs typeface="Times New Roman" panose="02020603050405020304" charset="0"/>
            </a:endParaRPr>
          </a:p>
        </p:txBody>
      </p:sp>
      <p:sp>
        <p:nvSpPr>
          <p:cNvPr id="5" name="TextBox 4"/>
          <p:cNvSpPr txBox="1"/>
          <p:nvPr/>
        </p:nvSpPr>
        <p:spPr>
          <a:xfrm>
            <a:off x="320040" y="6574536"/>
            <a:ext cx="2454910" cy="299085"/>
          </a:xfrm>
          <a:prstGeom prst="rect">
            <a:avLst/>
          </a:prstGeom>
          <a:gradFill>
            <a:gsLst>
              <a:gs pos="50000">
                <a:schemeClr val="accent2"/>
              </a:gs>
              <a:gs pos="0">
                <a:schemeClr val="accent2">
                  <a:lumMod val="25000"/>
                  <a:lumOff val="75000"/>
                </a:schemeClr>
              </a:gs>
              <a:gs pos="100000">
                <a:schemeClr val="accent2">
                  <a:lumMod val="85000"/>
                </a:schemeClr>
              </a:gs>
            </a:gsLst>
            <a:lin ang="5400000" scaled="1"/>
          </a:gradFill>
        </p:spPr>
        <p:txBody>
          <a:bodyPr wrap="none">
            <a:spAutoFit/>
          </a:bodyPr>
          <a:lstStyle/>
          <a:p>
            <a:pPr>
              <a:lnSpc>
                <a:spcPct val="150000"/>
              </a:lnSpc>
              <a:defRPr sz="900">
                <a:solidFill>
                  <a:srgbClr val="FFFFFF"/>
                </a:solidFill>
              </a:defRPr>
            </a:pPr>
            <a:r>
              <a:rPr b="1">
                <a:solidFill>
                  <a:schemeClr val="tx1"/>
                </a:solidFill>
                <a:latin typeface="Times New Roman" panose="02020603050405020304" charset="0"/>
                <a:cs typeface="Times New Roman" panose="02020603050405020304" charset="0"/>
              </a:rPr>
              <a:t>Final Year Project • Academic Year 2026     </a:t>
            </a:r>
            <a:r>
              <a:rPr lang="en-US" b="1">
                <a:solidFill>
                  <a:schemeClr val="tx1"/>
                </a:solidFill>
                <a:latin typeface="Times New Roman" panose="02020603050405020304" charset="0"/>
                <a:cs typeface="Times New Roman" panose="02020603050405020304" charset="0"/>
              </a:rPr>
              <a:t>16</a:t>
            </a:r>
            <a:endParaRPr lang="en-US" b="1">
              <a:solidFill>
                <a:schemeClr val="tx1"/>
              </a:solidFill>
              <a:latin typeface="Times New Roman" panose="02020603050405020304" charset="0"/>
              <a:cs typeface="Times New Roman" panose="02020603050405020304" charset="0"/>
            </a:endParaRPr>
          </a:p>
        </p:txBody>
      </p:sp>
      <p:sp>
        <p:nvSpPr>
          <p:cNvPr id="6" name="Oval 5"/>
          <p:cNvSpPr/>
          <p:nvPr/>
        </p:nvSpPr>
        <p:spPr>
          <a:xfrm>
            <a:off x="731520" y="1344168"/>
            <a:ext cx="502920" cy="502920"/>
          </a:xfrm>
          <a:prstGeom prst="ellipse">
            <a:avLst/>
          </a:prstGeom>
          <a:solidFill>
            <a:schemeClr val="accent3">
              <a:lumMod val="40000"/>
              <a:lumOff val="60000"/>
            </a:schemeClr>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lnSpc>
                <a:spcPct val="150000"/>
              </a:lnSpc>
            </a:pPr>
            <a:r>
              <a:rPr sz="1500" b="1">
                <a:solidFill>
                  <a:schemeClr val="tx1"/>
                </a:solidFill>
                <a:latin typeface="Times New Roman" panose="02020603050405020304" charset="0"/>
                <a:cs typeface="Times New Roman" panose="02020603050405020304" charset="0"/>
              </a:rPr>
              <a:t>1</a:t>
            </a:r>
            <a:endParaRPr sz="1500" b="1">
              <a:solidFill>
                <a:schemeClr val="tx1"/>
              </a:solidFill>
              <a:latin typeface="Times New Roman" panose="02020603050405020304" charset="0"/>
              <a:cs typeface="Times New Roman" panose="02020603050405020304" charset="0"/>
            </a:endParaRPr>
          </a:p>
        </p:txBody>
      </p:sp>
      <p:sp>
        <p:nvSpPr>
          <p:cNvPr id="7" name="TextBox 6"/>
          <p:cNvSpPr txBox="1"/>
          <p:nvPr/>
        </p:nvSpPr>
        <p:spPr>
          <a:xfrm>
            <a:off x="1417320" y="1296035"/>
            <a:ext cx="1188720" cy="608330"/>
          </a:xfrm>
          <a:prstGeom prst="rect">
            <a:avLst/>
          </a:prstGeom>
          <a:noFill/>
        </p:spPr>
        <p:txBody>
          <a:bodyPr wrap="square" lIns="45720" tIns="27432" rIns="45720" bIns="27432" anchor="ctr">
            <a:spAutoFit/>
          </a:bodyPr>
          <a:lstStyle/>
          <a:p>
            <a:pPr algn="l">
              <a:lnSpc>
                <a:spcPct val="150000"/>
              </a:lnSpc>
              <a:spcAft>
                <a:spcPts val="600"/>
              </a:spcAft>
            </a:pPr>
            <a:r>
              <a:rPr sz="2400" b="1" i="0">
                <a:solidFill>
                  <a:schemeClr val="tx1"/>
                </a:solidFill>
                <a:latin typeface="Times New Roman" panose="02020603050405020304" charset="0"/>
                <a:cs typeface="Times New Roman" panose="02020603050405020304" charset="0"/>
              </a:rPr>
              <a:t>Buyer</a:t>
            </a:r>
            <a:endParaRPr sz="2400" b="1" i="0">
              <a:solidFill>
                <a:schemeClr val="tx1"/>
              </a:solidFill>
              <a:latin typeface="Times New Roman" panose="02020603050405020304" charset="0"/>
              <a:cs typeface="Times New Roman" panose="02020603050405020304" charset="0"/>
            </a:endParaRPr>
          </a:p>
        </p:txBody>
      </p:sp>
      <p:sp>
        <p:nvSpPr>
          <p:cNvPr id="8" name="TextBox 7"/>
          <p:cNvSpPr txBox="1"/>
          <p:nvPr/>
        </p:nvSpPr>
        <p:spPr>
          <a:xfrm>
            <a:off x="2606040" y="1342073"/>
            <a:ext cx="5943600" cy="516255"/>
          </a:xfrm>
          <a:prstGeom prst="rect">
            <a:avLst/>
          </a:prstGeom>
          <a:noFill/>
        </p:spPr>
        <p:txBody>
          <a:bodyPr wrap="square" lIns="45720" tIns="27432" rIns="45720" bIns="27432" anchor="ctr">
            <a:spAutoFit/>
          </a:bodyPr>
          <a:lstStyle/>
          <a:p>
            <a:pPr algn="l">
              <a:lnSpc>
                <a:spcPct val="150000"/>
              </a:lnSpc>
              <a:spcAft>
                <a:spcPts val="600"/>
              </a:spcAft>
            </a:pPr>
            <a:r>
              <a:rPr sz="2000" b="1" i="0">
                <a:solidFill>
                  <a:schemeClr val="tx1"/>
                </a:solidFill>
                <a:latin typeface="Times New Roman" panose="02020603050405020304" charset="0"/>
                <a:cs typeface="Times New Roman" panose="02020603050405020304" charset="0"/>
              </a:rPr>
              <a:t>Browse and filter by neighbourhood and price</a:t>
            </a:r>
            <a:endParaRPr sz="2000" b="1" i="0">
              <a:solidFill>
                <a:schemeClr val="tx1"/>
              </a:solidFill>
              <a:latin typeface="Times New Roman" panose="02020603050405020304" charset="0"/>
              <a:cs typeface="Times New Roman" panose="02020603050405020304" charset="0"/>
            </a:endParaRPr>
          </a:p>
        </p:txBody>
      </p:sp>
      <p:sp>
        <p:nvSpPr>
          <p:cNvPr id="9" name="Oval 8"/>
          <p:cNvSpPr/>
          <p:nvPr/>
        </p:nvSpPr>
        <p:spPr>
          <a:xfrm>
            <a:off x="731520" y="2130551"/>
            <a:ext cx="502920" cy="502920"/>
          </a:xfrm>
          <a:prstGeom prst="ellipse">
            <a:avLst/>
          </a:prstGeom>
          <a:solidFill>
            <a:schemeClr val="accent3">
              <a:lumMod val="40000"/>
              <a:lumOff val="60000"/>
            </a:schemeClr>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lnSpc>
                <a:spcPct val="150000"/>
              </a:lnSpc>
            </a:pPr>
            <a:r>
              <a:rPr sz="1500" b="1">
                <a:solidFill>
                  <a:schemeClr val="tx1"/>
                </a:solidFill>
                <a:latin typeface="Times New Roman" panose="02020603050405020304" charset="0"/>
                <a:cs typeface="Times New Roman" panose="02020603050405020304" charset="0"/>
              </a:rPr>
              <a:t>2</a:t>
            </a:r>
            <a:endParaRPr sz="1500" b="1">
              <a:solidFill>
                <a:schemeClr val="tx1"/>
              </a:solidFill>
              <a:latin typeface="Times New Roman" panose="02020603050405020304" charset="0"/>
              <a:cs typeface="Times New Roman" panose="02020603050405020304" charset="0"/>
            </a:endParaRPr>
          </a:p>
        </p:txBody>
      </p:sp>
      <p:sp>
        <p:nvSpPr>
          <p:cNvPr id="10" name="TextBox 9"/>
          <p:cNvSpPr txBox="1"/>
          <p:nvPr/>
        </p:nvSpPr>
        <p:spPr>
          <a:xfrm>
            <a:off x="1417320" y="2082418"/>
            <a:ext cx="1188720" cy="608330"/>
          </a:xfrm>
          <a:prstGeom prst="rect">
            <a:avLst/>
          </a:prstGeom>
          <a:noFill/>
        </p:spPr>
        <p:txBody>
          <a:bodyPr wrap="square" lIns="45720" tIns="27432" rIns="45720" bIns="27432" anchor="ctr">
            <a:spAutoFit/>
          </a:bodyPr>
          <a:lstStyle/>
          <a:p>
            <a:pPr algn="l">
              <a:lnSpc>
                <a:spcPct val="150000"/>
              </a:lnSpc>
              <a:spcAft>
                <a:spcPts val="600"/>
              </a:spcAft>
            </a:pPr>
            <a:r>
              <a:rPr sz="2400" b="1" i="0">
                <a:solidFill>
                  <a:schemeClr val="tx1"/>
                </a:solidFill>
                <a:latin typeface="Times New Roman" panose="02020603050405020304" charset="0"/>
                <a:cs typeface="Times New Roman" panose="02020603050405020304" charset="0"/>
              </a:rPr>
              <a:t>Seller</a:t>
            </a:r>
            <a:endParaRPr sz="2400" b="1" i="0">
              <a:solidFill>
                <a:schemeClr val="tx1"/>
              </a:solidFill>
              <a:latin typeface="Times New Roman" panose="02020603050405020304" charset="0"/>
              <a:cs typeface="Times New Roman" panose="02020603050405020304" charset="0"/>
            </a:endParaRPr>
          </a:p>
        </p:txBody>
      </p:sp>
      <p:sp>
        <p:nvSpPr>
          <p:cNvPr id="11" name="TextBox 10"/>
          <p:cNvSpPr txBox="1"/>
          <p:nvPr/>
        </p:nvSpPr>
        <p:spPr>
          <a:xfrm>
            <a:off x="2606040" y="1897634"/>
            <a:ext cx="5943600" cy="977900"/>
          </a:xfrm>
          <a:prstGeom prst="rect">
            <a:avLst/>
          </a:prstGeom>
          <a:noFill/>
        </p:spPr>
        <p:txBody>
          <a:bodyPr wrap="square" lIns="45720" tIns="27432" rIns="45720" bIns="27432" anchor="ctr">
            <a:spAutoFit/>
          </a:bodyPr>
          <a:lstStyle/>
          <a:p>
            <a:pPr algn="l">
              <a:lnSpc>
                <a:spcPct val="150000"/>
              </a:lnSpc>
              <a:spcAft>
                <a:spcPts val="600"/>
              </a:spcAft>
            </a:pPr>
            <a:r>
              <a:rPr sz="2000" b="1" i="0">
                <a:solidFill>
                  <a:srgbClr val="232323"/>
                </a:solidFill>
                <a:latin typeface="Times New Roman" panose="02020603050405020304" charset="0"/>
                <a:cs typeface="Times New Roman" panose="02020603050405020304" charset="0"/>
              </a:rPr>
              <a:t>Post a listing by voice: "ten bags, ninety five kwacha, Kanyama"</a:t>
            </a:r>
            <a:endParaRPr sz="2000" b="1" i="0">
              <a:solidFill>
                <a:srgbClr val="232323"/>
              </a:solidFill>
              <a:latin typeface="Times New Roman" panose="02020603050405020304" charset="0"/>
              <a:cs typeface="Times New Roman" panose="02020603050405020304" charset="0"/>
            </a:endParaRPr>
          </a:p>
        </p:txBody>
      </p:sp>
      <p:sp>
        <p:nvSpPr>
          <p:cNvPr id="12" name="Oval 11"/>
          <p:cNvSpPr/>
          <p:nvPr/>
        </p:nvSpPr>
        <p:spPr>
          <a:xfrm>
            <a:off x="731520" y="2916936"/>
            <a:ext cx="502920" cy="502920"/>
          </a:xfrm>
          <a:prstGeom prst="ellipse">
            <a:avLst/>
          </a:prstGeom>
          <a:solidFill>
            <a:schemeClr val="accent3">
              <a:lumMod val="40000"/>
              <a:lumOff val="60000"/>
            </a:schemeClr>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lnSpc>
                <a:spcPct val="150000"/>
              </a:lnSpc>
            </a:pPr>
            <a:r>
              <a:rPr sz="1500" b="1">
                <a:solidFill>
                  <a:schemeClr val="tx1"/>
                </a:solidFill>
                <a:latin typeface="Times New Roman" panose="02020603050405020304" charset="0"/>
                <a:cs typeface="Times New Roman" panose="02020603050405020304" charset="0"/>
              </a:rPr>
              <a:t>3</a:t>
            </a:r>
            <a:endParaRPr sz="1500" b="1">
              <a:solidFill>
                <a:schemeClr val="tx1"/>
              </a:solidFill>
              <a:latin typeface="Times New Roman" panose="02020603050405020304" charset="0"/>
              <a:cs typeface="Times New Roman" panose="02020603050405020304" charset="0"/>
            </a:endParaRPr>
          </a:p>
        </p:txBody>
      </p:sp>
      <p:sp>
        <p:nvSpPr>
          <p:cNvPr id="13" name="TextBox 12"/>
          <p:cNvSpPr txBox="1"/>
          <p:nvPr/>
        </p:nvSpPr>
        <p:spPr>
          <a:xfrm>
            <a:off x="1417320" y="2868803"/>
            <a:ext cx="1188720" cy="608330"/>
          </a:xfrm>
          <a:prstGeom prst="rect">
            <a:avLst/>
          </a:prstGeom>
          <a:noFill/>
        </p:spPr>
        <p:txBody>
          <a:bodyPr wrap="square" lIns="45720" tIns="27432" rIns="45720" bIns="27432" anchor="ctr">
            <a:spAutoFit/>
          </a:bodyPr>
          <a:lstStyle/>
          <a:p>
            <a:pPr algn="l">
              <a:lnSpc>
                <a:spcPct val="150000"/>
              </a:lnSpc>
              <a:spcAft>
                <a:spcPts val="600"/>
              </a:spcAft>
            </a:pPr>
            <a:r>
              <a:rPr sz="2400" b="1" i="0">
                <a:solidFill>
                  <a:schemeClr val="tx1"/>
                </a:solidFill>
                <a:latin typeface="Times New Roman" panose="02020603050405020304" charset="0"/>
                <a:cs typeface="Times New Roman" panose="02020603050405020304" charset="0"/>
              </a:rPr>
              <a:t>Both</a:t>
            </a:r>
            <a:endParaRPr sz="2400" b="1" i="0">
              <a:solidFill>
                <a:schemeClr val="tx1"/>
              </a:solidFill>
              <a:latin typeface="Times New Roman" panose="02020603050405020304" charset="0"/>
              <a:cs typeface="Times New Roman" panose="02020603050405020304" charset="0"/>
            </a:endParaRPr>
          </a:p>
        </p:txBody>
      </p:sp>
      <p:sp>
        <p:nvSpPr>
          <p:cNvPr id="14" name="TextBox 13"/>
          <p:cNvSpPr txBox="1"/>
          <p:nvPr/>
        </p:nvSpPr>
        <p:spPr>
          <a:xfrm>
            <a:off x="2606040" y="2684019"/>
            <a:ext cx="5943600" cy="977900"/>
          </a:xfrm>
          <a:prstGeom prst="rect">
            <a:avLst/>
          </a:prstGeom>
          <a:noFill/>
        </p:spPr>
        <p:txBody>
          <a:bodyPr wrap="square" lIns="45720" tIns="27432" rIns="45720" bIns="27432" anchor="ctr">
            <a:spAutoFit/>
          </a:bodyPr>
          <a:lstStyle/>
          <a:p>
            <a:pPr algn="l">
              <a:lnSpc>
                <a:spcPct val="150000"/>
              </a:lnSpc>
              <a:spcAft>
                <a:spcPts val="600"/>
              </a:spcAft>
            </a:pPr>
            <a:r>
              <a:rPr sz="2000" b="1" i="0">
                <a:solidFill>
                  <a:schemeClr val="tx1"/>
                </a:solidFill>
                <a:latin typeface="Times New Roman" panose="02020603050405020304" charset="0"/>
                <a:cs typeface="Times New Roman" panose="02020603050405020304" charset="0"/>
              </a:rPr>
              <a:t>Chat; go offline, send a message and post a listing, then reconnect</a:t>
            </a:r>
            <a:endParaRPr sz="2000" b="1" i="0">
              <a:solidFill>
                <a:schemeClr val="tx1"/>
              </a:solidFill>
              <a:latin typeface="Times New Roman" panose="02020603050405020304" charset="0"/>
              <a:cs typeface="Times New Roman" panose="02020603050405020304" charset="0"/>
            </a:endParaRPr>
          </a:p>
        </p:txBody>
      </p:sp>
      <p:sp>
        <p:nvSpPr>
          <p:cNvPr id="15" name="Oval 14"/>
          <p:cNvSpPr/>
          <p:nvPr/>
        </p:nvSpPr>
        <p:spPr>
          <a:xfrm>
            <a:off x="731520" y="3703320"/>
            <a:ext cx="502920" cy="502920"/>
          </a:xfrm>
          <a:prstGeom prst="ellipse">
            <a:avLst/>
          </a:prstGeom>
          <a:solidFill>
            <a:schemeClr val="accent3">
              <a:lumMod val="40000"/>
              <a:lumOff val="60000"/>
            </a:schemeClr>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lnSpc>
                <a:spcPct val="150000"/>
              </a:lnSpc>
            </a:pPr>
            <a:r>
              <a:rPr sz="1500" b="1">
                <a:solidFill>
                  <a:schemeClr val="tx1"/>
                </a:solidFill>
                <a:latin typeface="Times New Roman" panose="02020603050405020304" charset="0"/>
                <a:cs typeface="Times New Roman" panose="02020603050405020304" charset="0"/>
              </a:rPr>
              <a:t>4</a:t>
            </a:r>
            <a:endParaRPr sz="1500" b="1">
              <a:solidFill>
                <a:schemeClr val="tx1"/>
              </a:solidFill>
              <a:latin typeface="Times New Roman" panose="02020603050405020304" charset="0"/>
              <a:cs typeface="Times New Roman" panose="02020603050405020304" charset="0"/>
            </a:endParaRPr>
          </a:p>
        </p:txBody>
      </p:sp>
      <p:sp>
        <p:nvSpPr>
          <p:cNvPr id="16" name="TextBox 15"/>
          <p:cNvSpPr txBox="1"/>
          <p:nvPr/>
        </p:nvSpPr>
        <p:spPr>
          <a:xfrm>
            <a:off x="1417320" y="3655187"/>
            <a:ext cx="1188720" cy="608330"/>
          </a:xfrm>
          <a:prstGeom prst="rect">
            <a:avLst/>
          </a:prstGeom>
          <a:noFill/>
        </p:spPr>
        <p:txBody>
          <a:bodyPr wrap="square" lIns="45720" tIns="27432" rIns="45720" bIns="27432" anchor="ctr">
            <a:spAutoFit/>
          </a:bodyPr>
          <a:lstStyle/>
          <a:p>
            <a:pPr algn="l">
              <a:lnSpc>
                <a:spcPct val="150000"/>
              </a:lnSpc>
              <a:spcAft>
                <a:spcPts val="600"/>
              </a:spcAft>
            </a:pPr>
            <a:r>
              <a:rPr sz="2400" b="1" i="0">
                <a:solidFill>
                  <a:schemeClr val="tx1"/>
                </a:solidFill>
                <a:latin typeface="Times New Roman" panose="02020603050405020304" charset="0"/>
                <a:cs typeface="Times New Roman" panose="02020603050405020304" charset="0"/>
              </a:rPr>
              <a:t>Buyer</a:t>
            </a:r>
            <a:endParaRPr sz="2400" b="1" i="0">
              <a:solidFill>
                <a:schemeClr val="tx1"/>
              </a:solidFill>
              <a:latin typeface="Times New Roman" panose="02020603050405020304" charset="0"/>
              <a:cs typeface="Times New Roman" panose="02020603050405020304" charset="0"/>
            </a:endParaRPr>
          </a:p>
        </p:txBody>
      </p:sp>
      <p:sp>
        <p:nvSpPr>
          <p:cNvPr id="17" name="TextBox 16"/>
          <p:cNvSpPr txBox="1"/>
          <p:nvPr/>
        </p:nvSpPr>
        <p:spPr>
          <a:xfrm>
            <a:off x="2606040" y="3701225"/>
            <a:ext cx="5943600" cy="516255"/>
          </a:xfrm>
          <a:prstGeom prst="rect">
            <a:avLst/>
          </a:prstGeom>
          <a:noFill/>
        </p:spPr>
        <p:txBody>
          <a:bodyPr wrap="square" lIns="45720" tIns="27432" rIns="45720" bIns="27432" anchor="ctr">
            <a:spAutoFit/>
          </a:bodyPr>
          <a:lstStyle/>
          <a:p>
            <a:pPr algn="l">
              <a:lnSpc>
                <a:spcPct val="150000"/>
              </a:lnSpc>
              <a:spcAft>
                <a:spcPts val="600"/>
              </a:spcAft>
            </a:pPr>
            <a:r>
              <a:rPr sz="2000" b="1" i="0">
                <a:solidFill>
                  <a:schemeClr val="tx1"/>
                </a:solidFill>
                <a:latin typeface="Times New Roman" panose="02020603050405020304" charset="0"/>
                <a:cs typeface="Times New Roman" panose="02020603050405020304" charset="0"/>
              </a:rPr>
              <a:t>Rate the seller after collection; score updates</a:t>
            </a:r>
            <a:endParaRPr sz="2000" b="1" i="0">
              <a:solidFill>
                <a:schemeClr val="tx1"/>
              </a:solidFill>
              <a:latin typeface="Times New Roman" panose="02020603050405020304" charset="0"/>
              <a:cs typeface="Times New Roman" panose="02020603050405020304" charset="0"/>
            </a:endParaRPr>
          </a:p>
        </p:txBody>
      </p:sp>
      <p:sp>
        <p:nvSpPr>
          <p:cNvPr id="18" name="Oval 17"/>
          <p:cNvSpPr/>
          <p:nvPr/>
        </p:nvSpPr>
        <p:spPr>
          <a:xfrm>
            <a:off x="731520" y="4489704"/>
            <a:ext cx="502920" cy="502920"/>
          </a:xfrm>
          <a:prstGeom prst="ellipse">
            <a:avLst/>
          </a:prstGeom>
          <a:solidFill>
            <a:schemeClr val="accent3">
              <a:lumMod val="40000"/>
              <a:lumOff val="60000"/>
            </a:schemeClr>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lnSpc>
                <a:spcPct val="150000"/>
              </a:lnSpc>
            </a:pPr>
            <a:r>
              <a:rPr sz="1500" b="1">
                <a:solidFill>
                  <a:schemeClr val="tx1"/>
                </a:solidFill>
                <a:latin typeface="Times New Roman" panose="02020603050405020304" charset="0"/>
                <a:cs typeface="Times New Roman" panose="02020603050405020304" charset="0"/>
              </a:rPr>
              <a:t>5</a:t>
            </a:r>
            <a:endParaRPr sz="1500" b="1">
              <a:solidFill>
                <a:schemeClr val="tx1"/>
              </a:solidFill>
              <a:latin typeface="Times New Roman" panose="02020603050405020304" charset="0"/>
              <a:cs typeface="Times New Roman" panose="02020603050405020304" charset="0"/>
            </a:endParaRPr>
          </a:p>
        </p:txBody>
      </p:sp>
      <p:sp>
        <p:nvSpPr>
          <p:cNvPr id="19" name="TextBox 18"/>
          <p:cNvSpPr txBox="1"/>
          <p:nvPr/>
        </p:nvSpPr>
        <p:spPr>
          <a:xfrm>
            <a:off x="1417320" y="4441572"/>
            <a:ext cx="1188720" cy="608330"/>
          </a:xfrm>
          <a:prstGeom prst="rect">
            <a:avLst/>
          </a:prstGeom>
          <a:noFill/>
        </p:spPr>
        <p:txBody>
          <a:bodyPr wrap="square" lIns="45720" tIns="27432" rIns="45720" bIns="27432" anchor="ctr">
            <a:spAutoFit/>
          </a:bodyPr>
          <a:lstStyle/>
          <a:p>
            <a:pPr algn="l">
              <a:lnSpc>
                <a:spcPct val="150000"/>
              </a:lnSpc>
              <a:spcAft>
                <a:spcPts val="600"/>
              </a:spcAft>
            </a:pPr>
            <a:r>
              <a:rPr sz="2400" b="1" i="0">
                <a:solidFill>
                  <a:schemeClr val="tx1"/>
                </a:solidFill>
                <a:latin typeface="Times New Roman" panose="02020603050405020304" charset="0"/>
                <a:cs typeface="Times New Roman" panose="02020603050405020304" charset="0"/>
              </a:rPr>
              <a:t>Tamper</a:t>
            </a:r>
            <a:endParaRPr sz="2400" b="1" i="0">
              <a:solidFill>
                <a:schemeClr val="tx1"/>
              </a:solidFill>
              <a:latin typeface="Times New Roman" panose="02020603050405020304" charset="0"/>
              <a:cs typeface="Times New Roman" panose="02020603050405020304" charset="0"/>
            </a:endParaRPr>
          </a:p>
        </p:txBody>
      </p:sp>
      <p:sp>
        <p:nvSpPr>
          <p:cNvPr id="20" name="TextBox 19"/>
          <p:cNvSpPr txBox="1"/>
          <p:nvPr/>
        </p:nvSpPr>
        <p:spPr>
          <a:xfrm>
            <a:off x="2606040" y="4256787"/>
            <a:ext cx="5943600" cy="977900"/>
          </a:xfrm>
          <a:prstGeom prst="rect">
            <a:avLst/>
          </a:prstGeom>
          <a:noFill/>
        </p:spPr>
        <p:txBody>
          <a:bodyPr wrap="square" lIns="45720" tIns="27432" rIns="45720" bIns="27432" anchor="ctr">
            <a:spAutoFit/>
          </a:bodyPr>
          <a:lstStyle/>
          <a:p>
            <a:pPr algn="l">
              <a:lnSpc>
                <a:spcPct val="150000"/>
              </a:lnSpc>
              <a:spcAft>
                <a:spcPts val="600"/>
              </a:spcAft>
            </a:pPr>
            <a:r>
              <a:rPr sz="2000" b="1" i="0">
                <a:solidFill>
                  <a:schemeClr val="tx1"/>
                </a:solidFill>
                <a:latin typeface="Times New Roman" panose="02020603050405020304" charset="0"/>
                <a:cs typeface="Times New Roman" panose="02020603050405020304" charset="0"/>
              </a:rPr>
              <a:t>Edit a block in MongoDB Atlas: a red "Record has been altered" warning</a:t>
            </a:r>
            <a:endParaRPr sz="2000" b="1" i="0">
              <a:solidFill>
                <a:schemeClr val="tx1"/>
              </a:solidFill>
              <a:latin typeface="Times New Roman" panose="02020603050405020304" charset="0"/>
              <a:cs typeface="Times New Roman" panose="02020603050405020304" charset="0"/>
            </a:endParaRPr>
          </a:p>
        </p:txBody>
      </p:sp>
      <p:sp>
        <p:nvSpPr>
          <p:cNvPr id="21" name="Oval 20"/>
          <p:cNvSpPr/>
          <p:nvPr/>
        </p:nvSpPr>
        <p:spPr>
          <a:xfrm>
            <a:off x="731520" y="5276088"/>
            <a:ext cx="502920" cy="502920"/>
          </a:xfrm>
          <a:prstGeom prst="ellipse">
            <a:avLst/>
          </a:prstGeom>
          <a:solidFill>
            <a:schemeClr val="accent3">
              <a:lumMod val="40000"/>
              <a:lumOff val="60000"/>
            </a:schemeClr>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lnSpc>
                <a:spcPct val="150000"/>
              </a:lnSpc>
            </a:pPr>
            <a:r>
              <a:rPr sz="1500" b="1">
                <a:solidFill>
                  <a:schemeClr val="tx1"/>
                </a:solidFill>
                <a:latin typeface="Times New Roman" panose="02020603050405020304" charset="0"/>
                <a:cs typeface="Times New Roman" panose="02020603050405020304" charset="0"/>
              </a:rPr>
              <a:t>6</a:t>
            </a:r>
            <a:endParaRPr sz="1500" b="1">
              <a:solidFill>
                <a:schemeClr val="tx1"/>
              </a:solidFill>
              <a:latin typeface="Times New Roman" panose="02020603050405020304" charset="0"/>
              <a:cs typeface="Times New Roman" panose="02020603050405020304" charset="0"/>
            </a:endParaRPr>
          </a:p>
        </p:txBody>
      </p:sp>
      <p:sp>
        <p:nvSpPr>
          <p:cNvPr id="22" name="TextBox 21"/>
          <p:cNvSpPr txBox="1"/>
          <p:nvPr/>
        </p:nvSpPr>
        <p:spPr>
          <a:xfrm>
            <a:off x="1417320" y="5227955"/>
            <a:ext cx="1188720" cy="608330"/>
          </a:xfrm>
          <a:prstGeom prst="rect">
            <a:avLst/>
          </a:prstGeom>
          <a:noFill/>
        </p:spPr>
        <p:txBody>
          <a:bodyPr wrap="square" lIns="45720" tIns="27432" rIns="45720" bIns="27432" anchor="ctr">
            <a:spAutoFit/>
          </a:bodyPr>
          <a:lstStyle/>
          <a:p>
            <a:pPr algn="l">
              <a:lnSpc>
                <a:spcPct val="150000"/>
              </a:lnSpc>
              <a:spcAft>
                <a:spcPts val="600"/>
              </a:spcAft>
            </a:pPr>
            <a:r>
              <a:rPr sz="2400" b="1" i="0">
                <a:solidFill>
                  <a:schemeClr val="tx1"/>
                </a:solidFill>
                <a:latin typeface="Times New Roman" panose="02020603050405020304" charset="0"/>
                <a:cs typeface="Times New Roman" panose="02020603050405020304" charset="0"/>
              </a:rPr>
              <a:t>Admin</a:t>
            </a:r>
            <a:endParaRPr sz="2400" b="1" i="0">
              <a:solidFill>
                <a:schemeClr val="tx1"/>
              </a:solidFill>
              <a:latin typeface="Times New Roman" panose="02020603050405020304" charset="0"/>
              <a:cs typeface="Times New Roman" panose="02020603050405020304" charset="0"/>
            </a:endParaRPr>
          </a:p>
        </p:txBody>
      </p:sp>
      <p:sp>
        <p:nvSpPr>
          <p:cNvPr id="23" name="TextBox 22"/>
          <p:cNvSpPr txBox="1"/>
          <p:nvPr/>
        </p:nvSpPr>
        <p:spPr>
          <a:xfrm>
            <a:off x="2606040" y="5297170"/>
            <a:ext cx="5943600" cy="469900"/>
          </a:xfrm>
          <a:prstGeom prst="rect">
            <a:avLst/>
          </a:prstGeom>
          <a:noFill/>
        </p:spPr>
        <p:txBody>
          <a:bodyPr wrap="square" lIns="45720" tIns="27432" rIns="45720" bIns="27432" anchor="ctr">
            <a:spAutoFit/>
          </a:bodyPr>
          <a:lstStyle/>
          <a:p>
            <a:pPr algn="l">
              <a:lnSpc>
                <a:spcPct val="150000"/>
              </a:lnSpc>
              <a:spcAft>
                <a:spcPts val="600"/>
              </a:spcAft>
            </a:pPr>
            <a:r>
              <a:rPr b="1" i="0">
                <a:solidFill>
                  <a:schemeClr val="tx1"/>
                </a:solidFill>
                <a:latin typeface="Times New Roman" panose="02020603050405020304" charset="0"/>
                <a:cs typeface="Times New Roman" panose="02020603050405020304" charset="0"/>
              </a:rPr>
              <a:t>Integrity tab flags the altered record; verify a seller: +15</a:t>
            </a:r>
            <a:endParaRPr b="1" i="0">
              <a:solidFill>
                <a:schemeClr val="tx1"/>
              </a:solidFill>
              <a:latin typeface="Times New Roman" panose="02020603050405020304" charset="0"/>
              <a:cs typeface="Times New Roman" panose="02020603050405020304" charset="0"/>
            </a:endParaRPr>
          </a:p>
        </p:txBody>
      </p:sp>
      <p:sp>
        <p:nvSpPr>
          <p:cNvPr id="25" name="TextBox 24"/>
          <p:cNvSpPr txBox="1"/>
          <p:nvPr/>
        </p:nvSpPr>
        <p:spPr>
          <a:xfrm>
            <a:off x="731520" y="5989320"/>
            <a:ext cx="7863840" cy="516255"/>
          </a:xfrm>
          <a:prstGeom prst="rect">
            <a:avLst/>
          </a:prstGeom>
          <a:noFill/>
        </p:spPr>
        <p:txBody>
          <a:bodyPr wrap="square" lIns="45720" tIns="27432" rIns="45720" bIns="27432" anchor="t">
            <a:spAutoFit/>
          </a:bodyPr>
          <a:lstStyle/>
          <a:p>
            <a:pPr algn="l">
              <a:lnSpc>
                <a:spcPct val="150000"/>
              </a:lnSpc>
              <a:spcAft>
                <a:spcPts val="600"/>
              </a:spcAft>
            </a:pPr>
            <a:r>
              <a:rPr sz="2000" b="1" i="0">
                <a:solidFill>
                  <a:schemeClr val="tx1"/>
                </a:solidFill>
                <a:latin typeface="Times New Roman" panose="02020603050405020304" charset="0"/>
                <a:cs typeface="Times New Roman" panose="02020603050405020304" charset="0"/>
              </a:rPr>
              <a:t>Live: zam-market-khaki.vercel.app</a:t>
            </a:r>
            <a:endParaRPr sz="2000" b="1" i="0">
              <a:solidFill>
                <a:schemeClr val="tx1"/>
              </a:solidFill>
              <a:latin typeface="Times New Roman" panose="02020603050405020304" charset="0"/>
              <a:cs typeface="Times New Roman" panose="02020603050405020304" charset="0"/>
            </a:endParaRPr>
          </a:p>
        </p:txBody>
      </p:sp>
      <p:pic>
        <p:nvPicPr>
          <p:cNvPr id="26" name="Picture 25" descr="Screenshot_20261014-115324"/>
          <p:cNvPicPr>
            <a:picLocks noChangeAspect="1"/>
          </p:cNvPicPr>
          <p:nvPr/>
        </p:nvPicPr>
        <p:blipFill>
          <a:blip r:embed="rId1"/>
          <a:stretch>
            <a:fillRect/>
          </a:stretch>
        </p:blipFill>
        <p:spPr>
          <a:xfrm>
            <a:off x="8758555" y="578485"/>
            <a:ext cx="3086100" cy="570103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gradFill>
          <a:gsLst>
            <a:gs pos="50000">
              <a:schemeClr val="accent3"/>
            </a:gs>
            <a:gs pos="0">
              <a:schemeClr val="accent3">
                <a:lumMod val="25000"/>
                <a:lumOff val="75000"/>
              </a:schemeClr>
            </a:gs>
            <a:gs pos="100000">
              <a:schemeClr val="accent3">
                <a:lumMod val="85000"/>
              </a:schemeClr>
            </a:gs>
          </a:gsLst>
          <a:lin ang="5400000" scaled="1"/>
        </a:gradFill>
        <a:effectLst/>
      </p:bgPr>
    </p:bg>
    <p:spTree>
      <p:nvGrpSpPr>
        <p:cNvPr id="1" name=""/>
        <p:cNvGrpSpPr/>
        <p:nvPr/>
      </p:nvGrpSpPr>
      <p:grpSpPr>
        <a:xfrm>
          <a:off x="0" y="0"/>
          <a:ext cx="0" cy="0"/>
          <a:chOff x="0" y="0"/>
          <a:chExt cx="0" cy="0"/>
        </a:xfrm>
      </p:grpSpPr>
      <p:sp>
        <p:nvSpPr>
          <p:cNvPr id="2" name="TextBox 1"/>
          <p:cNvSpPr txBox="1"/>
          <p:nvPr/>
        </p:nvSpPr>
        <p:spPr>
          <a:xfrm>
            <a:off x="3237548" y="320040"/>
            <a:ext cx="5686425" cy="1014730"/>
          </a:xfrm>
          <a:prstGeom prst="rect">
            <a:avLst/>
          </a:prstGeom>
          <a:noFill/>
        </p:spPr>
        <p:txBody>
          <a:bodyPr wrap="none">
            <a:spAutoFit/>
          </a:bodyPr>
          <a:lstStyle/>
          <a:p>
            <a:pPr algn="ctr">
              <a:lnSpc>
                <a:spcPct val="150000"/>
              </a:lnSpc>
              <a:defRPr sz="2800" b="1">
                <a:solidFill>
                  <a:srgbClr val="192D4B"/>
                </a:solidFill>
              </a:defRPr>
            </a:pPr>
            <a:r>
              <a:rPr sz="4000">
                <a:latin typeface="Times New Roman" panose="02020603050405020304" charset="0"/>
                <a:cs typeface="Times New Roman" panose="02020603050405020304" charset="0"/>
              </a:rPr>
              <a:t>Questions and Discussion</a:t>
            </a:r>
            <a:endParaRPr sz="4000">
              <a:latin typeface="Times New Roman" panose="02020603050405020304" charset="0"/>
              <a:cs typeface="Times New Roman" panose="02020603050405020304" charset="0"/>
            </a:endParaRPr>
          </a:p>
        </p:txBody>
      </p:sp>
      <p:sp>
        <p:nvSpPr>
          <p:cNvPr id="4" name="Rectangle 3"/>
          <p:cNvSpPr/>
          <p:nvPr/>
        </p:nvSpPr>
        <p:spPr>
          <a:xfrm>
            <a:off x="0" y="6565392"/>
            <a:ext cx="12191695" cy="292608"/>
          </a:xfrm>
          <a:prstGeom prst="rect">
            <a:avLst/>
          </a:prstGeom>
          <a:solidFill>
            <a:schemeClr val="accent3">
              <a:lumMod val="5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50000"/>
              </a:lnSpc>
            </a:pPr>
            <a:endParaRPr>
              <a:latin typeface="Times New Roman" panose="02020603050405020304" charset="0"/>
              <a:cs typeface="Times New Roman" panose="02020603050405020304" charset="0"/>
            </a:endParaRPr>
          </a:p>
        </p:txBody>
      </p:sp>
      <p:sp>
        <p:nvSpPr>
          <p:cNvPr id="5" name="TextBox 4"/>
          <p:cNvSpPr txBox="1"/>
          <p:nvPr/>
        </p:nvSpPr>
        <p:spPr>
          <a:xfrm>
            <a:off x="320040" y="6574536"/>
            <a:ext cx="2512060" cy="299085"/>
          </a:xfrm>
          <a:prstGeom prst="rect">
            <a:avLst/>
          </a:prstGeom>
          <a:gradFill>
            <a:gsLst>
              <a:gs pos="50000">
                <a:schemeClr val="accent2"/>
              </a:gs>
              <a:gs pos="0">
                <a:schemeClr val="accent2">
                  <a:lumMod val="25000"/>
                  <a:lumOff val="75000"/>
                </a:schemeClr>
              </a:gs>
              <a:gs pos="100000">
                <a:schemeClr val="accent2">
                  <a:lumMod val="85000"/>
                </a:schemeClr>
              </a:gs>
            </a:gsLst>
            <a:lin ang="5400000" scaled="1"/>
          </a:gradFill>
        </p:spPr>
        <p:txBody>
          <a:bodyPr wrap="none">
            <a:spAutoFit/>
          </a:bodyPr>
          <a:lstStyle/>
          <a:p>
            <a:pPr>
              <a:lnSpc>
                <a:spcPct val="150000"/>
              </a:lnSpc>
              <a:defRPr sz="900">
                <a:solidFill>
                  <a:srgbClr val="FFFFFF"/>
                </a:solidFill>
              </a:defRPr>
            </a:pPr>
            <a:r>
              <a:rPr b="1" dirty="0">
                <a:solidFill>
                  <a:schemeClr val="tx1"/>
                </a:solidFill>
                <a:latin typeface="Times New Roman" panose="02020603050405020304" charset="0"/>
                <a:cs typeface="Times New Roman" panose="02020603050405020304" charset="0"/>
              </a:rPr>
              <a:t>Final Year Project • Academic Year 2026       1</a:t>
            </a:r>
            <a:r>
              <a:rPr lang="en-US" b="1" dirty="0">
                <a:solidFill>
                  <a:schemeClr val="tx1"/>
                </a:solidFill>
                <a:latin typeface="Times New Roman" panose="02020603050405020304" charset="0"/>
                <a:cs typeface="Times New Roman" panose="02020603050405020304" charset="0"/>
              </a:rPr>
              <a:t>6</a:t>
            </a:r>
            <a:endParaRPr lang="en-US" b="1" dirty="0">
              <a:solidFill>
                <a:schemeClr val="tx1"/>
              </a:solidFill>
              <a:latin typeface="Times New Roman" panose="02020603050405020304" charset="0"/>
              <a:cs typeface="Times New Roman" panose="02020603050405020304" charset="0"/>
            </a:endParaRPr>
          </a:p>
        </p:txBody>
      </p:sp>
      <p:sp>
        <p:nvSpPr>
          <p:cNvPr id="6" name="Rounded Rectangle 5"/>
          <p:cNvSpPr/>
          <p:nvPr/>
        </p:nvSpPr>
        <p:spPr>
          <a:xfrm>
            <a:off x="2011680" y="1463040"/>
            <a:ext cx="8138160" cy="4206240"/>
          </a:xfrm>
          <a:prstGeom prst="roundRect">
            <a:avLst>
              <a:gd name="adj" fmla="val 8000"/>
            </a:avLst>
          </a:prstGeom>
          <a:solidFill>
            <a:schemeClr val="accent3">
              <a:lumMod val="40000"/>
              <a:lumOff val="6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50000"/>
              </a:lnSpc>
            </a:pPr>
            <a:endParaRPr>
              <a:latin typeface="Times New Roman" panose="02020603050405020304" charset="0"/>
              <a:cs typeface="Times New Roman" panose="02020603050405020304" charset="0"/>
            </a:endParaRPr>
          </a:p>
        </p:txBody>
      </p:sp>
      <p:sp>
        <p:nvSpPr>
          <p:cNvPr id="7" name="TextBox 6"/>
          <p:cNvSpPr txBox="1"/>
          <p:nvPr/>
        </p:nvSpPr>
        <p:spPr>
          <a:xfrm>
            <a:off x="2199640" y="3040380"/>
            <a:ext cx="8138160" cy="1162050"/>
          </a:xfrm>
          <a:prstGeom prst="rect">
            <a:avLst/>
          </a:prstGeom>
          <a:noFill/>
        </p:spPr>
        <p:txBody>
          <a:bodyPr wrap="square" lIns="45720" tIns="27432" rIns="45720" bIns="27432" anchor="t">
            <a:spAutoFit/>
          </a:bodyPr>
          <a:lstStyle/>
          <a:p>
            <a:pPr algn="ctr">
              <a:lnSpc>
                <a:spcPct val="150000"/>
              </a:lnSpc>
              <a:spcAft>
                <a:spcPts val="600"/>
              </a:spcAft>
            </a:pPr>
            <a:r>
              <a:rPr sz="4800" b="1" i="0">
                <a:solidFill>
                  <a:schemeClr val="tx1"/>
                </a:solidFill>
                <a:latin typeface="Times New Roman" panose="02020603050405020304" charset="0"/>
                <a:cs typeface="Times New Roman" panose="02020603050405020304" charset="0"/>
              </a:rPr>
              <a:t>Thank you</a:t>
            </a:r>
            <a:endParaRPr sz="4800" b="1" i="0">
              <a:solidFill>
                <a:schemeClr val="tx1"/>
              </a:solidFill>
              <a:latin typeface="Times New Roman" panose="02020603050405020304" charset="0"/>
              <a:cs typeface="Times New Roman" panose="02020603050405020304" charset="0"/>
            </a:endParaRPr>
          </a:p>
        </p:txBody>
      </p:sp>
      <p:sp>
        <p:nvSpPr>
          <p:cNvPr id="10" name="TextBox 9"/>
          <p:cNvSpPr txBox="1"/>
          <p:nvPr/>
        </p:nvSpPr>
        <p:spPr>
          <a:xfrm>
            <a:off x="2377440" y="4343400"/>
            <a:ext cx="7406640" cy="423545"/>
          </a:xfrm>
          <a:prstGeom prst="rect">
            <a:avLst/>
          </a:prstGeom>
          <a:noFill/>
        </p:spPr>
        <p:txBody>
          <a:bodyPr wrap="square" lIns="45720" tIns="27432" rIns="45720" bIns="27432" anchor="t">
            <a:spAutoFit/>
          </a:bodyPr>
          <a:lstStyle/>
          <a:p>
            <a:pPr algn="ctr">
              <a:lnSpc>
                <a:spcPct val="150000"/>
              </a:lnSpc>
              <a:spcAft>
                <a:spcPts val="600"/>
              </a:spcAft>
            </a:pPr>
            <a:r>
              <a:rPr sz="1600" b="0" i="0">
                <a:solidFill>
                  <a:srgbClr val="CFDAEA"/>
                </a:solidFill>
                <a:latin typeface="Times New Roman" panose="02020603050405020304" charset="0"/>
                <a:cs typeface="Times New Roman" panose="02020603050405020304" charset="0"/>
              </a:rPr>
              <a:t>zam-market-khaki.vercel.app · github.com/john-chola/ZamMarket</a:t>
            </a:r>
            <a:endParaRPr sz="1600" b="0" i="0">
              <a:solidFill>
                <a:srgbClr val="CFDAEA"/>
              </a:solidFill>
              <a:latin typeface="Times New Roman" panose="02020603050405020304" charset="0"/>
              <a:cs typeface="Times New Roman" panose="02020603050405020304" charset="0"/>
            </a:endParaRPr>
          </a:p>
        </p:txBody>
      </p:sp>
      <p:sp>
        <p:nvSpPr>
          <p:cNvPr id="11" name="TextBox 10"/>
          <p:cNvSpPr txBox="1"/>
          <p:nvPr/>
        </p:nvSpPr>
        <p:spPr>
          <a:xfrm>
            <a:off x="2199640" y="4202430"/>
            <a:ext cx="8138160" cy="793115"/>
          </a:xfrm>
          <a:prstGeom prst="rect">
            <a:avLst/>
          </a:prstGeom>
          <a:noFill/>
        </p:spPr>
        <p:txBody>
          <a:bodyPr wrap="square" lIns="45720" tIns="27432" rIns="45720" bIns="27432" anchor="t">
            <a:spAutoFit/>
          </a:bodyPr>
          <a:lstStyle/>
          <a:p>
            <a:pPr algn="ctr">
              <a:lnSpc>
                <a:spcPct val="150000"/>
              </a:lnSpc>
              <a:spcAft>
                <a:spcPts val="600"/>
              </a:spcAft>
            </a:pPr>
            <a:r>
              <a:rPr sz="3200" b="1" i="0">
                <a:solidFill>
                  <a:schemeClr val="tx1"/>
                </a:solidFill>
                <a:latin typeface="Times New Roman" panose="02020603050405020304" charset="0"/>
                <a:cs typeface="Times New Roman" panose="02020603050405020304" charset="0"/>
              </a:rPr>
              <a:t>Questions?</a:t>
            </a:r>
            <a:endParaRPr sz="3200" b="1" i="0">
              <a:solidFill>
                <a:schemeClr val="tx1"/>
              </a:solidFill>
              <a:latin typeface="Times New Roman" panose="02020603050405020304" charset="0"/>
              <a:cs typeface="Times New Roman" panose="02020603050405020304"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8535</Words>
  <Application>WPS Presentation</Application>
  <PresentationFormat>Widescreen</PresentationFormat>
  <Paragraphs>462</Paragraphs>
  <Slides>17</Slides>
  <Notes>0</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17</vt:i4>
      </vt:variant>
    </vt:vector>
  </HeadingPairs>
  <TitlesOfParts>
    <vt:vector size="26" baseType="lpstr">
      <vt:lpstr>Arial</vt:lpstr>
      <vt:lpstr>SimSun</vt:lpstr>
      <vt:lpstr>Wingdings</vt:lpstr>
      <vt:lpstr>Arial</vt:lpstr>
      <vt:lpstr>Times New Roman</vt:lpstr>
      <vt:lpstr>Calibri</vt:lpstr>
      <vt:lpstr>Microsoft YaHei</vt:lpstr>
      <vt:lpstr>Arial Unicode MS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dc:description>generated using python-pptx</dc:description>
  <cp:lastModifiedBy>John Chola</cp:lastModifiedBy>
  <cp:revision>26</cp:revision>
  <dcterms:created xsi:type="dcterms:W3CDTF">2013-01-27T09:14:00Z</dcterms:created>
  <dcterms:modified xsi:type="dcterms:W3CDTF">2026-10-17T07:15:51Z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1033-12.1.0.29162</vt:lpwstr>
  </property>
  <property fmtid="{D5CDD505-2E9C-101B-9397-08002B2CF9AE}" pid="3" name="ICV">
    <vt:lpwstr>1E93142F86CC4377BC5122F8BD91F925_13</vt:lpwstr>
  </property>
</Properties>
</file>