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5"/>
    <p:sldId id="277" r:id="rId6"/>
    <p:sldId id="278" r:id="rId7"/>
    <p:sldId id="280" r:id="rId8"/>
    <p:sldId id="282" r:id="rId9"/>
    <p:sldId id="283" r:id="rId10"/>
    <p:sldId id="284" r:id="rId11"/>
    <p:sldId id="285" r:id="rId12"/>
    <p:sldId id="288" r:id="rId13"/>
    <p:sldId id="296" r:id="rId14"/>
    <p:sldId id="298" r:id="rId15"/>
    <p:sldId id="301" r:id="rId16"/>
    <p:sldId id="307" r:id="rId22"/>
    <p:sldId id="306"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428" autoAdjust="0"/>
    <p:restoredTop sz="94660"/>
  </p:normalViewPr>
  <p:slideViewPr>
    <p:cSldViewPr snapToGrid="0" snapToObjects="1">
      <p:cViewPr varScale="1">
        <p:scale>
          <a:sx n="78" d="100"/>
          <a:sy n="78" d="100"/>
        </p:scale>
        <p:origin x="629"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7.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John Chola, computer number 2021422054, and my supervisor is Mr. Martin Phiri. My project is ZamMarket: a mobile web app that helps people in Lusaka find charcoal sellers near them, and gives every seller a trust score that cannot be quietly edited.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an individual project, so I did all of the work myself, under Mr. Phiri's supervision. In numbers: four agile sprints plus a stabilisation period, eight modules, and 86 automated tests that all pass. It is live at zam-market-khaki.vercel.app. The app covers twenty-four Lusaka-area places.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ten minutes of slides, following the report, then a four-minute live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Charcoal is the most common cooking fuel in urban Zambia: 44 percent of urban households cook mainly with it. It is sold informally and in cash. Buyers find sellers by walking and asking, and cannot judge a stranger; sellers cannot prove they are reliable. WhatsApp posts can be edited, and online shops build trust through online payment, which these traders do not use. My aim: a mobile web app for local discovery with a trust score that cannot be quietly edited. (About 1 minute.)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The phone runs the React app, which can cache data and queue messages offline. It talks to the Express API over REST and to the chat server over WebSockets. Only the server can write to the trust chain, which is stored in MongoDB.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MongoDB collections. Two design decisions to point out: each trust block is its own document, with a unique index on seller and position so two simultaneous events cannot fork the chain; and the latest hash is also stored on the user, which lets us detect edits to the most recent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algorithm. Every event becomes a block whose hash covers the previous block's hash. When a profile is viewed, the server re-hashes everything and checks every link, and checks the last block against the hash stored on the seller. If anything was changed, the chain shows as broken. I chose a hash chain over a real blockchain because there is a single operator, so distributed consensus would add cost without benefit.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free tools. I tested mobile behaviour and voice input on an Android phone in Chrome, because that is what most sellers would use.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modules. Most are standard for a marketplace. The two highlighted ones are what make ZamMarket different: voice input, and the trust chain.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details I am proud of. One: a race condition. If two trust events arrived at the same moment, they could both claim the same position and fork the chain; a unique index plus a retry fixes that. Two: early on, every chain looked tampered, because MongoDB adds its own fields; I fixed that by re-hashing exactly what was originally hashed. Three: the voice parser understands spoken numbers.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honest challenges. The most interesting: I found a security hole myself during polishing. Anyone could register as an administrator by sending the word 'admin' to the API. Now sign-up only allows buyer or seller, and administrators are created by a script. Deployment failed twice; I traced it to four causes, fixed all four, and the system is now live.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system tests I ran on the live system with an Android phone on mobile data, plus B17, the most important automated test: editing the most recent trust block is caught by the hash stored on the seller. All 86 automated tests run on every push to GitHub. (About 1 minute.)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finding: you can give informal cash traders a verifiable reputation without online payment and without a real blockchain. Research questions 1 and 3 are answered largely yes; question 2 partly, because of the language limit.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honestly. The biggest is that there has been no user study. The trust chain is tamper-evident, not tamper-proof: someone with full database access could rebuild a whole chain. Anchoring the latest hash outside the database would fix that, and it is in my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of the five objectives are achieved; the fifth is partly achieved because the user study is still to be run, which is my first next step. Real SMS needs only a paid account and one setting. The main conclusion: a simple hash chain gives informal cash traders a verifiable reputation without online payment, and the system is live. Now I will show it. (About 1 minute.)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SCRIPT (about 4 minutes). Two minutes before: open the Render /api/health link to wake the server, and keep Render Logs open for registration codes. Have two browser windows open before you start: a buyer logged in on one, the seller on the other (or a phone). 1) As buyer: Browse, tap Kanyama, set a price range. 2) As seller: New Listing, Voice, say 'Hardwood charcoal, ten bags, ninety five kwacha each, Kanyama'; show the fields, tap Use This, post. 3) As buyer: open the listing, Message Seller; reply as seller. Turn on airplane mode, send a message and post a listing with a photo; show both waiting (My Listings shows 'Waiting to post'); turn data back on and show both delivered. 4) As buyer: Rate Seller, 5 stars; open the trust page and show the new block. 5) In MongoDB Atlas, edit one trustchains document (change a rating type); refresh the trust page: the score turns into a red 'Record has been altered' warning. 6) As admin: open the Integrity tab; the same seller is flagged and the tab shows a red badge. Undo the edit in Atlas, run the check again and show it clear. Then open the Verify tab and verify a seller; their score rises by 15, and the action appears in the Activity tab. If anything fails, fall back to the screenshots.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12-Oct-26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12-Oct-26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12-Oct-26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12-Oct-26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1417320"/>
            <a:ext cx="10332720" cy="1371600"/>
          </a:xfrm>
          <a:prstGeom prst="rect">
            <a:avLst/>
          </a:prstGeom>
          <a:noFill/>
        </p:spPr>
        <p:txBody>
          <a:bodyPr wrap="none">
            <a:spAutoFit/>
          </a:bodyPr>
          <a:lstStyle/>
          <a:p>
            <a:pPr algn="ctr">
              <a:defRPr sz="4000" b="1">
                <a:solidFill>
                  <a:srgbClr val="FFFFFF"/>
                </a:solidFill>
              </a:defRPr>
            </a:pPr>
            <a:r>
              <a:t>ZamMarket</a:t>
            </a:r>
          </a:p>
        </p:txBody>
      </p:sp>
      <p:sp>
        <p:nvSpPr>
          <p:cNvPr id="3" name="TextBox 2"/>
          <p:cNvSpPr txBox="1"/>
          <p:nvPr/>
        </p:nvSpPr>
        <p:spPr>
          <a:xfrm>
            <a:off x="2926080" y="3611880"/>
            <a:ext cx="6309360" cy="2246769"/>
          </a:xfrm>
          <a:prstGeom prst="rect">
            <a:avLst/>
          </a:prstGeom>
          <a:noFill/>
        </p:spPr>
        <p:txBody>
          <a:bodyPr wrap="none">
            <a:spAutoFit/>
          </a:bodyPr>
          <a:lstStyle/>
          <a:p>
            <a:pPr algn="ctr">
              <a:defRPr sz="2000">
                <a:solidFill>
                  <a:srgbClr val="FFFFFF"/>
                </a:solidFill>
              </a:defRPr>
            </a:pPr>
            <a:r>
              <a:t>Final Year Project Presentation</a:t>
            </a:r>
          </a:p>
          <a:p>
            <a:pPr algn="ctr">
              <a:defRPr sz="2000">
                <a:solidFill>
                  <a:srgbClr val="FFFFFF"/>
                </a:solidFill>
              </a:defRPr>
            </a:pPr>
            <a:r>
              <a:t>John Chola · 2021422054</a:t>
            </a:r>
          </a:p>
          <a:p>
            <a:pPr algn="ctr">
              <a:defRPr sz="2000">
                <a:solidFill>
                  <a:srgbClr val="FFFFFF"/>
                </a:solidFill>
              </a:defRPr>
            </a:pPr>
            <a:r>
              <a:t>Supervisor: Mr. Martin Phiri</a:t>
            </a:r>
          </a:p>
          <a:p>
            <a:pPr algn="ctr">
              <a:defRPr sz="2000">
                <a:solidFill>
                  <a:srgbClr val="FFFFFF"/>
                </a:solidFill>
              </a:defRPr>
            </a:pPr>
            <a:r>
              <a:t>University of Zambia</a:t>
            </a:r>
          </a:p>
          <a:p>
            <a:pPr algn="ctr">
              <a:defRPr sz="2000">
                <a:solidFill>
                  <a:srgbClr val="FFFFFF"/>
                </a:solidFill>
              </a:defRPr>
            </a:pPr>
            <a:r>
              <a:t>School of Natural and Applied Sciences</a:t>
            </a:r>
          </a:p>
          <a:p>
            <a:pPr algn="ctr">
              <a:defRPr sz="2000">
                <a:solidFill>
                  <a:srgbClr val="FFFFFF"/>
                </a:solidFill>
              </a:defRPr>
            </a:pPr>
            <a:r>
              <a:t>Department of Computing and Informatics</a:t>
            </a:r>
          </a:p>
          <a:p>
            <a:pPr algn="ctr">
              <a:defRPr sz="2000">
                <a:solidFill>
                  <a:srgbClr val="FFFFFF"/>
                </a:solidFill>
              </a:defRPr>
            </a:pPr>
            <a:r>
              <a:t>2026</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a:t>
            </a:r>
          </a:p>
        </p:txBody>
      </p:sp>
      <p:sp>
        <p:nvSpPr>
          <p:cNvPr id="6" name="Subtitle"/>
          <p:cNvSpPr txBox="1"/>
          <p:nvPr/>
        </p:nvSpPr>
        <p:spPr>
          <a:xfrm>
            <a:off x="1097280" y="2514600"/>
            <a:ext cx="9966960" cy="914400"/>
          </a:xfrm>
          <a:prstGeom prst="rect">
            <a:avLst/>
          </a:prstGeom>
          <a:noFill/>
        </p:spPr>
        <p:txBody>
          <a:bodyPr wrap="square" anchor="t" lIns="45720" rIns="45720" tIns="27432" bIns="27432">
            <a:spAutoFit/>
          </a:bodyPr>
          <a:lstStyle/>
          <a:p>
            <a:pPr algn="ctr">
              <a:spcAft>
                <a:spcPts val="600"/>
              </a:spcAft>
            </a:pPr>
            <a:r>
              <a:rPr sz="2200" b="0" i="0">
                <a:solidFill>
                  <a:srgbClr val="CFDAEA"/>
                </a:solidFill>
                <a:latin typeface="Calibri"/>
              </a:rPr>
              <a:t>A Progressive Web App for Local Charcoal Trading in Lusaka with a Tamper-Evident Seller Trust Score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Team Roles and Responsibilities</a:t>
            </a:r>
          </a:p>
        </p:txBody>
      </p:sp>
      <p:graphicFrame>
        <p:nvGraphicFramePr>
          <p:cNvPr id="3" name="Table 2"/>
          <p:cNvGraphicFramePr>
            <a:graphicFrameLocks noGrp="1"/>
          </p:cNvGraphicFramePr>
          <p:nvPr/>
        </p:nvGraphicFramePr>
        <p:xfrm>
          <a:off x="731520" y="1234440"/>
          <a:ext cx="10698480" cy="1280160"/>
        </p:xfrm>
        <a:graphic>
          <a:graphicData uri="http://schemas.openxmlformats.org/drawingml/2006/table">
            <a:tbl>
              <a:tblPr firstRow="1" bandRow="1">
                <a:tableStyleId>{5C22544A-7EE6-4342-B048-85BDC9FD1C3A}</a:tableStyleId>
              </a:tblPr>
              <a:tblGrid>
                <a:gridCol w="30175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731520">
                <a:tc>
                  <a:txBody>
                    <a:bodyPr/>
                    <a:lstStyle/>
                    <a:p>
                      <a:pPr>
                        <a:defRPr sz="1400" b="1">
                          <a:solidFill>
                            <a:srgbClr val="FFFFFF"/>
                          </a:solidFill>
                        </a:defRPr>
                      </a:pPr>
                      <a:r>
                        <a:rPr sz="1500"/>
                        <a:t>Member</a:t>
                      </a:r>
                    </a:p>
                  </a:txBody>
                  <a:tcPr>
                    <a:solidFill>
                      <a:srgbClr val="192D4B"/>
                    </a:solidFill>
                  </a:tcPr>
                </a:tc>
                <a:tc>
                  <a:txBody>
                    <a:bodyPr/>
                    <a:lstStyle/>
                    <a:p>
                      <a:pPr>
                        <a:defRPr sz="1400" b="1">
                          <a:solidFill>
                            <a:srgbClr val="FFFFFF"/>
                          </a:solidFill>
                        </a:defRPr>
                      </a:pPr>
                      <a:r>
                        <a:rPr sz="1500"/>
                        <a:t>Computer No.</a:t>
                      </a:r>
                    </a:p>
                  </a:txBody>
                  <a:tcPr>
                    <a:solidFill>
                      <a:srgbClr val="192D4B"/>
                    </a:solidFill>
                  </a:tcPr>
                </a:tc>
                <a:tc>
                  <a:txBody>
                    <a:bodyPr/>
                    <a:lstStyle/>
                    <a:p>
                      <a:pPr>
                        <a:defRPr sz="1400" b="1">
                          <a:solidFill>
                            <a:srgbClr val="FFFFFF"/>
                          </a:solidFill>
                        </a:defRPr>
                      </a:pPr>
                      <a:r>
                        <a:rPr sz="1500"/>
                        <a:t>Primary Role / Responsibilities</a:t>
                      </a:r>
                    </a:p>
                  </a:txBody>
                  <a:tcPr>
                    <a:solidFill>
                      <a:srgbClr val="192D4B"/>
                    </a:solidFill>
                  </a:tcPr>
                </a:tc>
                <a:extLst>
                  <a:ext uri="{0D108BD9-81ED-4DB2-BD59-A6C34878D82A}">
                    <a16:rowId xmlns:a16="http://schemas.microsoft.com/office/drawing/2014/main" val="10000"/>
                  </a:ext>
                </a:extLst>
              </a:tr>
              <a:tr h="731520">
                <a:tc>
                  <a:txBody>
                    <a:bodyPr/>
                    <a:lstStyle/>
                    <a:p>
                      <a:pPr>
                        <a:defRPr sz="1300">
                          <a:solidFill>
                            <a:srgbClr val="232323"/>
                          </a:solidFill>
                        </a:defRPr>
                      </a:pPr>
                      <a:r>
                        <a:rPr sz="1600"/>
                        <a:t>John Chola</a:t>
                      </a:r>
                    </a:p>
                  </a:txBody>
                  <a:tcPr>
                    <a:solidFill>
                      <a:srgbClr val="F2F5F9"/>
                    </a:solidFill>
                  </a:tcPr>
                </a:tc>
                <a:tc>
                  <a:txBody>
                    <a:bodyPr/>
                    <a:lstStyle/>
                    <a:p>
                      <a:pPr>
                        <a:defRPr sz="1300">
                          <a:solidFill>
                            <a:srgbClr val="232323"/>
                          </a:solidFill>
                        </a:defRPr>
                      </a:pPr>
                      <a:r>
                        <a:rPr sz="1600"/>
                        <a:t>2021422054</a:t>
                      </a:r>
                    </a:p>
                  </a:txBody>
                  <a:tcPr>
                    <a:solidFill>
                      <a:srgbClr val="F2F5F9"/>
                    </a:solidFill>
                  </a:tcPr>
                </a:tc>
                <a:tc>
                  <a:txBody>
                    <a:bodyPr/>
                    <a:lstStyle/>
                    <a:p>
                      <a:pPr>
                        <a:defRPr sz="1300">
                          <a:solidFill>
                            <a:srgbClr val="232323"/>
                          </a:solidFill>
                        </a:defRPr>
                      </a:pPr>
                      <a:r>
                        <a:rPr sz="1600"/>
                        <a:t>Sole developer: requirements, literature review, design, full-stack implementation, testing and report</a:t>
                      </a:r>
                    </a:p>
                  </a:txBody>
                  <a:tcPr>
                    <a:solidFill>
                      <a:srgbClr val="F2F5F9"/>
                    </a:solidFill>
                  </a:tcPr>
                </a:tc>
                <a:extLst>
                  <a:ext uri="{0D108BD9-81ED-4DB2-BD59-A6C34878D82A}">
                    <a16:rowId xmlns:a16="http://schemas.microsoft.com/office/drawing/2014/main" val="10001"/>
                  </a:ext>
                </a:extLst>
              </a:tr>
            </a:tbl>
          </a:graphicData>
        </a:graphic>
      </p:graphicFrame>
      <p:sp>
        <p:nvSpPr>
          <p:cNvPr id="4" name="TextBox 3"/>
          <p:cNvSpPr txBox="1"/>
          <p:nvPr/>
        </p:nvSpPr>
        <p:spPr>
          <a:xfrm>
            <a:off x="777240" y="5577840"/>
            <a:ext cx="10515600" cy="365760"/>
          </a:xfrm>
          <a:prstGeom prst="rect">
            <a:avLst/>
          </a:prstGeom>
          <a:noFill/>
        </p:spPr>
        <p:txBody>
          <a:bodyPr wrap="none">
            <a:spAutoFit/>
          </a:bodyPr>
          <a:lstStyle/>
          <a:p>
            <a:pPr>
              <a:defRPr sz="1500" b="1">
                <a:solidFill>
                  <a:srgbClr val="192D4B"/>
                </a:solidFill>
              </a:defRPr>
            </a:pPr>
            <a:r>
              <a:t>Supervisor: Mr. Martin Phiri · Individual project</a:t>
            </a:r>
          </a:p>
        </p:txBody>
      </p:sp>
      <p:sp>
        <p:nvSpPr>
          <p:cNvPr id="5" name="Rectangle 4"/>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a:t>
            </a:r>
          </a:p>
        </p:txBody>
      </p:sp>
      <p:sp>
        <p:nvSpPr>
          <p:cNvPr id="7" name="Rounded Rectangle 6"/>
          <p:cNvSpPr/>
          <p:nvPr/>
        </p:nvSpPr>
        <p:spPr>
          <a:xfrm>
            <a:off x="7315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4</a:t>
            </a:r>
          </a:p>
        </p:txBody>
      </p:sp>
      <p:sp>
        <p:nvSpPr>
          <p:cNvPr id="9" name="TextBox 8"/>
          <p:cNvSpPr txBox="1"/>
          <p:nvPr/>
        </p:nvSpPr>
        <p:spPr>
          <a:xfrm>
            <a:off x="868680"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agile sprints + a
stabilisation period</a:t>
            </a:r>
          </a:p>
        </p:txBody>
      </p:sp>
      <p:sp>
        <p:nvSpPr>
          <p:cNvPr id="10" name="Rounded Rectangle 9"/>
          <p:cNvSpPr/>
          <p:nvPr/>
        </p:nvSpPr>
        <p:spPr>
          <a:xfrm>
            <a:off x="34747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8</a:t>
            </a:r>
          </a:p>
        </p:txBody>
      </p:sp>
      <p:sp>
        <p:nvSpPr>
          <p:cNvPr id="12" name="TextBox 11"/>
          <p:cNvSpPr txBox="1"/>
          <p:nvPr/>
        </p:nvSpPr>
        <p:spPr>
          <a:xfrm>
            <a:off x="3611879"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system modules</a:t>
            </a:r>
          </a:p>
        </p:txBody>
      </p:sp>
      <p:sp>
        <p:nvSpPr>
          <p:cNvPr id="13" name="Rounded Rectangle 12"/>
          <p:cNvSpPr/>
          <p:nvPr/>
        </p:nvSpPr>
        <p:spPr>
          <a:xfrm>
            <a:off x="62179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D85A30"/>
                </a:solidFill>
                <a:latin typeface="Calibri"/>
              </a:rPr>
              <a:t>86</a:t>
            </a:r>
          </a:p>
        </p:txBody>
      </p:sp>
      <p:sp>
        <p:nvSpPr>
          <p:cNvPr id="15" name="TextBox 14"/>
          <p:cNvSpPr txBox="1"/>
          <p:nvPr/>
        </p:nvSpPr>
        <p:spPr>
          <a:xfrm>
            <a:off x="6355080"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automated tests,
all passing</a:t>
            </a:r>
          </a:p>
        </p:txBody>
      </p:sp>
      <p:sp>
        <p:nvSpPr>
          <p:cNvPr id="16" name="Rounded Rectangle 15"/>
          <p:cNvSpPr/>
          <p:nvPr/>
        </p:nvSpPr>
        <p:spPr>
          <a:xfrm>
            <a:off x="89611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24</a:t>
            </a:r>
          </a:p>
        </p:txBody>
      </p:sp>
      <p:sp>
        <p:nvSpPr>
          <p:cNvPr id="18" name="TextBox 17"/>
          <p:cNvSpPr txBox="1"/>
          <p:nvPr/>
        </p:nvSpPr>
        <p:spPr>
          <a:xfrm>
            <a:off x="9098280"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Lusaka-area places
supported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Presentation Overview</a:t>
            </a:r>
          </a:p>
        </p:txBody>
      </p:sp>
      <p:sp>
        <p:nvSpPr>
          <p:cNvPr id="3" name="TextBox 2"/>
          <p:cNvSpPr txBox="1"/>
          <p:nvPr/>
        </p:nvSpPr>
        <p:spPr>
          <a:xfrm>
            <a:off x="822960" y="1325880"/>
            <a:ext cx="10607040" cy="3277820"/>
          </a:xfrm>
          <a:prstGeom prst="rect">
            <a:avLst/>
          </a:prstGeom>
          <a:noFill/>
        </p:spPr>
        <p:txBody>
          <a:bodyPr wrap="square">
            <a:spAutoFit/>
          </a:bodyPr>
          <a:lstStyle/>
          <a:p>
            <a:pPr>
              <a:spcAft>
                <a:spcPts val="1200"/>
              </a:spcAft>
              <a:defRPr sz="2100">
                <a:solidFill>
                  <a:srgbClr val="232323"/>
                </a:solidFill>
              </a:defRPr>
            </a:pPr>
            <a:r>
              <a:rPr lang="en-US" dirty="0"/>
              <a:t>Background </a:t>
            </a:r>
            <a:r>
              <a:rPr lang="en-US"/>
              <a:t>and Context</a:t>
            </a:r>
            <a:endParaRPr dirty="0"/>
          </a:p>
          <a:p>
            <a:pPr>
              <a:spcAft>
                <a:spcPts val="1200"/>
              </a:spcAft>
              <a:defRPr sz="2100">
                <a:solidFill>
                  <a:srgbClr val="232323"/>
                </a:solidFill>
              </a:defRPr>
            </a:pPr>
            <a:r>
              <a:rPr dirty="0"/>
              <a:t>System Analysis and Design</a:t>
            </a:r>
          </a:p>
          <a:p>
            <a:pPr>
              <a:spcAft>
                <a:spcPts val="1200"/>
              </a:spcAft>
              <a:defRPr sz="2100">
                <a:solidFill>
                  <a:srgbClr val="232323"/>
                </a:solidFill>
              </a:defRPr>
            </a:pPr>
            <a:r>
              <a:rPr dirty="0"/>
              <a:t>Implementation / Development</a:t>
            </a:r>
          </a:p>
          <a:p>
            <a:pPr>
              <a:spcAft>
                <a:spcPts val="1200"/>
              </a:spcAft>
              <a:defRPr sz="2100">
                <a:solidFill>
                  <a:srgbClr val="232323"/>
                </a:solidFill>
              </a:defRPr>
            </a:pPr>
            <a:r>
              <a:rPr dirty="0"/>
              <a:t>Testing, Results and Evaluation</a:t>
            </a:r>
          </a:p>
          <a:p>
            <a:pPr>
              <a:spcAft>
                <a:spcPts val="1200"/>
              </a:spcAft>
              <a:defRPr sz="2100">
                <a:solidFill>
                  <a:srgbClr val="232323"/>
                </a:solidFill>
              </a:defRPr>
            </a:pPr>
            <a:r>
              <a:rPr dirty="0"/>
              <a:t>Discussion</a:t>
            </a:r>
          </a:p>
          <a:p>
            <a:pPr>
              <a:spcAft>
                <a:spcPts val="1200"/>
              </a:spcAft>
              <a:defRPr sz="2100">
                <a:solidFill>
                  <a:srgbClr val="232323"/>
                </a:solidFill>
              </a:defRPr>
            </a:pPr>
            <a:r>
              <a:rPr dirty="0"/>
              <a:t>Conclusion</a:t>
            </a:r>
            <a:r>
              <a:rPr lang="en-US" dirty="0"/>
              <a:t> </a:t>
            </a:r>
          </a:p>
          <a:p>
            <a:pPr>
              <a:spcAft>
                <a:spcPts val="1200"/>
              </a:spcAft>
              <a:defRPr sz="2100">
                <a:solidFill>
                  <a:srgbClr val="232323"/>
                </a:solidFill>
              </a:defRPr>
            </a:pPr>
            <a:r>
              <a:rPr dirty="0"/>
              <a:t>System Demonstration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Background and Context</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4</a:t>
            </a:r>
            <a:r>
              <a:rPr lang="en-US" dirty="0"/>
              <a:t/>
            </a:r>
            <a:endParaRPr dirty="0"/>
          </a:p>
        </p:txBody>
      </p:sp>
      <p:sp>
        <p:nvSpPr>
          <p:cNvPr id="6" name="TextBox 5"/>
          <p:cNvSpPr txBox="1"/>
          <p:nvPr/>
        </p:nvSpPr>
        <p:spPr>
          <a:xfrm>
            <a:off x="731520" y="1234440"/>
            <a:ext cx="6766560" cy="3566160"/>
          </a:xfrm>
          <a:prstGeom prst="rect">
            <a:avLst/>
          </a:prstGeom>
          <a:noFill/>
        </p:spPr>
        <p:txBody>
          <a:bodyPr wrap="square" anchor="t" lIns="45720" rIns="45720" tIns="27432" bIns="27432">
            <a:spAutoFit/>
          </a:bodyPr>
          <a:lstStyle/>
          <a:p>
            <a:pPr algn="l">
              <a:spcAft>
                <a:spcPts val="1200"/>
              </a:spcAft>
            </a:pPr>
            <a:r>
              <a:rPr sz="1800" b="1" i="0">
                <a:solidFill>
                  <a:srgbClr val="192D4B"/>
                </a:solidFill>
                <a:latin typeface="Calibri"/>
              </a:rPr>
              <a:t>Charcoal is the main cooking fuel </a:t>
            </a:r>
            <a:r>
              <a:rPr sz="1800" b="0" i="0">
                <a:solidFill>
                  <a:srgbClr val="232323"/>
                </a:solidFill>
                <a:latin typeface="Calibri"/>
              </a:rPr>
              <a:t>for most urban Zambian households, even those with electricity.</a:t>
            </a:r>
          </a:p>
          <a:p>
            <a:pPr algn="l">
              <a:spcAft>
                <a:spcPts val="1200"/>
              </a:spcAft>
            </a:pPr>
            <a:r>
              <a:rPr sz="1800" b="1" i="0">
                <a:solidFill>
                  <a:srgbClr val="192D4B"/>
                </a:solidFill>
                <a:latin typeface="Calibri"/>
              </a:rPr>
              <a:t>It is sold informally, </a:t>
            </a:r>
            <a:r>
              <a:rPr sz="1800" b="0" i="0">
                <a:solidFill>
                  <a:srgbClr val="232323"/>
                </a:solidFill>
                <a:latin typeface="Calibri"/>
              </a:rPr>
              <a:t>face to face and in cash; buyers find sellers by walking around and asking.</a:t>
            </a:r>
          </a:p>
          <a:p>
            <a:pPr algn="l">
              <a:spcAft>
                <a:spcPts val="1200"/>
              </a:spcAft>
            </a:pPr>
            <a:r>
              <a:rPr sz="1800" b="1" i="0">
                <a:solidFill>
                  <a:srgbClr val="192D4B"/>
                </a:solidFill>
                <a:latin typeface="Calibri"/>
              </a:rPr>
              <a:t>Trust is the gap: </a:t>
            </a:r>
            <a:r>
              <a:rPr sz="1800" b="0" i="0">
                <a:solidFill>
                  <a:srgbClr val="232323"/>
                </a:solidFill>
                <a:latin typeface="Calibri"/>
              </a:rPr>
              <a:t>sellers have no record of good conduct, and buyers cannot judge strangers. WhatsApp posts can be edited; online shops need online payment.</a:t>
            </a:r>
          </a:p>
          <a:p>
            <a:pPr algn="l">
              <a:spcAft>
                <a:spcPts val="1200"/>
              </a:spcAft>
            </a:pPr>
            <a:r>
              <a:rPr sz="1800" b="1" i="0">
                <a:solidFill>
                  <a:srgbClr val="192D4B"/>
                </a:solidFill>
                <a:latin typeface="Calibri"/>
              </a:rPr>
              <a:t>Who benefits: </a:t>
            </a:r>
            <a:r>
              <a:rPr sz="1800" b="0" i="0">
                <a:solidFill>
                  <a:srgbClr val="232323"/>
                </a:solidFill>
                <a:latin typeface="Calibri"/>
              </a:rPr>
              <a:t>charcoal sellers, charcoal buyers, and the administrators who keep the market honest.</a:t>
            </a:r>
          </a:p>
        </p:txBody>
      </p:sp>
      <p:sp>
        <p:nvSpPr>
          <p:cNvPr id="7" name="Rounded Rectangle 6"/>
          <p:cNvSpPr/>
          <p:nvPr/>
        </p:nvSpPr>
        <p:spPr>
          <a:xfrm>
            <a:off x="7863840" y="1325880"/>
            <a:ext cx="3657600" cy="342900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463040"/>
            <a:ext cx="3657600" cy="1097280"/>
          </a:xfrm>
          <a:prstGeom prst="rect">
            <a:avLst/>
          </a:prstGeom>
          <a:noFill/>
        </p:spPr>
        <p:txBody>
          <a:bodyPr wrap="square" anchor="t" lIns="45720" rIns="45720" tIns="27432" bIns="27432">
            <a:spAutoFit/>
          </a:bodyPr>
          <a:lstStyle/>
          <a:p>
            <a:pPr algn="ctr">
              <a:spcAft>
                <a:spcPts val="600"/>
              </a:spcAft>
            </a:pPr>
            <a:r>
              <a:rPr sz="5600" b="1" i="0">
                <a:solidFill>
                  <a:srgbClr val="FFFFFF"/>
                </a:solidFill>
                <a:latin typeface="Calibri"/>
              </a:rPr>
              <a:t>44%</a:t>
            </a:r>
          </a:p>
        </p:txBody>
      </p:sp>
      <p:sp>
        <p:nvSpPr>
          <p:cNvPr id="9" name="TextBox 8"/>
          <p:cNvSpPr txBox="1"/>
          <p:nvPr/>
        </p:nvSpPr>
        <p:spPr>
          <a:xfrm>
            <a:off x="8046720" y="2560320"/>
            <a:ext cx="3291840" cy="1097280"/>
          </a:xfrm>
          <a:prstGeom prst="rect">
            <a:avLst/>
          </a:prstGeom>
          <a:noFill/>
        </p:spPr>
        <p:txBody>
          <a:bodyPr wrap="square" anchor="t" lIns="45720" rIns="45720" tIns="27432" bIns="27432">
            <a:spAutoFit/>
          </a:bodyPr>
          <a:lstStyle/>
          <a:p>
            <a:pPr algn="ctr">
              <a:spcAft>
                <a:spcPts val="600"/>
              </a:spcAft>
            </a:pPr>
            <a:r>
              <a:rPr sz="1600" b="0" i="0">
                <a:solidFill>
                  <a:srgbClr val="FFFFFF"/>
                </a:solidFill>
                <a:latin typeface="Calibri"/>
              </a:rPr>
              <a:t>of urban households cook mainly with charcoal alone</a:t>
            </a:r>
          </a:p>
        </p:txBody>
      </p:sp>
      <p:sp>
        <p:nvSpPr>
          <p:cNvPr id="10" name="TextBox 9"/>
          <p:cNvSpPr txBox="1"/>
          <p:nvPr/>
        </p:nvSpPr>
        <p:spPr>
          <a:xfrm>
            <a:off x="8046720" y="3520440"/>
            <a:ext cx="3291840" cy="731520"/>
          </a:xfrm>
          <a:prstGeom prst="rect">
            <a:avLst/>
          </a:prstGeom>
          <a:noFill/>
        </p:spPr>
        <p:txBody>
          <a:bodyPr wrap="square" anchor="t" lIns="45720" rIns="45720" tIns="27432" bIns="27432">
            <a:spAutoFit/>
          </a:bodyPr>
          <a:lstStyle/>
          <a:p>
            <a:pPr algn="ctr">
              <a:spcAft>
                <a:spcPts val="600"/>
              </a:spcAft>
            </a:pPr>
            <a:r>
              <a:rPr sz="1400" b="0" i="0">
                <a:solidFill>
                  <a:srgbClr val="CFDAEA"/>
                </a:solidFill>
                <a:latin typeface="Calibri"/>
              </a:rPr>
              <a:t>A further 38% combine charcoal and electricity</a:t>
            </a:r>
          </a:p>
        </p:txBody>
      </p:sp>
      <p:sp>
        <p:nvSpPr>
          <p:cNvPr id="11" name="TextBox 10"/>
          <p:cNvSpPr txBox="1"/>
          <p:nvPr/>
        </p:nvSpPr>
        <p:spPr>
          <a:xfrm>
            <a:off x="8046720" y="4251960"/>
            <a:ext cx="3291840" cy="411480"/>
          </a:xfrm>
          <a:prstGeom prst="rect">
            <a:avLst/>
          </a:prstGeom>
          <a:noFill/>
        </p:spPr>
        <p:txBody>
          <a:bodyPr wrap="square" anchor="t" lIns="45720" rIns="45720" tIns="27432" bIns="27432">
            <a:spAutoFit/>
          </a:bodyPr>
          <a:lstStyle/>
          <a:p>
            <a:pPr algn="ctr">
              <a:spcAft>
                <a:spcPts val="600"/>
              </a:spcAft>
            </a:pPr>
            <a:r>
              <a:rPr sz="1100" b="0" i="0">
                <a:solidFill>
                  <a:srgbClr val="CFDAEA"/>
                </a:solidFill>
                <a:latin typeface="Calibri"/>
              </a:rPr>
              <a:t>Tembo, Mulenga &amp; Sitko (2015), IAPRI</a:t>
            </a:r>
          </a:p>
        </p:txBody>
      </p:sp>
      <p:sp>
        <p:nvSpPr>
          <p:cNvPr id="12" name="Rounded Rectangle 11"/>
          <p:cNvSpPr/>
          <p:nvPr/>
        </p:nvSpPr>
        <p:spPr>
          <a:xfrm>
            <a:off x="731520" y="4983480"/>
            <a:ext cx="10789920" cy="105156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029200"/>
            <a:ext cx="10332720" cy="960120"/>
          </a:xfrm>
          <a:prstGeom prst="rect">
            <a:avLst/>
          </a:prstGeom>
          <a:noFill/>
        </p:spPr>
        <p:txBody>
          <a:bodyPr wrap="square" anchor="ctr" lIns="45720" rIns="45720" tIns="27432" bIns="27432">
            <a:spAutoFit/>
          </a:bodyPr>
          <a:lstStyle/>
          <a:p>
            <a:pPr algn="l">
              <a:spcAft>
                <a:spcPts val="600"/>
              </a:spcAft>
            </a:pPr>
            <a:r>
              <a:rPr sz="1700" b="1" i="0">
                <a:solidFill>
                  <a:srgbClr val="D85A30"/>
                </a:solidFill>
                <a:latin typeface="Calibri"/>
              </a:rPr>
              <a:t>Aim: </a:t>
            </a:r>
            <a:r>
              <a:rPr sz="1700" b="0" i="0">
                <a:solidFill>
                  <a:srgbClr val="232323"/>
                </a:solidFill>
                <a:latin typeface="Calibri"/>
              </a:rPr>
              <a:t>a mobile web app that connects charcoal sellers and buyers by neighbourhood, lets sellers list by voice, works on poor connections, and gives every seller a tamper-evident trust score.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System Architecture</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5</a:t>
            </a:r>
            <a:r>
              <a:rPr lang="en-US" dirty="0"/>
              <a:t/>
            </a:r>
            <a:endParaRPr dirty="0"/>
          </a:p>
        </p:txBody>
      </p:sp>
      <p:pic>
        <p:nvPicPr>
          <p:cNvPr id="6" name="Picture 5" descr="mcp-Claude_Docs-blob-1791666873468-bodkyw.png"/>
          <p:cNvPicPr>
            <a:picLocks noChangeAspect="1"/>
          </p:cNvPicPr>
          <p:nvPr/>
        </p:nvPicPr>
        <p:blipFill>
          <a:blip r:embed="rId2"/>
          <a:stretch>
            <a:fillRect/>
          </a:stretch>
        </p:blipFill>
        <p:spPr>
          <a:xfrm>
            <a:off x="548640" y="1188720"/>
            <a:ext cx="7080124" cy="4983480"/>
          </a:xfrm>
          <a:prstGeom prst="rect">
            <a:avLst/>
          </a:prstGeom>
        </p:spPr>
      </p:pic>
      <p:sp>
        <p:nvSpPr>
          <p:cNvPr id="7" name="TextBox 6"/>
          <p:cNvSpPr txBox="1"/>
          <p:nvPr/>
        </p:nvSpPr>
        <p:spPr>
          <a:xfrm>
            <a:off x="7863840" y="1371600"/>
            <a:ext cx="3749039" cy="4572000"/>
          </a:xfrm>
          <a:prstGeom prst="rect">
            <a:avLst/>
          </a:prstGeom>
          <a:noFill/>
        </p:spPr>
        <p:txBody>
          <a:bodyPr wrap="square" anchor="t" lIns="45720" rIns="45720" tIns="27432" bIns="27432">
            <a:spAutoFit/>
          </a:bodyPr>
          <a:lstStyle/>
          <a:p>
            <a:pPr algn="l">
              <a:spcAft>
                <a:spcPts val="1400"/>
              </a:spcAft>
            </a:pPr>
            <a:r>
              <a:rPr sz="1600" b="1" i="0">
                <a:solidFill>
                  <a:srgbClr val="192D4B"/>
                </a:solidFill>
                <a:latin typeface="Calibri"/>
              </a:rPr>
              <a:t>Presentation: </a:t>
            </a:r>
            <a:r>
              <a:rPr sz="1600" b="0" i="0">
                <a:solidFill>
                  <a:srgbClr val="232323"/>
                </a:solidFill>
                <a:latin typeface="Calibri"/>
              </a:rPr>
              <a:t>React PWA on the phone, with offline cache and message queue.</a:t>
            </a:r>
          </a:p>
          <a:p>
            <a:pPr algn="l">
              <a:spcAft>
                <a:spcPts val="1400"/>
              </a:spcAft>
            </a:pPr>
            <a:r>
              <a:rPr sz="1600" b="1" i="0">
                <a:solidFill>
                  <a:srgbClr val="192D4B"/>
                </a:solidFill>
                <a:latin typeface="Calibri"/>
              </a:rPr>
              <a:t>Application: </a:t>
            </a:r>
            <a:r>
              <a:rPr sz="1600" b="0" i="0">
                <a:solidFill>
                  <a:srgbClr val="232323"/>
                </a:solidFill>
                <a:latin typeface="Calibri"/>
              </a:rPr>
              <a:t>Express REST API and Socket.io server. Only the server writes trust blocks.</a:t>
            </a:r>
          </a:p>
          <a:p>
            <a:pPr algn="l">
              <a:spcAft>
                <a:spcPts val="1400"/>
              </a:spcAft>
            </a:pPr>
            <a:r>
              <a:rPr sz="1600" b="1" i="0">
                <a:solidFill>
                  <a:srgbClr val="192D4B"/>
                </a:solidFill>
                <a:latin typeface="Calibri"/>
              </a:rPr>
              <a:t>Data: </a:t>
            </a:r>
            <a:r>
              <a:rPr sz="1600" b="0" i="0">
                <a:solidFill>
                  <a:srgbClr val="232323"/>
                </a:solidFill>
                <a:latin typeface="Calibri"/>
              </a:rPr>
              <a:t>MongoDB Atlas (seven collections) and Cloudinary for photos.</a:t>
            </a:r>
          </a:p>
          <a:p>
            <a:pPr algn="l">
              <a:spcAft>
                <a:spcPts val="1400"/>
              </a:spcAft>
            </a:pPr>
            <a:r>
              <a:rPr sz="1600" b="1" i="0">
                <a:solidFill>
                  <a:srgbClr val="D85A30"/>
                </a:solidFill>
                <a:latin typeface="Calibri"/>
              </a:rPr>
              <a:t>Highlighted: </a:t>
            </a:r>
            <a:r>
              <a:rPr sz="1600" b="0" i="0">
                <a:solidFill>
                  <a:srgbClr val="232323"/>
                </a:solidFill>
                <a:latin typeface="Calibri"/>
              </a:rPr>
              <a:t>the trust module and TrustChain collection.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23220"/>
          </a:xfrm>
          <a:prstGeom prst="rect">
            <a:avLst/>
          </a:prstGeom>
          <a:noFill/>
        </p:spPr>
        <p:txBody>
          <a:bodyPr wrap="none">
            <a:spAutoFit/>
          </a:bodyPr>
          <a:lstStyle/>
          <a:p>
            <a:pPr algn="ctr">
              <a:defRPr sz="2800" b="1">
                <a:solidFill>
                  <a:srgbClr val="192D4B"/>
                </a:solidFill>
              </a:defRPr>
            </a:pPr>
            <a:r>
              <a:t>Database / Data Design</a:t>
            </a:r>
            <a:endParaRPr dirty="0"/>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6</a:t>
            </a:r>
            <a:r>
              <a:rPr lang="en-US" dirty="0"/>
              <a:t/>
            </a:r>
            <a:endParaRPr dirty="0"/>
          </a:p>
        </p:txBody>
      </p:sp>
      <p:graphicFrame>
        <p:nvGraphicFramePr>
          <p:cNvPr id="6" name="Table 5"/>
          <p:cNvGraphicFramePr>
            <a:graphicFrameLocks noGrp="1"/>
          </p:cNvGraphicFramePr>
          <p:nvPr/>
        </p:nvGraphicFramePr>
        <p:xfrm>
          <a:off x="548640" y="1234440"/>
          <a:ext cx="11064240" cy="4096512"/>
        </p:xfrm>
        <a:graphic>
          <a:graphicData uri="http://schemas.openxmlformats.org/drawingml/2006/table">
            <a:tbl>
              <a:tblPr firstRow="1" bandRow="1">
                <a:tableStyleId>{5C22544A-7EE6-4342-B048-85BDC9FD1C3A}</a:tableStyleId>
              </a:tblPr>
              <a:tblGrid>
                <a:gridCol w="1828800"/>
                <a:gridCol w="5120640"/>
                <a:gridCol w="4114800"/>
              </a:tblGrid>
              <a:tr h="512064">
                <a:tc>
                  <a:txBody>
                    <a:bodyPr wrap="square"/>
                    <a:lstStyle/>
                    <a:p>
                      <a:r>
                        <a:rPr sz="1400" b="1">
                          <a:solidFill>
                            <a:srgbClr val="FFFFFF"/>
                          </a:solidFill>
                          <a:latin typeface="Calibri"/>
                        </a:rPr>
                        <a:t>Collection</a:t>
                      </a:r>
                    </a:p>
                  </a:txBody>
                  <a:tcPr marL="73152" marR="73152" marT="36576" marB="36576" anchor="ctr">
                    <a:solidFill>
                      <a:srgbClr val="192D4B"/>
                    </a:solidFill>
                  </a:tcPr>
                </a:tc>
                <a:tc>
                  <a:txBody>
                    <a:bodyPr wrap="square"/>
                    <a:lstStyle/>
                    <a:p>
                      <a:r>
                        <a:rPr sz="1400" b="1">
                          <a:solidFill>
                            <a:srgbClr val="FFFFFF"/>
                          </a:solidFill>
                          <a:latin typeface="Calibri"/>
                        </a:rPr>
                        <a:t>Key fields</a:t>
                      </a:r>
                    </a:p>
                  </a:txBody>
                  <a:tcPr marL="73152" marR="73152" marT="36576" marB="36576" anchor="ctr">
                    <a:solidFill>
                      <a:srgbClr val="192D4B"/>
                    </a:solidFill>
                  </a:tcPr>
                </a:tc>
                <a:tc>
                  <a:txBody>
                    <a:bodyPr wrap="square"/>
                    <a:lstStyle/>
                    <a:p>
                      <a:r>
                        <a:rPr sz="1400" b="1">
                          <a:solidFill>
                            <a:srgbClr val="FFFFFF"/>
                          </a:solidFill>
                          <a:latin typeface="Calibri"/>
                        </a:rPr>
                        <a:t>Design decision</a:t>
                      </a:r>
                    </a:p>
                  </a:txBody>
                  <a:tcPr marL="73152" marR="73152" marT="36576" marB="36576" anchor="ctr">
                    <a:solidFill>
                      <a:srgbClr val="192D4B"/>
                    </a:solidFill>
                  </a:tcPr>
                </a:tc>
              </a:tr>
              <a:tr h="512064">
                <a:tc>
                  <a:txBody>
                    <a:bodyPr wrap="square"/>
                    <a:lstStyle/>
                    <a:p>
                      <a:r>
                        <a:rPr sz="1400" b="0">
                          <a:solidFill>
                            <a:srgbClr val="232323"/>
                          </a:solidFill>
                          <a:latin typeface="Calibri"/>
                        </a:rPr>
                        <a:t>User</a:t>
                      </a:r>
                    </a:p>
                  </a:txBody>
                  <a:tcPr marL="73152" marR="73152" marT="36576" marB="36576" anchor="ctr">
                    <a:solidFill>
                      <a:srgbClr val="FFFFFF"/>
                    </a:solidFill>
                  </a:tcPr>
                </a:tc>
                <a:tc>
                  <a:txBody>
                    <a:bodyPr wrap="square"/>
                    <a:lstStyle/>
                    <a:p>
                      <a:r>
                        <a:rPr sz="1400" b="0">
                          <a:solidFill>
                            <a:srgbClr val="232323"/>
                          </a:solidFill>
                          <a:latin typeface="Calibri"/>
                        </a:rPr>
                        <a:t>phone (unique), role, neighbourhood, trustScore {score, chainHash}</a:t>
                      </a:r>
                    </a:p>
                  </a:txBody>
                  <a:tcPr marL="73152" marR="73152" marT="36576" marB="36576" anchor="ctr">
                    <a:solidFill>
                      <a:srgbClr val="FFFFFF"/>
                    </a:solidFill>
                  </a:tcPr>
                </a:tc>
                <a:tc>
                  <a:txBody>
                    <a:bodyPr wrap="square"/>
                    <a:lstStyle/>
                    <a:p>
                      <a:r>
                        <a:rPr sz="1400" b="0">
                          <a:solidFill>
                            <a:srgbClr val="232323"/>
                          </a:solidFill>
                          <a:latin typeface="Calibri"/>
                        </a:rPr>
                        <a:t>Head hash of the chain stored here</a:t>
                      </a:r>
                    </a:p>
                  </a:txBody>
                  <a:tcPr marL="73152" marR="73152" marT="36576" marB="36576" anchor="ctr">
                    <a:solidFill>
                      <a:srgbClr val="FFFFFF"/>
                    </a:solidFill>
                  </a:tcPr>
                </a:tc>
              </a:tr>
              <a:tr h="512064">
                <a:tc>
                  <a:txBody>
                    <a:bodyPr wrap="square"/>
                    <a:lstStyle/>
                    <a:p>
                      <a:r>
                        <a:rPr sz="1400" b="0">
                          <a:solidFill>
                            <a:srgbClr val="232323"/>
                          </a:solidFill>
                          <a:latin typeface="Calibri"/>
                        </a:rPr>
                        <a:t>Listing</a:t>
                      </a:r>
                    </a:p>
                  </a:txBody>
                  <a:tcPr marL="73152" marR="73152" marT="36576" marB="36576" anchor="ctr">
                    <a:solidFill>
                      <a:srgbClr val="EEF2F7"/>
                    </a:solidFill>
                  </a:tcPr>
                </a:tc>
                <a:tc>
                  <a:txBody>
                    <a:bodyPr wrap="square"/>
                    <a:lstStyle/>
                    <a:p>
                      <a:r>
                        <a:rPr sz="1400" b="0">
                          <a:solidFill>
                            <a:srgbClr val="232323"/>
                          </a:solidFill>
                          <a:latin typeface="Calibri"/>
                        </a:rPr>
                        <a:t>seller, price, unit, quantity, neighbourhood, image, status</a:t>
                      </a:r>
                    </a:p>
                  </a:txBody>
                  <a:tcPr marL="73152" marR="73152" marT="36576" marB="36576" anchor="ctr">
                    <a:solidFill>
                      <a:srgbClr val="EEF2F7"/>
                    </a:solidFill>
                  </a:tcPr>
                </a:tc>
                <a:tc>
                  <a:txBody>
                    <a:bodyPr wrap="square"/>
                    <a:lstStyle/>
                    <a:p>
                      <a:r>
                        <a:rPr sz="1400" b="0">
                          <a:solidFill>
                            <a:srgbClr val="232323"/>
                          </a:solidFill>
                          <a:latin typeface="Calibri"/>
                        </a:rPr>
                        <a:t>Index on (neighbourhood, status, date)</a:t>
                      </a:r>
                    </a:p>
                  </a:txBody>
                  <a:tcPr marL="73152" marR="73152" marT="36576" marB="36576" anchor="ctr">
                    <a:solidFill>
                      <a:srgbClr val="EEF2F7"/>
                    </a:solidFill>
                  </a:tcPr>
                </a:tc>
              </a:tr>
              <a:tr h="512064">
                <a:tc>
                  <a:txBody>
                    <a:bodyPr wrap="square"/>
                    <a:lstStyle/>
                    <a:p>
                      <a:r>
                        <a:rPr sz="1400" b="0">
                          <a:solidFill>
                            <a:srgbClr val="232323"/>
                          </a:solidFill>
                          <a:latin typeface="Calibri"/>
                        </a:rPr>
                        <a:t>Conversation</a:t>
                      </a:r>
                    </a:p>
                  </a:txBody>
                  <a:tcPr marL="73152" marR="73152" marT="36576" marB="36576" anchor="ctr">
                    <a:solidFill>
                      <a:srgbClr val="FFFFFF"/>
                    </a:solidFill>
                  </a:tcPr>
                </a:tc>
                <a:tc>
                  <a:txBody>
                    <a:bodyPr wrap="square"/>
                    <a:lstStyle/>
                    <a:p>
                      <a:r>
                        <a:rPr sz="1400" b="0">
                          <a:solidFill>
                            <a:srgbClr val="232323"/>
                          </a:solidFill>
                          <a:latin typeface="Calibri"/>
                        </a:rPr>
                        <a:t>listing, buyer, seller, lastMessage, unread counts</a:t>
                      </a:r>
                    </a:p>
                  </a:txBody>
                  <a:tcPr marL="73152" marR="73152" marT="36576" marB="36576" anchor="ctr">
                    <a:solidFill>
                      <a:srgbClr val="FFFFFF"/>
                    </a:solidFill>
                  </a:tcPr>
                </a:tc>
                <a:tc>
                  <a:txBody>
                    <a:bodyPr wrap="square"/>
                    <a:lstStyle/>
                    <a:p>
                      <a:r>
                        <a:rPr sz="1400" b="0">
                          <a:solidFill>
                            <a:srgbClr val="232323"/>
                          </a:solidFill>
                          <a:latin typeface="Calibri"/>
                        </a:rPr>
                        <a:t>One per buyer per listing (unique)</a:t>
                      </a:r>
                    </a:p>
                  </a:txBody>
                  <a:tcPr marL="73152" marR="73152" marT="36576" marB="36576" anchor="ctr">
                    <a:solidFill>
                      <a:srgbClr val="FFFFFF"/>
                    </a:solidFill>
                  </a:tcPr>
                </a:tc>
              </a:tr>
              <a:tr h="512064">
                <a:tc>
                  <a:txBody>
                    <a:bodyPr wrap="square"/>
                    <a:lstStyle/>
                    <a:p>
                      <a:r>
                        <a:rPr sz="1400" b="0">
                          <a:solidFill>
                            <a:srgbClr val="232323"/>
                          </a:solidFill>
                          <a:latin typeface="Calibri"/>
                        </a:rPr>
                        <a:t>Message</a:t>
                      </a:r>
                    </a:p>
                  </a:txBody>
                  <a:tcPr marL="73152" marR="73152" marT="36576" marB="36576" anchor="ctr">
                    <a:solidFill>
                      <a:srgbClr val="EEF2F7"/>
                    </a:solidFill>
                  </a:tcPr>
                </a:tc>
                <a:tc>
                  <a:txBody>
                    <a:bodyPr wrap="square"/>
                    <a:lstStyle/>
                    <a:p>
                      <a:r>
                        <a:rPr sz="1400" b="0">
                          <a:solidFill>
                            <a:srgbClr val="232323"/>
                          </a:solidFill>
                          <a:latin typeface="Calibri"/>
                        </a:rPr>
                        <a:t>conversation, sender, text, readAt</a:t>
                      </a:r>
                    </a:p>
                  </a:txBody>
                  <a:tcPr marL="73152" marR="73152" marT="36576" marB="36576" anchor="ctr">
                    <a:solidFill>
                      <a:srgbClr val="EEF2F7"/>
                    </a:solidFill>
                  </a:tcPr>
                </a:tc>
                <a:tc>
                  <a:txBody>
                    <a:bodyPr wrap="square"/>
                    <a:lstStyle/>
                    <a:p>
                      <a:r>
                        <a:rPr sz="1400" b="0">
                          <a:solidFill>
                            <a:srgbClr val="232323"/>
                          </a:solidFill>
                          <a:latin typeface="Calibri"/>
                        </a:rPr>
                        <a:t>Index on (conversation, date)</a:t>
                      </a:r>
                    </a:p>
                  </a:txBody>
                  <a:tcPr marL="73152" marR="73152" marT="36576" marB="36576" anchor="ctr">
                    <a:solidFill>
                      <a:srgbClr val="EEF2F7"/>
                    </a:solidFill>
                  </a:tcPr>
                </a:tc>
              </a:tr>
              <a:tr h="512064">
                <a:tc>
                  <a:txBody>
                    <a:bodyPr wrap="square"/>
                    <a:lstStyle/>
                    <a:p>
                      <a:r>
                        <a:rPr sz="1400" b="0">
                          <a:solidFill>
                            <a:srgbClr val="232323"/>
                          </a:solidFill>
                          <a:latin typeface="Calibri"/>
                        </a:rPr>
                        <a:t>TrustChain</a:t>
                      </a:r>
                    </a:p>
                  </a:txBody>
                  <a:tcPr marL="73152" marR="73152" marT="36576" marB="36576" anchor="ctr">
                    <a:solidFill>
                      <a:srgbClr val="FFFFFF"/>
                    </a:solidFill>
                  </a:tcPr>
                </a:tc>
                <a:tc>
                  <a:txBody>
                    <a:bodyPr wrap="square"/>
                    <a:lstStyle/>
                    <a:p>
                      <a:r>
                        <a:rPr sz="1400" b="0">
                          <a:solidFill>
                            <a:srgbClr val="232323"/>
                          </a:solidFill>
                          <a:latin typeface="Calibri"/>
                        </a:rPr>
                        <a:t>seller, blockIndex, timestamp, event, previousHash, hash</a:t>
                      </a:r>
                    </a:p>
                  </a:txBody>
                  <a:tcPr marL="73152" marR="73152" marT="36576" marB="36576" anchor="ctr">
                    <a:solidFill>
                      <a:srgbClr val="FFFFFF"/>
                    </a:solidFill>
                  </a:tcPr>
                </a:tc>
                <a:tc>
                  <a:txBody>
                    <a:bodyPr wrap="square"/>
                    <a:lstStyle/>
                    <a:p>
                      <a:r>
                        <a:rPr sz="1400" b="0">
                          <a:solidFill>
                            <a:srgbClr val="232323"/>
                          </a:solidFill>
                          <a:latin typeface="Calibri"/>
                        </a:rPr>
                        <a:t>Unique (seller, blockIndex): no forks</a:t>
                      </a:r>
                    </a:p>
                  </a:txBody>
                  <a:tcPr marL="73152" marR="73152" marT="36576" marB="36576" anchor="ctr">
                    <a:solidFill>
                      <a:srgbClr val="FFFFFF"/>
                    </a:solidFill>
                  </a:tcPr>
                </a:tc>
              </a:tr>
              <a:tr h="512064">
                <a:tc>
                  <a:txBody>
                    <a:bodyPr wrap="square"/>
                    <a:lstStyle/>
                    <a:p>
                      <a:r>
                        <a:rPr sz="1400" b="0">
                          <a:solidFill>
                            <a:srgbClr val="232323"/>
                          </a:solidFill>
                          <a:latin typeface="Calibri"/>
                        </a:rPr>
                        <a:t>OTP</a:t>
                      </a:r>
                    </a:p>
                  </a:txBody>
                  <a:tcPr marL="73152" marR="73152" marT="36576" marB="36576" anchor="ctr">
                    <a:solidFill>
                      <a:srgbClr val="EEF2F7"/>
                    </a:solidFill>
                  </a:tcPr>
                </a:tc>
                <a:tc>
                  <a:txBody>
                    <a:bodyPr wrap="square"/>
                    <a:lstStyle/>
                    <a:p>
                      <a:r>
                        <a:rPr sz="1400" b="0">
                          <a:solidFill>
                            <a:srgbClr val="232323"/>
                          </a:solidFill>
                          <a:latin typeface="Calibri"/>
                        </a:rPr>
                        <a:t>phone, code, attempts, expiresAt</a:t>
                      </a:r>
                    </a:p>
                  </a:txBody>
                  <a:tcPr marL="73152" marR="73152" marT="36576" marB="36576" anchor="ctr">
                    <a:solidFill>
                      <a:srgbClr val="EEF2F7"/>
                    </a:solidFill>
                  </a:tcPr>
                </a:tc>
                <a:tc>
                  <a:txBody>
                    <a:bodyPr wrap="square"/>
                    <a:lstStyle/>
                    <a:p>
                      <a:r>
                        <a:rPr sz="1400" b="0">
                          <a:solidFill>
                            <a:srgbClr val="232323"/>
                          </a:solidFill>
                          <a:latin typeface="Calibri"/>
                        </a:rPr>
                        <a:t>Auto-deleted after 10 minutes (TTL)</a:t>
                      </a:r>
                    </a:p>
                  </a:txBody>
                  <a:tcPr marL="73152" marR="73152" marT="36576" marB="36576" anchor="ctr">
                    <a:solidFill>
                      <a:srgbClr val="EEF2F7"/>
                    </a:solidFill>
                  </a:tcPr>
                </a:tc>
              </a:tr>
              <a:tr h="512064">
                <a:tc>
                  <a:txBody>
                    <a:bodyPr wrap="square"/>
                    <a:lstStyle/>
                    <a:p>
                      <a:r>
                        <a:rPr sz="1400" b="0">
                          <a:solidFill>
                            <a:srgbClr val="232323"/>
                          </a:solidFill>
                          <a:latin typeface="Calibri"/>
                        </a:rPr>
                        <a:t>AdminLog</a:t>
                      </a:r>
                    </a:p>
                  </a:txBody>
                  <a:tcPr marL="73152" marR="73152" marT="36576" marB="36576" anchor="ctr">
                    <a:solidFill>
                      <a:srgbClr val="FFFFFF"/>
                    </a:solidFill>
                  </a:tcPr>
                </a:tc>
                <a:tc>
                  <a:txBody>
                    <a:bodyPr wrap="square"/>
                    <a:lstStyle/>
                    <a:p>
                      <a:r>
                        <a:rPr sz="1400" b="0">
                          <a:solidFill>
                            <a:srgbClr val="232323"/>
                          </a:solidFill>
                          <a:latin typeface="Calibri"/>
                        </a:rPr>
                        <a:t>admin, action, target, reason, time</a:t>
                      </a:r>
                    </a:p>
                  </a:txBody>
                  <a:tcPr marL="73152" marR="73152" marT="36576" marB="36576" anchor="ctr">
                    <a:solidFill>
                      <a:srgbClr val="FFFFFF"/>
                    </a:solidFill>
                  </a:tcPr>
                </a:tc>
                <a:tc>
                  <a:txBody>
                    <a:bodyPr wrap="square"/>
                    <a:lstStyle/>
                    <a:p>
                      <a:r>
                        <a:rPr sz="1400" b="0">
                          <a:solidFill>
                            <a:srgbClr val="232323"/>
                          </a:solidFill>
                          <a:latin typeface="Calibri"/>
                        </a:rPr>
                        <a:t>Every admin action is accountable</a:t>
                      </a:r>
                    </a:p>
                  </a:txBody>
                  <a:tcPr marL="73152" marR="73152" marT="36576" marB="36576" anchor="ctr">
                    <a:solidFill>
                      <a:srgbClr val="FFFFFF"/>
                    </a:solidFill>
                  </a:tcPr>
                </a:tc>
              </a:tr>
            </a:tbl>
          </a:graphicData>
        </a:graphic>
      </p:graphicFrame>
      <p:sp>
        <p:nvSpPr>
          <p:cNvPr id="7" name="TextBox 6"/>
          <p:cNvSpPr txBox="1"/>
          <p:nvPr/>
        </p:nvSpPr>
        <p:spPr>
          <a:xfrm>
            <a:off x="548640" y="5532120"/>
            <a:ext cx="11064240" cy="640080"/>
          </a:xfrm>
          <a:prstGeom prst="rect">
            <a:avLst/>
          </a:prstGeom>
          <a:noFill/>
        </p:spPr>
        <p:txBody>
          <a:bodyPr wrap="square" anchor="t" lIns="45720" rIns="45720" tIns="27432" bIns="27432">
            <a:spAutoFit/>
          </a:bodyPr>
          <a:lstStyle/>
          <a:p>
            <a:pPr algn="l">
              <a:spcAft>
                <a:spcPts val="600"/>
              </a:spcAft>
            </a:pPr>
            <a:r>
              <a:rPr sz="1600" b="0" i="0">
                <a:solidFill>
                  <a:srgbClr val="5A6472"/>
                </a:solidFill>
                <a:latin typeface="Calibri"/>
              </a:rPr>
              <a:t>One seller has many listings and many trust blocks; a conversation links one buyer, one seller and one listing.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Algorithms / Models / Technical Design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7</a:t>
            </a:r>
            <a:r>
              <a:rPr lang="en-US" dirty="0"/>
              <a:t/>
            </a:r>
            <a:endParaRPr dirty="0"/>
          </a:p>
        </p:txBody>
      </p:sp>
      <p:pic>
        <p:nvPicPr>
          <p:cNvPr id="6" name="Picture 5" descr="mcp-Claude_Docs-blob-1791666898869-jk3klf.png"/>
          <p:cNvPicPr>
            <a:picLocks noChangeAspect="1"/>
          </p:cNvPicPr>
          <p:nvPr/>
        </p:nvPicPr>
        <p:blipFill>
          <a:blip r:embed="rId2"/>
          <a:stretch>
            <a:fillRect/>
          </a:stretch>
        </p:blipFill>
        <p:spPr>
          <a:xfrm>
            <a:off x="502920" y="1188720"/>
            <a:ext cx="6949440" cy="3867694"/>
          </a:xfrm>
          <a:prstGeom prst="rect">
            <a:avLst/>
          </a:prstGeom>
        </p:spPr>
      </p:pic>
      <p:sp>
        <p:nvSpPr>
          <p:cNvPr id="7" name="TextBox 6"/>
          <p:cNvSpPr txBox="1"/>
          <p:nvPr/>
        </p:nvSpPr>
        <p:spPr>
          <a:xfrm>
            <a:off x="7726679" y="1234440"/>
            <a:ext cx="3931920" cy="4937760"/>
          </a:xfrm>
          <a:prstGeom prst="rect">
            <a:avLst/>
          </a:prstGeom>
          <a:noFill/>
        </p:spPr>
        <p:txBody>
          <a:bodyPr wrap="square" anchor="t" lIns="45720" rIns="45720" tIns="27432" bIns="27432">
            <a:spAutoFit/>
          </a:bodyPr>
          <a:lstStyle/>
          <a:p>
            <a:pPr algn="l">
              <a:spcAft>
                <a:spcPts val="1200"/>
              </a:spcAft>
            </a:pPr>
            <a:r>
              <a:rPr sz="1600" b="1" i="0">
                <a:solidFill>
                  <a:srgbClr val="192D4B"/>
                </a:solidFill>
                <a:latin typeface="Calibri"/>
              </a:rPr>
              <a:t>Block hash: </a:t>
            </a:r>
            <a:r>
              <a:rPr sz="1600" b="0" i="0">
                <a:solidFill>
                  <a:srgbClr val="232323"/>
                </a:solidFill>
                <a:latin typeface="Calibri"/>
              </a:rPr>
              <a:t>SHA-256 of time, event and previous hash.</a:t>
            </a:r>
          </a:p>
          <a:p>
            <a:pPr algn="l">
              <a:spcAft>
                <a:spcPts val="1200"/>
              </a:spcAft>
            </a:pPr>
            <a:r>
              <a:rPr sz="1600" b="1" i="0">
                <a:solidFill>
                  <a:srgbClr val="192D4B"/>
                </a:solidFill>
                <a:latin typeface="Calibri"/>
              </a:rPr>
              <a:t>Verify: </a:t>
            </a:r>
            <a:r>
              <a:rPr sz="1600" b="0" i="0">
                <a:solidFill>
                  <a:srgbClr val="232323"/>
                </a:solidFill>
                <a:latin typeface="Calibri"/>
              </a:rPr>
              <a:t>re-hash every block, check every link, compare the last hash with the one stored on the seller.</a:t>
            </a:r>
          </a:p>
          <a:p>
            <a:pPr algn="l">
              <a:spcAft>
                <a:spcPts val="1200"/>
              </a:spcAft>
            </a:pPr>
            <a:r>
              <a:rPr sz="1600" b="1" i="0">
                <a:solidFill>
                  <a:srgbClr val="192D4B"/>
                </a:solidFill>
                <a:latin typeface="Calibri"/>
              </a:rPr>
              <a:t>Score: </a:t>
            </a:r>
            <a:r>
              <a:rPr sz="1600" b="0" i="0">
                <a:solidFill>
                  <a:srgbClr val="232323"/>
                </a:solidFill>
                <a:latin typeface="Calibri"/>
              </a:rPr>
              <a:t>50 + event weights, kept between 0 and 100. Verified +15, 5★ +8, listing +2, 1★ −5.</a:t>
            </a:r>
          </a:p>
          <a:p>
            <a:pPr algn="l">
              <a:spcAft>
                <a:spcPts val="1200"/>
              </a:spcAft>
            </a:pPr>
            <a:r>
              <a:rPr sz="1600" b="1" i="0">
                <a:solidFill>
                  <a:srgbClr val="192D4B"/>
                </a:solidFill>
                <a:latin typeface="Calibri"/>
              </a:rPr>
              <a:t>Voice parser: </a:t>
            </a:r>
            <a:r>
              <a:rPr sz="1600" b="0" i="0">
                <a:solidFill>
                  <a:srgbClr val="232323"/>
                </a:solidFill>
                <a:latin typeface="Calibri"/>
              </a:rPr>
              <a:t>number words to digits, then price, quantity, unit and area by pattern.</a:t>
            </a:r>
          </a:p>
        </p:txBody>
      </p:sp>
      <p:sp>
        <p:nvSpPr>
          <p:cNvPr id="8" name="TextBox 7"/>
          <p:cNvSpPr txBox="1"/>
          <p:nvPr/>
        </p:nvSpPr>
        <p:spPr>
          <a:xfrm>
            <a:off x="502920" y="5257800"/>
            <a:ext cx="6949440" cy="822960"/>
          </a:xfrm>
          <a:prstGeom prst="rect">
            <a:avLst/>
          </a:prstGeom>
          <a:noFill/>
        </p:spPr>
        <p:txBody>
          <a:bodyPr wrap="square" anchor="t" lIns="45720" rIns="45720" tIns="27432" bIns="27432">
            <a:spAutoFit/>
          </a:bodyPr>
          <a:lstStyle/>
          <a:p>
            <a:pPr algn="l">
              <a:spcAft>
                <a:spcPts val="600"/>
              </a:spcAft>
            </a:pPr>
            <a:r>
              <a:rPr sz="1500" b="1" i="0">
                <a:solidFill>
                  <a:srgbClr val="192D4B"/>
                </a:solidFill>
                <a:latin typeface="Calibri"/>
              </a:rPr>
              <a:t>Why not a real blockchain? </a:t>
            </a:r>
            <a:r>
              <a:rPr sz="1500" b="0" i="0">
                <a:solidFill>
                  <a:srgbClr val="232323"/>
                </a:solidFill>
                <a:latin typeface="Calibri"/>
              </a:rPr>
              <a:t>One operator, no need for consensus; a hash chain gives tamper evidence at no cost.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Development Environment</a:t>
            </a:r>
          </a:p>
        </p:txBody>
      </p:sp>
      <p:sp>
        <p:nvSpPr>
          <p:cNvPr id="3" name="TextBox 2"/>
          <p:cNvSpPr txBox="1"/>
          <p:nvPr/>
        </p:nvSpPr>
        <p:spPr>
          <a:xfrm>
            <a:off x="822960" y="1325880"/>
            <a:ext cx="10607040" cy="4754880"/>
          </a:xfrm>
          <a:prstGeom prst="rect">
            <a:avLst/>
          </a:prstGeom>
          <a:noFill/>
        </p:spPr>
        <p:txBody>
          <a:bodyPr wrap="square">
            <a:spAutoFit/>
          </a:bodyPr>
          <a:lstStyle/>
          <a:p>
            <a:pPr>
              <a:spcAft>
                <a:spcPts val="1200"/>
              </a:spcAft>
              <a:defRPr sz="2100">
                <a:solidFill>
                  <a:srgbClr val="232323"/>
                </a:solidFill>
              </a:defRPr>
            </a:pPr>
            <a:r>
              <a:rPr b="1">
                <a:solidFill>
                  <a:srgbClr val="192D4B"/>
                </a:solidFill>
              </a:rPr>
              <a:t>Operating system: </a:t>
            </a:r>
            <a:r>
              <a:t>Windows on the development laptop; Android with Chrome for mobile and voice testing</a:t>
            </a:r>
          </a:p>
          <a:p>
            <a:pPr>
              <a:spcAft>
                <a:spcPts val="1200"/>
              </a:spcAft>
              <a:defRPr sz="2100">
                <a:solidFill>
                  <a:srgbClr val="232323"/>
                </a:solidFill>
              </a:defRPr>
            </a:pPr>
            <a:r>
              <a:rPr b="1">
                <a:solidFill>
                  <a:srgbClr val="192D4B"/>
                </a:solidFill>
              </a:rPr>
              <a:t>Programming language: </a:t>
            </a:r>
            <a:r>
              <a:t>JavaScript (Node.js 18+ and React JSX)</a:t>
            </a:r>
          </a:p>
          <a:p>
            <a:pPr>
              <a:spcAft>
                <a:spcPts val="1200"/>
              </a:spcAft>
              <a:defRPr sz="2100">
                <a:solidFill>
                  <a:srgbClr val="232323"/>
                </a:solidFill>
              </a:defRPr>
            </a:pPr>
            <a:r>
              <a:rPr b="1">
                <a:solidFill>
                  <a:srgbClr val="192D4B"/>
                </a:solidFill>
              </a:rPr>
              <a:t>Frameworks: </a:t>
            </a:r>
            <a:r>
              <a:t>React 19, Redux Toolkit, Express 4, Socket.io</a:t>
            </a:r>
          </a:p>
          <a:p>
            <a:pPr>
              <a:spcAft>
                <a:spcPts val="1200"/>
              </a:spcAft>
              <a:defRPr sz="2100">
                <a:solidFill>
                  <a:srgbClr val="232323"/>
                </a:solidFill>
              </a:defRPr>
            </a:pPr>
            <a:r>
              <a:rPr b="1">
                <a:solidFill>
                  <a:srgbClr val="192D4B"/>
                </a:solidFill>
              </a:rPr>
              <a:t>Database: </a:t>
            </a:r>
            <a:r>
              <a:t>MongoDB Atlas (free tier) via Mongoose</a:t>
            </a:r>
          </a:p>
          <a:p>
            <a:pPr>
              <a:spcAft>
                <a:spcPts val="1200"/>
              </a:spcAft>
              <a:defRPr sz="2100">
                <a:solidFill>
                  <a:srgbClr val="232323"/>
                </a:solidFill>
              </a:defRPr>
            </a:pPr>
            <a:r>
              <a:rPr b="1">
                <a:solidFill>
                  <a:srgbClr val="192D4B"/>
                </a:solidFill>
              </a:rPr>
              <a:t>IDE / development tools: </a:t>
            </a:r>
            <a:r>
              <a:t>VS Code, Chrome DevTools, Nodemon, ESLint</a:t>
            </a:r>
          </a:p>
          <a:p>
            <a:pPr>
              <a:spcAft>
                <a:spcPts val="1200"/>
              </a:spcAft>
              <a:defRPr sz="2100">
                <a:solidFill>
                  <a:srgbClr val="232323"/>
                </a:solidFill>
              </a:defRPr>
            </a:pPr>
            <a:r>
              <a:rPr b="1">
                <a:solidFill>
                  <a:srgbClr val="192D4B"/>
                </a:solidFill>
              </a:rPr>
              <a:t>Version control / deployment: </a:t>
            </a:r>
            <a:r>
              <a:t>Git and GitHub, GitHub Actions, Vercel and Render</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8</a:t>
            </a:r>
            <a:r>
              <a:rPr lang="en-US" dirty="0"/>
              <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System Components / Modules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9</a:t>
            </a:r>
            <a:r>
              <a:rPr lang="en-US" dirty="0"/>
              <a:t/>
            </a:r>
            <a:endParaRPr dirty="0"/>
          </a:p>
        </p:txBody>
      </p:sp>
      <p:sp>
        <p:nvSpPr>
          <p:cNvPr id="6" name="Rounded Rectangle 5"/>
          <p:cNvSpPr/>
          <p:nvPr/>
        </p:nvSpPr>
        <p:spPr>
          <a:xfrm>
            <a:off x="731520" y="137160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Authentication</a:t>
            </a:r>
          </a:p>
        </p:txBody>
      </p:sp>
      <p:sp>
        <p:nvSpPr>
          <p:cNvPr id="8" name="TextBox 7"/>
          <p:cNvSpPr txBox="1"/>
          <p:nvPr/>
        </p:nvSpPr>
        <p:spPr>
          <a:xfrm>
            <a:off x="914400"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OTP sign-up, JWT login, roles; admin by script</a:t>
            </a:r>
          </a:p>
        </p:txBody>
      </p:sp>
      <p:sp>
        <p:nvSpPr>
          <p:cNvPr id="9" name="Rounded Rectangle 8"/>
          <p:cNvSpPr/>
          <p:nvPr/>
        </p:nvSpPr>
        <p:spPr>
          <a:xfrm>
            <a:off x="3447288" y="137160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0168"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Listings</a:t>
            </a:r>
          </a:p>
        </p:txBody>
      </p:sp>
      <p:sp>
        <p:nvSpPr>
          <p:cNvPr id="11" name="TextBox 10"/>
          <p:cNvSpPr txBox="1"/>
          <p:nvPr/>
        </p:nvSpPr>
        <p:spPr>
          <a:xfrm>
            <a:off x="3630168"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Create, edit, pause, sell; photo upload</a:t>
            </a:r>
          </a:p>
        </p:txBody>
      </p:sp>
      <p:sp>
        <p:nvSpPr>
          <p:cNvPr id="12" name="Rounded Rectangle 11"/>
          <p:cNvSpPr/>
          <p:nvPr/>
        </p:nvSpPr>
        <p:spPr>
          <a:xfrm>
            <a:off x="6163056" y="137160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5936"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Browse</a:t>
            </a:r>
          </a:p>
        </p:txBody>
      </p:sp>
      <p:sp>
        <p:nvSpPr>
          <p:cNvPr id="14" name="TextBox 13"/>
          <p:cNvSpPr txBox="1"/>
          <p:nvPr/>
        </p:nvSpPr>
        <p:spPr>
          <a:xfrm>
            <a:off x="6345936"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Neighbourhood, keyword, price, quantity</a:t>
            </a:r>
          </a:p>
        </p:txBody>
      </p:sp>
      <p:sp>
        <p:nvSpPr>
          <p:cNvPr id="15" name="Rounded Rectangle 14"/>
          <p:cNvSpPr/>
          <p:nvPr/>
        </p:nvSpPr>
        <p:spPr>
          <a:xfrm>
            <a:off x="8878824" y="1371600"/>
            <a:ext cx="2514600" cy="205740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61704"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D85A30"/>
                </a:solidFill>
                <a:latin typeface="Calibri"/>
              </a:rPr>
              <a:t>Voice input</a:t>
            </a:r>
          </a:p>
        </p:txBody>
      </p:sp>
      <p:sp>
        <p:nvSpPr>
          <p:cNvPr id="17" name="TextBox 16"/>
          <p:cNvSpPr txBox="1"/>
          <p:nvPr/>
        </p:nvSpPr>
        <p:spPr>
          <a:xfrm>
            <a:off x="9061704"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Speech to text, parsed into the form</a:t>
            </a:r>
          </a:p>
        </p:txBody>
      </p:sp>
      <p:sp>
        <p:nvSpPr>
          <p:cNvPr id="18" name="Rounded Rectangle 17"/>
          <p:cNvSpPr/>
          <p:nvPr/>
        </p:nvSpPr>
        <p:spPr>
          <a:xfrm>
            <a:off x="731520" y="370332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Chat</a:t>
            </a:r>
          </a:p>
        </p:txBody>
      </p:sp>
      <p:sp>
        <p:nvSpPr>
          <p:cNvPr id="20" name="TextBox 19"/>
          <p:cNvSpPr txBox="1"/>
          <p:nvPr/>
        </p:nvSpPr>
        <p:spPr>
          <a:xfrm>
            <a:off x="914400"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Socket.io rooms, typing, unread counts</a:t>
            </a:r>
          </a:p>
        </p:txBody>
      </p:sp>
      <p:sp>
        <p:nvSpPr>
          <p:cNvPr id="21" name="Rounded Rectangle 20"/>
          <p:cNvSpPr/>
          <p:nvPr/>
        </p:nvSpPr>
        <p:spPr>
          <a:xfrm>
            <a:off x="3447288" y="370332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30168"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Offline</a:t>
            </a:r>
          </a:p>
        </p:txBody>
      </p:sp>
      <p:sp>
        <p:nvSpPr>
          <p:cNvPr id="23" name="TextBox 22"/>
          <p:cNvSpPr txBox="1"/>
          <p:nvPr/>
        </p:nvSpPr>
        <p:spPr>
          <a:xfrm>
            <a:off x="3630168"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Service worker cache, IndexedDB queue</a:t>
            </a:r>
          </a:p>
        </p:txBody>
      </p:sp>
      <p:sp>
        <p:nvSpPr>
          <p:cNvPr id="24" name="Rounded Rectangle 23"/>
          <p:cNvSpPr/>
          <p:nvPr/>
        </p:nvSpPr>
        <p:spPr>
          <a:xfrm>
            <a:off x="6163056" y="3703320"/>
            <a:ext cx="2514600" cy="205740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5936"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D85A30"/>
                </a:solidFill>
                <a:latin typeface="Calibri"/>
              </a:rPr>
              <a:t>Trust</a:t>
            </a:r>
          </a:p>
        </p:txBody>
      </p:sp>
      <p:sp>
        <p:nvSpPr>
          <p:cNvPr id="26" name="TextBox 25"/>
          <p:cNvSpPr txBox="1"/>
          <p:nvPr/>
        </p:nvSpPr>
        <p:spPr>
          <a:xfrm>
            <a:off x="6345936"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Hash chain, score, rating rules</a:t>
            </a:r>
          </a:p>
        </p:txBody>
      </p:sp>
      <p:sp>
        <p:nvSpPr>
          <p:cNvPr id="27" name="Rounded Rectangle 26"/>
          <p:cNvSpPr/>
          <p:nvPr/>
        </p:nvSpPr>
        <p:spPr>
          <a:xfrm>
            <a:off x="8878824" y="370332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61704"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Administration</a:t>
            </a:r>
          </a:p>
        </p:txBody>
      </p:sp>
      <p:sp>
        <p:nvSpPr>
          <p:cNvPr id="29" name="TextBox 28"/>
          <p:cNvSpPr txBox="1"/>
          <p:nvPr/>
        </p:nvSpPr>
        <p:spPr>
          <a:xfrm>
            <a:off x="9061704"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Verify queue, integrity check, logged moderation</a:t>
            </a:r>
          </a:p>
        </p:txBody>
      </p:sp>
      <p:sp>
        <p:nvSpPr>
          <p:cNvPr id="30" name="TextBox 29"/>
          <p:cNvSpPr txBox="1"/>
          <p:nvPr/>
        </p:nvSpPr>
        <p:spPr>
          <a:xfrm>
            <a:off x="731520" y="6035040"/>
            <a:ext cx="10698480" cy="365760"/>
          </a:xfrm>
          <a:prstGeom prst="rect">
            <a:avLst/>
          </a:prstGeom>
          <a:noFill/>
        </p:spPr>
        <p:txBody>
          <a:bodyPr wrap="square" anchor="t" lIns="45720" rIns="45720" tIns="27432" bIns="27432">
            <a:spAutoFit/>
          </a:bodyPr>
          <a:lstStyle/>
          <a:p>
            <a:pPr algn="l">
              <a:spcAft>
                <a:spcPts val="600"/>
              </a:spcAft>
            </a:pPr>
            <a:r>
              <a:rPr sz="1300" b="0" i="0">
                <a:solidFill>
                  <a:srgbClr val="5A6472"/>
                </a:solidFill>
                <a:latin typeface="Calibri"/>
              </a:rPr>
              <a:t>Highlighted: the two distinctive modules.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Key Implementation Details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10</a:t>
            </a:r>
            <a:r>
              <a:rPr lang="en-US" dirty="0"/>
              <a:t/>
            </a:r>
            <a:endParaRPr dirty="0"/>
          </a:p>
        </p:txBody>
      </p:sp>
      <p:sp>
        <p:nvSpPr>
          <p:cNvPr id="6" name="Rounded Rectangle 5"/>
          <p:cNvSpPr/>
          <p:nvPr/>
        </p:nvSpPr>
        <p:spPr>
          <a:xfrm>
            <a:off x="731520" y="1325880"/>
            <a:ext cx="10698480" cy="804672"/>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Appending a block</a:t>
            </a:r>
          </a:p>
        </p:txBody>
      </p:sp>
      <p:sp>
        <p:nvSpPr>
          <p:cNvPr id="8" name="TextBox 7"/>
          <p:cNvSpPr txBox="1"/>
          <p:nvPr/>
        </p:nvSpPr>
        <p:spPr>
          <a:xfrm>
            <a:off x="3657600" y="1325880"/>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Read the last block, link to its hash, save. A unique index rejects a clash; the write is retried.</a:t>
            </a:r>
          </a:p>
        </p:txBody>
      </p:sp>
      <p:sp>
        <p:nvSpPr>
          <p:cNvPr id="9" name="Rounded Rectangle 8"/>
          <p:cNvSpPr/>
          <p:nvPr/>
        </p:nvSpPr>
        <p:spPr>
          <a:xfrm>
            <a:off x="731520" y="2267712"/>
            <a:ext cx="10698480" cy="804672"/>
          </a:xfrm>
          <a:prstGeom prst="roundRect">
            <a:avLst>
              <a:gd name="adj" fmla="val 8000"/>
            </a:avLst>
          </a:prstGeom>
          <a:solidFill>
            <a:srgbClr val="FFFFFF"/>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67712"/>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Verifying a chain</a:t>
            </a:r>
          </a:p>
        </p:txBody>
      </p:sp>
      <p:sp>
        <p:nvSpPr>
          <p:cNvPr id="11" name="TextBox 10"/>
          <p:cNvSpPr txBox="1"/>
          <p:nvPr/>
        </p:nvSpPr>
        <p:spPr>
          <a:xfrm>
            <a:off x="3657600" y="2267712"/>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Rebuild exactly what was hashed, so database fields (_id, __v) never cause false alarms.</a:t>
            </a:r>
          </a:p>
        </p:txBody>
      </p:sp>
      <p:sp>
        <p:nvSpPr>
          <p:cNvPr id="12" name="Rounded Rectangle 11"/>
          <p:cNvSpPr/>
          <p:nvPr/>
        </p:nvSpPr>
        <p:spPr>
          <a:xfrm>
            <a:off x="731520" y="3209544"/>
            <a:ext cx="10698480" cy="804672"/>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209544"/>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Voice parsing</a:t>
            </a:r>
          </a:p>
        </p:txBody>
      </p:sp>
      <p:sp>
        <p:nvSpPr>
          <p:cNvPr id="14" name="TextBox 13"/>
          <p:cNvSpPr txBox="1"/>
          <p:nvPr/>
        </p:nvSpPr>
        <p:spPr>
          <a:xfrm>
            <a:off x="3657600" y="3209544"/>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"ninety five kwacha" → K95. The best of three recognition guesses is used; the seller can correct it.</a:t>
            </a:r>
          </a:p>
        </p:txBody>
      </p:sp>
      <p:sp>
        <p:nvSpPr>
          <p:cNvPr id="15" name="Rounded Rectangle 14"/>
          <p:cNvSpPr/>
          <p:nvPr/>
        </p:nvSpPr>
        <p:spPr>
          <a:xfrm>
            <a:off x="731520" y="4151376"/>
            <a:ext cx="10698480" cy="804672"/>
          </a:xfrm>
          <a:prstGeom prst="roundRect">
            <a:avLst>
              <a:gd name="adj" fmla="val 8000"/>
            </a:avLst>
          </a:prstGeom>
          <a:solidFill>
            <a:srgbClr val="FFFFFF"/>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151376"/>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Offline replay</a:t>
            </a:r>
          </a:p>
        </p:txBody>
      </p:sp>
      <p:sp>
        <p:nvSpPr>
          <p:cNvPr id="17" name="TextBox 16"/>
          <p:cNvSpPr txBox="1"/>
          <p:nvPr/>
        </p:nvSpPr>
        <p:spPr>
          <a:xfrm>
            <a:off x="3657600" y="4151376"/>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Queued messages are sent in order when the connection returns, each removed only once confirmed.</a:t>
            </a:r>
          </a:p>
        </p:txBody>
      </p:sp>
      <p:sp>
        <p:nvSpPr>
          <p:cNvPr id="18" name="Rounded Rectangle 17"/>
          <p:cNvSpPr/>
          <p:nvPr/>
        </p:nvSpPr>
        <p:spPr>
          <a:xfrm>
            <a:off x="731520" y="5093208"/>
            <a:ext cx="10698480" cy="804672"/>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093208"/>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Security</a:t>
            </a:r>
          </a:p>
        </p:txBody>
      </p:sp>
      <p:sp>
        <p:nvSpPr>
          <p:cNvPr id="20" name="TextBox 19"/>
          <p:cNvSpPr txBox="1"/>
          <p:nvPr/>
        </p:nvSpPr>
        <p:spPr>
          <a:xfrm>
            <a:off x="3657600" y="5093208"/>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bcrypt, JWT, rate limits on login, OTP and sign-up; search text escaped; admins only by script.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Challenges and Solutions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11</a:t>
            </a:r>
            <a:r>
              <a:rPr lang="en-US" dirty="0"/>
              <a:t/>
            </a:r>
            <a:endParaRPr dirty="0"/>
          </a:p>
        </p:txBody>
      </p:sp>
      <p:graphicFrame>
        <p:nvGraphicFramePr>
          <p:cNvPr id="6" name="Table 5"/>
          <p:cNvGraphicFramePr>
            <a:graphicFrameLocks noGrp="1"/>
          </p:cNvGraphicFramePr>
          <p:nvPr/>
        </p:nvGraphicFramePr>
        <p:xfrm>
          <a:off x="548640" y="1280160"/>
          <a:ext cx="11064240" cy="4535424"/>
        </p:xfrm>
        <a:graphic>
          <a:graphicData uri="http://schemas.openxmlformats.org/drawingml/2006/table">
            <a:tbl>
              <a:tblPr firstRow="1" bandRow="1">
                <a:tableStyleId>{5C22544A-7EE6-4342-B048-85BDC9FD1C3A}</a:tableStyleId>
              </a:tblPr>
              <a:tblGrid>
                <a:gridCol w="5669280"/>
                <a:gridCol w="5394960"/>
              </a:tblGrid>
              <a:tr h="566928">
                <a:tc>
                  <a:txBody>
                    <a:bodyPr wrap="square"/>
                    <a:lstStyle/>
                    <a:p>
                      <a:r>
                        <a:rPr sz="1400" b="1">
                          <a:solidFill>
                            <a:srgbClr val="FFFFFF"/>
                          </a:solidFill>
                          <a:latin typeface="Calibri"/>
                        </a:rPr>
                        <a:t>Challenge</a:t>
                      </a:r>
                    </a:p>
                  </a:txBody>
                  <a:tcPr marL="73152" marR="73152" marT="36576" marB="36576" anchor="ctr">
                    <a:solidFill>
                      <a:srgbClr val="192D4B"/>
                    </a:solidFill>
                  </a:tcPr>
                </a:tc>
                <a:tc>
                  <a:txBody>
                    <a:bodyPr wrap="square"/>
                    <a:lstStyle/>
                    <a:p>
                      <a:r>
                        <a:rPr sz="1400" b="1">
                          <a:solidFill>
                            <a:srgbClr val="FFFFFF"/>
                          </a:solidFill>
                          <a:latin typeface="Calibri"/>
                        </a:rPr>
                        <a:t>Solution</a:t>
                      </a:r>
                    </a:p>
                  </a:txBody>
                  <a:tcPr marL="73152" marR="73152" marT="36576" marB="36576" anchor="ctr">
                    <a:solidFill>
                      <a:srgbClr val="192D4B"/>
                    </a:solidFill>
                  </a:tcPr>
                </a:tc>
              </a:tr>
              <a:tr h="566928">
                <a:tc>
                  <a:txBody>
                    <a:bodyPr wrap="square"/>
                    <a:lstStyle/>
                    <a:p>
                      <a:r>
                        <a:rPr sz="1500" b="0">
                          <a:solidFill>
                            <a:srgbClr val="232323"/>
                          </a:solidFill>
                          <a:latin typeface="Calibri"/>
                        </a:rPr>
                        <a:t>Every chain showed as tampered, though none was</a:t>
                      </a:r>
                    </a:p>
                  </a:txBody>
                  <a:tcPr marL="73152" marR="73152" marT="36576" marB="36576" anchor="ctr">
                    <a:solidFill>
                      <a:srgbClr val="FFFFFF"/>
                    </a:solidFill>
                  </a:tcPr>
                </a:tc>
                <a:tc>
                  <a:txBody>
                    <a:bodyPr wrap="square"/>
                    <a:lstStyle/>
                    <a:p>
                      <a:r>
                        <a:rPr sz="1500" b="0">
                          <a:solidFill>
                            <a:srgbClr val="232323"/>
                          </a:solidFill>
                          <a:latin typeface="Calibri"/>
                        </a:rPr>
                        <a:t>Re-hash only the original fields</a:t>
                      </a:r>
                    </a:p>
                  </a:txBody>
                  <a:tcPr marL="73152" marR="73152" marT="36576" marB="36576" anchor="ctr">
                    <a:solidFill>
                      <a:srgbClr val="FFFFFF"/>
                    </a:solidFill>
                  </a:tcPr>
                </a:tc>
              </a:tr>
              <a:tr h="566928">
                <a:tc>
                  <a:txBody>
                    <a:bodyPr wrap="square"/>
                    <a:lstStyle/>
                    <a:p>
                      <a:r>
                        <a:rPr sz="1500" b="0">
                          <a:solidFill>
                            <a:srgbClr val="232323"/>
                          </a:solidFill>
                          <a:latin typeface="Calibri"/>
                        </a:rPr>
                        <a:t>An edited last block could not be detected</a:t>
                      </a:r>
                    </a:p>
                  </a:txBody>
                  <a:tcPr marL="73152" marR="73152" marT="36576" marB="36576" anchor="ctr">
                    <a:solidFill>
                      <a:srgbClr val="EEF2F7"/>
                    </a:solidFill>
                  </a:tcPr>
                </a:tc>
                <a:tc>
                  <a:txBody>
                    <a:bodyPr wrap="square"/>
                    <a:lstStyle/>
                    <a:p>
                      <a:r>
                        <a:rPr sz="1500" b="0">
                          <a:solidFill>
                            <a:srgbClr val="232323"/>
                          </a:solidFill>
                          <a:latin typeface="Calibri"/>
                        </a:rPr>
                        <a:t>Check it against the hash stored on the seller</a:t>
                      </a:r>
                    </a:p>
                  </a:txBody>
                  <a:tcPr marL="73152" marR="73152" marT="36576" marB="36576" anchor="ctr">
                    <a:solidFill>
                      <a:srgbClr val="EEF2F7"/>
                    </a:solidFill>
                  </a:tcPr>
                </a:tc>
              </a:tr>
              <a:tr h="566928">
                <a:tc>
                  <a:txBody>
                    <a:bodyPr wrap="square"/>
                    <a:lstStyle/>
                    <a:p>
                      <a:r>
                        <a:rPr sz="1500" b="0">
                          <a:solidFill>
                            <a:srgbClr val="232323"/>
                          </a:solidFill>
                          <a:latin typeface="Calibri"/>
                        </a:rPr>
                        <a:t>Anyone could sign up as an administrator</a:t>
                      </a:r>
                    </a:p>
                  </a:txBody>
                  <a:tcPr marL="73152" marR="73152" marT="36576" marB="36576" anchor="ctr">
                    <a:solidFill>
                      <a:srgbClr val="FFFFFF"/>
                    </a:solidFill>
                  </a:tcPr>
                </a:tc>
                <a:tc>
                  <a:txBody>
                    <a:bodyPr wrap="square"/>
                    <a:lstStyle/>
                    <a:p>
                      <a:r>
                        <a:rPr sz="1500" b="0">
                          <a:solidFill>
                            <a:srgbClr val="232323"/>
                          </a:solidFill>
                          <a:latin typeface="Calibri"/>
                        </a:rPr>
                        <a:t>Sign-up limited to buyer and seller; admin created by a script</a:t>
                      </a:r>
                    </a:p>
                  </a:txBody>
                  <a:tcPr marL="73152" marR="73152" marT="36576" marB="36576" anchor="ctr">
                    <a:solidFill>
                      <a:srgbClr val="FFFFFF"/>
                    </a:solidFill>
                  </a:tcPr>
                </a:tc>
              </a:tr>
              <a:tr h="566928">
                <a:tc>
                  <a:txBody>
                    <a:bodyPr wrap="square"/>
                    <a:lstStyle/>
                    <a:p>
                      <a:r>
                        <a:rPr sz="1500" b="0">
                          <a:solidFill>
                            <a:srgbClr val="232323"/>
                          </a:solidFill>
                          <a:latin typeface="Calibri"/>
                        </a:rPr>
                        <a:t>An admin could verify twice (+15 again) or demote another admin</a:t>
                      </a:r>
                    </a:p>
                  </a:txBody>
                  <a:tcPr marL="73152" marR="73152" marT="36576" marB="36576" anchor="ctr">
                    <a:solidFill>
                      <a:srgbClr val="EEF2F7"/>
                    </a:solidFill>
                  </a:tcPr>
                </a:tc>
                <a:tc>
                  <a:txBody>
                    <a:bodyPr wrap="square"/>
                    <a:lstStyle/>
                    <a:p>
                      <a:r>
                        <a:rPr sz="1500" b="0">
                          <a:solidFill>
                            <a:srgbClr val="232323"/>
                          </a:solidFill>
                          <a:latin typeface="Calibri"/>
                        </a:rPr>
                        <a:t>Verify once only; admins protected; every action logged with a reason</a:t>
                      </a:r>
                    </a:p>
                  </a:txBody>
                  <a:tcPr marL="73152" marR="73152" marT="36576" marB="36576" anchor="ctr">
                    <a:solidFill>
                      <a:srgbClr val="EEF2F7"/>
                    </a:solidFill>
                  </a:tcPr>
                </a:tc>
              </a:tr>
              <a:tr h="566928">
                <a:tc>
                  <a:txBody>
                    <a:bodyPr wrap="square"/>
                    <a:lstStyle/>
                    <a:p>
                      <a:r>
                        <a:rPr sz="1500" b="0">
                          <a:solidFill>
                            <a:srgbClr val="232323"/>
                          </a:solidFill>
                          <a:latin typeface="Calibri"/>
                        </a:rPr>
                        <a:t>Browsers cannot recognise Nyanja or Bemba</a:t>
                      </a:r>
                    </a:p>
                  </a:txBody>
                  <a:tcPr marL="73152" marR="73152" marT="36576" marB="36576" anchor="ctr">
                    <a:solidFill>
                      <a:srgbClr val="FFFFFF"/>
                    </a:solidFill>
                  </a:tcPr>
                </a:tc>
                <a:tc>
                  <a:txBody>
                    <a:bodyPr wrap="square"/>
                    <a:lstStyle/>
                    <a:p>
                      <a:r>
                        <a:rPr sz="1500" b="0">
                          <a:solidFill>
                            <a:srgbClr val="232323"/>
                          </a:solidFill>
                          <a:latin typeface="Calibri"/>
                        </a:rPr>
                        <a:t>Scope narrowed to English, stated openly</a:t>
                      </a:r>
                    </a:p>
                  </a:txBody>
                  <a:tcPr marL="73152" marR="73152" marT="36576" marB="36576" anchor="ctr">
                    <a:solidFill>
                      <a:srgbClr val="FFFFFF"/>
                    </a:solidFill>
                  </a:tcPr>
                </a:tc>
              </a:tr>
              <a:tr h="566928">
                <a:tc>
                  <a:txBody>
                    <a:bodyPr wrap="square"/>
                    <a:lstStyle/>
                    <a:p>
                      <a:r>
                        <a:rPr sz="1500" b="0">
                          <a:solidFill>
                            <a:srgbClr val="232323"/>
                          </a:solidFill>
                          <a:latin typeface="Calibri"/>
                        </a:rPr>
                        <a:t>Voice parser missed "ninety five" and "at 100"</a:t>
                      </a:r>
                    </a:p>
                  </a:txBody>
                  <a:tcPr marL="73152" marR="73152" marT="36576" marB="36576" anchor="ctr">
                    <a:solidFill>
                      <a:srgbClr val="EEF2F7"/>
                    </a:solidFill>
                  </a:tcPr>
                </a:tc>
                <a:tc>
                  <a:txBody>
                    <a:bodyPr wrap="square"/>
                    <a:lstStyle/>
                    <a:p>
                      <a:r>
                        <a:rPr sz="1500" b="0">
                          <a:solidFill>
                            <a:srgbClr val="232323"/>
                          </a:solidFill>
                          <a:latin typeface="Calibri"/>
                        </a:rPr>
                        <a:t>Rewritten as a separate, tested module</a:t>
                      </a:r>
                    </a:p>
                  </a:txBody>
                  <a:tcPr marL="73152" marR="73152" marT="36576" marB="36576" anchor="ctr">
                    <a:solidFill>
                      <a:srgbClr val="EEF2F7"/>
                    </a:solidFill>
                  </a:tcPr>
                </a:tc>
              </a:tr>
              <a:tr h="566928">
                <a:tc>
                  <a:txBody>
                    <a:bodyPr wrap="square"/>
                    <a:lstStyle/>
                    <a:p>
                      <a:r>
                        <a:rPr sz="1500" b="0">
                          <a:solidFill>
                            <a:srgbClr val="232323"/>
                          </a:solidFill>
                          <a:latin typeface="Calibri"/>
                        </a:rPr>
                        <a:t>Deployment failed (July and September 2026)</a:t>
                      </a:r>
                    </a:p>
                  </a:txBody>
                  <a:tcPr marL="73152" marR="73152" marT="36576" marB="36576" anchor="ctr">
                    <a:solidFill>
                      <a:srgbClr val="FFFFFF"/>
                    </a:solidFill>
                  </a:tcPr>
                </a:tc>
                <a:tc>
                  <a:txBody>
                    <a:bodyPr wrap="square"/>
                    <a:lstStyle/>
                    <a:p>
                      <a:r>
                        <a:rPr sz="1500" b="0">
                          <a:solidFill>
                            <a:srgbClr val="232323"/>
                          </a:solidFill>
                          <a:latin typeface="Calibri"/>
                        </a:rPr>
                        <a:t>Found and fixed four causes; live since 12 October 2026</a:t>
                      </a:r>
                    </a:p>
                  </a:txBody>
                  <a:tcPr marL="73152" marR="73152" marT="36576" marB="36576"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Test Results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12</a:t>
            </a:r>
            <a:r>
              <a:rPr lang="en-US" dirty="0"/>
              <a:t/>
            </a:r>
            <a:endParaRPr dirty="0"/>
          </a:p>
        </p:txBody>
      </p:sp>
      <p:graphicFrame>
        <p:nvGraphicFramePr>
          <p:cNvPr id="6" name="Table 5"/>
          <p:cNvGraphicFramePr>
            <a:graphicFrameLocks noGrp="1"/>
          </p:cNvGraphicFramePr>
          <p:nvPr/>
        </p:nvGraphicFramePr>
        <p:xfrm>
          <a:off x="548640" y="1188720"/>
          <a:ext cx="11064240" cy="4114800"/>
        </p:xfrm>
        <a:graphic>
          <a:graphicData uri="http://schemas.openxmlformats.org/drawingml/2006/table">
            <a:tbl>
              <a:tblPr firstRow="1" bandRow="1">
                <a:tableStyleId>{5C22544A-7EE6-4342-B048-85BDC9FD1C3A}</a:tableStyleId>
              </a:tblPr>
              <a:tblGrid>
                <a:gridCol w="1005840"/>
                <a:gridCol w="4937760"/>
                <a:gridCol w="3657600"/>
                <a:gridCol w="1463040"/>
              </a:tblGrid>
              <a:tr h="457200">
                <a:tc>
                  <a:txBody>
                    <a:bodyPr wrap="square"/>
                    <a:lstStyle/>
                    <a:p>
                      <a:r>
                        <a:rPr sz="1400" b="1">
                          <a:solidFill>
                            <a:srgbClr val="FFFFFF"/>
                          </a:solidFill>
                          <a:latin typeface="Calibri"/>
                        </a:rPr>
                        <a:t>ID</a:t>
                      </a:r>
                    </a:p>
                  </a:txBody>
                  <a:tcPr marL="73152" marR="73152" marT="36576" marB="36576" anchor="ctr">
                    <a:solidFill>
                      <a:srgbClr val="192D4B"/>
                    </a:solidFill>
                  </a:tcPr>
                </a:tc>
                <a:tc>
                  <a:txBody>
                    <a:bodyPr wrap="square"/>
                    <a:lstStyle/>
                    <a:p>
                      <a:r>
                        <a:rPr sz="1400" b="1">
                          <a:solidFill>
                            <a:srgbClr val="FFFFFF"/>
                          </a:solidFill>
                          <a:latin typeface="Calibri"/>
                        </a:rPr>
                        <a:t>Test case (live system, Android phone)</a:t>
                      </a:r>
                    </a:p>
                  </a:txBody>
                  <a:tcPr marL="73152" marR="73152" marT="36576" marB="36576" anchor="ctr">
                    <a:solidFill>
                      <a:srgbClr val="192D4B"/>
                    </a:solidFill>
                  </a:tcPr>
                </a:tc>
                <a:tc>
                  <a:txBody>
                    <a:bodyPr wrap="square"/>
                    <a:lstStyle/>
                    <a:p>
                      <a:r>
                        <a:rPr sz="1400" b="1">
                          <a:solidFill>
                            <a:srgbClr val="FFFFFF"/>
                          </a:solidFill>
                          <a:latin typeface="Calibri"/>
                        </a:rPr>
                        <a:t>Expected</a:t>
                      </a:r>
                    </a:p>
                  </a:txBody>
                  <a:tcPr marL="73152" marR="73152" marT="36576" marB="36576" anchor="ctr">
                    <a:solidFill>
                      <a:srgbClr val="192D4B"/>
                    </a:solidFill>
                  </a:tcPr>
                </a:tc>
                <a:tc>
                  <a:txBody>
                    <a:bodyPr wrap="square"/>
                    <a:lstStyle/>
                    <a:p>
                      <a:r>
                        <a:rPr sz="1400" b="1">
                          <a:solidFill>
                            <a:srgbClr val="FFFFFF"/>
                          </a:solidFill>
                          <a:latin typeface="Calibri"/>
                        </a:rPr>
                        <a:t>Result</a:t>
                      </a:r>
                    </a:p>
                  </a:txBody>
                  <a:tcPr marL="73152" marR="73152" marT="36576" marB="36576" anchor="ctr">
                    <a:solidFill>
                      <a:srgbClr val="192D4B"/>
                    </a:solidFill>
                  </a:tcPr>
                </a:tc>
              </a:tr>
              <a:tr h="457200">
                <a:tc>
                  <a:txBody>
                    <a:bodyPr wrap="square"/>
                    <a:lstStyle/>
                    <a:p>
                      <a:r>
                        <a:rPr sz="1500" b="0">
                          <a:solidFill>
                            <a:srgbClr val="232323"/>
                          </a:solidFill>
                          <a:latin typeface="Calibri"/>
                        </a:rPr>
                        <a:t>TC-01</a:t>
                      </a:r>
                    </a:p>
                  </a:txBody>
                  <a:tcPr marL="73152" marR="73152" marT="36576" marB="36576" anchor="ctr">
                    <a:solidFill>
                      <a:srgbClr val="FFFFFF"/>
                    </a:solidFill>
                  </a:tcPr>
                </a:tc>
                <a:tc>
                  <a:txBody>
                    <a:bodyPr wrap="square"/>
                    <a:lstStyle/>
                    <a:p>
                      <a:r>
                        <a:rPr sz="1500" b="0">
                          <a:solidFill>
                            <a:srgbClr val="232323"/>
                          </a:solidFill>
                          <a:latin typeface="Calibri"/>
                        </a:rPr>
                        <a:t>Register with a Zambian number and a one-time code</a:t>
                      </a:r>
                    </a:p>
                  </a:txBody>
                  <a:tcPr marL="73152" marR="73152" marT="36576" marB="36576" anchor="ctr">
                    <a:solidFill>
                      <a:srgbClr val="FFFFFF"/>
                    </a:solidFill>
                  </a:tcPr>
                </a:tc>
                <a:tc>
                  <a:txBody>
                    <a:bodyPr wrap="square"/>
                    <a:lstStyle/>
                    <a:p>
                      <a:r>
                        <a:rPr sz="1500" b="0">
                          <a:solidFill>
                            <a:srgbClr val="232323"/>
                          </a:solidFill>
                          <a:latin typeface="Calibri"/>
                        </a:rPr>
                        <a:t>Account created</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57200">
                <a:tc>
                  <a:txBody>
                    <a:bodyPr wrap="square"/>
                    <a:lstStyle/>
                    <a:p>
                      <a:r>
                        <a:rPr sz="1500" b="0">
                          <a:solidFill>
                            <a:srgbClr val="232323"/>
                          </a:solidFill>
                          <a:latin typeface="Calibri"/>
                        </a:rPr>
                        <a:t>TC-04</a:t>
                      </a:r>
                    </a:p>
                  </a:txBody>
                  <a:tcPr marL="73152" marR="73152" marT="36576" marB="36576" anchor="ctr">
                    <a:solidFill>
                      <a:srgbClr val="EEF2F7"/>
                    </a:solidFill>
                  </a:tcPr>
                </a:tc>
                <a:tc>
                  <a:txBody>
                    <a:bodyPr wrap="square"/>
                    <a:lstStyle/>
                    <a:p>
                      <a:r>
                        <a:rPr sz="1500" b="0">
                          <a:solidFill>
                            <a:srgbClr val="232323"/>
                          </a:solidFill>
                          <a:latin typeface="Calibri"/>
                        </a:rPr>
                        <a:t>Seller posts a listing with a photo</a:t>
                      </a:r>
                    </a:p>
                  </a:txBody>
                  <a:tcPr marL="73152" marR="73152" marT="36576" marB="36576" anchor="ctr">
                    <a:solidFill>
                      <a:srgbClr val="EEF2F7"/>
                    </a:solidFill>
                  </a:tcPr>
                </a:tc>
                <a:tc>
                  <a:txBody>
                    <a:bodyPr wrap="square"/>
                    <a:lstStyle/>
                    <a:p>
                      <a:r>
                        <a:rPr sz="1500" b="0">
                          <a:solidFill>
                            <a:srgbClr val="232323"/>
                          </a:solidFill>
                          <a:latin typeface="Calibri"/>
                        </a:rPr>
                        <a:t>Listing appears in Browse</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r h="457200">
                <a:tc>
                  <a:txBody>
                    <a:bodyPr wrap="square"/>
                    <a:lstStyle/>
                    <a:p>
                      <a:r>
                        <a:rPr sz="1500" b="0">
                          <a:solidFill>
                            <a:srgbClr val="232323"/>
                          </a:solidFill>
                          <a:latin typeface="Calibri"/>
                        </a:rPr>
                        <a:t>TC-06</a:t>
                      </a:r>
                    </a:p>
                  </a:txBody>
                  <a:tcPr marL="73152" marR="73152" marT="36576" marB="36576" anchor="ctr">
                    <a:solidFill>
                      <a:srgbClr val="FFFFFF"/>
                    </a:solidFill>
                  </a:tcPr>
                </a:tc>
                <a:tc>
                  <a:txBody>
                    <a:bodyPr wrap="square"/>
                    <a:lstStyle/>
                    <a:p>
                      <a:r>
                        <a:rPr sz="1500" b="0">
                          <a:solidFill>
                            <a:srgbClr val="232323"/>
                          </a:solidFill>
                          <a:latin typeface="Calibri"/>
                        </a:rPr>
                        <a:t>Seller dictates a listing in Chrome on Android</a:t>
                      </a:r>
                    </a:p>
                  </a:txBody>
                  <a:tcPr marL="73152" marR="73152" marT="36576" marB="36576" anchor="ctr">
                    <a:solidFill>
                      <a:srgbClr val="FFFFFF"/>
                    </a:solidFill>
                  </a:tcPr>
                </a:tc>
                <a:tc>
                  <a:txBody>
                    <a:bodyPr wrap="square"/>
                    <a:lstStyle/>
                    <a:p>
                      <a:r>
                        <a:rPr sz="1500" b="0">
                          <a:solidFill>
                            <a:srgbClr val="232323"/>
                          </a:solidFill>
                          <a:latin typeface="Calibri"/>
                        </a:rPr>
                        <a:t>Form filled from speech</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57200">
                <a:tc>
                  <a:txBody>
                    <a:bodyPr wrap="square"/>
                    <a:lstStyle/>
                    <a:p>
                      <a:r>
                        <a:rPr sz="1500" b="0">
                          <a:solidFill>
                            <a:srgbClr val="232323"/>
                          </a:solidFill>
                          <a:latin typeface="Calibri"/>
                        </a:rPr>
                        <a:t>TC-07</a:t>
                      </a:r>
                    </a:p>
                  </a:txBody>
                  <a:tcPr marL="73152" marR="73152" marT="36576" marB="36576" anchor="ctr">
                    <a:solidFill>
                      <a:srgbClr val="EEF2F7"/>
                    </a:solidFill>
                  </a:tcPr>
                </a:tc>
                <a:tc>
                  <a:txBody>
                    <a:bodyPr wrap="square"/>
                    <a:lstStyle/>
                    <a:p>
                      <a:r>
                        <a:rPr sz="1500" b="0">
                          <a:solidFill>
                            <a:srgbClr val="232323"/>
                          </a:solidFill>
                          <a:latin typeface="Calibri"/>
                        </a:rPr>
                        <a:t>Buyer and seller chat</a:t>
                      </a:r>
                    </a:p>
                  </a:txBody>
                  <a:tcPr marL="73152" marR="73152" marT="36576" marB="36576" anchor="ctr">
                    <a:solidFill>
                      <a:srgbClr val="EEF2F7"/>
                    </a:solidFill>
                  </a:tcPr>
                </a:tc>
                <a:tc>
                  <a:txBody>
                    <a:bodyPr wrap="square"/>
                    <a:lstStyle/>
                    <a:p>
                      <a:r>
                        <a:rPr sz="1500" b="0">
                          <a:solidFill>
                            <a:srgbClr val="232323"/>
                          </a:solidFill>
                          <a:latin typeface="Calibri"/>
                        </a:rPr>
                        <a:t>Message arrives instantly</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r h="457200">
                <a:tc>
                  <a:txBody>
                    <a:bodyPr wrap="square"/>
                    <a:lstStyle/>
                    <a:p>
                      <a:r>
                        <a:rPr sz="1500" b="0">
                          <a:solidFill>
                            <a:srgbClr val="232323"/>
                          </a:solidFill>
                          <a:latin typeface="Calibri"/>
                        </a:rPr>
                        <a:t>TC-14</a:t>
                      </a:r>
                    </a:p>
                  </a:txBody>
                  <a:tcPr marL="73152" marR="73152" marT="36576" marB="36576" anchor="ctr">
                    <a:solidFill>
                      <a:srgbClr val="FFFFFF"/>
                    </a:solidFill>
                  </a:tcPr>
                </a:tc>
                <a:tc>
                  <a:txBody>
                    <a:bodyPr wrap="square"/>
                    <a:lstStyle/>
                    <a:p>
                      <a:r>
                        <a:rPr sz="1500" b="0">
                          <a:solidFill>
                            <a:srgbClr val="232323"/>
                          </a:solidFill>
                          <a:latin typeface="Calibri"/>
                        </a:rPr>
                        <a:t>Admin verifies a seller</a:t>
                      </a:r>
                    </a:p>
                  </a:txBody>
                  <a:tcPr marL="73152" marR="73152" marT="36576" marB="36576" anchor="ctr">
                    <a:solidFill>
                      <a:srgbClr val="FFFFFF"/>
                    </a:solidFill>
                  </a:tcPr>
                </a:tc>
                <a:tc>
                  <a:txBody>
                    <a:bodyPr wrap="square"/>
                    <a:lstStyle/>
                    <a:p>
                      <a:r>
                        <a:rPr sz="1500" b="0">
                          <a:solidFill>
                            <a:srgbClr val="232323"/>
                          </a:solidFill>
                          <a:latin typeface="Calibri"/>
                        </a:rPr>
                        <a:t>Badge shown; score +15</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57200">
                <a:tc>
                  <a:txBody>
                    <a:bodyPr wrap="square"/>
                    <a:lstStyle/>
                    <a:p>
                      <a:r>
                        <a:rPr sz="1500" b="0">
                          <a:solidFill>
                            <a:srgbClr val="232323"/>
                          </a:solidFill>
                          <a:latin typeface="Calibri"/>
                        </a:rPr>
                        <a:t>TC-17</a:t>
                      </a:r>
                    </a:p>
                  </a:txBody>
                  <a:tcPr marL="73152" marR="73152" marT="36576" marB="36576" anchor="ctr">
                    <a:solidFill>
                      <a:srgbClr val="EEF2F7"/>
                    </a:solidFill>
                  </a:tcPr>
                </a:tc>
                <a:tc>
                  <a:txBody>
                    <a:bodyPr wrap="square"/>
                    <a:lstStyle/>
                    <a:p>
                      <a:r>
                        <a:rPr sz="1500" b="0">
                          <a:solidFill>
                            <a:srgbClr val="232323"/>
                          </a:solidFill>
                          <a:latin typeface="Calibri"/>
                        </a:rPr>
                        <a:t>Hosted app (Vercel + Render) on mobile data</a:t>
                      </a:r>
                    </a:p>
                  </a:txBody>
                  <a:tcPr marL="73152" marR="73152" marT="36576" marB="36576" anchor="ctr">
                    <a:solidFill>
                      <a:srgbClr val="EEF2F7"/>
                    </a:solidFill>
                  </a:tcPr>
                </a:tc>
                <a:tc>
                  <a:txBody>
                    <a:bodyPr wrap="square"/>
                    <a:lstStyle/>
                    <a:p>
                      <a:r>
                        <a:rPr sz="1500" b="0">
                          <a:solidFill>
                            <a:srgbClr val="232323"/>
                          </a:solidFill>
                          <a:latin typeface="Calibri"/>
                        </a:rPr>
                        <a:t>Pages load; chat connects</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r h="457200">
                <a:tc>
                  <a:txBody>
                    <a:bodyPr wrap="square"/>
                    <a:lstStyle/>
                    <a:p>
                      <a:r>
                        <a:rPr sz="1500" b="0">
                          <a:solidFill>
                            <a:srgbClr val="232323"/>
                          </a:solidFill>
                          <a:latin typeface="Calibri"/>
                        </a:rPr>
                        <a:t>TC-22</a:t>
                      </a:r>
                    </a:p>
                  </a:txBody>
                  <a:tcPr marL="73152" marR="73152" marT="36576" marB="36576" anchor="ctr">
                    <a:solidFill>
                      <a:srgbClr val="FFFFFF"/>
                    </a:solidFill>
                  </a:tcPr>
                </a:tc>
                <a:tc>
                  <a:txBody>
                    <a:bodyPr wrap="square"/>
                    <a:lstStyle/>
                    <a:p>
                      <a:r>
                        <a:rPr sz="1500" b="0">
                          <a:solidFill>
                            <a:srgbClr val="232323"/>
                          </a:solidFill>
                          <a:latin typeface="Calibri"/>
                        </a:rPr>
                        <a:t>Install the app from Chrome on Android</a:t>
                      </a:r>
                    </a:p>
                  </a:txBody>
                  <a:tcPr marL="73152" marR="73152" marT="36576" marB="36576" anchor="ctr">
                    <a:solidFill>
                      <a:srgbClr val="FFFFFF"/>
                    </a:solidFill>
                  </a:tcPr>
                </a:tc>
                <a:tc>
                  <a:txBody>
                    <a:bodyPr wrap="square"/>
                    <a:lstStyle/>
                    <a:p>
                      <a:r>
                        <a:rPr sz="1500" b="0">
                          <a:solidFill>
                            <a:srgbClr val="232323"/>
                          </a:solidFill>
                          <a:latin typeface="Calibri"/>
                        </a:rPr>
                        <a:t>Opens from the home screen</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57200">
                <a:tc>
                  <a:txBody>
                    <a:bodyPr wrap="square"/>
                    <a:lstStyle/>
                    <a:p>
                      <a:r>
                        <a:rPr sz="1500" b="0">
                          <a:solidFill>
                            <a:srgbClr val="232323"/>
                          </a:solidFill>
                          <a:latin typeface="Calibri"/>
                        </a:rPr>
                        <a:t>B17</a:t>
                      </a:r>
                    </a:p>
                  </a:txBody>
                  <a:tcPr marL="73152" marR="73152" marT="36576" marB="36576" anchor="ctr">
                    <a:solidFill>
                      <a:srgbClr val="EEF2F7"/>
                    </a:solidFill>
                  </a:tcPr>
                </a:tc>
                <a:tc>
                  <a:txBody>
                    <a:bodyPr wrap="square"/>
                    <a:lstStyle/>
                    <a:p>
                      <a:r>
                        <a:rPr sz="1500" b="0">
                          <a:solidFill>
                            <a:srgbClr val="232323"/>
                          </a:solidFill>
                          <a:latin typeface="Calibri"/>
                        </a:rPr>
                        <a:t>Edit the most recent trust block (automated)</a:t>
                      </a:r>
                    </a:p>
                  </a:txBody>
                  <a:tcPr marL="73152" marR="73152" marT="36576" marB="36576" anchor="ctr">
                    <a:solidFill>
                      <a:srgbClr val="EEF2F7"/>
                    </a:solidFill>
                  </a:tcPr>
                </a:tc>
                <a:tc>
                  <a:txBody>
                    <a:bodyPr wrap="square"/>
                    <a:lstStyle/>
                    <a:p>
                      <a:r>
                        <a:rPr sz="1500" b="0">
                          <a:solidFill>
                            <a:srgbClr val="232323"/>
                          </a:solidFill>
                          <a:latin typeface="Calibri"/>
                        </a:rPr>
                        <a:t>Caught by stored head hash</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bl>
          </a:graphicData>
        </a:graphic>
      </p:graphicFrame>
      <p:sp>
        <p:nvSpPr>
          <p:cNvPr id="7" name="TextBox 6"/>
          <p:cNvSpPr txBox="1"/>
          <p:nvPr/>
        </p:nvSpPr>
        <p:spPr>
          <a:xfrm>
            <a:off x="548640" y="5486400"/>
            <a:ext cx="11064240" cy="457200"/>
          </a:xfrm>
          <a:prstGeom prst="rect">
            <a:avLst/>
          </a:prstGeom>
          <a:noFill/>
        </p:spPr>
        <p:txBody>
          <a:bodyPr wrap="square" anchor="t" lIns="45720" rIns="45720" tIns="27432" bIns="27432">
            <a:spAutoFit/>
          </a:bodyPr>
          <a:lstStyle/>
          <a:p>
            <a:pPr algn="l">
              <a:spcAft>
                <a:spcPts val="600"/>
              </a:spcAft>
            </a:pPr>
            <a:r>
              <a:rPr sz="1500" b="1" i="0">
                <a:solidFill>
                  <a:srgbClr val="192D4B"/>
                </a:solidFill>
                <a:latin typeface="Calibri"/>
              </a:rPr>
              <a:t>Automated: </a:t>
            </a:r>
            <a:r>
              <a:rPr sz="1500" b="0" i="0">
                <a:solidFill>
                  <a:srgbClr val="232323"/>
                </a:solidFill>
                <a:latin typeface="Calibri"/>
              </a:rPr>
              <a:t>86 of 86 tests pass on every push (73 backend, 13 voice parser). Full tables: Report Tables 6.1 to 6.3.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Discussion of Findings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13</a:t>
            </a:r>
            <a:r>
              <a:rPr lang="en-US" dirty="0"/>
              <a:t/>
            </a:r>
            <a:endParaRPr dirty="0"/>
          </a:p>
        </p:txBody>
      </p:sp>
      <p:sp>
        <p:nvSpPr>
          <p:cNvPr id="6" name="Rounded Rectangle 5"/>
          <p:cNvSpPr/>
          <p:nvPr/>
        </p:nvSpPr>
        <p:spPr>
          <a:xfrm>
            <a:off x="731520" y="132588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0876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Trust</a:t>
            </a:r>
          </a:p>
        </p:txBody>
      </p:sp>
      <p:sp>
        <p:nvSpPr>
          <p:cNvPr id="8" name="Rounded Rectangle 7"/>
          <p:cNvSpPr/>
          <p:nvPr/>
        </p:nvSpPr>
        <p:spPr>
          <a:xfrm>
            <a:off x="4023360" y="1527048"/>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0" y="1527048"/>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RQ1: Yes</a:t>
            </a:r>
          </a:p>
        </p:txBody>
      </p:sp>
      <p:sp>
        <p:nvSpPr>
          <p:cNvPr id="10" name="TextBox 9"/>
          <p:cNvSpPr txBox="1"/>
          <p:nvPr/>
        </p:nvSpPr>
        <p:spPr>
          <a:xfrm>
            <a:off x="960120" y="2103120"/>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A hash chain on an ordinary database detects any edited, deleted or reordered event, cheaply.</a:t>
            </a:r>
          </a:p>
        </p:txBody>
      </p:sp>
      <p:sp>
        <p:nvSpPr>
          <p:cNvPr id="11" name="Rounded Rectangle 10"/>
          <p:cNvSpPr/>
          <p:nvPr/>
        </p:nvSpPr>
        <p:spPr>
          <a:xfrm>
            <a:off x="6172200" y="132588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50876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Discovery</a:t>
            </a:r>
          </a:p>
        </p:txBody>
      </p:sp>
      <p:sp>
        <p:nvSpPr>
          <p:cNvPr id="13" name="Rounded Rectangle 12"/>
          <p:cNvSpPr/>
          <p:nvPr/>
        </p:nvSpPr>
        <p:spPr>
          <a:xfrm>
            <a:off x="9464040" y="1527048"/>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64040" y="1527048"/>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5" name="TextBox 14"/>
          <p:cNvSpPr txBox="1"/>
          <p:nvPr/>
        </p:nvSpPr>
        <p:spPr>
          <a:xfrm>
            <a:off x="6400800" y="2103120"/>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Neighbourhood filters match how residents describe location, with no GPS needed.</a:t>
            </a:r>
          </a:p>
        </p:txBody>
      </p:sp>
      <p:sp>
        <p:nvSpPr>
          <p:cNvPr id="16" name="Rounded Rectangle 15"/>
          <p:cNvSpPr/>
          <p:nvPr/>
        </p:nvSpPr>
        <p:spPr>
          <a:xfrm>
            <a:off x="731520" y="370332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88620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Voice</a:t>
            </a:r>
          </a:p>
        </p:txBody>
      </p:sp>
      <p:sp>
        <p:nvSpPr>
          <p:cNvPr id="18" name="Rounded Rectangle 17"/>
          <p:cNvSpPr/>
          <p:nvPr/>
        </p:nvSpPr>
        <p:spPr>
          <a:xfrm>
            <a:off x="4023360" y="3904487"/>
            <a:ext cx="1737360" cy="347472"/>
          </a:xfrm>
          <a:prstGeom prst="roundRect">
            <a:avLst>
              <a:gd name="adj" fmla="val 50000"/>
            </a:avLst>
          </a:prstGeom>
          <a:solidFill>
            <a:srgbClr val="FD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023360" y="3904487"/>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B26B00"/>
                </a:solidFill>
                <a:latin typeface="Calibri"/>
              </a:rPr>
              <a:t>RQ2: Partly</a:t>
            </a:r>
          </a:p>
        </p:txBody>
      </p:sp>
      <p:sp>
        <p:nvSpPr>
          <p:cNvPr id="20" name="TextBox 19"/>
          <p:cNvSpPr txBox="1"/>
          <p:nvPr/>
        </p:nvSpPr>
        <p:spPr>
          <a:xfrm>
            <a:off x="960120" y="4480559"/>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Works for English sentences, but Nyanja and Bemba speakers are not served.</a:t>
            </a:r>
          </a:p>
        </p:txBody>
      </p:sp>
      <p:sp>
        <p:nvSpPr>
          <p:cNvPr id="21" name="Rounded Rectangle 20"/>
          <p:cNvSpPr/>
          <p:nvPr/>
        </p:nvSpPr>
        <p:spPr>
          <a:xfrm>
            <a:off x="6172200" y="370332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388620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Connectivity</a:t>
            </a:r>
          </a:p>
        </p:txBody>
      </p:sp>
      <p:sp>
        <p:nvSpPr>
          <p:cNvPr id="23" name="Rounded Rectangle 22"/>
          <p:cNvSpPr/>
          <p:nvPr/>
        </p:nvSpPr>
        <p:spPr>
          <a:xfrm>
            <a:off x="9464040" y="3904487"/>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64040" y="3904487"/>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RQ3: Largely</a:t>
            </a:r>
          </a:p>
        </p:txBody>
      </p:sp>
      <p:sp>
        <p:nvSpPr>
          <p:cNvPr id="25" name="TextBox 24"/>
          <p:cNvSpPr txBox="1"/>
          <p:nvPr/>
        </p:nvSpPr>
        <p:spPr>
          <a:xfrm>
            <a:off x="6400800" y="4480559"/>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Reading, messaging and new listings survive drops; ratings need a connection.</a:t>
            </a:r>
          </a:p>
        </p:txBody>
      </p:sp>
      <p:sp>
        <p:nvSpPr>
          <p:cNvPr id="26" name="TextBox 25"/>
          <p:cNvSpPr txBox="1"/>
          <p:nvPr/>
        </p:nvSpPr>
        <p:spPr>
          <a:xfrm>
            <a:off x="731520" y="6080760"/>
            <a:ext cx="10698480" cy="365760"/>
          </a:xfrm>
          <a:prstGeom prst="rect">
            <a:avLst/>
          </a:prstGeom>
          <a:noFill/>
        </p:spPr>
        <p:txBody>
          <a:bodyPr wrap="square" anchor="t" lIns="45720" rIns="45720" tIns="27432" bIns="27432">
            <a:spAutoFit/>
          </a:bodyPr>
          <a:lstStyle/>
          <a:p>
            <a:pPr algn="l">
              <a:spcAft>
                <a:spcPts val="600"/>
              </a:spcAft>
            </a:pPr>
            <a:r>
              <a:rPr sz="1500" b="1" i="0">
                <a:solidFill>
                  <a:srgbClr val="D85A30"/>
                </a:solidFill>
                <a:latin typeface="Calibri"/>
              </a:rPr>
              <a:t>Most important finding: verifiable trust is possible without online payment.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Limitations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14</a:t>
            </a:r>
            <a:r>
              <a:rPr lang="en-US" dirty="0"/>
              <a:t/>
            </a:r>
            <a:r>
              <a:rPr dirty="0"/>
              <a:t/>
            </a:r>
          </a:p>
        </p:txBody>
      </p:sp>
      <p:sp>
        <p:nvSpPr>
          <p:cNvPr id="6" name="TextBox 5"/>
          <p:cNvSpPr txBox="1"/>
          <p:nvPr/>
        </p:nvSpPr>
        <p:spPr>
          <a:xfrm>
            <a:off x="731520" y="1325880"/>
            <a:ext cx="10698480" cy="4206240"/>
          </a:xfrm>
          <a:prstGeom prst="rect">
            <a:avLst/>
          </a:prstGeom>
          <a:noFill/>
        </p:spPr>
        <p:txBody>
          <a:bodyPr wrap="square" anchor="t" lIns="45720" rIns="45720" tIns="27432" bIns="27432">
            <a:spAutoFit/>
          </a:bodyPr>
          <a:lstStyle/>
          <a:p>
            <a:pPr algn="l">
              <a:spcAft>
                <a:spcPts val="1400"/>
              </a:spcAft>
            </a:pPr>
            <a:r>
              <a:rPr sz="1900" b="0" i="0">
                <a:solidFill>
                  <a:srgbClr val="232323"/>
                </a:solidFill>
                <a:latin typeface="Calibri"/>
              </a:rPr>
              <a:t/>
            </a:r>
            <a:r>
              <a:rPr sz="1900" b="1" i="0">
                <a:solidFill>
                  <a:srgbClr val="192D4B"/>
                </a:solidFill>
                <a:latin typeface="Calibri"/>
              </a:rPr>
              <a:t>No user study yet: </a:t>
            </a:r>
            <a:r>
              <a:rPr sz="1900" b="0" i="0">
                <a:solidFill>
                  <a:srgbClr val="232323"/>
                </a:solidFill>
                <a:latin typeface="Calibri"/>
              </a:rPr>
              <a:t>usability and real-world benefit are not yet measured</a:t>
            </a:r>
          </a:p>
          <a:p>
            <a:pPr algn="l">
              <a:spcAft>
                <a:spcPts val="1400"/>
              </a:spcAft>
            </a:pPr>
            <a:r>
              <a:rPr sz="1900" b="0" i="0">
                <a:solidFill>
                  <a:srgbClr val="232323"/>
                </a:solidFill>
                <a:latin typeface="Calibri"/>
              </a:rPr>
              <a:t/>
            </a:r>
            <a:r>
              <a:rPr sz="1900" b="1" i="0">
                <a:solidFill>
                  <a:srgbClr val="192D4B"/>
                </a:solidFill>
                <a:latin typeface="Calibri"/>
              </a:rPr>
              <a:t>English-only voice: </a:t>
            </a:r>
            <a:r>
              <a:rPr sz="1900" b="0" i="0">
                <a:solidFill>
                  <a:srgbClr val="232323"/>
                </a:solidFill>
                <a:latin typeface="Calibri"/>
              </a:rPr>
              <a:t>excludes some sellers who would gain most</a:t>
            </a:r>
          </a:p>
          <a:p>
            <a:pPr algn="l">
              <a:spcAft>
                <a:spcPts val="1400"/>
              </a:spcAft>
            </a:pPr>
            <a:r>
              <a:rPr sz="1900" b="0" i="0">
                <a:solidFill>
                  <a:srgbClr val="232323"/>
                </a:solidFill>
                <a:latin typeface="Calibri"/>
              </a:rPr>
              <a:t/>
            </a:r>
            <a:r>
              <a:rPr sz="1900" b="1" i="0">
                <a:solidFill>
                  <a:srgbClr val="192D4B"/>
                </a:solidFill>
                <a:latin typeface="Calibri"/>
              </a:rPr>
              <a:t>Tamper-evident, not tamper-proof: </a:t>
            </a:r>
            <a:r>
              <a:rPr sz="1900" b="0" i="0">
                <a:solidFill>
                  <a:srgbClr val="232323"/>
                </a:solidFill>
                <a:latin typeface="Calibri"/>
              </a:rPr>
              <a:t>someone with full database access could rewrite a whole chain</a:t>
            </a:r>
          </a:p>
          <a:p>
            <a:pPr algn="l">
              <a:spcAft>
                <a:spcPts val="1400"/>
              </a:spcAft>
            </a:pPr>
            <a:r>
              <a:rPr sz="1900" b="0" i="0">
                <a:solidFill>
                  <a:srgbClr val="232323"/>
                </a:solidFill>
                <a:latin typeface="Calibri"/>
              </a:rPr>
              <a:t/>
            </a:r>
            <a:r>
              <a:rPr sz="1900" b="1" i="0">
                <a:solidFill>
                  <a:srgbClr val="192D4B"/>
                </a:solidFill>
                <a:latin typeface="Calibri"/>
              </a:rPr>
              <a:t>Rating gate: </a:t>
            </a:r>
            <a:r>
              <a:rPr sz="1900" b="0" i="0">
                <a:solidFill>
                  <a:srgbClr val="232323"/>
                </a:solidFill>
                <a:latin typeface="Calibri"/>
              </a:rPr>
              <a:t>checks that a conversation happened, not that a sale did</a:t>
            </a:r>
          </a:p>
          <a:p>
            <a:pPr algn="l">
              <a:spcAft>
                <a:spcPts val="1400"/>
              </a:spcAft>
            </a:pPr>
            <a:r>
              <a:rPr sz="1900" b="0" i="0">
                <a:solidFill>
                  <a:srgbClr val="232323"/>
                </a:solidFill>
                <a:latin typeface="Calibri"/>
              </a:rPr>
              <a:t/>
            </a:r>
            <a:r>
              <a:rPr sz="1900" b="1" i="0">
                <a:solidFill>
                  <a:srgbClr val="192D4B"/>
                </a:solidFill>
                <a:latin typeface="Calibri"/>
              </a:rPr>
              <a:t>No paid SMS: </a:t>
            </a:r>
            <a:r>
              <a:rPr sz="1900" b="0" i="0">
                <a:solidFill>
                  <a:srgbClr val="232323"/>
                </a:solidFill>
                <a:latin typeface="Calibri"/>
              </a:rPr>
              <a:t>registration codes go to the server log; real SMS is built in and is one setting away</a:t>
            </a:r>
          </a:p>
        </p:txBody>
      </p:sp>
      <p:sp>
        <p:nvSpPr>
          <p:cNvPr id="7" name="Rounded Rectangle 6"/>
          <p:cNvSpPr/>
          <p:nvPr/>
        </p:nvSpPr>
        <p:spPr>
          <a:xfrm>
            <a:off x="731520" y="4343400"/>
            <a:ext cx="10698480" cy="82296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43400"/>
            <a:ext cx="10332720" cy="822960"/>
          </a:xfrm>
          <a:prstGeom prst="rect">
            <a:avLst/>
          </a:prstGeom>
          <a:noFill/>
        </p:spPr>
        <p:txBody>
          <a:bodyPr wrap="square" anchor="ctr" lIns="45720" rIns="45720" tIns="27432" bIns="27432">
            <a:spAutoFit/>
          </a:bodyPr>
          <a:lstStyle/>
          <a:p>
            <a:pPr algn="l">
              <a:spcAft>
                <a:spcPts val="600"/>
              </a:spcAft>
            </a:pPr>
            <a:r>
              <a:rPr sz="1700" b="1" i="0">
                <a:solidFill>
                  <a:srgbClr val="232323"/>
                </a:solidFill>
                <a:latin typeface="Calibri"/>
              </a:rPr>
              <a:t>Implication: the results show technical feasibility, not yet adoption or real-world benefit.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23220"/>
          </a:xfrm>
          <a:prstGeom prst="rect">
            <a:avLst/>
          </a:prstGeom>
          <a:noFill/>
        </p:spPr>
        <p:txBody>
          <a:bodyPr wrap="none">
            <a:spAutoFit/>
          </a:bodyPr>
          <a:lstStyle/>
          <a:p>
            <a:pPr algn="ctr">
              <a:defRPr sz="2800" b="1">
                <a:solidFill>
                  <a:srgbClr val="192D4B"/>
                </a:solidFill>
              </a:defRPr>
            </a:pPr>
            <a:r>
              <a:t>Conclusion</a:t>
            </a:r>
            <a:endParaRPr dirty="0"/>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15</a:t>
            </a:r>
            <a:r>
              <a:rPr lang="en-US" dirty="0"/>
              <a:t/>
            </a:r>
            <a:endParaRPr dirty="0"/>
          </a:p>
        </p:txBody>
      </p:sp>
      <p:sp>
        <p:nvSpPr>
          <p:cNvPr id="6" name="TextBox 5"/>
          <p:cNvSpPr txBox="1"/>
          <p:nvPr/>
        </p:nvSpPr>
        <p:spPr>
          <a:xfrm>
            <a:off x="731520" y="1188720"/>
            <a:ext cx="5852160" cy="457200"/>
          </a:xfrm>
          <a:prstGeom prst="rect">
            <a:avLst/>
          </a:prstGeom>
          <a:noFill/>
        </p:spPr>
        <p:txBody>
          <a:bodyPr wrap="square" anchor="t" lIns="45720" rIns="45720" tIns="27432" bIns="27432">
            <a:spAutoFit/>
          </a:bodyPr>
          <a:lstStyle/>
          <a:p>
            <a:pPr algn="l">
              <a:spcAft>
                <a:spcPts val="600"/>
              </a:spcAft>
            </a:pPr>
            <a:r>
              <a:rPr sz="1900" b="1" i="0">
                <a:solidFill>
                  <a:srgbClr val="192D4B"/>
                </a:solidFill>
                <a:latin typeface="Calibri"/>
              </a:rPr>
              <a:t>Objectives</a:t>
            </a:r>
          </a:p>
        </p:txBody>
      </p:sp>
      <p:sp>
        <p:nvSpPr>
          <p:cNvPr id="7" name="TextBox 6"/>
          <p:cNvSpPr txBox="1"/>
          <p:nvPr/>
        </p:nvSpPr>
        <p:spPr>
          <a:xfrm>
            <a:off x="731520" y="1737360"/>
            <a:ext cx="4206240" cy="50292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1. Discovery and filters</a:t>
            </a:r>
          </a:p>
        </p:txBody>
      </p:sp>
      <p:sp>
        <p:nvSpPr>
          <p:cNvPr id="8" name="Rounded Rectangle 7"/>
          <p:cNvSpPr/>
          <p:nvPr/>
        </p:nvSpPr>
        <p:spPr>
          <a:xfrm>
            <a:off x="4937760" y="1810512"/>
            <a:ext cx="146304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1810512"/>
            <a:ext cx="146304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0" name="TextBox 9"/>
          <p:cNvSpPr txBox="1"/>
          <p:nvPr/>
        </p:nvSpPr>
        <p:spPr>
          <a:xfrm>
            <a:off x="731520" y="2395728"/>
            <a:ext cx="4206240" cy="50292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2. English voice listing</a:t>
            </a:r>
          </a:p>
        </p:txBody>
      </p:sp>
      <p:sp>
        <p:nvSpPr>
          <p:cNvPr id="11" name="Rounded Rectangle 10"/>
          <p:cNvSpPr/>
          <p:nvPr/>
        </p:nvSpPr>
        <p:spPr>
          <a:xfrm>
            <a:off x="4937760" y="2468880"/>
            <a:ext cx="146304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2468880"/>
            <a:ext cx="146304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3" name="TextBox 12"/>
          <p:cNvSpPr txBox="1"/>
          <p:nvPr/>
        </p:nvSpPr>
        <p:spPr>
          <a:xfrm>
            <a:off x="731520" y="3054096"/>
            <a:ext cx="4206240" cy="50292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3. Tamper-evident trust score</a:t>
            </a:r>
          </a:p>
        </p:txBody>
      </p:sp>
      <p:sp>
        <p:nvSpPr>
          <p:cNvPr id="14" name="Rounded Rectangle 13"/>
          <p:cNvSpPr/>
          <p:nvPr/>
        </p:nvSpPr>
        <p:spPr>
          <a:xfrm>
            <a:off x="4937760" y="3127248"/>
            <a:ext cx="146304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3127248"/>
            <a:ext cx="146304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6" name="TextBox 15"/>
          <p:cNvSpPr txBox="1"/>
          <p:nvPr/>
        </p:nvSpPr>
        <p:spPr>
          <a:xfrm>
            <a:off x="731520" y="3712464"/>
            <a:ext cx="4206240" cy="50292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4. Messaging and offline support</a:t>
            </a:r>
          </a:p>
        </p:txBody>
      </p:sp>
      <p:sp>
        <p:nvSpPr>
          <p:cNvPr id="17" name="Rounded Rectangle 16"/>
          <p:cNvSpPr/>
          <p:nvPr/>
        </p:nvSpPr>
        <p:spPr>
          <a:xfrm>
            <a:off x="4937760" y="3785616"/>
            <a:ext cx="146304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0" y="3785616"/>
            <a:ext cx="146304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9" name="TextBox 18"/>
          <p:cNvSpPr txBox="1"/>
          <p:nvPr/>
        </p:nvSpPr>
        <p:spPr>
          <a:xfrm>
            <a:off x="731520" y="4370831"/>
            <a:ext cx="4206240" cy="50292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5. Evaluation (user study pending)</a:t>
            </a:r>
          </a:p>
        </p:txBody>
      </p:sp>
      <p:sp>
        <p:nvSpPr>
          <p:cNvPr id="20" name="Rounded Rectangle 19"/>
          <p:cNvSpPr/>
          <p:nvPr/>
        </p:nvSpPr>
        <p:spPr>
          <a:xfrm>
            <a:off x="4937760" y="4443983"/>
            <a:ext cx="1463040" cy="347472"/>
          </a:xfrm>
          <a:prstGeom prst="roundRect">
            <a:avLst>
              <a:gd name="adj" fmla="val 50000"/>
            </a:avLst>
          </a:prstGeom>
          <a:solidFill>
            <a:srgbClr val="FD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37760" y="4443983"/>
            <a:ext cx="1463040" cy="347472"/>
          </a:xfrm>
          <a:prstGeom prst="rect">
            <a:avLst/>
          </a:prstGeom>
          <a:noFill/>
        </p:spPr>
        <p:txBody>
          <a:bodyPr wrap="square" anchor="ctr" lIns="45720" rIns="45720" tIns="27432" bIns="27432">
            <a:spAutoFit/>
          </a:bodyPr>
          <a:lstStyle/>
          <a:p>
            <a:pPr algn="ctr">
              <a:spcAft>
                <a:spcPts val="0"/>
              </a:spcAft>
            </a:pPr>
            <a:r>
              <a:rPr sz="1300" b="1" i="0">
                <a:solidFill>
                  <a:srgbClr val="B26B00"/>
                </a:solidFill>
                <a:latin typeface="Calibri"/>
              </a:rPr>
              <a:t>Partly</a:t>
            </a:r>
          </a:p>
        </p:txBody>
      </p:sp>
      <p:sp>
        <p:nvSpPr>
          <p:cNvPr id="22" name="Rounded Rectangle 21"/>
          <p:cNvSpPr/>
          <p:nvPr/>
        </p:nvSpPr>
        <p:spPr>
          <a:xfrm>
            <a:off x="6949440" y="1188720"/>
            <a:ext cx="4572000" cy="36118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1325880"/>
            <a:ext cx="4206240" cy="457200"/>
          </a:xfrm>
          <a:prstGeom prst="rect">
            <a:avLst/>
          </a:prstGeom>
          <a:noFill/>
        </p:spPr>
        <p:txBody>
          <a:bodyPr wrap="square" anchor="t" lIns="45720" rIns="45720" tIns="27432" bIns="27432">
            <a:spAutoFit/>
          </a:bodyPr>
          <a:lstStyle/>
          <a:p>
            <a:pPr algn="l">
              <a:spcAft>
                <a:spcPts val="600"/>
              </a:spcAft>
            </a:pPr>
            <a:r>
              <a:rPr sz="1900" b="1" i="0">
                <a:solidFill>
                  <a:srgbClr val="192D4B"/>
                </a:solidFill>
                <a:latin typeface="Calibri"/>
              </a:rPr>
              <a:t>Next steps</a:t>
            </a:r>
          </a:p>
        </p:txBody>
      </p:sp>
      <p:sp>
        <p:nvSpPr>
          <p:cNvPr id="24" name="TextBox 23"/>
          <p:cNvSpPr txBox="1"/>
          <p:nvPr/>
        </p:nvSpPr>
        <p:spPr>
          <a:xfrm>
            <a:off x="7132320" y="1783080"/>
            <a:ext cx="4206240" cy="2880360"/>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1. Usability study with sellers and buyers</a:t>
            </a:r>
          </a:p>
          <a:p>
            <a:pPr algn="l">
              <a:spcAft>
                <a:spcPts val="500"/>
              </a:spcAft>
            </a:pPr>
            <a:r>
              <a:rPr sz="1600" b="0" i="0">
                <a:solidFill>
                  <a:srgbClr val="232323"/>
                </a:solidFill>
                <a:latin typeface="Calibri"/>
              </a:rPr>
              <a:t>2. Switch on real SMS (Africa's Talking)</a:t>
            </a:r>
          </a:p>
          <a:p>
            <a:pPr algn="l">
              <a:spcAft>
                <a:spcPts val="500"/>
              </a:spcAft>
            </a:pPr>
            <a:r>
              <a:rPr sz="1600" b="0" i="0">
                <a:solidFill>
                  <a:srgbClr val="232323"/>
                </a:solidFill>
                <a:latin typeface="Calibri"/>
              </a:rPr>
              <a:t>3. Anchor the latest hash outside the database</a:t>
            </a:r>
          </a:p>
          <a:p>
            <a:pPr algn="l">
              <a:spcAft>
                <a:spcPts val="500"/>
              </a:spcAft>
            </a:pPr>
            <a:r>
              <a:rPr sz="1600" b="0" i="0">
                <a:solidFill>
                  <a:srgbClr val="232323"/>
                </a:solidFill>
                <a:latin typeface="Calibri"/>
              </a:rPr>
              <a:t>4. Nyanja and Bemba voice input</a:t>
            </a:r>
          </a:p>
        </p:txBody>
      </p:sp>
      <p:sp>
        <p:nvSpPr>
          <p:cNvPr id="25" name="Rounded Rectangle 24"/>
          <p:cNvSpPr/>
          <p:nvPr/>
        </p:nvSpPr>
        <p:spPr>
          <a:xfrm>
            <a:off x="731520" y="5074920"/>
            <a:ext cx="10789920" cy="96012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074920"/>
            <a:ext cx="10332720" cy="960120"/>
          </a:xfrm>
          <a:prstGeom prst="rect">
            <a:avLst/>
          </a:prstGeom>
          <a:noFill/>
        </p:spPr>
        <p:txBody>
          <a:bodyPr wrap="square" anchor="ctr" lIns="45720" rIns="45720" tIns="27432" bIns="27432">
            <a:spAutoFit/>
          </a:bodyPr>
          <a:lstStyle/>
          <a:p>
            <a:pPr algn="ctr">
              <a:spcAft>
                <a:spcPts val="600"/>
              </a:spcAft>
            </a:pPr>
            <a:r>
              <a:rPr sz="1800" b="1" i="0">
                <a:solidFill>
                  <a:srgbClr val="FFFFFF"/>
                </a:solidFill>
                <a:latin typeface="Calibri"/>
              </a:rPr>
              <a:t>Verifiable trust for cash traders is possible without online payment, and ZamMarket is live at zam-market-khaki.vercel.app.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Questions and Discussion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17</a:t>
            </a:r>
            <a:r>
              <a:rPr lang="en-US" dirty="0"/>
              <a:t/>
            </a:r>
            <a:endParaRPr dirty="0"/>
          </a:p>
        </p:txBody>
      </p:sp>
      <p:sp>
        <p:nvSpPr>
          <p:cNvPr id="6" name="Rounded Rectangle 5"/>
          <p:cNvSpPr/>
          <p:nvPr/>
        </p:nvSpPr>
        <p:spPr>
          <a:xfrm>
            <a:off x="2011680" y="1463040"/>
            <a:ext cx="8138160" cy="420624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11680" y="1737360"/>
            <a:ext cx="8138160" cy="914400"/>
          </a:xfrm>
          <a:prstGeom prst="rect">
            <a:avLst/>
          </a:prstGeom>
          <a:noFill/>
        </p:spPr>
        <p:txBody>
          <a:bodyPr wrap="square" anchor="t" lIns="45720" rIns="45720" tIns="27432" bIns="27432">
            <a:spAutoFit/>
          </a:bodyPr>
          <a:lstStyle/>
          <a:p>
            <a:pPr algn="ctr">
              <a:spcAft>
                <a:spcPts val="600"/>
              </a:spcAft>
            </a:pPr>
            <a:r>
              <a:rPr sz="4400" b="1" i="0">
                <a:solidFill>
                  <a:srgbClr val="FFFFFF"/>
                </a:solidFill>
                <a:latin typeface="Calibri"/>
              </a:rPr>
              <a:t>Thank you</a:t>
            </a:r>
          </a:p>
        </p:txBody>
      </p:sp>
      <p:sp>
        <p:nvSpPr>
          <p:cNvPr id="8" name="TextBox 7"/>
          <p:cNvSpPr txBox="1"/>
          <p:nvPr/>
        </p:nvSpPr>
        <p:spPr>
          <a:xfrm>
            <a:off x="2377440" y="2743200"/>
            <a:ext cx="7406640" cy="1097280"/>
          </a:xfrm>
          <a:prstGeom prst="rect">
            <a:avLst/>
          </a:prstGeom>
          <a:noFill/>
        </p:spPr>
        <p:txBody>
          <a:bodyPr wrap="square" anchor="t" lIns="45720" rIns="45720" tIns="27432" bIns="27432">
            <a:spAutoFit/>
          </a:bodyPr>
          <a:lstStyle/>
          <a:p>
            <a:pPr algn="ctr">
              <a:spcAft>
                <a:spcPts val="600"/>
              </a:spcAft>
            </a:pPr>
            <a:r>
              <a:rPr sz="2000" b="0" i="0">
                <a:solidFill>
                  <a:srgbClr val="CFDAEA"/>
                </a:solidFill>
                <a:latin typeface="Calibri"/>
              </a:rPr>
              <a:t>ZamMarket: local charcoal trading with a tamper-evident seller trust score</a:t>
            </a:r>
          </a:p>
        </p:txBody>
      </p:sp>
      <p:sp>
        <p:nvSpPr>
          <p:cNvPr id="9" name="TextBox 8"/>
          <p:cNvSpPr txBox="1"/>
          <p:nvPr/>
        </p:nvSpPr>
        <p:spPr>
          <a:xfrm>
            <a:off x="2377440" y="3840480"/>
            <a:ext cx="7406640" cy="457200"/>
          </a:xfrm>
          <a:prstGeom prst="rect">
            <a:avLst/>
          </a:prstGeom>
          <a:noFill/>
        </p:spPr>
        <p:txBody>
          <a:bodyPr wrap="square" anchor="t" lIns="45720" rIns="45720" tIns="27432" bIns="27432">
            <a:spAutoFit/>
          </a:bodyPr>
          <a:lstStyle/>
          <a:p>
            <a:pPr algn="ctr">
              <a:spcAft>
                <a:spcPts val="600"/>
              </a:spcAft>
            </a:pPr>
            <a:r>
              <a:rPr sz="1800" b="0" i="0">
                <a:solidFill>
                  <a:srgbClr val="FFFFFF"/>
                </a:solidFill>
                <a:latin typeface="Calibri"/>
              </a:rPr>
              <a:t>John Chola · 2021422054</a:t>
            </a:r>
          </a:p>
        </p:txBody>
      </p:sp>
      <p:sp>
        <p:nvSpPr>
          <p:cNvPr id="10" name="TextBox 9"/>
          <p:cNvSpPr txBox="1"/>
          <p:nvPr/>
        </p:nvSpPr>
        <p:spPr>
          <a:xfrm>
            <a:off x="2377440" y="4343400"/>
            <a:ext cx="7406640" cy="457200"/>
          </a:xfrm>
          <a:prstGeom prst="rect">
            <a:avLst/>
          </a:prstGeom>
          <a:noFill/>
        </p:spPr>
        <p:txBody>
          <a:bodyPr wrap="square" anchor="t" lIns="45720" rIns="45720" tIns="27432" bIns="27432">
            <a:spAutoFit/>
          </a:bodyPr>
          <a:lstStyle/>
          <a:p>
            <a:pPr algn="ctr">
              <a:spcAft>
                <a:spcPts val="600"/>
              </a:spcAft>
            </a:pPr>
            <a:r>
              <a:rPr sz="1600" b="0" i="0">
                <a:solidFill>
                  <a:srgbClr val="CFDAEA"/>
                </a:solidFill>
                <a:latin typeface="Calibri"/>
              </a:rPr>
              <a:t>zam-market-khaki.vercel.app · github.com/john-chola/ZamMarket</a:t>
            </a:r>
          </a:p>
        </p:txBody>
      </p:sp>
      <p:sp>
        <p:nvSpPr>
          <p:cNvPr id="11" name="TextBox 10"/>
          <p:cNvSpPr txBox="1"/>
          <p:nvPr/>
        </p:nvSpPr>
        <p:spPr>
          <a:xfrm>
            <a:off x="2011680" y="4892040"/>
            <a:ext cx="8138160" cy="640080"/>
          </a:xfrm>
          <a:prstGeom prst="rect">
            <a:avLst/>
          </a:prstGeom>
          <a:noFill/>
        </p:spPr>
        <p:txBody>
          <a:bodyPr wrap="square" anchor="t" lIns="45720" rIns="45720" tIns="27432" bIns="27432">
            <a:spAutoFit/>
          </a:bodyPr>
          <a:lstStyle/>
          <a:p>
            <a:pPr algn="ctr">
              <a:spcAft>
                <a:spcPts val="600"/>
              </a:spcAft>
            </a:pPr>
            <a:r>
              <a:rPr sz="2600" b="1" i="0">
                <a:solidFill>
                  <a:srgbClr val="F4A286"/>
                </a:solidFill>
                <a:latin typeface="Calibri"/>
              </a:rPr>
              <a:t>Questions?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10972800" cy="523220"/>
          </a:xfrm>
          <a:prstGeom prst="rect">
            <a:avLst/>
          </a:prstGeom>
          <a:noFill/>
        </p:spPr>
        <p:txBody>
          <a:bodyPr wrap="none">
            <a:spAutoFit/>
          </a:bodyPr>
          <a:lstStyle/>
          <a:p>
            <a:pPr algn="ctr">
              <a:defRPr sz="2800" b="1">
                <a:solidFill>
                  <a:srgbClr val="192D4B"/>
                </a:solidFill>
              </a:defRPr>
            </a:pPr>
            <a:r>
              <a:t>System Demonstration</a:t>
            </a:r>
            <a:endParaRPr dirty="0"/>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16</a:t>
            </a:r>
            <a:r>
              <a:rPr lang="en-US" dirty="0"/>
              <a:t/>
            </a:r>
            <a:endParaRPr dirty="0"/>
          </a:p>
        </p:txBody>
      </p:sp>
      <p:sp>
        <p:nvSpPr>
          <p:cNvPr id="6" name="Oval 5"/>
          <p:cNvSpPr/>
          <p:nvPr/>
        </p:nvSpPr>
        <p:spPr>
          <a:xfrm>
            <a:off x="731520" y="1344168"/>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417320" y="1280160"/>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Buyer</a:t>
            </a:r>
          </a:p>
        </p:txBody>
      </p:sp>
      <p:sp>
        <p:nvSpPr>
          <p:cNvPr id="8" name="TextBox 7"/>
          <p:cNvSpPr txBox="1"/>
          <p:nvPr/>
        </p:nvSpPr>
        <p:spPr>
          <a:xfrm>
            <a:off x="2606040" y="1280160"/>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Browse and filter by neighbourhood and price</a:t>
            </a:r>
          </a:p>
        </p:txBody>
      </p:sp>
      <p:sp>
        <p:nvSpPr>
          <p:cNvPr id="9" name="Oval 8"/>
          <p:cNvSpPr/>
          <p:nvPr/>
        </p:nvSpPr>
        <p:spPr>
          <a:xfrm>
            <a:off x="731520" y="2130551"/>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0" name="TextBox 9"/>
          <p:cNvSpPr txBox="1"/>
          <p:nvPr/>
        </p:nvSpPr>
        <p:spPr>
          <a:xfrm>
            <a:off x="1417320" y="2066543"/>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Seller</a:t>
            </a:r>
          </a:p>
        </p:txBody>
      </p:sp>
      <p:sp>
        <p:nvSpPr>
          <p:cNvPr id="11" name="TextBox 10"/>
          <p:cNvSpPr txBox="1"/>
          <p:nvPr/>
        </p:nvSpPr>
        <p:spPr>
          <a:xfrm>
            <a:off x="2606040" y="2066543"/>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Post a listing by voice: "ten bags, ninety five kwacha, Kanyama"</a:t>
            </a:r>
          </a:p>
        </p:txBody>
      </p:sp>
      <p:sp>
        <p:nvSpPr>
          <p:cNvPr id="12" name="Oval 11"/>
          <p:cNvSpPr/>
          <p:nvPr/>
        </p:nvSpPr>
        <p:spPr>
          <a:xfrm>
            <a:off x="731520" y="2916936"/>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3" name="TextBox 12"/>
          <p:cNvSpPr txBox="1"/>
          <p:nvPr/>
        </p:nvSpPr>
        <p:spPr>
          <a:xfrm>
            <a:off x="1417320" y="2852928"/>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Both</a:t>
            </a:r>
          </a:p>
        </p:txBody>
      </p:sp>
      <p:sp>
        <p:nvSpPr>
          <p:cNvPr id="14" name="TextBox 13"/>
          <p:cNvSpPr txBox="1"/>
          <p:nvPr/>
        </p:nvSpPr>
        <p:spPr>
          <a:xfrm>
            <a:off x="2606040" y="2852928"/>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Chat; go offline, send a message and post a listing, then reconnect</a:t>
            </a:r>
          </a:p>
        </p:txBody>
      </p:sp>
      <p:sp>
        <p:nvSpPr>
          <p:cNvPr id="15" name="Oval 14"/>
          <p:cNvSpPr/>
          <p:nvPr/>
        </p:nvSpPr>
        <p:spPr>
          <a:xfrm>
            <a:off x="731520" y="3703320"/>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6" name="TextBox 15"/>
          <p:cNvSpPr txBox="1"/>
          <p:nvPr/>
        </p:nvSpPr>
        <p:spPr>
          <a:xfrm>
            <a:off x="1417320" y="3639312"/>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Buyer</a:t>
            </a:r>
          </a:p>
        </p:txBody>
      </p:sp>
      <p:sp>
        <p:nvSpPr>
          <p:cNvPr id="17" name="TextBox 16"/>
          <p:cNvSpPr txBox="1"/>
          <p:nvPr/>
        </p:nvSpPr>
        <p:spPr>
          <a:xfrm>
            <a:off x="2606040" y="3639312"/>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Rate the seller after collection; score updates</a:t>
            </a:r>
          </a:p>
        </p:txBody>
      </p:sp>
      <p:sp>
        <p:nvSpPr>
          <p:cNvPr id="18" name="Oval 17"/>
          <p:cNvSpPr/>
          <p:nvPr/>
        </p:nvSpPr>
        <p:spPr>
          <a:xfrm>
            <a:off x="731520" y="4489704"/>
            <a:ext cx="502920" cy="50292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19" name="TextBox 18"/>
          <p:cNvSpPr txBox="1"/>
          <p:nvPr/>
        </p:nvSpPr>
        <p:spPr>
          <a:xfrm>
            <a:off x="1417320" y="4425696"/>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Tamper</a:t>
            </a:r>
          </a:p>
        </p:txBody>
      </p:sp>
      <p:sp>
        <p:nvSpPr>
          <p:cNvPr id="20" name="TextBox 19"/>
          <p:cNvSpPr txBox="1"/>
          <p:nvPr/>
        </p:nvSpPr>
        <p:spPr>
          <a:xfrm>
            <a:off x="2606040" y="4425696"/>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Edit a block in MongoDB Atlas: a red "Record has been altered" warning</a:t>
            </a:r>
          </a:p>
        </p:txBody>
      </p:sp>
      <p:sp>
        <p:nvSpPr>
          <p:cNvPr id="21" name="Oval 20"/>
          <p:cNvSpPr/>
          <p:nvPr/>
        </p:nvSpPr>
        <p:spPr>
          <a:xfrm>
            <a:off x="731520" y="5276088"/>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22" name="TextBox 21"/>
          <p:cNvSpPr txBox="1"/>
          <p:nvPr/>
        </p:nvSpPr>
        <p:spPr>
          <a:xfrm>
            <a:off x="1417320" y="5212079"/>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Admin</a:t>
            </a:r>
          </a:p>
        </p:txBody>
      </p:sp>
      <p:sp>
        <p:nvSpPr>
          <p:cNvPr id="23" name="TextBox 22"/>
          <p:cNvSpPr txBox="1"/>
          <p:nvPr/>
        </p:nvSpPr>
        <p:spPr>
          <a:xfrm>
            <a:off x="2606040" y="5212079"/>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Integrity tab flags the altered record; verify a seller: +15</a:t>
            </a:r>
          </a:p>
        </p:txBody>
      </p:sp>
      <p:pic>
        <p:nvPicPr>
          <p:cNvPr id="24" name="Picture 23" descr="trust_tampered.png"/>
          <p:cNvPicPr>
            <a:picLocks noChangeAspect="1"/>
          </p:cNvPicPr>
          <p:nvPr/>
        </p:nvPicPr>
        <p:blipFill>
          <a:blip r:embed="rId2"/>
          <a:stretch>
            <a:fillRect/>
          </a:stretch>
        </p:blipFill>
        <p:spPr>
          <a:xfrm>
            <a:off x="8869680" y="1188720"/>
            <a:ext cx="2281666" cy="4937760"/>
          </a:xfrm>
          <a:prstGeom prst="rect">
            <a:avLst/>
          </a:prstGeom>
          <a:ln w="12700">
            <a:solidFill>
              <a:srgbClr val="D5DCE6"/>
            </a:solidFill>
          </a:ln>
        </p:spPr>
      </p:pic>
      <p:sp>
        <p:nvSpPr>
          <p:cNvPr id="25" name="TextBox 24"/>
          <p:cNvSpPr txBox="1"/>
          <p:nvPr/>
        </p:nvSpPr>
        <p:spPr>
          <a:xfrm>
            <a:off x="731520" y="5989320"/>
            <a:ext cx="7863840" cy="365760"/>
          </a:xfrm>
          <a:prstGeom prst="rect">
            <a:avLst/>
          </a:prstGeom>
          <a:noFill/>
        </p:spPr>
        <p:txBody>
          <a:bodyPr wrap="square" anchor="t" lIns="45720" rIns="45720" tIns="27432" bIns="27432">
            <a:spAutoFit/>
          </a:bodyPr>
          <a:lstStyle/>
          <a:p>
            <a:pPr algn="l">
              <a:spcAft>
                <a:spcPts val="600"/>
              </a:spcAft>
            </a:pPr>
            <a:r>
              <a:rPr sz="1300" b="0" i="0">
                <a:solidFill>
                  <a:srgbClr val="5A6472"/>
                </a:solidFill>
                <a:latin typeface="Calibri"/>
              </a:rPr>
              <a:t>Live: zam-market-khaki.vercel.app · Backup if the network fails: screenshots in the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15</TotalTime>
  <Words>649</Words>
  <Application>Microsoft Office PowerPoint</Application>
  <PresentationFormat>Widescreen</PresentationFormat>
  <Paragraphs>110</Paragraphs>
  <Slides>16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Alinani Simukanga</cp:lastModifiedBy>
  <cp:revision>6</cp:revision>
  <dcterms:created xsi:type="dcterms:W3CDTF">2013-01-27T09:14:16Z</dcterms:created>
  <dcterms:modified xsi:type="dcterms:W3CDTF">2026-10-12T14:16:02Z</dcterms:modified>
  <cp:category/>
</cp:coreProperties>
</file>